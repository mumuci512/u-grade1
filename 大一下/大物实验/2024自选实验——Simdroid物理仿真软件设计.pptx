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564" r:id="rId3"/>
    <p:sldId id="690" r:id="rId4"/>
    <p:sldId id="681" r:id="rId5"/>
    <p:sldId id="687" r:id="rId6"/>
    <p:sldId id="688" r:id="rId7"/>
    <p:sldId id="677" r:id="rId8"/>
    <p:sldId id="678" r:id="rId9"/>
    <p:sldId id="689" r:id="rId10"/>
    <p:sldId id="694" r:id="rId11"/>
    <p:sldId id="706" r:id="rId12"/>
    <p:sldId id="698" r:id="rId13"/>
    <p:sldId id="699" r:id="rId14"/>
    <p:sldId id="700" r:id="rId15"/>
    <p:sldId id="701" r:id="rId16"/>
    <p:sldId id="702" r:id="rId17"/>
    <p:sldId id="703" r:id="rId18"/>
    <p:sldId id="693" r:id="rId19"/>
    <p:sldId id="707" r:id="rId20"/>
    <p:sldId id="695" r:id="rId21"/>
    <p:sldId id="263"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66A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18" autoAdjust="0"/>
    <p:restoredTop sz="86229" autoAdjust="0"/>
  </p:normalViewPr>
  <p:slideViewPr>
    <p:cSldViewPr snapToGrid="0">
      <p:cViewPr varScale="1">
        <p:scale>
          <a:sx n="76" d="100"/>
          <a:sy n="76" d="100"/>
        </p:scale>
        <p:origin x="758" y="67"/>
      </p:cViewPr>
      <p:guideLst/>
    </p:cSldViewPr>
  </p:slideViewPr>
  <p:notesTextViewPr>
    <p:cViewPr>
      <p:scale>
        <a:sx n="1" d="1"/>
        <a:sy n="1" d="1"/>
      </p:scale>
      <p:origin x="0" y="0"/>
    </p:cViewPr>
  </p:notesTextViewPr>
  <p:notesViewPr>
    <p:cSldViewPr snapToGrid="0">
      <p:cViewPr varScale="1">
        <p:scale>
          <a:sx n="56" d="100"/>
          <a:sy n="56" d="100"/>
        </p:scale>
        <p:origin x="2445" y="3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BCEF72B-05A6-4D13-8960-23A4A3C22361}"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zh-CN" altLang="en-US"/>
        </a:p>
      </dgm:t>
    </dgm:pt>
    <dgm:pt modelId="{AC9689E4-1F3F-450D-8C09-21B1201B33F9}">
      <dgm:prSet phldrT="[文本]"/>
      <dgm:spPr/>
      <dgm:t>
        <a:bodyPr/>
        <a:lstStyle/>
        <a:p>
          <a:r>
            <a:rPr lang="zh-CN" altLang="en-US" dirty="0">
              <a:latin typeface="黑体" panose="02010609060101010101" pitchFamily="49" charset="-122"/>
              <a:ea typeface="黑体" panose="02010609060101010101" pitchFamily="49" charset="-122"/>
            </a:rPr>
            <a:t>前处理</a:t>
          </a:r>
        </a:p>
      </dgm:t>
    </dgm:pt>
    <dgm:pt modelId="{E97E40B0-895F-4C00-BE2D-DED3B103931C}" type="parTrans" cxnId="{D29AA484-E852-4BF0-97DE-223D5A088D49}">
      <dgm:prSet/>
      <dgm:spPr/>
      <dgm:t>
        <a:bodyPr/>
        <a:lstStyle/>
        <a:p>
          <a:endParaRPr lang="zh-CN" altLang="en-US"/>
        </a:p>
      </dgm:t>
    </dgm:pt>
    <dgm:pt modelId="{B1E94320-93D8-42FB-A57A-8414F189231D}" type="sibTrans" cxnId="{D29AA484-E852-4BF0-97DE-223D5A088D49}">
      <dgm:prSet/>
      <dgm:spPr/>
      <dgm:t>
        <a:bodyPr/>
        <a:lstStyle/>
        <a:p>
          <a:endParaRPr lang="zh-CN" altLang="en-US"/>
        </a:p>
      </dgm:t>
    </dgm:pt>
    <dgm:pt modelId="{2A2D875E-C6ED-4B72-B6CC-09C8F55CBB15}">
      <dgm:prSet phldrT="[文本]" custT="1"/>
      <dgm:spPr/>
      <dgm:t>
        <a:bodyPr/>
        <a:lstStyle/>
        <a:p>
          <a:r>
            <a:rPr lang="zh-CN" altLang="en-US" sz="2800" b="1" dirty="0">
              <a:latin typeface="仿宋" panose="02010609060101010101" pitchFamily="49" charset="-122"/>
              <a:ea typeface="仿宋" panose="02010609060101010101" pitchFamily="49" charset="-122"/>
            </a:rPr>
            <a:t>①参数定义②三维建模③材料属性④</a:t>
          </a:r>
          <a:r>
            <a:rPr lang="zh-CN" altLang="en-US" sz="2800" b="1" dirty="0">
              <a:highlight>
                <a:srgbClr val="FFFF00"/>
              </a:highlight>
              <a:latin typeface="仿宋" panose="02010609060101010101" pitchFamily="49" charset="-122"/>
              <a:ea typeface="仿宋" panose="02010609060101010101" pitchFamily="49" charset="-122"/>
            </a:rPr>
            <a:t>网格剖分</a:t>
          </a:r>
        </a:p>
      </dgm:t>
    </dgm:pt>
    <dgm:pt modelId="{0BCD0D0C-4AC7-49CB-84AF-5C8162DA5C38}" type="parTrans" cxnId="{36CA9B25-BA31-479D-BA91-5520C193C9A4}">
      <dgm:prSet/>
      <dgm:spPr/>
      <dgm:t>
        <a:bodyPr/>
        <a:lstStyle/>
        <a:p>
          <a:endParaRPr lang="zh-CN" altLang="en-US"/>
        </a:p>
      </dgm:t>
    </dgm:pt>
    <dgm:pt modelId="{F2E6FF20-75A3-4130-9A90-825D8C8FF094}" type="sibTrans" cxnId="{36CA9B25-BA31-479D-BA91-5520C193C9A4}">
      <dgm:prSet/>
      <dgm:spPr/>
      <dgm:t>
        <a:bodyPr/>
        <a:lstStyle/>
        <a:p>
          <a:endParaRPr lang="zh-CN" altLang="en-US"/>
        </a:p>
      </dgm:t>
    </dgm:pt>
    <dgm:pt modelId="{9A9B810A-19FB-4C27-B213-3288BC8A7855}">
      <dgm:prSet phldrT="[文本]"/>
      <dgm:spPr/>
      <dgm:t>
        <a:bodyPr/>
        <a:lstStyle/>
        <a:p>
          <a:r>
            <a:rPr lang="zh-CN" altLang="en-US" dirty="0">
              <a:latin typeface="黑体" panose="02010609060101010101" pitchFamily="49" charset="-122"/>
              <a:ea typeface="黑体" panose="02010609060101010101" pitchFamily="49" charset="-122"/>
            </a:rPr>
            <a:t>求解</a:t>
          </a:r>
        </a:p>
      </dgm:t>
    </dgm:pt>
    <dgm:pt modelId="{AB64DC13-49E0-4BAC-B02F-3D3A20A9FEE9}" type="parTrans" cxnId="{AEFDD124-3E50-4C85-8B54-8C056E91AC13}">
      <dgm:prSet/>
      <dgm:spPr/>
      <dgm:t>
        <a:bodyPr/>
        <a:lstStyle/>
        <a:p>
          <a:endParaRPr lang="zh-CN" altLang="en-US"/>
        </a:p>
      </dgm:t>
    </dgm:pt>
    <dgm:pt modelId="{5B20F549-8562-4C44-AA22-E762BCBF781B}" type="sibTrans" cxnId="{AEFDD124-3E50-4C85-8B54-8C056E91AC13}">
      <dgm:prSet/>
      <dgm:spPr/>
      <dgm:t>
        <a:bodyPr/>
        <a:lstStyle/>
        <a:p>
          <a:endParaRPr lang="zh-CN" altLang="en-US"/>
        </a:p>
      </dgm:t>
    </dgm:pt>
    <dgm:pt modelId="{EC53DA5F-D9AB-4834-A582-130011EFB7F1}">
      <dgm:prSet phldrT="[文本]" custT="1"/>
      <dgm:spPr/>
      <dgm:t>
        <a:bodyPr/>
        <a:lstStyle/>
        <a:p>
          <a:r>
            <a:rPr lang="zh-CN" altLang="en-US" sz="3200" b="1" kern="1200" dirty="0">
              <a:latin typeface="仿宋" panose="02010609060101010101" pitchFamily="49" charset="-122"/>
              <a:ea typeface="仿宋" panose="02010609060101010101" pitchFamily="49" charset="-122"/>
            </a:rPr>
            <a:t>①</a:t>
          </a:r>
          <a:r>
            <a:rPr lang="zh-CN" altLang="en-US" sz="3200" b="1" kern="1200" dirty="0">
              <a:solidFill>
                <a:prstClr val="black"/>
              </a:solidFill>
              <a:highlight>
                <a:srgbClr val="FFFF00"/>
              </a:highlight>
              <a:latin typeface="仿宋" panose="02010609060101010101" pitchFamily="49" charset="-122"/>
              <a:ea typeface="仿宋" panose="02010609060101010101" pitchFamily="49" charset="-122"/>
              <a:cs typeface="+mn-cs"/>
            </a:rPr>
            <a:t>分析类型</a:t>
          </a:r>
          <a:r>
            <a:rPr lang="zh-CN" altLang="en-US" sz="3200" b="1" kern="1200" dirty="0">
              <a:latin typeface="仿宋" panose="02010609060101010101" pitchFamily="49" charset="-122"/>
              <a:ea typeface="仿宋" panose="02010609060101010101" pitchFamily="49" charset="-122"/>
            </a:rPr>
            <a:t>②连接关系③边界条件</a:t>
          </a:r>
        </a:p>
      </dgm:t>
    </dgm:pt>
    <dgm:pt modelId="{8D2EBAB5-FE68-4F9A-AD70-4D0DC81A221A}" type="parTrans" cxnId="{558E6884-DCD1-4EB3-AAA1-839E30DB383E}">
      <dgm:prSet/>
      <dgm:spPr/>
      <dgm:t>
        <a:bodyPr/>
        <a:lstStyle/>
        <a:p>
          <a:endParaRPr lang="zh-CN" altLang="en-US"/>
        </a:p>
      </dgm:t>
    </dgm:pt>
    <dgm:pt modelId="{64F39262-AFC8-4068-A532-54C23BD803E6}" type="sibTrans" cxnId="{558E6884-DCD1-4EB3-AAA1-839E30DB383E}">
      <dgm:prSet/>
      <dgm:spPr/>
      <dgm:t>
        <a:bodyPr/>
        <a:lstStyle/>
        <a:p>
          <a:endParaRPr lang="zh-CN" altLang="en-US"/>
        </a:p>
      </dgm:t>
    </dgm:pt>
    <dgm:pt modelId="{943362BE-B829-4736-A3F7-B005CD1EA421}">
      <dgm:prSet phldrT="[文本]"/>
      <dgm:spPr/>
      <dgm:t>
        <a:bodyPr/>
        <a:lstStyle/>
        <a:p>
          <a:r>
            <a:rPr lang="zh-CN" altLang="en-US" dirty="0">
              <a:latin typeface="黑体" panose="02010609060101010101" pitchFamily="49" charset="-122"/>
              <a:ea typeface="黑体" panose="02010609060101010101" pitchFamily="49" charset="-122"/>
            </a:rPr>
            <a:t>后处理</a:t>
          </a:r>
        </a:p>
      </dgm:t>
    </dgm:pt>
    <dgm:pt modelId="{102F1670-7404-4BE5-90AF-8C19DAB054BB}" type="parTrans" cxnId="{7D4FB9D2-35FB-48BC-B4DA-AD128B1CE476}">
      <dgm:prSet/>
      <dgm:spPr/>
      <dgm:t>
        <a:bodyPr/>
        <a:lstStyle/>
        <a:p>
          <a:endParaRPr lang="zh-CN" altLang="en-US"/>
        </a:p>
      </dgm:t>
    </dgm:pt>
    <dgm:pt modelId="{C83D8242-0F44-4B52-B724-FCE486572AA9}" type="sibTrans" cxnId="{7D4FB9D2-35FB-48BC-B4DA-AD128B1CE476}">
      <dgm:prSet/>
      <dgm:spPr/>
      <dgm:t>
        <a:bodyPr/>
        <a:lstStyle/>
        <a:p>
          <a:endParaRPr lang="zh-CN" altLang="en-US"/>
        </a:p>
      </dgm:t>
    </dgm:pt>
    <dgm:pt modelId="{E2F91ECC-E9E0-4780-B287-FB5D4A663ABA}">
      <dgm:prSet phldrT="[文本]" custT="1"/>
      <dgm:spPr/>
      <dgm:t>
        <a:bodyPr/>
        <a:lstStyle/>
        <a:p>
          <a:r>
            <a:rPr lang="zh-CN" altLang="en-US" sz="3200" b="1" dirty="0">
              <a:latin typeface="仿宋" panose="02010609060101010101" pitchFamily="49" charset="-122"/>
              <a:ea typeface="仿宋" panose="02010609060101010101" pitchFamily="49" charset="-122"/>
            </a:rPr>
            <a:t>得到不同的云图（①位移②应力</a:t>
          </a:r>
          <a:r>
            <a:rPr lang="en-US" altLang="zh-CN" sz="3200" b="1" dirty="0">
              <a:latin typeface="仿宋" panose="02010609060101010101" pitchFamily="49" charset="-122"/>
              <a:ea typeface="仿宋" panose="02010609060101010101" pitchFamily="49" charset="-122"/>
            </a:rPr>
            <a:t>……</a:t>
          </a:r>
          <a:r>
            <a:rPr lang="zh-CN" altLang="en-US" sz="3200" b="1" dirty="0">
              <a:latin typeface="仿宋" panose="02010609060101010101" pitchFamily="49" charset="-122"/>
              <a:ea typeface="仿宋" panose="02010609060101010101" pitchFamily="49" charset="-122"/>
            </a:rPr>
            <a:t>）</a:t>
          </a:r>
        </a:p>
      </dgm:t>
    </dgm:pt>
    <dgm:pt modelId="{5D947722-84BA-4717-997F-1FA4D44F05F5}" type="sibTrans" cxnId="{C99331C1-B86C-4855-9415-7BD44CEA48F4}">
      <dgm:prSet/>
      <dgm:spPr/>
      <dgm:t>
        <a:bodyPr/>
        <a:lstStyle/>
        <a:p>
          <a:endParaRPr lang="zh-CN" altLang="en-US"/>
        </a:p>
      </dgm:t>
    </dgm:pt>
    <dgm:pt modelId="{16B5F265-99D1-437F-9451-1C56241867F6}" type="parTrans" cxnId="{C99331C1-B86C-4855-9415-7BD44CEA48F4}">
      <dgm:prSet/>
      <dgm:spPr/>
      <dgm:t>
        <a:bodyPr/>
        <a:lstStyle/>
        <a:p>
          <a:endParaRPr lang="zh-CN" altLang="en-US"/>
        </a:p>
      </dgm:t>
    </dgm:pt>
    <dgm:pt modelId="{1A007263-0C04-4C72-AFCE-CE2ED28EA9A3}">
      <dgm:prSet phldrT="[文本]"/>
      <dgm:spPr/>
      <dgm:t>
        <a:bodyPr/>
        <a:lstStyle/>
        <a:p>
          <a:r>
            <a:rPr lang="en-US" altLang="zh-CN" dirty="0">
              <a:latin typeface="黑体" panose="02010609060101010101" pitchFamily="49" charset="-122"/>
              <a:ea typeface="黑体" panose="02010609060101010101" pitchFamily="49" charset="-122"/>
            </a:rPr>
            <a:t>APP</a:t>
          </a:r>
          <a:r>
            <a:rPr lang="zh-CN" altLang="en-US" dirty="0">
              <a:latin typeface="黑体" panose="02010609060101010101" pitchFamily="49" charset="-122"/>
              <a:ea typeface="黑体" panose="02010609060101010101" pitchFamily="49" charset="-122"/>
            </a:rPr>
            <a:t>封装</a:t>
          </a:r>
        </a:p>
      </dgm:t>
    </dgm:pt>
    <dgm:pt modelId="{9A17D350-093F-4ACB-A19E-D95BF5AF109A}" type="parTrans" cxnId="{CC6D8975-2809-4D0F-93B5-584329A110FD}">
      <dgm:prSet/>
      <dgm:spPr/>
      <dgm:t>
        <a:bodyPr/>
        <a:lstStyle/>
        <a:p>
          <a:endParaRPr lang="zh-CN" altLang="en-US"/>
        </a:p>
      </dgm:t>
    </dgm:pt>
    <dgm:pt modelId="{A5B6DA80-5196-43B6-8855-E1339F000A5D}" type="sibTrans" cxnId="{CC6D8975-2809-4D0F-93B5-584329A110FD}">
      <dgm:prSet/>
      <dgm:spPr/>
      <dgm:t>
        <a:bodyPr/>
        <a:lstStyle/>
        <a:p>
          <a:endParaRPr lang="zh-CN" altLang="en-US"/>
        </a:p>
      </dgm:t>
    </dgm:pt>
    <dgm:pt modelId="{0076A933-FEBC-4C94-89A5-9E9586A0523B}">
      <dgm:prSet phldrT="[文本]" custT="1"/>
      <dgm:spPr/>
      <dgm:t>
        <a:bodyPr/>
        <a:lstStyle/>
        <a:p>
          <a:r>
            <a:rPr lang="zh-CN" altLang="en-US" sz="3200" b="1" kern="1200" dirty="0">
              <a:latin typeface="仿宋" panose="02010609060101010101" pitchFamily="49" charset="-122"/>
              <a:ea typeface="仿宋" panose="02010609060101010101" pitchFamily="49" charset="-122"/>
            </a:rPr>
            <a:t>①绑定参数②</a:t>
          </a:r>
          <a:r>
            <a:rPr lang="en-US" altLang="zh-CN" sz="3200" b="1" kern="1200" dirty="0">
              <a:solidFill>
                <a:prstClr val="black"/>
              </a:solidFill>
              <a:highlight>
                <a:srgbClr val="FFFF00"/>
              </a:highlight>
              <a:latin typeface="仿宋" panose="02010609060101010101" pitchFamily="49" charset="-122"/>
              <a:ea typeface="仿宋" panose="02010609060101010101" pitchFamily="49" charset="-122"/>
              <a:cs typeface="+mn-cs"/>
            </a:rPr>
            <a:t>APP</a:t>
          </a:r>
          <a:r>
            <a:rPr lang="zh-CN" altLang="en-US" sz="3200" b="1" kern="1200" dirty="0">
              <a:solidFill>
                <a:prstClr val="black"/>
              </a:solidFill>
              <a:highlight>
                <a:srgbClr val="FFFF00"/>
              </a:highlight>
              <a:latin typeface="仿宋" panose="02010609060101010101" pitchFamily="49" charset="-122"/>
              <a:ea typeface="仿宋" panose="02010609060101010101" pitchFamily="49" charset="-122"/>
              <a:cs typeface="+mn-cs"/>
            </a:rPr>
            <a:t>开发</a:t>
          </a:r>
        </a:p>
      </dgm:t>
    </dgm:pt>
    <dgm:pt modelId="{C89BBB68-9107-493F-B288-D0E8E16CAEB8}" type="parTrans" cxnId="{0B78343F-A3EB-443C-BAB2-8620E38995AA}">
      <dgm:prSet/>
      <dgm:spPr/>
      <dgm:t>
        <a:bodyPr/>
        <a:lstStyle/>
        <a:p>
          <a:endParaRPr lang="zh-CN" altLang="en-US"/>
        </a:p>
      </dgm:t>
    </dgm:pt>
    <dgm:pt modelId="{659837E1-9064-4A28-B889-374498FEDFC6}" type="sibTrans" cxnId="{0B78343F-A3EB-443C-BAB2-8620E38995AA}">
      <dgm:prSet/>
      <dgm:spPr/>
      <dgm:t>
        <a:bodyPr/>
        <a:lstStyle/>
        <a:p>
          <a:endParaRPr lang="zh-CN" altLang="en-US"/>
        </a:p>
      </dgm:t>
    </dgm:pt>
    <dgm:pt modelId="{D8786B60-6E78-4F01-93D4-7F17441D9BB9}" type="pres">
      <dgm:prSet presAssocID="{BBCEF72B-05A6-4D13-8960-23A4A3C22361}" presName="linearFlow" presStyleCnt="0">
        <dgm:presLayoutVars>
          <dgm:dir/>
          <dgm:animLvl val="lvl"/>
          <dgm:resizeHandles val="exact"/>
        </dgm:presLayoutVars>
      </dgm:prSet>
      <dgm:spPr/>
      <dgm:t>
        <a:bodyPr/>
        <a:lstStyle/>
        <a:p>
          <a:endParaRPr lang="zh-CN" altLang="en-US"/>
        </a:p>
      </dgm:t>
    </dgm:pt>
    <dgm:pt modelId="{1FB3DA8A-1D8A-424D-A2F9-B8050823FD25}" type="pres">
      <dgm:prSet presAssocID="{AC9689E4-1F3F-450D-8C09-21B1201B33F9}" presName="composite" presStyleCnt="0"/>
      <dgm:spPr/>
    </dgm:pt>
    <dgm:pt modelId="{A40BF44D-1BE8-488F-B312-C72CFDED8BC8}" type="pres">
      <dgm:prSet presAssocID="{AC9689E4-1F3F-450D-8C09-21B1201B33F9}" presName="parentText" presStyleLbl="alignNode1" presStyleIdx="0" presStyleCnt="4">
        <dgm:presLayoutVars>
          <dgm:chMax val="1"/>
          <dgm:bulletEnabled val="1"/>
        </dgm:presLayoutVars>
      </dgm:prSet>
      <dgm:spPr/>
      <dgm:t>
        <a:bodyPr/>
        <a:lstStyle/>
        <a:p>
          <a:endParaRPr lang="zh-CN" altLang="en-US"/>
        </a:p>
      </dgm:t>
    </dgm:pt>
    <dgm:pt modelId="{C16E5F63-9162-4BDD-B857-197CF3E9C7E5}" type="pres">
      <dgm:prSet presAssocID="{AC9689E4-1F3F-450D-8C09-21B1201B33F9}" presName="descendantText" presStyleLbl="alignAcc1" presStyleIdx="0" presStyleCnt="4">
        <dgm:presLayoutVars>
          <dgm:bulletEnabled val="1"/>
        </dgm:presLayoutVars>
      </dgm:prSet>
      <dgm:spPr/>
      <dgm:t>
        <a:bodyPr/>
        <a:lstStyle/>
        <a:p>
          <a:endParaRPr lang="zh-CN" altLang="en-US"/>
        </a:p>
      </dgm:t>
    </dgm:pt>
    <dgm:pt modelId="{E32C9AB1-13D8-42B6-953B-B1F7A99727CD}" type="pres">
      <dgm:prSet presAssocID="{B1E94320-93D8-42FB-A57A-8414F189231D}" presName="sp" presStyleCnt="0"/>
      <dgm:spPr/>
    </dgm:pt>
    <dgm:pt modelId="{6EC54E61-E563-4D86-9E9B-38B7F1634656}" type="pres">
      <dgm:prSet presAssocID="{9A9B810A-19FB-4C27-B213-3288BC8A7855}" presName="composite" presStyleCnt="0"/>
      <dgm:spPr/>
    </dgm:pt>
    <dgm:pt modelId="{99434B3B-7A73-4C29-A7FB-09F12603297F}" type="pres">
      <dgm:prSet presAssocID="{9A9B810A-19FB-4C27-B213-3288BC8A7855}" presName="parentText" presStyleLbl="alignNode1" presStyleIdx="1" presStyleCnt="4">
        <dgm:presLayoutVars>
          <dgm:chMax val="1"/>
          <dgm:bulletEnabled val="1"/>
        </dgm:presLayoutVars>
      </dgm:prSet>
      <dgm:spPr/>
      <dgm:t>
        <a:bodyPr/>
        <a:lstStyle/>
        <a:p>
          <a:endParaRPr lang="zh-CN" altLang="en-US"/>
        </a:p>
      </dgm:t>
    </dgm:pt>
    <dgm:pt modelId="{775B1EC6-F53C-4600-8897-657984FFCF08}" type="pres">
      <dgm:prSet presAssocID="{9A9B810A-19FB-4C27-B213-3288BC8A7855}" presName="descendantText" presStyleLbl="alignAcc1" presStyleIdx="1" presStyleCnt="4">
        <dgm:presLayoutVars>
          <dgm:bulletEnabled val="1"/>
        </dgm:presLayoutVars>
      </dgm:prSet>
      <dgm:spPr/>
      <dgm:t>
        <a:bodyPr/>
        <a:lstStyle/>
        <a:p>
          <a:endParaRPr lang="zh-CN" altLang="en-US"/>
        </a:p>
      </dgm:t>
    </dgm:pt>
    <dgm:pt modelId="{70C9DD53-E509-4682-BC8C-838DCA8EE230}" type="pres">
      <dgm:prSet presAssocID="{5B20F549-8562-4C44-AA22-E762BCBF781B}" presName="sp" presStyleCnt="0"/>
      <dgm:spPr/>
    </dgm:pt>
    <dgm:pt modelId="{BB1D7525-A707-4E82-BD8E-45EC4B77ED75}" type="pres">
      <dgm:prSet presAssocID="{943362BE-B829-4736-A3F7-B005CD1EA421}" presName="composite" presStyleCnt="0"/>
      <dgm:spPr/>
    </dgm:pt>
    <dgm:pt modelId="{9697CE3A-D40F-4C3B-AD4C-7B3FEAF52D71}" type="pres">
      <dgm:prSet presAssocID="{943362BE-B829-4736-A3F7-B005CD1EA421}" presName="parentText" presStyleLbl="alignNode1" presStyleIdx="2" presStyleCnt="4">
        <dgm:presLayoutVars>
          <dgm:chMax val="1"/>
          <dgm:bulletEnabled val="1"/>
        </dgm:presLayoutVars>
      </dgm:prSet>
      <dgm:spPr/>
      <dgm:t>
        <a:bodyPr/>
        <a:lstStyle/>
        <a:p>
          <a:endParaRPr lang="zh-CN" altLang="en-US"/>
        </a:p>
      </dgm:t>
    </dgm:pt>
    <dgm:pt modelId="{56DBBD24-019C-4F1F-AC46-E85C39356D58}" type="pres">
      <dgm:prSet presAssocID="{943362BE-B829-4736-A3F7-B005CD1EA421}" presName="descendantText" presStyleLbl="alignAcc1" presStyleIdx="2" presStyleCnt="4">
        <dgm:presLayoutVars>
          <dgm:bulletEnabled val="1"/>
        </dgm:presLayoutVars>
      </dgm:prSet>
      <dgm:spPr/>
      <dgm:t>
        <a:bodyPr/>
        <a:lstStyle/>
        <a:p>
          <a:endParaRPr lang="zh-CN" altLang="en-US"/>
        </a:p>
      </dgm:t>
    </dgm:pt>
    <dgm:pt modelId="{69EB8922-343B-462B-BF09-6099A5714C22}" type="pres">
      <dgm:prSet presAssocID="{C83D8242-0F44-4B52-B724-FCE486572AA9}" presName="sp" presStyleCnt="0"/>
      <dgm:spPr/>
    </dgm:pt>
    <dgm:pt modelId="{FAB6C47C-483E-4F17-A7C2-ADC6039FB633}" type="pres">
      <dgm:prSet presAssocID="{1A007263-0C04-4C72-AFCE-CE2ED28EA9A3}" presName="composite" presStyleCnt="0"/>
      <dgm:spPr/>
    </dgm:pt>
    <dgm:pt modelId="{4C7D926E-A5ED-41BE-8260-0944FFFF893D}" type="pres">
      <dgm:prSet presAssocID="{1A007263-0C04-4C72-AFCE-CE2ED28EA9A3}" presName="parentText" presStyleLbl="alignNode1" presStyleIdx="3" presStyleCnt="4">
        <dgm:presLayoutVars>
          <dgm:chMax val="1"/>
          <dgm:bulletEnabled val="1"/>
        </dgm:presLayoutVars>
      </dgm:prSet>
      <dgm:spPr/>
      <dgm:t>
        <a:bodyPr/>
        <a:lstStyle/>
        <a:p>
          <a:endParaRPr lang="zh-CN" altLang="en-US"/>
        </a:p>
      </dgm:t>
    </dgm:pt>
    <dgm:pt modelId="{0AFEE43A-F7B6-4A5C-A6FA-F128E8C38E04}" type="pres">
      <dgm:prSet presAssocID="{1A007263-0C04-4C72-AFCE-CE2ED28EA9A3}" presName="descendantText" presStyleLbl="alignAcc1" presStyleIdx="3" presStyleCnt="4">
        <dgm:presLayoutVars>
          <dgm:bulletEnabled val="1"/>
        </dgm:presLayoutVars>
      </dgm:prSet>
      <dgm:spPr/>
      <dgm:t>
        <a:bodyPr/>
        <a:lstStyle/>
        <a:p>
          <a:endParaRPr lang="zh-CN" altLang="en-US"/>
        </a:p>
      </dgm:t>
    </dgm:pt>
  </dgm:ptLst>
  <dgm:cxnLst>
    <dgm:cxn modelId="{56BC5B50-1980-4BEC-9B02-59733DF33B75}" type="presOf" srcId="{EC53DA5F-D9AB-4834-A582-130011EFB7F1}" destId="{775B1EC6-F53C-4600-8897-657984FFCF08}" srcOrd="0" destOrd="0" presId="urn:microsoft.com/office/officeart/2005/8/layout/chevron2"/>
    <dgm:cxn modelId="{575B236C-3659-4A5B-8F0B-3B83D1CB2A7B}" type="presOf" srcId="{1A007263-0C04-4C72-AFCE-CE2ED28EA9A3}" destId="{4C7D926E-A5ED-41BE-8260-0944FFFF893D}" srcOrd="0" destOrd="0" presId="urn:microsoft.com/office/officeart/2005/8/layout/chevron2"/>
    <dgm:cxn modelId="{0B78343F-A3EB-443C-BAB2-8620E38995AA}" srcId="{1A007263-0C04-4C72-AFCE-CE2ED28EA9A3}" destId="{0076A933-FEBC-4C94-89A5-9E9586A0523B}" srcOrd="0" destOrd="0" parTransId="{C89BBB68-9107-493F-B288-D0E8E16CAEB8}" sibTransId="{659837E1-9064-4A28-B889-374498FEDFC6}"/>
    <dgm:cxn modelId="{AEFDD124-3E50-4C85-8B54-8C056E91AC13}" srcId="{BBCEF72B-05A6-4D13-8960-23A4A3C22361}" destId="{9A9B810A-19FB-4C27-B213-3288BC8A7855}" srcOrd="1" destOrd="0" parTransId="{AB64DC13-49E0-4BAC-B02F-3D3A20A9FEE9}" sibTransId="{5B20F549-8562-4C44-AA22-E762BCBF781B}"/>
    <dgm:cxn modelId="{95F46F41-5BB4-41D9-BA81-E4EA7505FBF0}" type="presOf" srcId="{943362BE-B829-4736-A3F7-B005CD1EA421}" destId="{9697CE3A-D40F-4C3B-AD4C-7B3FEAF52D71}" srcOrd="0" destOrd="0" presId="urn:microsoft.com/office/officeart/2005/8/layout/chevron2"/>
    <dgm:cxn modelId="{38824755-9439-4ECD-8010-4B19263AC879}" type="presOf" srcId="{E2F91ECC-E9E0-4780-B287-FB5D4A663ABA}" destId="{56DBBD24-019C-4F1F-AC46-E85C39356D58}" srcOrd="0" destOrd="0" presId="urn:microsoft.com/office/officeart/2005/8/layout/chevron2"/>
    <dgm:cxn modelId="{7D4FB9D2-35FB-48BC-B4DA-AD128B1CE476}" srcId="{BBCEF72B-05A6-4D13-8960-23A4A3C22361}" destId="{943362BE-B829-4736-A3F7-B005CD1EA421}" srcOrd="2" destOrd="0" parTransId="{102F1670-7404-4BE5-90AF-8C19DAB054BB}" sibTransId="{C83D8242-0F44-4B52-B724-FCE486572AA9}"/>
    <dgm:cxn modelId="{36CA9B25-BA31-479D-BA91-5520C193C9A4}" srcId="{AC9689E4-1F3F-450D-8C09-21B1201B33F9}" destId="{2A2D875E-C6ED-4B72-B6CC-09C8F55CBB15}" srcOrd="0" destOrd="0" parTransId="{0BCD0D0C-4AC7-49CB-84AF-5C8162DA5C38}" sibTransId="{F2E6FF20-75A3-4130-9A90-825D8C8FF094}"/>
    <dgm:cxn modelId="{C99331C1-B86C-4855-9415-7BD44CEA48F4}" srcId="{943362BE-B829-4736-A3F7-B005CD1EA421}" destId="{E2F91ECC-E9E0-4780-B287-FB5D4A663ABA}" srcOrd="0" destOrd="0" parTransId="{16B5F265-99D1-437F-9451-1C56241867F6}" sibTransId="{5D947722-84BA-4717-997F-1FA4D44F05F5}"/>
    <dgm:cxn modelId="{CC6D8975-2809-4D0F-93B5-584329A110FD}" srcId="{BBCEF72B-05A6-4D13-8960-23A4A3C22361}" destId="{1A007263-0C04-4C72-AFCE-CE2ED28EA9A3}" srcOrd="3" destOrd="0" parTransId="{9A17D350-093F-4ACB-A19E-D95BF5AF109A}" sibTransId="{A5B6DA80-5196-43B6-8855-E1339F000A5D}"/>
    <dgm:cxn modelId="{A35B6C93-1EAE-4CC7-836D-7A7706432B21}" type="presOf" srcId="{AC9689E4-1F3F-450D-8C09-21B1201B33F9}" destId="{A40BF44D-1BE8-488F-B312-C72CFDED8BC8}" srcOrd="0" destOrd="0" presId="urn:microsoft.com/office/officeart/2005/8/layout/chevron2"/>
    <dgm:cxn modelId="{558E6884-DCD1-4EB3-AAA1-839E30DB383E}" srcId="{9A9B810A-19FB-4C27-B213-3288BC8A7855}" destId="{EC53DA5F-D9AB-4834-A582-130011EFB7F1}" srcOrd="0" destOrd="0" parTransId="{8D2EBAB5-FE68-4F9A-AD70-4D0DC81A221A}" sibTransId="{64F39262-AFC8-4068-A532-54C23BD803E6}"/>
    <dgm:cxn modelId="{83DE6960-B60A-48A0-ADD7-4EDAB3A2AB7C}" type="presOf" srcId="{9A9B810A-19FB-4C27-B213-3288BC8A7855}" destId="{99434B3B-7A73-4C29-A7FB-09F12603297F}" srcOrd="0" destOrd="0" presId="urn:microsoft.com/office/officeart/2005/8/layout/chevron2"/>
    <dgm:cxn modelId="{D29AA484-E852-4BF0-97DE-223D5A088D49}" srcId="{BBCEF72B-05A6-4D13-8960-23A4A3C22361}" destId="{AC9689E4-1F3F-450D-8C09-21B1201B33F9}" srcOrd="0" destOrd="0" parTransId="{E97E40B0-895F-4C00-BE2D-DED3B103931C}" sibTransId="{B1E94320-93D8-42FB-A57A-8414F189231D}"/>
    <dgm:cxn modelId="{C4CB3FE4-A608-4386-A56D-EB13BA001A21}" type="presOf" srcId="{2A2D875E-C6ED-4B72-B6CC-09C8F55CBB15}" destId="{C16E5F63-9162-4BDD-B857-197CF3E9C7E5}" srcOrd="0" destOrd="0" presId="urn:microsoft.com/office/officeart/2005/8/layout/chevron2"/>
    <dgm:cxn modelId="{5F1BD552-5593-49D8-8D66-263EA2806C89}" type="presOf" srcId="{0076A933-FEBC-4C94-89A5-9E9586A0523B}" destId="{0AFEE43A-F7B6-4A5C-A6FA-F128E8C38E04}" srcOrd="0" destOrd="0" presId="urn:microsoft.com/office/officeart/2005/8/layout/chevron2"/>
    <dgm:cxn modelId="{48139391-0CF6-47F0-ACCF-330595F3BF1A}" type="presOf" srcId="{BBCEF72B-05A6-4D13-8960-23A4A3C22361}" destId="{D8786B60-6E78-4F01-93D4-7F17441D9BB9}" srcOrd="0" destOrd="0" presId="urn:microsoft.com/office/officeart/2005/8/layout/chevron2"/>
    <dgm:cxn modelId="{FF64D1BB-84FB-4A97-A6FA-F10EF4B12BE1}" type="presParOf" srcId="{D8786B60-6E78-4F01-93D4-7F17441D9BB9}" destId="{1FB3DA8A-1D8A-424D-A2F9-B8050823FD25}" srcOrd="0" destOrd="0" presId="urn:microsoft.com/office/officeart/2005/8/layout/chevron2"/>
    <dgm:cxn modelId="{19104599-32AE-4ACB-96FD-1B1475550232}" type="presParOf" srcId="{1FB3DA8A-1D8A-424D-A2F9-B8050823FD25}" destId="{A40BF44D-1BE8-488F-B312-C72CFDED8BC8}" srcOrd="0" destOrd="0" presId="urn:microsoft.com/office/officeart/2005/8/layout/chevron2"/>
    <dgm:cxn modelId="{CB624C4D-4235-4F98-8F74-C6C2A98E61D9}" type="presParOf" srcId="{1FB3DA8A-1D8A-424D-A2F9-B8050823FD25}" destId="{C16E5F63-9162-4BDD-B857-197CF3E9C7E5}" srcOrd="1" destOrd="0" presId="urn:microsoft.com/office/officeart/2005/8/layout/chevron2"/>
    <dgm:cxn modelId="{46AAD98C-480D-4385-927D-300F59739BEE}" type="presParOf" srcId="{D8786B60-6E78-4F01-93D4-7F17441D9BB9}" destId="{E32C9AB1-13D8-42B6-953B-B1F7A99727CD}" srcOrd="1" destOrd="0" presId="urn:microsoft.com/office/officeart/2005/8/layout/chevron2"/>
    <dgm:cxn modelId="{D932CC83-6D97-439E-AA9B-04F6D0E763B2}" type="presParOf" srcId="{D8786B60-6E78-4F01-93D4-7F17441D9BB9}" destId="{6EC54E61-E563-4D86-9E9B-38B7F1634656}" srcOrd="2" destOrd="0" presId="urn:microsoft.com/office/officeart/2005/8/layout/chevron2"/>
    <dgm:cxn modelId="{9BB83E82-B936-4759-B55D-640746D1989F}" type="presParOf" srcId="{6EC54E61-E563-4D86-9E9B-38B7F1634656}" destId="{99434B3B-7A73-4C29-A7FB-09F12603297F}" srcOrd="0" destOrd="0" presId="urn:microsoft.com/office/officeart/2005/8/layout/chevron2"/>
    <dgm:cxn modelId="{916E3663-08E0-4E6F-BC7D-08B49C533674}" type="presParOf" srcId="{6EC54E61-E563-4D86-9E9B-38B7F1634656}" destId="{775B1EC6-F53C-4600-8897-657984FFCF08}" srcOrd="1" destOrd="0" presId="urn:microsoft.com/office/officeart/2005/8/layout/chevron2"/>
    <dgm:cxn modelId="{A548EBC2-7C57-49DD-B067-00F3889F9E2E}" type="presParOf" srcId="{D8786B60-6E78-4F01-93D4-7F17441D9BB9}" destId="{70C9DD53-E509-4682-BC8C-838DCA8EE230}" srcOrd="3" destOrd="0" presId="urn:microsoft.com/office/officeart/2005/8/layout/chevron2"/>
    <dgm:cxn modelId="{C82D18BB-6965-4840-9B92-36B1DF8301BD}" type="presParOf" srcId="{D8786B60-6E78-4F01-93D4-7F17441D9BB9}" destId="{BB1D7525-A707-4E82-BD8E-45EC4B77ED75}" srcOrd="4" destOrd="0" presId="urn:microsoft.com/office/officeart/2005/8/layout/chevron2"/>
    <dgm:cxn modelId="{5C5A0BA6-856E-43CD-A27D-2CE398508FF5}" type="presParOf" srcId="{BB1D7525-A707-4E82-BD8E-45EC4B77ED75}" destId="{9697CE3A-D40F-4C3B-AD4C-7B3FEAF52D71}" srcOrd="0" destOrd="0" presId="urn:microsoft.com/office/officeart/2005/8/layout/chevron2"/>
    <dgm:cxn modelId="{04268E87-FADA-4A9B-A1C2-16B41BF1A409}" type="presParOf" srcId="{BB1D7525-A707-4E82-BD8E-45EC4B77ED75}" destId="{56DBBD24-019C-4F1F-AC46-E85C39356D58}" srcOrd="1" destOrd="0" presId="urn:microsoft.com/office/officeart/2005/8/layout/chevron2"/>
    <dgm:cxn modelId="{96F2E933-538D-43C7-9846-D41B9A8E4945}" type="presParOf" srcId="{D8786B60-6E78-4F01-93D4-7F17441D9BB9}" destId="{69EB8922-343B-462B-BF09-6099A5714C22}" srcOrd="5" destOrd="0" presId="urn:microsoft.com/office/officeart/2005/8/layout/chevron2"/>
    <dgm:cxn modelId="{709F0B71-F7DF-42DE-B9C2-AE1E0962131D}" type="presParOf" srcId="{D8786B60-6E78-4F01-93D4-7F17441D9BB9}" destId="{FAB6C47C-483E-4F17-A7C2-ADC6039FB633}" srcOrd="6" destOrd="0" presId="urn:microsoft.com/office/officeart/2005/8/layout/chevron2"/>
    <dgm:cxn modelId="{425BF87B-E5F9-491A-AD88-94739B417D81}" type="presParOf" srcId="{FAB6C47C-483E-4F17-A7C2-ADC6039FB633}" destId="{4C7D926E-A5ED-41BE-8260-0944FFFF893D}" srcOrd="0" destOrd="0" presId="urn:microsoft.com/office/officeart/2005/8/layout/chevron2"/>
    <dgm:cxn modelId="{D7AE00FB-834A-41DA-8C64-37B5489EE471}" type="presParOf" srcId="{FAB6C47C-483E-4F17-A7C2-ADC6039FB633}" destId="{0AFEE43A-F7B6-4A5C-A6FA-F128E8C38E04}"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C852523-9A70-4E2F-AB0C-6BAAFBEEF00B}" type="doc">
      <dgm:prSet loTypeId="urn:microsoft.com/office/officeart/2005/8/layout/hierarchy2" loCatId="hierarchy" qsTypeId="urn:microsoft.com/office/officeart/2005/8/quickstyle/simple1" qsCatId="simple" csTypeId="urn:microsoft.com/office/officeart/2005/8/colors/colorful4" csCatId="colorful" phldr="1"/>
      <dgm:spPr/>
      <dgm:t>
        <a:bodyPr/>
        <a:lstStyle/>
        <a:p>
          <a:endParaRPr lang="zh-CN" altLang="en-US"/>
        </a:p>
      </dgm:t>
    </dgm:pt>
    <dgm:pt modelId="{1FDBD0C9-CABB-4403-A8B0-9D267EA04594}">
      <dgm:prSet phldrT="[文本]" custT="1"/>
      <dgm:spPr/>
      <dgm:t>
        <a:bodyPr/>
        <a:lstStyle/>
        <a:p>
          <a:pPr algn="ctr"/>
          <a:r>
            <a:rPr lang="zh-CN" altLang="en-US" sz="2400" dirty="0">
              <a:latin typeface="黑体" panose="02010609060101010101" pitchFamily="49" charset="-122"/>
              <a:ea typeface="黑体" panose="02010609060101010101" pitchFamily="49" charset="-122"/>
            </a:rPr>
            <a:t>研究对象</a:t>
          </a:r>
          <a:endParaRPr lang="en-US" altLang="zh-CN" sz="2400" dirty="0">
            <a:latin typeface="黑体" panose="02010609060101010101" pitchFamily="49" charset="-122"/>
            <a:ea typeface="黑体" panose="02010609060101010101" pitchFamily="49" charset="-122"/>
          </a:endParaRPr>
        </a:p>
        <a:p>
          <a:pPr algn="ctr"/>
          <a:r>
            <a:rPr lang="zh-CN" altLang="en-US" sz="2400" dirty="0">
              <a:solidFill>
                <a:srgbClr val="FF0000"/>
              </a:solidFill>
              <a:latin typeface="黑体" panose="02010609060101010101" pitchFamily="49" charset="-122"/>
              <a:ea typeface="黑体" panose="02010609060101010101" pitchFamily="49" charset="-122"/>
            </a:rPr>
            <a:t>变形体</a:t>
          </a:r>
        </a:p>
      </dgm:t>
    </dgm:pt>
    <dgm:pt modelId="{2ED6228A-0B7A-4778-893B-C6C566F4A354}" type="parTrans" cxnId="{F884E9CB-D82F-4E83-A271-E7B141223C30}">
      <dgm:prSet/>
      <dgm:spPr/>
      <dgm:t>
        <a:bodyPr/>
        <a:lstStyle/>
        <a:p>
          <a:endParaRPr lang="zh-CN" altLang="en-US"/>
        </a:p>
      </dgm:t>
    </dgm:pt>
    <dgm:pt modelId="{6639EB47-ECF2-437D-BA9F-807A1B92C6BE}" type="sibTrans" cxnId="{F884E9CB-D82F-4E83-A271-E7B141223C30}">
      <dgm:prSet/>
      <dgm:spPr/>
      <dgm:t>
        <a:bodyPr/>
        <a:lstStyle/>
        <a:p>
          <a:endParaRPr lang="zh-CN" altLang="en-US"/>
        </a:p>
      </dgm:t>
    </dgm:pt>
    <dgm:pt modelId="{61522460-367F-4E6C-9574-CCDE82052B55}">
      <dgm:prSet phldrT="[文本]" custT="1"/>
      <dgm:spPr/>
      <dgm:t>
        <a:bodyPr/>
        <a:lstStyle/>
        <a:p>
          <a:pPr algn="ctr"/>
          <a:r>
            <a:rPr lang="zh-CN" altLang="en-US" sz="1800" dirty="0">
              <a:latin typeface="黑体" panose="02010609060101010101" pitchFamily="49" charset="-122"/>
              <a:ea typeface="黑体" panose="02010609060101010101" pitchFamily="49" charset="-122"/>
            </a:rPr>
            <a:t>描述变形体的几个方面：</a:t>
          </a:r>
          <a:endParaRPr lang="en-US" altLang="zh-CN" sz="1800" dirty="0">
            <a:latin typeface="黑体" panose="02010609060101010101" pitchFamily="49" charset="-122"/>
            <a:ea typeface="黑体" panose="02010609060101010101" pitchFamily="49" charset="-122"/>
          </a:endParaRPr>
        </a:p>
        <a:p>
          <a:pPr algn="ctr"/>
          <a:r>
            <a:rPr lang="zh-CN" altLang="en-US" sz="1800" dirty="0">
              <a:latin typeface="黑体" panose="02010609060101010101" pitchFamily="49" charset="-122"/>
              <a:ea typeface="黑体" panose="02010609060101010101" pitchFamily="49" charset="-122"/>
            </a:rPr>
            <a:t>力的描述、位移与变形、材料描述</a:t>
          </a:r>
        </a:p>
      </dgm:t>
    </dgm:pt>
    <dgm:pt modelId="{FEA158B0-92F9-4709-BD57-19CD9B217827}" type="parTrans" cxnId="{AF3D5273-1251-4E57-824B-213022BCBE7F}">
      <dgm:prSet/>
      <dgm:spPr/>
      <dgm:t>
        <a:bodyPr/>
        <a:lstStyle/>
        <a:p>
          <a:endParaRPr lang="zh-CN" altLang="en-US"/>
        </a:p>
      </dgm:t>
    </dgm:pt>
    <dgm:pt modelId="{8372DBCC-4D50-4833-B49A-28312BB31D67}" type="sibTrans" cxnId="{AF3D5273-1251-4E57-824B-213022BCBE7F}">
      <dgm:prSet/>
      <dgm:spPr/>
      <dgm:t>
        <a:bodyPr/>
        <a:lstStyle/>
        <a:p>
          <a:endParaRPr lang="zh-CN" altLang="en-US"/>
        </a:p>
      </dgm:t>
    </dgm:pt>
    <dgm:pt modelId="{B73AF6B2-F6E1-47C9-B08F-1C7A15CFAA78}">
      <dgm:prSet phldrT="[文本]" custT="1"/>
      <dgm:spPr/>
      <dgm:t>
        <a:bodyPr/>
        <a:lstStyle/>
        <a:p>
          <a:r>
            <a:rPr lang="zh-CN" altLang="en-US" sz="1800" dirty="0">
              <a:latin typeface="黑体" panose="02010609060101010101" pitchFamily="49" charset="-122"/>
              <a:ea typeface="黑体" panose="02010609060101010101" pitchFamily="49" charset="-122"/>
            </a:rPr>
            <a:t>描述变形体的</a:t>
          </a:r>
          <a:r>
            <a:rPr lang="zh-CN" altLang="en-US" sz="1800" dirty="0">
              <a:solidFill>
                <a:srgbClr val="002060"/>
              </a:solidFill>
              <a:latin typeface="黑体" panose="02010609060101010101" pitchFamily="49" charset="-122"/>
              <a:ea typeface="黑体" panose="02010609060101010101" pitchFamily="49" charset="-122"/>
            </a:rPr>
            <a:t>三大类变量</a:t>
          </a:r>
          <a:r>
            <a:rPr lang="zh-CN" altLang="en-US" sz="1800" dirty="0">
              <a:latin typeface="黑体" panose="02010609060101010101" pitchFamily="49" charset="-122"/>
              <a:ea typeface="黑体" panose="02010609060101010101" pitchFamily="49" charset="-122"/>
            </a:rPr>
            <a:t>：</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位移、应力、应变</a:t>
          </a:r>
        </a:p>
      </dgm:t>
    </dgm:pt>
    <dgm:pt modelId="{94026B1A-FFD6-4A77-84AE-EA3C6EADA121}" type="parTrans" cxnId="{04CA9EF2-C577-4E3D-9C98-119DA15211A8}">
      <dgm:prSet/>
      <dgm:spPr/>
      <dgm:t>
        <a:bodyPr/>
        <a:lstStyle/>
        <a:p>
          <a:endParaRPr lang="zh-CN" altLang="en-US"/>
        </a:p>
      </dgm:t>
    </dgm:pt>
    <dgm:pt modelId="{F2FB31DD-1B4B-4A9D-8B13-79DE1846DE79}" type="sibTrans" cxnId="{04CA9EF2-C577-4E3D-9C98-119DA15211A8}">
      <dgm:prSet/>
      <dgm:spPr/>
      <dgm:t>
        <a:bodyPr/>
        <a:lstStyle/>
        <a:p>
          <a:endParaRPr lang="zh-CN" altLang="en-US"/>
        </a:p>
      </dgm:t>
    </dgm:pt>
    <dgm:pt modelId="{45025F86-A188-4D46-84AF-23F385EA6FB7}">
      <dgm:prSet phldrT="[文本]" custT="1"/>
      <dgm:spPr/>
      <dgm:t>
        <a:bodyPr/>
        <a:lstStyle/>
        <a:p>
          <a:r>
            <a:rPr lang="zh-CN" altLang="en-US" sz="1800" dirty="0">
              <a:latin typeface="黑体" panose="02010609060101010101" pitchFamily="49" charset="-122"/>
              <a:ea typeface="黑体" panose="02010609060101010101" pitchFamily="49" charset="-122"/>
            </a:rPr>
            <a:t>描述变形体的</a:t>
          </a:r>
          <a:r>
            <a:rPr lang="zh-CN" altLang="en-US" sz="1800" dirty="0">
              <a:solidFill>
                <a:srgbClr val="002060"/>
              </a:solidFill>
              <a:latin typeface="黑体" panose="02010609060101010101" pitchFamily="49" charset="-122"/>
              <a:ea typeface="黑体" panose="02010609060101010101" pitchFamily="49" charset="-122"/>
            </a:rPr>
            <a:t>三大类方程</a:t>
          </a:r>
          <a:r>
            <a:rPr lang="zh-CN" altLang="en-US" sz="1800" dirty="0">
              <a:latin typeface="黑体" panose="02010609060101010101" pitchFamily="49" charset="-122"/>
              <a:ea typeface="黑体" panose="02010609060101010101" pitchFamily="49" charset="-122"/>
            </a:rPr>
            <a:t>：</a:t>
          </a:r>
          <a:endParaRPr lang="en-US" altLang="zh-CN" sz="1800" dirty="0">
            <a:latin typeface="黑体" panose="02010609060101010101" pitchFamily="49" charset="-122"/>
            <a:ea typeface="黑体" panose="02010609060101010101" pitchFamily="49" charset="-122"/>
          </a:endParaRPr>
        </a:p>
        <a:p>
          <a:r>
            <a:rPr lang="zh-CN" altLang="en-US" sz="1800" dirty="0">
              <a:latin typeface="黑体" panose="02010609060101010101" pitchFamily="49" charset="-122"/>
              <a:ea typeface="黑体" panose="02010609060101010101" pitchFamily="49" charset="-122"/>
            </a:rPr>
            <a:t>平衡方程、几何方程</a:t>
          </a:r>
          <a:r>
            <a:rPr lang="zh-CN" altLang="en-US" sz="1800" dirty="0" smtClean="0">
              <a:latin typeface="黑体" panose="02010609060101010101" pitchFamily="49" charset="-122"/>
              <a:ea typeface="黑体" panose="02010609060101010101" pitchFamily="49" charset="-122"/>
            </a:rPr>
            <a:t>、</a:t>
          </a:r>
          <a:endParaRPr lang="en-US" altLang="zh-CN" sz="1800" dirty="0" smtClean="0">
            <a:latin typeface="黑体" panose="02010609060101010101" pitchFamily="49" charset="-122"/>
            <a:ea typeface="黑体" panose="02010609060101010101" pitchFamily="49" charset="-122"/>
          </a:endParaRPr>
        </a:p>
        <a:p>
          <a:r>
            <a:rPr lang="zh-CN" altLang="en-US" sz="1800" dirty="0" smtClean="0">
              <a:latin typeface="黑体" panose="02010609060101010101" pitchFamily="49" charset="-122"/>
              <a:ea typeface="黑体" panose="02010609060101010101" pitchFamily="49" charset="-122"/>
            </a:rPr>
            <a:t>本构方程</a:t>
          </a:r>
          <a:endParaRPr lang="zh-CN" altLang="en-US" sz="1800" dirty="0">
            <a:latin typeface="黑体" panose="02010609060101010101" pitchFamily="49" charset="-122"/>
            <a:ea typeface="黑体" panose="02010609060101010101" pitchFamily="49" charset="-122"/>
          </a:endParaRPr>
        </a:p>
      </dgm:t>
    </dgm:pt>
    <dgm:pt modelId="{BEB3DD15-EF4C-49A3-9C35-3480EA0CAA5C}" type="parTrans" cxnId="{DE3A8639-3752-4D6B-978D-E315E8AFF233}">
      <dgm:prSet/>
      <dgm:spPr/>
      <dgm:t>
        <a:bodyPr/>
        <a:lstStyle/>
        <a:p>
          <a:endParaRPr lang="zh-CN" altLang="en-US"/>
        </a:p>
      </dgm:t>
    </dgm:pt>
    <dgm:pt modelId="{D182F582-A44B-4E99-A1A3-4A37A67849FF}" type="sibTrans" cxnId="{DE3A8639-3752-4D6B-978D-E315E8AFF233}">
      <dgm:prSet/>
      <dgm:spPr/>
      <dgm:t>
        <a:bodyPr/>
        <a:lstStyle/>
        <a:p>
          <a:endParaRPr lang="zh-CN" altLang="en-US"/>
        </a:p>
      </dgm:t>
    </dgm:pt>
    <dgm:pt modelId="{CEA946FB-7637-4AC4-87C9-D94B6B1BF0ED}" type="pres">
      <dgm:prSet presAssocID="{3C852523-9A70-4E2F-AB0C-6BAAFBEEF00B}" presName="diagram" presStyleCnt="0">
        <dgm:presLayoutVars>
          <dgm:chPref val="1"/>
          <dgm:dir/>
          <dgm:animOne val="branch"/>
          <dgm:animLvl val="lvl"/>
          <dgm:resizeHandles val="exact"/>
        </dgm:presLayoutVars>
      </dgm:prSet>
      <dgm:spPr/>
      <dgm:t>
        <a:bodyPr/>
        <a:lstStyle/>
        <a:p>
          <a:endParaRPr lang="zh-CN" altLang="en-US"/>
        </a:p>
      </dgm:t>
    </dgm:pt>
    <dgm:pt modelId="{A9355BF9-0B8D-4AA3-81E0-555B7A4038C2}" type="pres">
      <dgm:prSet presAssocID="{1FDBD0C9-CABB-4403-A8B0-9D267EA04594}" presName="root1" presStyleCnt="0"/>
      <dgm:spPr/>
    </dgm:pt>
    <dgm:pt modelId="{E03C3CC8-C9CB-40B0-9D1E-90F777B70B03}" type="pres">
      <dgm:prSet presAssocID="{1FDBD0C9-CABB-4403-A8B0-9D267EA04594}" presName="LevelOneTextNode" presStyleLbl="node0" presStyleIdx="0" presStyleCnt="1" custScaleX="83387" custScaleY="83469">
        <dgm:presLayoutVars>
          <dgm:chPref val="3"/>
        </dgm:presLayoutVars>
      </dgm:prSet>
      <dgm:spPr/>
      <dgm:t>
        <a:bodyPr/>
        <a:lstStyle/>
        <a:p>
          <a:endParaRPr lang="zh-CN" altLang="en-US"/>
        </a:p>
      </dgm:t>
    </dgm:pt>
    <dgm:pt modelId="{1E7F3DB7-C9AE-4C41-9965-9E012891ACBF}" type="pres">
      <dgm:prSet presAssocID="{1FDBD0C9-CABB-4403-A8B0-9D267EA04594}" presName="level2hierChild" presStyleCnt="0"/>
      <dgm:spPr/>
    </dgm:pt>
    <dgm:pt modelId="{84ABA090-A814-4F06-942F-CA0E9ECEA477}" type="pres">
      <dgm:prSet presAssocID="{FEA158B0-92F9-4709-BD57-19CD9B217827}" presName="conn2-1" presStyleLbl="parChTrans1D2" presStyleIdx="0" presStyleCnt="1"/>
      <dgm:spPr/>
      <dgm:t>
        <a:bodyPr/>
        <a:lstStyle/>
        <a:p>
          <a:endParaRPr lang="zh-CN" altLang="en-US"/>
        </a:p>
      </dgm:t>
    </dgm:pt>
    <dgm:pt modelId="{741E6248-941D-4F50-8870-C10A81C3D8E2}" type="pres">
      <dgm:prSet presAssocID="{FEA158B0-92F9-4709-BD57-19CD9B217827}" presName="connTx" presStyleLbl="parChTrans1D2" presStyleIdx="0" presStyleCnt="1"/>
      <dgm:spPr/>
      <dgm:t>
        <a:bodyPr/>
        <a:lstStyle/>
        <a:p>
          <a:endParaRPr lang="zh-CN" altLang="en-US"/>
        </a:p>
      </dgm:t>
    </dgm:pt>
    <dgm:pt modelId="{7F8F7089-22B3-47D1-9313-F33D89B24048}" type="pres">
      <dgm:prSet presAssocID="{61522460-367F-4E6C-9574-CCDE82052B55}" presName="root2" presStyleCnt="0"/>
      <dgm:spPr/>
    </dgm:pt>
    <dgm:pt modelId="{B4CAD6B1-6FD4-42B4-AEAA-45F5EB72AD0A}" type="pres">
      <dgm:prSet presAssocID="{61522460-367F-4E6C-9574-CCDE82052B55}" presName="LevelTwoTextNode" presStyleLbl="node2" presStyleIdx="0" presStyleCnt="1" custScaleX="107702" custScaleY="83469">
        <dgm:presLayoutVars>
          <dgm:chPref val="3"/>
        </dgm:presLayoutVars>
      </dgm:prSet>
      <dgm:spPr/>
      <dgm:t>
        <a:bodyPr/>
        <a:lstStyle/>
        <a:p>
          <a:endParaRPr lang="zh-CN" altLang="en-US"/>
        </a:p>
      </dgm:t>
    </dgm:pt>
    <dgm:pt modelId="{AF6B749C-95A5-4CF0-A58B-224817A32B8A}" type="pres">
      <dgm:prSet presAssocID="{61522460-367F-4E6C-9574-CCDE82052B55}" presName="level3hierChild" presStyleCnt="0"/>
      <dgm:spPr/>
    </dgm:pt>
    <dgm:pt modelId="{97014E8D-C35E-4356-98B8-8CE9C82E414C}" type="pres">
      <dgm:prSet presAssocID="{94026B1A-FFD6-4A77-84AE-EA3C6EADA121}" presName="conn2-1" presStyleLbl="parChTrans1D3" presStyleIdx="0" presStyleCnt="2"/>
      <dgm:spPr/>
      <dgm:t>
        <a:bodyPr/>
        <a:lstStyle/>
        <a:p>
          <a:endParaRPr lang="zh-CN" altLang="en-US"/>
        </a:p>
      </dgm:t>
    </dgm:pt>
    <dgm:pt modelId="{5CC05902-1E34-4F5A-B4FA-C5880E753972}" type="pres">
      <dgm:prSet presAssocID="{94026B1A-FFD6-4A77-84AE-EA3C6EADA121}" presName="connTx" presStyleLbl="parChTrans1D3" presStyleIdx="0" presStyleCnt="2"/>
      <dgm:spPr/>
      <dgm:t>
        <a:bodyPr/>
        <a:lstStyle/>
        <a:p>
          <a:endParaRPr lang="zh-CN" altLang="en-US"/>
        </a:p>
      </dgm:t>
    </dgm:pt>
    <dgm:pt modelId="{8BE248DC-578E-4DE0-9A70-25AB0EB12D06}" type="pres">
      <dgm:prSet presAssocID="{B73AF6B2-F6E1-47C9-B08F-1C7A15CFAA78}" presName="root2" presStyleCnt="0"/>
      <dgm:spPr/>
    </dgm:pt>
    <dgm:pt modelId="{33276894-D0AB-42CF-9468-1AD364B44FE9}" type="pres">
      <dgm:prSet presAssocID="{B73AF6B2-F6E1-47C9-B08F-1C7A15CFAA78}" presName="LevelTwoTextNode" presStyleLbl="node3" presStyleIdx="0" presStyleCnt="2" custScaleX="112573" custScaleY="83207">
        <dgm:presLayoutVars>
          <dgm:chPref val="3"/>
        </dgm:presLayoutVars>
      </dgm:prSet>
      <dgm:spPr/>
      <dgm:t>
        <a:bodyPr/>
        <a:lstStyle/>
        <a:p>
          <a:endParaRPr lang="zh-CN" altLang="en-US"/>
        </a:p>
      </dgm:t>
    </dgm:pt>
    <dgm:pt modelId="{1ECFACAE-F859-4638-8370-199FFC66937A}" type="pres">
      <dgm:prSet presAssocID="{B73AF6B2-F6E1-47C9-B08F-1C7A15CFAA78}" presName="level3hierChild" presStyleCnt="0"/>
      <dgm:spPr/>
    </dgm:pt>
    <dgm:pt modelId="{B0A4A459-D218-40F1-A5D1-A508A3AE4E1D}" type="pres">
      <dgm:prSet presAssocID="{BEB3DD15-EF4C-49A3-9C35-3480EA0CAA5C}" presName="conn2-1" presStyleLbl="parChTrans1D3" presStyleIdx="1" presStyleCnt="2"/>
      <dgm:spPr/>
      <dgm:t>
        <a:bodyPr/>
        <a:lstStyle/>
        <a:p>
          <a:endParaRPr lang="zh-CN" altLang="en-US"/>
        </a:p>
      </dgm:t>
    </dgm:pt>
    <dgm:pt modelId="{B77F6729-B0E4-4F3C-9885-ED1B47F845A5}" type="pres">
      <dgm:prSet presAssocID="{BEB3DD15-EF4C-49A3-9C35-3480EA0CAA5C}" presName="connTx" presStyleLbl="parChTrans1D3" presStyleIdx="1" presStyleCnt="2"/>
      <dgm:spPr/>
      <dgm:t>
        <a:bodyPr/>
        <a:lstStyle/>
        <a:p>
          <a:endParaRPr lang="zh-CN" altLang="en-US"/>
        </a:p>
      </dgm:t>
    </dgm:pt>
    <dgm:pt modelId="{04654DC9-A7A7-4D7C-AD14-C68418972030}" type="pres">
      <dgm:prSet presAssocID="{45025F86-A188-4D46-84AF-23F385EA6FB7}" presName="root2" presStyleCnt="0"/>
      <dgm:spPr/>
    </dgm:pt>
    <dgm:pt modelId="{4D9D6B07-9256-4549-901B-ED9815FED418}" type="pres">
      <dgm:prSet presAssocID="{45025F86-A188-4D46-84AF-23F385EA6FB7}" presName="LevelTwoTextNode" presStyleLbl="node3" presStyleIdx="1" presStyleCnt="2" custScaleX="112573" custScaleY="83207">
        <dgm:presLayoutVars>
          <dgm:chPref val="3"/>
        </dgm:presLayoutVars>
      </dgm:prSet>
      <dgm:spPr/>
      <dgm:t>
        <a:bodyPr/>
        <a:lstStyle/>
        <a:p>
          <a:endParaRPr lang="zh-CN" altLang="en-US"/>
        </a:p>
      </dgm:t>
    </dgm:pt>
    <dgm:pt modelId="{08EF9C8E-76CC-4419-8AD3-E54FBFAF5C59}" type="pres">
      <dgm:prSet presAssocID="{45025F86-A188-4D46-84AF-23F385EA6FB7}" presName="level3hierChild" presStyleCnt="0"/>
      <dgm:spPr/>
    </dgm:pt>
  </dgm:ptLst>
  <dgm:cxnLst>
    <dgm:cxn modelId="{F884E9CB-D82F-4E83-A271-E7B141223C30}" srcId="{3C852523-9A70-4E2F-AB0C-6BAAFBEEF00B}" destId="{1FDBD0C9-CABB-4403-A8B0-9D267EA04594}" srcOrd="0" destOrd="0" parTransId="{2ED6228A-0B7A-4778-893B-C6C566F4A354}" sibTransId="{6639EB47-ECF2-437D-BA9F-807A1B92C6BE}"/>
    <dgm:cxn modelId="{D67375F3-A0AE-4A72-A663-C7176DC89AA1}" type="presOf" srcId="{61522460-367F-4E6C-9574-CCDE82052B55}" destId="{B4CAD6B1-6FD4-42B4-AEAA-45F5EB72AD0A}" srcOrd="0" destOrd="0" presId="urn:microsoft.com/office/officeart/2005/8/layout/hierarchy2"/>
    <dgm:cxn modelId="{DE3A8639-3752-4D6B-978D-E315E8AFF233}" srcId="{61522460-367F-4E6C-9574-CCDE82052B55}" destId="{45025F86-A188-4D46-84AF-23F385EA6FB7}" srcOrd="1" destOrd="0" parTransId="{BEB3DD15-EF4C-49A3-9C35-3480EA0CAA5C}" sibTransId="{D182F582-A44B-4E99-A1A3-4A37A67849FF}"/>
    <dgm:cxn modelId="{C74D9254-3F92-4634-91CF-48553DC02D71}" type="presOf" srcId="{BEB3DD15-EF4C-49A3-9C35-3480EA0CAA5C}" destId="{B77F6729-B0E4-4F3C-9885-ED1B47F845A5}" srcOrd="1" destOrd="0" presId="urn:microsoft.com/office/officeart/2005/8/layout/hierarchy2"/>
    <dgm:cxn modelId="{04CA9EF2-C577-4E3D-9C98-119DA15211A8}" srcId="{61522460-367F-4E6C-9574-CCDE82052B55}" destId="{B73AF6B2-F6E1-47C9-B08F-1C7A15CFAA78}" srcOrd="0" destOrd="0" parTransId="{94026B1A-FFD6-4A77-84AE-EA3C6EADA121}" sibTransId="{F2FB31DD-1B4B-4A9D-8B13-79DE1846DE79}"/>
    <dgm:cxn modelId="{5684802C-2509-4B97-B5DA-B9CFBD4FE4E2}" type="presOf" srcId="{1FDBD0C9-CABB-4403-A8B0-9D267EA04594}" destId="{E03C3CC8-C9CB-40B0-9D1E-90F777B70B03}" srcOrd="0" destOrd="0" presId="urn:microsoft.com/office/officeart/2005/8/layout/hierarchy2"/>
    <dgm:cxn modelId="{A513F5F6-6FF9-46CA-90F1-A2FC8DC28F9F}" type="presOf" srcId="{FEA158B0-92F9-4709-BD57-19CD9B217827}" destId="{741E6248-941D-4F50-8870-C10A81C3D8E2}" srcOrd="1" destOrd="0" presId="urn:microsoft.com/office/officeart/2005/8/layout/hierarchy2"/>
    <dgm:cxn modelId="{21C2AE1D-43E7-4417-95C3-7880895DE35E}" type="presOf" srcId="{3C852523-9A70-4E2F-AB0C-6BAAFBEEF00B}" destId="{CEA946FB-7637-4AC4-87C9-D94B6B1BF0ED}" srcOrd="0" destOrd="0" presId="urn:microsoft.com/office/officeart/2005/8/layout/hierarchy2"/>
    <dgm:cxn modelId="{1AFC44B1-0AE6-405A-B273-C5AE1AE44601}" type="presOf" srcId="{BEB3DD15-EF4C-49A3-9C35-3480EA0CAA5C}" destId="{B0A4A459-D218-40F1-A5D1-A508A3AE4E1D}" srcOrd="0" destOrd="0" presId="urn:microsoft.com/office/officeart/2005/8/layout/hierarchy2"/>
    <dgm:cxn modelId="{1935818E-D2A7-43DF-9C66-2A9D1851F25B}" type="presOf" srcId="{FEA158B0-92F9-4709-BD57-19CD9B217827}" destId="{84ABA090-A814-4F06-942F-CA0E9ECEA477}" srcOrd="0" destOrd="0" presId="urn:microsoft.com/office/officeart/2005/8/layout/hierarchy2"/>
    <dgm:cxn modelId="{3C25D60C-5D3C-4565-BC25-1BB54C92654B}" type="presOf" srcId="{94026B1A-FFD6-4A77-84AE-EA3C6EADA121}" destId="{5CC05902-1E34-4F5A-B4FA-C5880E753972}" srcOrd="1" destOrd="0" presId="urn:microsoft.com/office/officeart/2005/8/layout/hierarchy2"/>
    <dgm:cxn modelId="{00EA5177-5B48-4058-907E-D608199C8D5A}" type="presOf" srcId="{B73AF6B2-F6E1-47C9-B08F-1C7A15CFAA78}" destId="{33276894-D0AB-42CF-9468-1AD364B44FE9}" srcOrd="0" destOrd="0" presId="urn:microsoft.com/office/officeart/2005/8/layout/hierarchy2"/>
    <dgm:cxn modelId="{DC9EBA73-1352-4067-9D66-6172169C7408}" type="presOf" srcId="{45025F86-A188-4D46-84AF-23F385EA6FB7}" destId="{4D9D6B07-9256-4549-901B-ED9815FED418}" srcOrd="0" destOrd="0" presId="urn:microsoft.com/office/officeart/2005/8/layout/hierarchy2"/>
    <dgm:cxn modelId="{D92E2E02-64AA-4D8C-A891-A58A04852018}" type="presOf" srcId="{94026B1A-FFD6-4A77-84AE-EA3C6EADA121}" destId="{97014E8D-C35E-4356-98B8-8CE9C82E414C}" srcOrd="0" destOrd="0" presId="urn:microsoft.com/office/officeart/2005/8/layout/hierarchy2"/>
    <dgm:cxn modelId="{AF3D5273-1251-4E57-824B-213022BCBE7F}" srcId="{1FDBD0C9-CABB-4403-A8B0-9D267EA04594}" destId="{61522460-367F-4E6C-9574-CCDE82052B55}" srcOrd="0" destOrd="0" parTransId="{FEA158B0-92F9-4709-BD57-19CD9B217827}" sibTransId="{8372DBCC-4D50-4833-B49A-28312BB31D67}"/>
    <dgm:cxn modelId="{4A33618D-2B1B-4E87-AA94-BAB2F489E21C}" type="presParOf" srcId="{CEA946FB-7637-4AC4-87C9-D94B6B1BF0ED}" destId="{A9355BF9-0B8D-4AA3-81E0-555B7A4038C2}" srcOrd="0" destOrd="0" presId="urn:microsoft.com/office/officeart/2005/8/layout/hierarchy2"/>
    <dgm:cxn modelId="{EF769533-94B0-43C2-86D5-D7D6DF6E4796}" type="presParOf" srcId="{A9355BF9-0B8D-4AA3-81E0-555B7A4038C2}" destId="{E03C3CC8-C9CB-40B0-9D1E-90F777B70B03}" srcOrd="0" destOrd="0" presId="urn:microsoft.com/office/officeart/2005/8/layout/hierarchy2"/>
    <dgm:cxn modelId="{C433D304-3F8F-4154-B0B0-7F21821F6760}" type="presParOf" srcId="{A9355BF9-0B8D-4AA3-81E0-555B7A4038C2}" destId="{1E7F3DB7-C9AE-4C41-9965-9E012891ACBF}" srcOrd="1" destOrd="0" presId="urn:microsoft.com/office/officeart/2005/8/layout/hierarchy2"/>
    <dgm:cxn modelId="{A8EA1BE9-96AD-4796-94C9-6BB694601422}" type="presParOf" srcId="{1E7F3DB7-C9AE-4C41-9965-9E012891ACBF}" destId="{84ABA090-A814-4F06-942F-CA0E9ECEA477}" srcOrd="0" destOrd="0" presId="urn:microsoft.com/office/officeart/2005/8/layout/hierarchy2"/>
    <dgm:cxn modelId="{D4A76A31-A1DA-4017-A4EE-C58066CFED21}" type="presParOf" srcId="{84ABA090-A814-4F06-942F-CA0E9ECEA477}" destId="{741E6248-941D-4F50-8870-C10A81C3D8E2}" srcOrd="0" destOrd="0" presId="urn:microsoft.com/office/officeart/2005/8/layout/hierarchy2"/>
    <dgm:cxn modelId="{AB9D10AE-770D-4655-86A3-A1CA895257F5}" type="presParOf" srcId="{1E7F3DB7-C9AE-4C41-9965-9E012891ACBF}" destId="{7F8F7089-22B3-47D1-9313-F33D89B24048}" srcOrd="1" destOrd="0" presId="urn:microsoft.com/office/officeart/2005/8/layout/hierarchy2"/>
    <dgm:cxn modelId="{08ACB8F0-7E9A-498A-BB0E-9E0BA31B138E}" type="presParOf" srcId="{7F8F7089-22B3-47D1-9313-F33D89B24048}" destId="{B4CAD6B1-6FD4-42B4-AEAA-45F5EB72AD0A}" srcOrd="0" destOrd="0" presId="urn:microsoft.com/office/officeart/2005/8/layout/hierarchy2"/>
    <dgm:cxn modelId="{D9859658-04CF-4FA5-9567-CB0B64E4E478}" type="presParOf" srcId="{7F8F7089-22B3-47D1-9313-F33D89B24048}" destId="{AF6B749C-95A5-4CF0-A58B-224817A32B8A}" srcOrd="1" destOrd="0" presId="urn:microsoft.com/office/officeart/2005/8/layout/hierarchy2"/>
    <dgm:cxn modelId="{A13A0F19-A312-41B2-A184-BCEC33D02A3A}" type="presParOf" srcId="{AF6B749C-95A5-4CF0-A58B-224817A32B8A}" destId="{97014E8D-C35E-4356-98B8-8CE9C82E414C}" srcOrd="0" destOrd="0" presId="urn:microsoft.com/office/officeart/2005/8/layout/hierarchy2"/>
    <dgm:cxn modelId="{331B5C0D-6936-4797-BC54-B684CC343879}" type="presParOf" srcId="{97014E8D-C35E-4356-98B8-8CE9C82E414C}" destId="{5CC05902-1E34-4F5A-B4FA-C5880E753972}" srcOrd="0" destOrd="0" presId="urn:microsoft.com/office/officeart/2005/8/layout/hierarchy2"/>
    <dgm:cxn modelId="{630EF049-288A-44D0-8EC5-8E10DC3E73C1}" type="presParOf" srcId="{AF6B749C-95A5-4CF0-A58B-224817A32B8A}" destId="{8BE248DC-578E-4DE0-9A70-25AB0EB12D06}" srcOrd="1" destOrd="0" presId="urn:microsoft.com/office/officeart/2005/8/layout/hierarchy2"/>
    <dgm:cxn modelId="{79BE071C-4CCE-4126-913C-063B35443A34}" type="presParOf" srcId="{8BE248DC-578E-4DE0-9A70-25AB0EB12D06}" destId="{33276894-D0AB-42CF-9468-1AD364B44FE9}" srcOrd="0" destOrd="0" presId="urn:microsoft.com/office/officeart/2005/8/layout/hierarchy2"/>
    <dgm:cxn modelId="{58D8D34C-F241-4F21-926C-2A3DDDDFADAE}" type="presParOf" srcId="{8BE248DC-578E-4DE0-9A70-25AB0EB12D06}" destId="{1ECFACAE-F859-4638-8370-199FFC66937A}" srcOrd="1" destOrd="0" presId="urn:microsoft.com/office/officeart/2005/8/layout/hierarchy2"/>
    <dgm:cxn modelId="{FEE9DC05-5F6B-409C-AB99-11D03C2D7257}" type="presParOf" srcId="{AF6B749C-95A5-4CF0-A58B-224817A32B8A}" destId="{B0A4A459-D218-40F1-A5D1-A508A3AE4E1D}" srcOrd="2" destOrd="0" presId="urn:microsoft.com/office/officeart/2005/8/layout/hierarchy2"/>
    <dgm:cxn modelId="{0B18567A-C27F-4777-8276-D35AF3E3F901}" type="presParOf" srcId="{B0A4A459-D218-40F1-A5D1-A508A3AE4E1D}" destId="{B77F6729-B0E4-4F3C-9885-ED1B47F845A5}" srcOrd="0" destOrd="0" presId="urn:microsoft.com/office/officeart/2005/8/layout/hierarchy2"/>
    <dgm:cxn modelId="{4D692220-5AE0-4F9F-B904-112643A35085}" type="presParOf" srcId="{AF6B749C-95A5-4CF0-A58B-224817A32B8A}" destId="{04654DC9-A7A7-4D7C-AD14-C68418972030}" srcOrd="3" destOrd="0" presId="urn:microsoft.com/office/officeart/2005/8/layout/hierarchy2"/>
    <dgm:cxn modelId="{8C210C73-906A-4CFC-9EBB-F623F1F2B205}" type="presParOf" srcId="{04654DC9-A7A7-4D7C-AD14-C68418972030}" destId="{4D9D6B07-9256-4549-901B-ED9815FED418}" srcOrd="0" destOrd="0" presId="urn:microsoft.com/office/officeart/2005/8/layout/hierarchy2"/>
    <dgm:cxn modelId="{66ED04BD-3BA9-4BFD-BC7D-FE209A6EF5C8}" type="presParOf" srcId="{04654DC9-A7A7-4D7C-AD14-C68418972030}" destId="{08EF9C8E-76CC-4419-8AD3-E54FBFAF5C59}" srcOrd="1" destOrd="0" presId="urn:microsoft.com/office/officeart/2005/8/layout/hierarchy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0BF44D-1BE8-488F-B312-C72CFDED8BC8}">
      <dsp:nvSpPr>
        <dsp:cNvPr id="0" name=""/>
        <dsp:cNvSpPr/>
      </dsp:nvSpPr>
      <dsp:spPr>
        <a:xfrm rot="5400000">
          <a:off x="-192121" y="192266"/>
          <a:ext cx="1280812" cy="89656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zh-CN" altLang="en-US" sz="1900" kern="1200" dirty="0">
              <a:latin typeface="黑体" panose="02010609060101010101" pitchFamily="49" charset="-122"/>
              <a:ea typeface="黑体" panose="02010609060101010101" pitchFamily="49" charset="-122"/>
            </a:rPr>
            <a:t>前处理</a:t>
          </a:r>
        </a:p>
      </dsp:txBody>
      <dsp:txXfrm rot="-5400000">
        <a:off x="1" y="448428"/>
        <a:ext cx="896568" cy="384244"/>
      </dsp:txXfrm>
    </dsp:sp>
    <dsp:sp modelId="{C16E5F63-9162-4BDD-B857-197CF3E9C7E5}">
      <dsp:nvSpPr>
        <dsp:cNvPr id="0" name=""/>
        <dsp:cNvSpPr/>
      </dsp:nvSpPr>
      <dsp:spPr>
        <a:xfrm rot="5400000">
          <a:off x="4643327" y="-3746614"/>
          <a:ext cx="832528" cy="8326046"/>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zh-CN" altLang="en-US" sz="2800" b="1" kern="1200" dirty="0">
              <a:latin typeface="仿宋" panose="02010609060101010101" pitchFamily="49" charset="-122"/>
              <a:ea typeface="仿宋" panose="02010609060101010101" pitchFamily="49" charset="-122"/>
            </a:rPr>
            <a:t>①参数定义②三维建模③材料属性④</a:t>
          </a:r>
          <a:r>
            <a:rPr lang="zh-CN" altLang="en-US" sz="2800" b="1" kern="1200" dirty="0">
              <a:highlight>
                <a:srgbClr val="FFFF00"/>
              </a:highlight>
              <a:latin typeface="仿宋" panose="02010609060101010101" pitchFamily="49" charset="-122"/>
              <a:ea typeface="仿宋" panose="02010609060101010101" pitchFamily="49" charset="-122"/>
            </a:rPr>
            <a:t>网格剖分</a:t>
          </a:r>
        </a:p>
      </dsp:txBody>
      <dsp:txXfrm rot="-5400000">
        <a:off x="896569" y="40785"/>
        <a:ext cx="8285405" cy="751246"/>
      </dsp:txXfrm>
    </dsp:sp>
    <dsp:sp modelId="{99434B3B-7A73-4C29-A7FB-09F12603297F}">
      <dsp:nvSpPr>
        <dsp:cNvPr id="0" name=""/>
        <dsp:cNvSpPr/>
      </dsp:nvSpPr>
      <dsp:spPr>
        <a:xfrm rot="5400000">
          <a:off x="-192121" y="1326603"/>
          <a:ext cx="1280812" cy="89656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zh-CN" altLang="en-US" sz="1900" kern="1200" dirty="0">
              <a:latin typeface="黑体" panose="02010609060101010101" pitchFamily="49" charset="-122"/>
              <a:ea typeface="黑体" panose="02010609060101010101" pitchFamily="49" charset="-122"/>
            </a:rPr>
            <a:t>求解</a:t>
          </a:r>
        </a:p>
      </dsp:txBody>
      <dsp:txXfrm rot="-5400000">
        <a:off x="1" y="1582765"/>
        <a:ext cx="896568" cy="384244"/>
      </dsp:txXfrm>
    </dsp:sp>
    <dsp:sp modelId="{775B1EC6-F53C-4600-8897-657984FFCF08}">
      <dsp:nvSpPr>
        <dsp:cNvPr id="0" name=""/>
        <dsp:cNvSpPr/>
      </dsp:nvSpPr>
      <dsp:spPr>
        <a:xfrm rot="5400000">
          <a:off x="4643327" y="-2612277"/>
          <a:ext cx="832528" cy="8326046"/>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zh-CN" altLang="en-US" sz="3200" b="1" kern="1200" dirty="0">
              <a:latin typeface="仿宋" panose="02010609060101010101" pitchFamily="49" charset="-122"/>
              <a:ea typeface="仿宋" panose="02010609060101010101" pitchFamily="49" charset="-122"/>
            </a:rPr>
            <a:t>①</a:t>
          </a:r>
          <a:r>
            <a:rPr lang="zh-CN" altLang="en-US" sz="3200" b="1" kern="1200" dirty="0">
              <a:solidFill>
                <a:prstClr val="black"/>
              </a:solidFill>
              <a:highlight>
                <a:srgbClr val="FFFF00"/>
              </a:highlight>
              <a:latin typeface="仿宋" panose="02010609060101010101" pitchFamily="49" charset="-122"/>
              <a:ea typeface="仿宋" panose="02010609060101010101" pitchFamily="49" charset="-122"/>
              <a:cs typeface="+mn-cs"/>
            </a:rPr>
            <a:t>分析类型</a:t>
          </a:r>
          <a:r>
            <a:rPr lang="zh-CN" altLang="en-US" sz="3200" b="1" kern="1200" dirty="0">
              <a:latin typeface="仿宋" panose="02010609060101010101" pitchFamily="49" charset="-122"/>
              <a:ea typeface="仿宋" panose="02010609060101010101" pitchFamily="49" charset="-122"/>
            </a:rPr>
            <a:t>②连接关系③边界条件</a:t>
          </a:r>
        </a:p>
      </dsp:txBody>
      <dsp:txXfrm rot="-5400000">
        <a:off x="896569" y="1175122"/>
        <a:ext cx="8285405" cy="751246"/>
      </dsp:txXfrm>
    </dsp:sp>
    <dsp:sp modelId="{9697CE3A-D40F-4C3B-AD4C-7B3FEAF52D71}">
      <dsp:nvSpPr>
        <dsp:cNvPr id="0" name=""/>
        <dsp:cNvSpPr/>
      </dsp:nvSpPr>
      <dsp:spPr>
        <a:xfrm rot="5400000">
          <a:off x="-192121" y="2460941"/>
          <a:ext cx="1280812" cy="89656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zh-CN" altLang="en-US" sz="1900" kern="1200" dirty="0">
              <a:latin typeface="黑体" panose="02010609060101010101" pitchFamily="49" charset="-122"/>
              <a:ea typeface="黑体" panose="02010609060101010101" pitchFamily="49" charset="-122"/>
            </a:rPr>
            <a:t>后处理</a:t>
          </a:r>
        </a:p>
      </dsp:txBody>
      <dsp:txXfrm rot="-5400000">
        <a:off x="1" y="2717103"/>
        <a:ext cx="896568" cy="384244"/>
      </dsp:txXfrm>
    </dsp:sp>
    <dsp:sp modelId="{56DBBD24-019C-4F1F-AC46-E85C39356D58}">
      <dsp:nvSpPr>
        <dsp:cNvPr id="0" name=""/>
        <dsp:cNvSpPr/>
      </dsp:nvSpPr>
      <dsp:spPr>
        <a:xfrm rot="5400000">
          <a:off x="4643327" y="-1477939"/>
          <a:ext cx="832528" cy="8326046"/>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zh-CN" altLang="en-US" sz="3200" b="1" kern="1200" dirty="0">
              <a:latin typeface="仿宋" panose="02010609060101010101" pitchFamily="49" charset="-122"/>
              <a:ea typeface="仿宋" panose="02010609060101010101" pitchFamily="49" charset="-122"/>
            </a:rPr>
            <a:t>得到不同的云图（①位移②应力</a:t>
          </a:r>
          <a:r>
            <a:rPr lang="en-US" altLang="zh-CN" sz="3200" b="1" kern="1200" dirty="0">
              <a:latin typeface="仿宋" panose="02010609060101010101" pitchFamily="49" charset="-122"/>
              <a:ea typeface="仿宋" panose="02010609060101010101" pitchFamily="49" charset="-122"/>
            </a:rPr>
            <a:t>……</a:t>
          </a:r>
          <a:r>
            <a:rPr lang="zh-CN" altLang="en-US" sz="3200" b="1" kern="1200" dirty="0">
              <a:latin typeface="仿宋" panose="02010609060101010101" pitchFamily="49" charset="-122"/>
              <a:ea typeface="仿宋" panose="02010609060101010101" pitchFamily="49" charset="-122"/>
            </a:rPr>
            <a:t>）</a:t>
          </a:r>
        </a:p>
      </dsp:txBody>
      <dsp:txXfrm rot="-5400000">
        <a:off x="896569" y="2309460"/>
        <a:ext cx="8285405" cy="751246"/>
      </dsp:txXfrm>
    </dsp:sp>
    <dsp:sp modelId="{4C7D926E-A5ED-41BE-8260-0944FFFF893D}">
      <dsp:nvSpPr>
        <dsp:cNvPr id="0" name=""/>
        <dsp:cNvSpPr/>
      </dsp:nvSpPr>
      <dsp:spPr>
        <a:xfrm rot="5400000">
          <a:off x="-192121" y="3595278"/>
          <a:ext cx="1280812" cy="89656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US" altLang="zh-CN" sz="1900" kern="1200" dirty="0">
              <a:latin typeface="黑体" panose="02010609060101010101" pitchFamily="49" charset="-122"/>
              <a:ea typeface="黑体" panose="02010609060101010101" pitchFamily="49" charset="-122"/>
            </a:rPr>
            <a:t>APP</a:t>
          </a:r>
          <a:r>
            <a:rPr lang="zh-CN" altLang="en-US" sz="1900" kern="1200" dirty="0">
              <a:latin typeface="黑体" panose="02010609060101010101" pitchFamily="49" charset="-122"/>
              <a:ea typeface="黑体" panose="02010609060101010101" pitchFamily="49" charset="-122"/>
            </a:rPr>
            <a:t>封装</a:t>
          </a:r>
        </a:p>
      </dsp:txBody>
      <dsp:txXfrm rot="-5400000">
        <a:off x="1" y="3851440"/>
        <a:ext cx="896568" cy="384244"/>
      </dsp:txXfrm>
    </dsp:sp>
    <dsp:sp modelId="{0AFEE43A-F7B6-4A5C-A6FA-F128E8C38E04}">
      <dsp:nvSpPr>
        <dsp:cNvPr id="0" name=""/>
        <dsp:cNvSpPr/>
      </dsp:nvSpPr>
      <dsp:spPr>
        <a:xfrm rot="5400000">
          <a:off x="4643327" y="-343602"/>
          <a:ext cx="832528" cy="8326046"/>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zh-CN" altLang="en-US" sz="3200" b="1" kern="1200" dirty="0">
              <a:latin typeface="仿宋" panose="02010609060101010101" pitchFamily="49" charset="-122"/>
              <a:ea typeface="仿宋" panose="02010609060101010101" pitchFamily="49" charset="-122"/>
            </a:rPr>
            <a:t>①绑定参数②</a:t>
          </a:r>
          <a:r>
            <a:rPr lang="en-US" altLang="zh-CN" sz="3200" b="1" kern="1200" dirty="0">
              <a:solidFill>
                <a:prstClr val="black"/>
              </a:solidFill>
              <a:highlight>
                <a:srgbClr val="FFFF00"/>
              </a:highlight>
              <a:latin typeface="仿宋" panose="02010609060101010101" pitchFamily="49" charset="-122"/>
              <a:ea typeface="仿宋" panose="02010609060101010101" pitchFamily="49" charset="-122"/>
              <a:cs typeface="+mn-cs"/>
            </a:rPr>
            <a:t>APP</a:t>
          </a:r>
          <a:r>
            <a:rPr lang="zh-CN" altLang="en-US" sz="3200" b="1" kern="1200" dirty="0">
              <a:solidFill>
                <a:prstClr val="black"/>
              </a:solidFill>
              <a:highlight>
                <a:srgbClr val="FFFF00"/>
              </a:highlight>
              <a:latin typeface="仿宋" panose="02010609060101010101" pitchFamily="49" charset="-122"/>
              <a:ea typeface="仿宋" panose="02010609060101010101" pitchFamily="49" charset="-122"/>
              <a:cs typeface="+mn-cs"/>
            </a:rPr>
            <a:t>开发</a:t>
          </a:r>
        </a:p>
      </dsp:txBody>
      <dsp:txXfrm rot="-5400000">
        <a:off x="896569" y="3443797"/>
        <a:ext cx="8285405" cy="7512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3C3CC8-C9CB-40B0-9D1E-90F777B70B03}">
      <dsp:nvSpPr>
        <dsp:cNvPr id="0" name=""/>
        <dsp:cNvSpPr/>
      </dsp:nvSpPr>
      <dsp:spPr>
        <a:xfrm>
          <a:off x="6040" y="862189"/>
          <a:ext cx="2121618" cy="1061852"/>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zh-CN" altLang="en-US" sz="2400" kern="1200" dirty="0">
              <a:latin typeface="黑体" panose="02010609060101010101" pitchFamily="49" charset="-122"/>
              <a:ea typeface="黑体" panose="02010609060101010101" pitchFamily="49" charset="-122"/>
            </a:rPr>
            <a:t>研究对象</a:t>
          </a:r>
          <a:endParaRPr lang="en-US" altLang="zh-CN" sz="2400" kern="1200" dirty="0">
            <a:latin typeface="黑体" panose="02010609060101010101" pitchFamily="49" charset="-122"/>
            <a:ea typeface="黑体" panose="02010609060101010101" pitchFamily="49" charset="-122"/>
          </a:endParaRPr>
        </a:p>
        <a:p>
          <a:pPr lvl="0" algn="ctr" defTabSz="1066800">
            <a:lnSpc>
              <a:spcPct val="90000"/>
            </a:lnSpc>
            <a:spcBef>
              <a:spcPct val="0"/>
            </a:spcBef>
            <a:spcAft>
              <a:spcPct val="35000"/>
            </a:spcAft>
          </a:pPr>
          <a:r>
            <a:rPr lang="zh-CN" altLang="en-US" sz="2400" kern="1200" dirty="0">
              <a:solidFill>
                <a:srgbClr val="FF0000"/>
              </a:solidFill>
              <a:latin typeface="黑体" panose="02010609060101010101" pitchFamily="49" charset="-122"/>
              <a:ea typeface="黑体" panose="02010609060101010101" pitchFamily="49" charset="-122"/>
            </a:rPr>
            <a:t>变形体</a:t>
          </a:r>
        </a:p>
      </dsp:txBody>
      <dsp:txXfrm>
        <a:off x="37141" y="893290"/>
        <a:ext cx="2059416" cy="999650"/>
      </dsp:txXfrm>
    </dsp:sp>
    <dsp:sp modelId="{84ABA090-A814-4F06-942F-CA0E9ECEA477}">
      <dsp:nvSpPr>
        <dsp:cNvPr id="0" name=""/>
        <dsp:cNvSpPr/>
      </dsp:nvSpPr>
      <dsp:spPr>
        <a:xfrm>
          <a:off x="2127658" y="1352023"/>
          <a:ext cx="1017721" cy="82185"/>
        </a:xfrm>
        <a:custGeom>
          <a:avLst/>
          <a:gdLst/>
          <a:ahLst/>
          <a:cxnLst/>
          <a:rect l="0" t="0" r="0" b="0"/>
          <a:pathLst>
            <a:path>
              <a:moveTo>
                <a:pt x="0" y="41092"/>
              </a:moveTo>
              <a:lnTo>
                <a:pt x="1017721" y="410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2611076" y="1367672"/>
        <a:ext cx="50886" cy="50886"/>
      </dsp:txXfrm>
    </dsp:sp>
    <dsp:sp modelId="{B4CAD6B1-6FD4-42B4-AEAA-45F5EB72AD0A}">
      <dsp:nvSpPr>
        <dsp:cNvPr id="0" name=""/>
        <dsp:cNvSpPr/>
      </dsp:nvSpPr>
      <dsp:spPr>
        <a:xfrm>
          <a:off x="3145380" y="862189"/>
          <a:ext cx="2740265" cy="1061852"/>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zh-CN" altLang="en-US" sz="1800" kern="1200" dirty="0">
              <a:latin typeface="黑体" panose="02010609060101010101" pitchFamily="49" charset="-122"/>
              <a:ea typeface="黑体" panose="02010609060101010101" pitchFamily="49" charset="-122"/>
            </a:rPr>
            <a:t>描述变形体的几个方面：</a:t>
          </a:r>
          <a:endParaRPr lang="en-US" altLang="zh-CN" sz="1800" kern="1200" dirty="0">
            <a:latin typeface="黑体" panose="02010609060101010101" pitchFamily="49" charset="-122"/>
            <a:ea typeface="黑体" panose="02010609060101010101" pitchFamily="49" charset="-122"/>
          </a:endParaRPr>
        </a:p>
        <a:p>
          <a:pPr lvl="0" algn="ctr" defTabSz="800100">
            <a:lnSpc>
              <a:spcPct val="90000"/>
            </a:lnSpc>
            <a:spcBef>
              <a:spcPct val="0"/>
            </a:spcBef>
            <a:spcAft>
              <a:spcPct val="35000"/>
            </a:spcAft>
          </a:pPr>
          <a:r>
            <a:rPr lang="zh-CN" altLang="en-US" sz="1800" kern="1200" dirty="0">
              <a:latin typeface="黑体" panose="02010609060101010101" pitchFamily="49" charset="-122"/>
              <a:ea typeface="黑体" panose="02010609060101010101" pitchFamily="49" charset="-122"/>
            </a:rPr>
            <a:t>力的描述、位移与变形、材料描述</a:t>
          </a:r>
        </a:p>
      </dsp:txBody>
      <dsp:txXfrm>
        <a:off x="3176481" y="893290"/>
        <a:ext cx="2678063" cy="999650"/>
      </dsp:txXfrm>
    </dsp:sp>
    <dsp:sp modelId="{97014E8D-C35E-4356-98B8-8CE9C82E414C}">
      <dsp:nvSpPr>
        <dsp:cNvPr id="0" name=""/>
        <dsp:cNvSpPr/>
      </dsp:nvSpPr>
      <dsp:spPr>
        <a:xfrm rot="19707519">
          <a:off x="5797436" y="1039687"/>
          <a:ext cx="1194139" cy="82185"/>
        </a:xfrm>
        <a:custGeom>
          <a:avLst/>
          <a:gdLst/>
          <a:ahLst/>
          <a:cxnLst/>
          <a:rect l="0" t="0" r="0" b="0"/>
          <a:pathLst>
            <a:path>
              <a:moveTo>
                <a:pt x="0" y="41092"/>
              </a:moveTo>
              <a:lnTo>
                <a:pt x="1194139" y="4109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6364652" y="1050927"/>
        <a:ext cx="59706" cy="59706"/>
      </dsp:txXfrm>
    </dsp:sp>
    <dsp:sp modelId="{33276894-D0AB-42CF-9468-1AD364B44FE9}">
      <dsp:nvSpPr>
        <dsp:cNvPr id="0" name=""/>
        <dsp:cNvSpPr/>
      </dsp:nvSpPr>
      <dsp:spPr>
        <a:xfrm>
          <a:off x="6903366" y="239185"/>
          <a:ext cx="2864198" cy="1058519"/>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zh-CN" altLang="en-US" sz="1800" kern="1200" dirty="0">
              <a:latin typeface="黑体" panose="02010609060101010101" pitchFamily="49" charset="-122"/>
              <a:ea typeface="黑体" panose="02010609060101010101" pitchFamily="49" charset="-122"/>
            </a:rPr>
            <a:t>描述变形体的</a:t>
          </a:r>
          <a:r>
            <a:rPr lang="zh-CN" altLang="en-US" sz="1800" kern="1200" dirty="0">
              <a:solidFill>
                <a:srgbClr val="002060"/>
              </a:solidFill>
              <a:latin typeface="黑体" panose="02010609060101010101" pitchFamily="49" charset="-122"/>
              <a:ea typeface="黑体" panose="02010609060101010101" pitchFamily="49" charset="-122"/>
            </a:rPr>
            <a:t>三大类变量</a:t>
          </a:r>
          <a:r>
            <a:rPr lang="zh-CN" altLang="en-US" sz="1800" kern="1200" dirty="0">
              <a:latin typeface="黑体" panose="02010609060101010101" pitchFamily="49" charset="-122"/>
              <a:ea typeface="黑体" panose="02010609060101010101" pitchFamily="49" charset="-122"/>
            </a:rPr>
            <a:t>：</a:t>
          </a:r>
          <a:endParaRPr lang="en-US" altLang="zh-CN" sz="1800" kern="1200" dirty="0">
            <a:latin typeface="黑体" panose="02010609060101010101" pitchFamily="49" charset="-122"/>
            <a:ea typeface="黑体" panose="02010609060101010101" pitchFamily="49" charset="-122"/>
          </a:endParaRPr>
        </a:p>
        <a:p>
          <a:pPr lvl="0" algn="ctr" defTabSz="800100">
            <a:lnSpc>
              <a:spcPct val="90000"/>
            </a:lnSpc>
            <a:spcBef>
              <a:spcPct val="0"/>
            </a:spcBef>
            <a:spcAft>
              <a:spcPct val="35000"/>
            </a:spcAft>
          </a:pPr>
          <a:r>
            <a:rPr lang="zh-CN" altLang="en-US" sz="1800" kern="1200" dirty="0">
              <a:latin typeface="黑体" panose="02010609060101010101" pitchFamily="49" charset="-122"/>
              <a:ea typeface="黑体" panose="02010609060101010101" pitchFamily="49" charset="-122"/>
            </a:rPr>
            <a:t>位移、应力、应变</a:t>
          </a:r>
        </a:p>
      </dsp:txBody>
      <dsp:txXfrm>
        <a:off x="6934369" y="270188"/>
        <a:ext cx="2802192" cy="996513"/>
      </dsp:txXfrm>
    </dsp:sp>
    <dsp:sp modelId="{B0A4A459-D218-40F1-A5D1-A508A3AE4E1D}">
      <dsp:nvSpPr>
        <dsp:cNvPr id="0" name=""/>
        <dsp:cNvSpPr/>
      </dsp:nvSpPr>
      <dsp:spPr>
        <a:xfrm rot="1892481">
          <a:off x="5797436" y="1664358"/>
          <a:ext cx="1194139" cy="82185"/>
        </a:xfrm>
        <a:custGeom>
          <a:avLst/>
          <a:gdLst/>
          <a:ahLst/>
          <a:cxnLst/>
          <a:rect l="0" t="0" r="0" b="0"/>
          <a:pathLst>
            <a:path>
              <a:moveTo>
                <a:pt x="0" y="41092"/>
              </a:moveTo>
              <a:lnTo>
                <a:pt x="1194139" y="4109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6364652" y="1675597"/>
        <a:ext cx="59706" cy="59706"/>
      </dsp:txXfrm>
    </dsp:sp>
    <dsp:sp modelId="{4D9D6B07-9256-4549-901B-ED9815FED418}">
      <dsp:nvSpPr>
        <dsp:cNvPr id="0" name=""/>
        <dsp:cNvSpPr/>
      </dsp:nvSpPr>
      <dsp:spPr>
        <a:xfrm>
          <a:off x="6903366" y="1488527"/>
          <a:ext cx="2864198" cy="1058519"/>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zh-CN" altLang="en-US" sz="1800" kern="1200" dirty="0">
              <a:latin typeface="黑体" panose="02010609060101010101" pitchFamily="49" charset="-122"/>
              <a:ea typeface="黑体" panose="02010609060101010101" pitchFamily="49" charset="-122"/>
            </a:rPr>
            <a:t>描述变形体的</a:t>
          </a:r>
          <a:r>
            <a:rPr lang="zh-CN" altLang="en-US" sz="1800" kern="1200" dirty="0">
              <a:solidFill>
                <a:srgbClr val="002060"/>
              </a:solidFill>
              <a:latin typeface="黑体" panose="02010609060101010101" pitchFamily="49" charset="-122"/>
              <a:ea typeface="黑体" panose="02010609060101010101" pitchFamily="49" charset="-122"/>
            </a:rPr>
            <a:t>三大类方程</a:t>
          </a:r>
          <a:r>
            <a:rPr lang="zh-CN" altLang="en-US" sz="1800" kern="1200" dirty="0">
              <a:latin typeface="黑体" panose="02010609060101010101" pitchFamily="49" charset="-122"/>
              <a:ea typeface="黑体" panose="02010609060101010101" pitchFamily="49" charset="-122"/>
            </a:rPr>
            <a:t>：</a:t>
          </a:r>
          <a:endParaRPr lang="en-US" altLang="zh-CN" sz="1800" kern="1200" dirty="0">
            <a:latin typeface="黑体" panose="02010609060101010101" pitchFamily="49" charset="-122"/>
            <a:ea typeface="黑体" panose="02010609060101010101" pitchFamily="49" charset="-122"/>
          </a:endParaRPr>
        </a:p>
        <a:p>
          <a:pPr lvl="0" algn="ctr" defTabSz="800100">
            <a:lnSpc>
              <a:spcPct val="90000"/>
            </a:lnSpc>
            <a:spcBef>
              <a:spcPct val="0"/>
            </a:spcBef>
            <a:spcAft>
              <a:spcPct val="35000"/>
            </a:spcAft>
          </a:pPr>
          <a:r>
            <a:rPr lang="zh-CN" altLang="en-US" sz="1800" kern="1200" dirty="0">
              <a:latin typeface="黑体" panose="02010609060101010101" pitchFamily="49" charset="-122"/>
              <a:ea typeface="黑体" panose="02010609060101010101" pitchFamily="49" charset="-122"/>
            </a:rPr>
            <a:t>平衡方程、几何方程</a:t>
          </a:r>
          <a:r>
            <a:rPr lang="zh-CN" altLang="en-US" sz="1800" kern="1200" dirty="0" smtClean="0">
              <a:latin typeface="黑体" panose="02010609060101010101" pitchFamily="49" charset="-122"/>
              <a:ea typeface="黑体" panose="02010609060101010101" pitchFamily="49" charset="-122"/>
            </a:rPr>
            <a:t>、</a:t>
          </a:r>
          <a:endParaRPr lang="en-US" altLang="zh-CN" sz="1800" kern="1200" dirty="0" smtClean="0">
            <a:latin typeface="黑体" panose="02010609060101010101" pitchFamily="49" charset="-122"/>
            <a:ea typeface="黑体" panose="02010609060101010101" pitchFamily="49" charset="-122"/>
          </a:endParaRPr>
        </a:p>
        <a:p>
          <a:pPr lvl="0" algn="ctr" defTabSz="800100">
            <a:lnSpc>
              <a:spcPct val="90000"/>
            </a:lnSpc>
            <a:spcBef>
              <a:spcPct val="0"/>
            </a:spcBef>
            <a:spcAft>
              <a:spcPct val="35000"/>
            </a:spcAft>
          </a:pPr>
          <a:r>
            <a:rPr lang="zh-CN" altLang="en-US" sz="1800" kern="1200" dirty="0" smtClean="0">
              <a:latin typeface="黑体" panose="02010609060101010101" pitchFamily="49" charset="-122"/>
              <a:ea typeface="黑体" panose="02010609060101010101" pitchFamily="49" charset="-122"/>
            </a:rPr>
            <a:t>本构方程</a:t>
          </a:r>
          <a:endParaRPr lang="zh-CN" altLang="en-US" sz="1800" kern="1200" dirty="0">
            <a:latin typeface="黑体" panose="02010609060101010101" pitchFamily="49" charset="-122"/>
            <a:ea typeface="黑体" panose="02010609060101010101" pitchFamily="49" charset="-122"/>
          </a:endParaRPr>
        </a:p>
      </dsp:txBody>
      <dsp:txXfrm>
        <a:off x="6934369" y="1519530"/>
        <a:ext cx="2802192" cy="996513"/>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CA21D3-6781-4600-AEE2-904F3C6A8B62}" type="datetimeFigureOut">
              <a:rPr lang="zh-CN" altLang="en-US" smtClean="0"/>
              <a:t>2024/5/6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599B74-D022-46F6-974F-2145000E51F4}" type="slidenum">
              <a:rPr lang="zh-CN" altLang="en-US" smtClean="0"/>
              <a:t>‹#›</a:t>
            </a:fld>
            <a:endParaRPr lang="zh-CN" altLang="en-US"/>
          </a:p>
        </p:txBody>
      </p:sp>
    </p:spTree>
    <p:extLst>
      <p:ext uri="{BB962C8B-B14F-4D97-AF65-F5344CB8AC3E}">
        <p14:creationId xmlns:p14="http://schemas.microsoft.com/office/powerpoint/2010/main" val="2991558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a:effectLst/>
                <a:latin typeface="Calibri" panose="020F0502020204030204" pitchFamily="34" charset="0"/>
                <a:ea typeface="宋体" panose="02010600030101010101" pitchFamily="2" charset="-122"/>
                <a:cs typeface="Times New Roman" panose="02020603050405020304" pitchFamily="18" charset="0"/>
              </a:rPr>
              <a:t>Simdroid</a:t>
            </a:r>
            <a:r>
              <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rPr>
              <a:t>是一个基于计算机辅助工程的开发平台，可以让同学们自己开发仿真</a:t>
            </a:r>
            <a:r>
              <a:rPr lang="en-US" altLang="zh-CN" sz="1200" kern="100" dirty="0">
                <a:effectLst/>
                <a:latin typeface="Calibri" panose="020F0502020204030204" pitchFamily="34" charset="0"/>
                <a:ea typeface="宋体" panose="02010600030101010101" pitchFamily="2" charset="-122"/>
                <a:cs typeface="Times New Roman" panose="02020603050405020304" pitchFamily="18" charset="0"/>
              </a:rPr>
              <a:t>APP</a:t>
            </a:r>
            <a:r>
              <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rPr>
              <a:t>。</a:t>
            </a:r>
            <a:endParaRPr lang="zh-CN" altLang="en-US" dirty="0"/>
          </a:p>
        </p:txBody>
      </p:sp>
      <p:sp>
        <p:nvSpPr>
          <p:cNvPr id="4" name="灯片编号占位符 3"/>
          <p:cNvSpPr>
            <a:spLocks noGrp="1"/>
          </p:cNvSpPr>
          <p:nvPr>
            <p:ph type="sldNum" sz="quarter" idx="5"/>
          </p:nvPr>
        </p:nvSpPr>
        <p:spPr/>
        <p:txBody>
          <a:bodyPr/>
          <a:lstStyle/>
          <a:p>
            <a:fld id="{F1599B74-D022-46F6-974F-2145000E51F4}" type="slidenum">
              <a:rPr lang="zh-CN" altLang="en-US" smtClean="0"/>
              <a:t>1</a:t>
            </a:fld>
            <a:endParaRPr lang="zh-CN" altLang="en-US"/>
          </a:p>
        </p:txBody>
      </p:sp>
    </p:spTree>
    <p:extLst>
      <p:ext uri="{BB962C8B-B14F-4D97-AF65-F5344CB8AC3E}">
        <p14:creationId xmlns:p14="http://schemas.microsoft.com/office/powerpoint/2010/main" val="11436147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200000"/>
              </a:lnSpc>
              <a:spcBef>
                <a:spcPts val="0"/>
              </a:spcBef>
              <a:spcAft>
                <a:spcPts val="0"/>
              </a:spcAft>
              <a:buClrTx/>
              <a:buSzTx/>
              <a:buFont typeface="Wingdings" panose="05000000000000000000" pitchFamily="2" charset="2"/>
              <a:buNone/>
              <a:tabLst/>
              <a:defRPr/>
            </a:pPr>
            <a:r>
              <a:rPr lang="en-US" altLang="zh-CN" sz="1200" kern="100" dirty="0">
                <a:effectLst/>
                <a:latin typeface="Calibri" panose="020F0502020204030204" pitchFamily="34" charset="0"/>
                <a:ea typeface="宋体" panose="02010600030101010101" pitchFamily="2" charset="-122"/>
                <a:cs typeface="Times New Roman" panose="02020603050405020304" pitchFamily="18" charset="0"/>
              </a:rPr>
              <a:t>Simdroid</a:t>
            </a:r>
            <a:r>
              <a:rPr lang="zh-CN" altLang="en-US" sz="1200" kern="100" dirty="0">
                <a:effectLst/>
                <a:latin typeface="Calibri" panose="020F0502020204030204" pitchFamily="34" charset="0"/>
                <a:ea typeface="宋体" panose="02010600030101010101" pitchFamily="2" charset="-122"/>
                <a:cs typeface="Times New Roman" panose="02020603050405020304" pitchFamily="18" charset="0"/>
              </a:rPr>
              <a:t>是一款基于自主仿真内核开发的通用</a:t>
            </a:r>
            <a:r>
              <a:rPr lang="en-US" altLang="zh-CN" sz="1200" kern="100" dirty="0">
                <a:effectLst/>
                <a:latin typeface="Calibri" panose="020F0502020204030204" pitchFamily="34" charset="0"/>
                <a:ea typeface="宋体" panose="02010600030101010101" pitchFamily="2" charset="-122"/>
                <a:cs typeface="Times New Roman" panose="02020603050405020304" pitchFamily="18" charset="0"/>
              </a:rPr>
              <a:t>CAE</a:t>
            </a:r>
            <a:r>
              <a:rPr lang="zh-CN" altLang="en-US" sz="1200" kern="100" dirty="0">
                <a:effectLst/>
                <a:latin typeface="Calibri" panose="020F0502020204030204" pitchFamily="34" charset="0"/>
                <a:ea typeface="宋体" panose="02010600030101010101" pitchFamily="2" charset="-122"/>
                <a:cs typeface="Times New Roman" panose="02020603050405020304" pitchFamily="18" charset="0"/>
              </a:rPr>
              <a:t>平台，</a:t>
            </a:r>
            <a:r>
              <a:rPr lang="en-US" altLang="zh-CN" sz="1200" kern="100" dirty="0">
                <a:effectLst/>
                <a:latin typeface="Calibri" panose="020F0502020204030204" pitchFamily="34" charset="0"/>
                <a:ea typeface="宋体" panose="02010600030101010101" pitchFamily="2" charset="-122"/>
                <a:cs typeface="Times New Roman" panose="02020603050405020304" pitchFamily="18" charset="0"/>
              </a:rPr>
              <a:t>CAE</a:t>
            </a:r>
            <a:r>
              <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rPr>
              <a:t>是用计算机辅助求解复杂工程问题和优化设计产品力学性能、结构性能的一种数值分析方法，在电子信息、航空航天、土木等领域上都有广泛的工程化运用。</a:t>
            </a:r>
            <a:r>
              <a:rPr lang="en-US" altLang="zh-CN" sz="1200" kern="100" dirty="0">
                <a:effectLst/>
                <a:latin typeface="Calibri" panose="020F0502020204030204" pitchFamily="34" charset="0"/>
                <a:ea typeface="宋体" panose="02010600030101010101" pitchFamily="2" charset="-122"/>
                <a:cs typeface="Times New Roman" panose="02020603050405020304" pitchFamily="18" charset="0"/>
              </a:rPr>
              <a:t>Simdroid </a:t>
            </a:r>
            <a:r>
              <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rPr>
              <a:t>具备自主可控的结构、电磁、流体和热四大物理场求解器和多物理场仿真内核，可以提供前处理、求解分析和后处理工具，并且它内置的</a:t>
            </a:r>
            <a:r>
              <a:rPr lang="en-US" altLang="zh-CN" sz="1200" kern="100" dirty="0">
                <a:effectLst/>
                <a:latin typeface="Calibri" panose="020F0502020204030204" pitchFamily="34" charset="0"/>
                <a:ea typeface="宋体" panose="02010600030101010101" pitchFamily="2" charset="-122"/>
                <a:cs typeface="Times New Roman" panose="02020603050405020304" pitchFamily="18" charset="0"/>
              </a:rPr>
              <a:t>APP</a:t>
            </a:r>
            <a:r>
              <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rPr>
              <a:t>开发器可以支持</a:t>
            </a:r>
            <a:r>
              <a:rPr lang="zh-CN" altLang="en-US" sz="1200" kern="100" dirty="0">
                <a:effectLst/>
                <a:latin typeface="Calibri" panose="020F0502020204030204" pitchFamily="34" charset="0"/>
                <a:ea typeface="宋体" panose="02010600030101010101" pitchFamily="2" charset="-122"/>
                <a:cs typeface="Times New Roman" panose="02020603050405020304" pitchFamily="18" charset="0"/>
              </a:rPr>
              <a:t>同学们</a:t>
            </a:r>
            <a:r>
              <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rPr>
              <a:t>以无代码的形式来开发</a:t>
            </a:r>
            <a:r>
              <a:rPr lang="zh-CN" altLang="en-US" sz="1200" kern="100" dirty="0">
                <a:effectLst/>
                <a:latin typeface="Calibri" panose="020F0502020204030204" pitchFamily="34" charset="0"/>
                <a:ea typeface="宋体" panose="02010600030101010101" pitchFamily="2" charset="-122"/>
                <a:cs typeface="Times New Roman" panose="02020603050405020304" pitchFamily="18" charset="0"/>
              </a:rPr>
              <a:t>仿真模型</a:t>
            </a:r>
            <a:r>
              <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rPr>
              <a:t>。</a:t>
            </a:r>
          </a:p>
        </p:txBody>
      </p:sp>
      <p:sp>
        <p:nvSpPr>
          <p:cNvPr id="4" name="灯片编号占位符 3"/>
          <p:cNvSpPr>
            <a:spLocks noGrp="1"/>
          </p:cNvSpPr>
          <p:nvPr>
            <p:ph type="sldNum" sz="quarter" idx="5"/>
          </p:nvPr>
        </p:nvSpPr>
        <p:spPr/>
        <p:txBody>
          <a:bodyPr/>
          <a:lstStyle/>
          <a:p>
            <a:fld id="{F1599B74-D022-46F6-974F-2145000E51F4}" type="slidenum">
              <a:rPr lang="zh-CN" altLang="en-US" smtClean="0"/>
              <a:t>2</a:t>
            </a:fld>
            <a:endParaRPr lang="zh-CN" altLang="en-US"/>
          </a:p>
        </p:txBody>
      </p:sp>
    </p:spTree>
    <p:extLst>
      <p:ext uri="{BB962C8B-B14F-4D97-AF65-F5344CB8AC3E}">
        <p14:creationId xmlns:p14="http://schemas.microsoft.com/office/powerpoint/2010/main" val="40281637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rPr>
              <a:t>可以分别选择电磁、结构、流体、热这四种物理场，然后进行二位或三维的建模，可以设置参数或者材料性质，来进行一些物理场的分析。</a:t>
            </a:r>
          </a:p>
        </p:txBody>
      </p:sp>
      <p:sp>
        <p:nvSpPr>
          <p:cNvPr id="4" name="灯片编号占位符 3"/>
          <p:cNvSpPr>
            <a:spLocks noGrp="1"/>
          </p:cNvSpPr>
          <p:nvPr>
            <p:ph type="sldNum" sz="quarter" idx="5"/>
          </p:nvPr>
        </p:nvSpPr>
        <p:spPr/>
        <p:txBody>
          <a:bodyPr/>
          <a:lstStyle/>
          <a:p>
            <a:fld id="{F1599B74-D022-46F6-974F-2145000E51F4}" type="slidenum">
              <a:rPr lang="zh-CN" altLang="en-US" smtClean="0"/>
              <a:t>3</a:t>
            </a:fld>
            <a:endParaRPr lang="zh-CN" altLang="en-US"/>
          </a:p>
        </p:txBody>
      </p:sp>
    </p:spTree>
    <p:extLst>
      <p:ext uri="{BB962C8B-B14F-4D97-AF65-F5344CB8AC3E}">
        <p14:creationId xmlns:p14="http://schemas.microsoft.com/office/powerpoint/2010/main" val="26600039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effectLst/>
                <a:latin typeface="Calibri" panose="020F0502020204030204" pitchFamily="34" charset="0"/>
                <a:ea typeface="宋体" panose="02010600030101010101" pitchFamily="2" charset="-122"/>
                <a:cs typeface="Times New Roman" panose="02020603050405020304" pitchFamily="18" charset="0"/>
              </a:rPr>
              <a:t>这是</a:t>
            </a:r>
            <a:r>
              <a:rPr lang="zh-CN" altLang="zh-CN" sz="1200" dirty="0">
                <a:effectLst/>
                <a:latin typeface="Calibri" panose="020F0502020204030204" pitchFamily="34" charset="0"/>
                <a:ea typeface="宋体" panose="02010600030101010101" pitchFamily="2" charset="-122"/>
                <a:cs typeface="Times New Roman" panose="02020603050405020304" pitchFamily="18" charset="0"/>
              </a:rPr>
              <a:t>工程电磁场</a:t>
            </a:r>
            <a:r>
              <a:rPr lang="zh-CN" altLang="en-US" sz="1200" dirty="0">
                <a:effectLst/>
                <a:latin typeface="Calibri" panose="020F0502020204030204" pitchFamily="34" charset="0"/>
                <a:ea typeface="宋体" panose="02010600030101010101" pitchFamily="2" charset="-122"/>
                <a:cs typeface="Times New Roman" panose="02020603050405020304" pitchFamily="18" charset="0"/>
              </a:rPr>
              <a:t>中</a:t>
            </a:r>
            <a:r>
              <a:rPr lang="zh-CN" altLang="zh-CN" sz="1200" dirty="0">
                <a:effectLst/>
                <a:latin typeface="Calibri" panose="020F0502020204030204" pitchFamily="34" charset="0"/>
                <a:ea typeface="宋体" panose="02010600030101010101" pitchFamily="2" charset="-122"/>
                <a:cs typeface="Times New Roman" panose="02020603050405020304" pitchFamily="18" charset="0"/>
              </a:rPr>
              <a:t>一个三相电缆的例子，三相电缆是常用的输电设备，通过建模、设置一些参数，来仿真模拟三相电缆内绝缘介质的电场分布，还可以计算</a:t>
            </a:r>
            <a:r>
              <a:rPr lang="zh-CN" altLang="en-US" sz="1200" dirty="0">
                <a:effectLst/>
                <a:latin typeface="Calibri" panose="020F0502020204030204" pitchFamily="34" charset="0"/>
                <a:ea typeface="宋体" panose="02010600030101010101" pitchFamily="2" charset="-122"/>
                <a:cs typeface="Times New Roman" panose="02020603050405020304" pitchFamily="18" charset="0"/>
              </a:rPr>
              <a:t>电势</a:t>
            </a:r>
            <a:r>
              <a:rPr lang="zh-CN" altLang="zh-CN" sz="1200" dirty="0">
                <a:effectLst/>
                <a:latin typeface="Calibri" panose="020F0502020204030204" pitchFamily="34" charset="0"/>
                <a:ea typeface="宋体" panose="02010600030101010101" pitchFamily="2" charset="-122"/>
                <a:cs typeface="Times New Roman" panose="02020603050405020304" pitchFamily="18" charset="0"/>
              </a:rPr>
              <a:t>、电场强度、电位移等场量，校验电缆的绝缘性能。</a:t>
            </a:r>
            <a:endParaRPr lang="zh-CN" altLang="en-US" dirty="0"/>
          </a:p>
        </p:txBody>
      </p:sp>
      <p:sp>
        <p:nvSpPr>
          <p:cNvPr id="4" name="灯片编号占位符 3"/>
          <p:cNvSpPr>
            <a:spLocks noGrp="1"/>
          </p:cNvSpPr>
          <p:nvPr>
            <p:ph type="sldNum" sz="quarter" idx="10"/>
          </p:nvPr>
        </p:nvSpPr>
        <p:spPr/>
        <p:txBody>
          <a:bodyPr/>
          <a:lstStyle/>
          <a:p>
            <a:fld id="{F1599B74-D022-46F6-974F-2145000E51F4}" type="slidenum">
              <a:rPr lang="zh-CN" altLang="en-US" smtClean="0"/>
              <a:t>4</a:t>
            </a:fld>
            <a:endParaRPr lang="zh-CN" altLang="en-US"/>
          </a:p>
        </p:txBody>
      </p:sp>
    </p:spTree>
    <p:extLst>
      <p:ext uri="{BB962C8B-B14F-4D97-AF65-F5344CB8AC3E}">
        <p14:creationId xmlns:p14="http://schemas.microsoft.com/office/powerpoint/2010/main" val="7279888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rPr>
              <a:t>在材料力学方面，这是一个管形金属试样的分析模型，模拟材料扭转试验过程，通过调整管状试样本身的参数，计算不同规格的试样在扭转状态下的力学行为，这里给了一个它受到应力的分布图。</a:t>
            </a:r>
          </a:p>
        </p:txBody>
      </p:sp>
      <p:sp>
        <p:nvSpPr>
          <p:cNvPr id="4" name="灯片编号占位符 3"/>
          <p:cNvSpPr>
            <a:spLocks noGrp="1"/>
          </p:cNvSpPr>
          <p:nvPr>
            <p:ph type="sldNum" sz="quarter" idx="10"/>
          </p:nvPr>
        </p:nvSpPr>
        <p:spPr/>
        <p:txBody>
          <a:bodyPr/>
          <a:lstStyle/>
          <a:p>
            <a:fld id="{F1599B74-D022-46F6-974F-2145000E51F4}" type="slidenum">
              <a:rPr lang="zh-CN" altLang="en-US" smtClean="0"/>
              <a:t>5</a:t>
            </a:fld>
            <a:endParaRPr lang="zh-CN" altLang="en-US"/>
          </a:p>
        </p:txBody>
      </p:sp>
    </p:spTree>
    <p:extLst>
      <p:ext uri="{BB962C8B-B14F-4D97-AF65-F5344CB8AC3E}">
        <p14:creationId xmlns:p14="http://schemas.microsoft.com/office/powerpoint/2010/main" val="37046012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这是一个热场分析的例子，砖砌炉墙传热分析，</a:t>
            </a:r>
            <a:r>
              <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rPr>
              <a:t>对炉墙的双层结构建立一个模型，可以模拟在维持炉墙内、外壁面温度均匀恒定条件下，通过炉墙的热流密度。</a:t>
            </a:r>
          </a:p>
        </p:txBody>
      </p:sp>
      <p:sp>
        <p:nvSpPr>
          <p:cNvPr id="4" name="灯片编号占位符 3"/>
          <p:cNvSpPr>
            <a:spLocks noGrp="1"/>
          </p:cNvSpPr>
          <p:nvPr>
            <p:ph type="sldNum" sz="quarter" idx="10"/>
          </p:nvPr>
        </p:nvSpPr>
        <p:spPr/>
        <p:txBody>
          <a:bodyPr/>
          <a:lstStyle/>
          <a:p>
            <a:fld id="{F1599B74-D022-46F6-974F-2145000E51F4}" type="slidenum">
              <a:rPr lang="zh-CN" altLang="en-US" smtClean="0"/>
              <a:t>6</a:t>
            </a:fld>
            <a:endParaRPr lang="zh-CN" altLang="en-US"/>
          </a:p>
        </p:txBody>
      </p:sp>
    </p:spTree>
    <p:extLst>
      <p:ext uri="{BB962C8B-B14F-4D97-AF65-F5344CB8AC3E}">
        <p14:creationId xmlns:p14="http://schemas.microsoft.com/office/powerpoint/2010/main" val="10993665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599B74-D022-46F6-974F-2145000E51F4}" type="slidenum">
              <a:rPr lang="zh-CN" altLang="en-US" smtClean="0"/>
              <a:t>8</a:t>
            </a:fld>
            <a:endParaRPr lang="zh-CN" altLang="en-US"/>
          </a:p>
        </p:txBody>
      </p:sp>
    </p:spTree>
    <p:extLst>
      <p:ext uri="{BB962C8B-B14F-4D97-AF65-F5344CB8AC3E}">
        <p14:creationId xmlns:p14="http://schemas.microsoft.com/office/powerpoint/2010/main" val="24535883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599B74-D022-46F6-974F-2145000E51F4}" type="slidenum">
              <a:rPr lang="zh-CN" altLang="en-US" smtClean="0"/>
              <a:t>9</a:t>
            </a:fld>
            <a:endParaRPr lang="zh-CN" altLang="en-US"/>
          </a:p>
        </p:txBody>
      </p:sp>
    </p:spTree>
    <p:extLst>
      <p:ext uri="{BB962C8B-B14F-4D97-AF65-F5344CB8AC3E}">
        <p14:creationId xmlns:p14="http://schemas.microsoft.com/office/powerpoint/2010/main" val="31849989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200000"/>
              </a:lnSpc>
              <a:spcBef>
                <a:spcPts val="0"/>
              </a:spcBef>
              <a:spcAft>
                <a:spcPts val="0"/>
              </a:spcAft>
              <a:buClrTx/>
              <a:buSzTx/>
              <a:buFont typeface="Wingdings" panose="05000000000000000000" pitchFamily="2" charset="2"/>
              <a:buNone/>
              <a:tabLst/>
              <a:defRPr/>
            </a:pPr>
            <a:r>
              <a:rPr lang="zh-CN" altLang="en-US" sz="1200" kern="100" dirty="0">
                <a:effectLst/>
                <a:latin typeface="Calibri" panose="020F0502020204030204" pitchFamily="34" charset="0"/>
                <a:ea typeface="宋体" panose="02010600030101010101" pitchFamily="2" charset="-122"/>
                <a:cs typeface="Times New Roman" panose="02020603050405020304" pitchFamily="18" charset="0"/>
              </a:rPr>
              <a:t>网格剖分：把建立的三维模型先离散化，然后对一个个单位元再进行积分计算的一个过程，也就是有限元方法。</a:t>
            </a:r>
            <a:endParaRPr lang="en-US"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200000"/>
              </a:lnSpc>
              <a:spcBef>
                <a:spcPts val="0"/>
              </a:spcBef>
              <a:spcAft>
                <a:spcPts val="0"/>
              </a:spcAft>
              <a:buClrTx/>
              <a:buSzTx/>
              <a:buFont typeface="Wingdings" panose="05000000000000000000" pitchFamily="2" charset="2"/>
              <a:buNone/>
              <a:tabLst/>
              <a:defRPr/>
            </a:pPr>
            <a:r>
              <a:rPr lang="zh-CN" altLang="en-US" sz="1200" kern="100" dirty="0">
                <a:effectLst/>
                <a:latin typeface="Calibri" panose="020F0502020204030204" pitchFamily="34" charset="0"/>
                <a:ea typeface="宋体" panose="02010600030101010101" pitchFamily="2" charset="-122"/>
                <a:cs typeface="Times New Roman" panose="02020603050405020304" pitchFamily="18" charset="0"/>
              </a:rPr>
              <a:t>分析类型：选择一个合适的数学求解方法</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1599B74-D022-46F6-974F-2145000E51F4}" type="slidenum">
              <a:rPr lang="zh-CN" altLang="en-US" smtClean="0"/>
              <a:t>10</a:t>
            </a:fld>
            <a:endParaRPr lang="zh-CN" altLang="en-US"/>
          </a:p>
        </p:txBody>
      </p:sp>
    </p:spTree>
    <p:extLst>
      <p:ext uri="{BB962C8B-B14F-4D97-AF65-F5344CB8AC3E}">
        <p14:creationId xmlns:p14="http://schemas.microsoft.com/office/powerpoint/2010/main" val="9004434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599B74-D022-46F6-974F-2145000E51F4}" type="slidenum">
              <a:rPr lang="zh-CN" altLang="en-US" smtClean="0"/>
              <a:t>11</a:t>
            </a:fld>
            <a:endParaRPr lang="zh-CN" altLang="en-US"/>
          </a:p>
        </p:txBody>
      </p:sp>
    </p:spTree>
    <p:extLst>
      <p:ext uri="{BB962C8B-B14F-4D97-AF65-F5344CB8AC3E}">
        <p14:creationId xmlns:p14="http://schemas.microsoft.com/office/powerpoint/2010/main" val="33464736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599B74-D022-46F6-974F-2145000E51F4}" type="slidenum">
              <a:rPr lang="zh-CN" altLang="en-US" smtClean="0"/>
              <a:t>12</a:t>
            </a:fld>
            <a:endParaRPr lang="zh-CN" altLang="en-US"/>
          </a:p>
        </p:txBody>
      </p:sp>
    </p:spTree>
    <p:extLst>
      <p:ext uri="{BB962C8B-B14F-4D97-AF65-F5344CB8AC3E}">
        <p14:creationId xmlns:p14="http://schemas.microsoft.com/office/powerpoint/2010/main" val="13044460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599B74-D022-46F6-974F-2145000E51F4}" type="slidenum">
              <a:rPr lang="zh-CN" altLang="en-US" smtClean="0"/>
              <a:t>13</a:t>
            </a:fld>
            <a:endParaRPr lang="zh-CN" altLang="en-US"/>
          </a:p>
        </p:txBody>
      </p:sp>
    </p:spTree>
    <p:extLst>
      <p:ext uri="{BB962C8B-B14F-4D97-AF65-F5344CB8AC3E}">
        <p14:creationId xmlns:p14="http://schemas.microsoft.com/office/powerpoint/2010/main" val="2405356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599B74-D022-46F6-974F-2145000E51F4}" type="slidenum">
              <a:rPr lang="zh-CN" altLang="en-US" smtClean="0"/>
              <a:t>14</a:t>
            </a:fld>
            <a:endParaRPr lang="zh-CN" altLang="en-US"/>
          </a:p>
        </p:txBody>
      </p:sp>
    </p:spTree>
    <p:extLst>
      <p:ext uri="{BB962C8B-B14F-4D97-AF65-F5344CB8AC3E}">
        <p14:creationId xmlns:p14="http://schemas.microsoft.com/office/powerpoint/2010/main" val="2859270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599B74-D022-46F6-974F-2145000E51F4}" type="slidenum">
              <a:rPr lang="zh-CN" altLang="en-US" smtClean="0"/>
              <a:t>15</a:t>
            </a:fld>
            <a:endParaRPr lang="zh-CN" altLang="en-US"/>
          </a:p>
        </p:txBody>
      </p:sp>
    </p:spTree>
    <p:extLst>
      <p:ext uri="{BB962C8B-B14F-4D97-AF65-F5344CB8AC3E}">
        <p14:creationId xmlns:p14="http://schemas.microsoft.com/office/powerpoint/2010/main" val="420331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599B74-D022-46F6-974F-2145000E51F4}" type="slidenum">
              <a:rPr lang="zh-CN" altLang="en-US" smtClean="0"/>
              <a:t>16</a:t>
            </a:fld>
            <a:endParaRPr lang="zh-CN" altLang="en-US"/>
          </a:p>
        </p:txBody>
      </p:sp>
    </p:spTree>
    <p:extLst>
      <p:ext uri="{BB962C8B-B14F-4D97-AF65-F5344CB8AC3E}">
        <p14:creationId xmlns:p14="http://schemas.microsoft.com/office/powerpoint/2010/main" val="19215835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599B74-D022-46F6-974F-2145000E51F4}" type="slidenum">
              <a:rPr lang="zh-CN" altLang="en-US" smtClean="0"/>
              <a:t>17</a:t>
            </a:fld>
            <a:endParaRPr lang="zh-CN" altLang="en-US"/>
          </a:p>
        </p:txBody>
      </p:sp>
    </p:spTree>
    <p:extLst>
      <p:ext uri="{BB962C8B-B14F-4D97-AF65-F5344CB8AC3E}">
        <p14:creationId xmlns:p14="http://schemas.microsoft.com/office/powerpoint/2010/main" val="42902375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200000"/>
              </a:lnSpc>
              <a:spcBef>
                <a:spcPts val="0"/>
              </a:spcBef>
              <a:spcAft>
                <a:spcPts val="0"/>
              </a:spcAft>
              <a:buClrTx/>
              <a:buSzTx/>
              <a:buFont typeface="Wingdings" panose="05000000000000000000" pitchFamily="2" charset="2"/>
              <a:buNone/>
              <a:tabLst/>
              <a:defRPr/>
            </a:pP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1599B74-D022-46F6-974F-2145000E51F4}" type="slidenum">
              <a:rPr lang="zh-CN" altLang="en-US" smtClean="0"/>
              <a:t>18</a:t>
            </a:fld>
            <a:endParaRPr lang="zh-CN" altLang="en-US"/>
          </a:p>
        </p:txBody>
      </p:sp>
    </p:spTree>
    <p:extLst>
      <p:ext uri="{BB962C8B-B14F-4D97-AF65-F5344CB8AC3E}">
        <p14:creationId xmlns:p14="http://schemas.microsoft.com/office/powerpoint/2010/main" val="38714177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F1599B74-D022-46F6-974F-2145000E51F4}" type="slidenum">
              <a:rPr lang="zh-CN" altLang="en-US" smtClean="0"/>
              <a:t>19</a:t>
            </a:fld>
            <a:endParaRPr lang="zh-CN" altLang="en-US"/>
          </a:p>
        </p:txBody>
      </p:sp>
    </p:spTree>
    <p:extLst>
      <p:ext uri="{BB962C8B-B14F-4D97-AF65-F5344CB8AC3E}">
        <p14:creationId xmlns:p14="http://schemas.microsoft.com/office/powerpoint/2010/main" val="16373210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F1599B74-D022-46F6-974F-2145000E51F4}" type="slidenum">
              <a:rPr lang="zh-CN" altLang="en-US" smtClean="0"/>
              <a:t>20</a:t>
            </a:fld>
            <a:endParaRPr lang="zh-CN" altLang="en-US"/>
          </a:p>
        </p:txBody>
      </p:sp>
    </p:spTree>
    <p:extLst>
      <p:ext uri="{BB962C8B-B14F-4D97-AF65-F5344CB8AC3E}">
        <p14:creationId xmlns:p14="http://schemas.microsoft.com/office/powerpoint/2010/main" val="2939743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599B74-D022-46F6-974F-2145000E51F4}" type="slidenum">
              <a:rPr lang="zh-CN" altLang="en-US" smtClean="0"/>
              <a:t>21</a:t>
            </a:fld>
            <a:endParaRPr lang="zh-CN" altLang="en-US"/>
          </a:p>
        </p:txBody>
      </p:sp>
    </p:spTree>
    <p:extLst>
      <p:ext uri="{BB962C8B-B14F-4D97-AF65-F5344CB8AC3E}">
        <p14:creationId xmlns:p14="http://schemas.microsoft.com/office/powerpoint/2010/main" val="911667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FC2CCC7C-4E7C-4FF1-8581-2C1C28A50AD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 xmlns:a16="http://schemas.microsoft.com/office/drawing/2014/main" id="{DBF95195-BBB6-4079-9A5C-0BDA360C2F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 xmlns:a16="http://schemas.microsoft.com/office/drawing/2014/main" id="{572F7442-7C4F-4C5B-B1EB-16722FD83FE5}"/>
              </a:ext>
            </a:extLst>
          </p:cNvPr>
          <p:cNvSpPr>
            <a:spLocks noGrp="1"/>
          </p:cNvSpPr>
          <p:nvPr>
            <p:ph type="dt" sz="half" idx="10"/>
          </p:nvPr>
        </p:nvSpPr>
        <p:spPr/>
        <p:txBody>
          <a:bodyPr/>
          <a:lstStyle/>
          <a:p>
            <a:fld id="{0625B333-B513-4291-A22B-72B9819DD8D1}" type="datetimeFigureOut">
              <a:rPr lang="zh-CN" altLang="en-US" smtClean="0"/>
              <a:t>2024/5/6</a:t>
            </a:fld>
            <a:endParaRPr lang="zh-CN" altLang="en-US"/>
          </a:p>
        </p:txBody>
      </p:sp>
      <p:sp>
        <p:nvSpPr>
          <p:cNvPr id="5" name="页脚占位符 4">
            <a:extLst>
              <a:ext uri="{FF2B5EF4-FFF2-40B4-BE49-F238E27FC236}">
                <a16:creationId xmlns="" xmlns:a16="http://schemas.microsoft.com/office/drawing/2014/main" id="{9330E49E-E838-4F08-851B-45DF32679B6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 xmlns:a16="http://schemas.microsoft.com/office/drawing/2014/main" id="{D2809393-8328-46DC-8867-7400EDE8C471}"/>
              </a:ext>
            </a:extLst>
          </p:cNvPr>
          <p:cNvSpPr>
            <a:spLocks noGrp="1"/>
          </p:cNvSpPr>
          <p:nvPr>
            <p:ph type="sldNum" sz="quarter" idx="12"/>
          </p:nvPr>
        </p:nvSpPr>
        <p:spPr/>
        <p:txBody>
          <a:bodyPr/>
          <a:lstStyle/>
          <a:p>
            <a:fld id="{6112717C-5852-445E-8CE9-C7610B65867F}" type="slidenum">
              <a:rPr lang="zh-CN" altLang="en-US" smtClean="0"/>
              <a:t>‹#›</a:t>
            </a:fld>
            <a:endParaRPr lang="zh-CN" altLang="en-US"/>
          </a:p>
        </p:txBody>
      </p:sp>
    </p:spTree>
    <p:extLst>
      <p:ext uri="{BB962C8B-B14F-4D97-AF65-F5344CB8AC3E}">
        <p14:creationId xmlns:p14="http://schemas.microsoft.com/office/powerpoint/2010/main" val="3091994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5CF066AD-3368-481C-85EB-B391D42661A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 xmlns:a16="http://schemas.microsoft.com/office/drawing/2014/main" id="{59DE884C-E285-4F88-B59E-4FBB800F3768}"/>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 xmlns:a16="http://schemas.microsoft.com/office/drawing/2014/main" id="{3A7F0E33-882F-4A38-952C-617AD55DCD5A}"/>
              </a:ext>
            </a:extLst>
          </p:cNvPr>
          <p:cNvSpPr>
            <a:spLocks noGrp="1"/>
          </p:cNvSpPr>
          <p:nvPr>
            <p:ph type="dt" sz="half" idx="10"/>
          </p:nvPr>
        </p:nvSpPr>
        <p:spPr/>
        <p:txBody>
          <a:bodyPr/>
          <a:lstStyle/>
          <a:p>
            <a:fld id="{0625B333-B513-4291-A22B-72B9819DD8D1}" type="datetimeFigureOut">
              <a:rPr lang="zh-CN" altLang="en-US" smtClean="0"/>
              <a:t>2024/5/6</a:t>
            </a:fld>
            <a:endParaRPr lang="zh-CN" altLang="en-US"/>
          </a:p>
        </p:txBody>
      </p:sp>
      <p:sp>
        <p:nvSpPr>
          <p:cNvPr id="5" name="页脚占位符 4">
            <a:extLst>
              <a:ext uri="{FF2B5EF4-FFF2-40B4-BE49-F238E27FC236}">
                <a16:creationId xmlns="" xmlns:a16="http://schemas.microsoft.com/office/drawing/2014/main" id="{2E3191D6-B802-4092-963B-4C92B470AEF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 xmlns:a16="http://schemas.microsoft.com/office/drawing/2014/main" id="{A5450B26-1A03-4A75-9FB2-253BAF67513A}"/>
              </a:ext>
            </a:extLst>
          </p:cNvPr>
          <p:cNvSpPr>
            <a:spLocks noGrp="1"/>
          </p:cNvSpPr>
          <p:nvPr>
            <p:ph type="sldNum" sz="quarter" idx="12"/>
          </p:nvPr>
        </p:nvSpPr>
        <p:spPr/>
        <p:txBody>
          <a:bodyPr/>
          <a:lstStyle/>
          <a:p>
            <a:fld id="{6112717C-5852-445E-8CE9-C7610B65867F}" type="slidenum">
              <a:rPr lang="zh-CN" altLang="en-US" smtClean="0"/>
              <a:t>‹#›</a:t>
            </a:fld>
            <a:endParaRPr lang="zh-CN" altLang="en-US"/>
          </a:p>
        </p:txBody>
      </p:sp>
    </p:spTree>
    <p:extLst>
      <p:ext uri="{BB962C8B-B14F-4D97-AF65-F5344CB8AC3E}">
        <p14:creationId xmlns:p14="http://schemas.microsoft.com/office/powerpoint/2010/main" val="1515585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1033D74E-B4EA-405B-8C75-8165FB217B9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 xmlns:a16="http://schemas.microsoft.com/office/drawing/2014/main" id="{05898F07-8E1B-4FF8-9160-55348E5D13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 xmlns:a16="http://schemas.microsoft.com/office/drawing/2014/main" id="{D1136206-5ADD-4F15-B11B-838DE8199D3B}"/>
              </a:ext>
            </a:extLst>
          </p:cNvPr>
          <p:cNvSpPr>
            <a:spLocks noGrp="1"/>
          </p:cNvSpPr>
          <p:nvPr>
            <p:ph type="dt" sz="half" idx="10"/>
          </p:nvPr>
        </p:nvSpPr>
        <p:spPr/>
        <p:txBody>
          <a:bodyPr/>
          <a:lstStyle/>
          <a:p>
            <a:fld id="{0625B333-B513-4291-A22B-72B9819DD8D1}" type="datetimeFigureOut">
              <a:rPr lang="zh-CN" altLang="en-US" smtClean="0"/>
              <a:t>2024/5/6</a:t>
            </a:fld>
            <a:endParaRPr lang="zh-CN" altLang="en-US"/>
          </a:p>
        </p:txBody>
      </p:sp>
      <p:sp>
        <p:nvSpPr>
          <p:cNvPr id="5" name="页脚占位符 4">
            <a:extLst>
              <a:ext uri="{FF2B5EF4-FFF2-40B4-BE49-F238E27FC236}">
                <a16:creationId xmlns="" xmlns:a16="http://schemas.microsoft.com/office/drawing/2014/main" id="{360D8819-F3A5-4C70-9BD2-4883A1509C6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 xmlns:a16="http://schemas.microsoft.com/office/drawing/2014/main" id="{18823C9E-319B-42C7-AF56-F8F2852242AA}"/>
              </a:ext>
            </a:extLst>
          </p:cNvPr>
          <p:cNvSpPr>
            <a:spLocks noGrp="1"/>
          </p:cNvSpPr>
          <p:nvPr>
            <p:ph type="sldNum" sz="quarter" idx="12"/>
          </p:nvPr>
        </p:nvSpPr>
        <p:spPr/>
        <p:txBody>
          <a:bodyPr/>
          <a:lstStyle/>
          <a:p>
            <a:fld id="{6112717C-5852-445E-8CE9-C7610B65867F}" type="slidenum">
              <a:rPr lang="zh-CN" altLang="en-US" smtClean="0"/>
              <a:t>‹#›</a:t>
            </a:fld>
            <a:endParaRPr lang="zh-CN" altLang="en-US"/>
          </a:p>
        </p:txBody>
      </p:sp>
    </p:spTree>
    <p:extLst>
      <p:ext uri="{BB962C8B-B14F-4D97-AF65-F5344CB8AC3E}">
        <p14:creationId xmlns:p14="http://schemas.microsoft.com/office/powerpoint/2010/main" val="3360840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63881A45-793C-496A-AC3B-BF9DEFA4C45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 xmlns:a16="http://schemas.microsoft.com/office/drawing/2014/main" id="{9DBE5FC0-8681-47C8-850E-C134FD75DE3B}"/>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 xmlns:a16="http://schemas.microsoft.com/office/drawing/2014/main" id="{5F377B97-3CCC-4973-A314-B800ED2230D3}"/>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 xmlns:a16="http://schemas.microsoft.com/office/drawing/2014/main" id="{E7681DD5-5906-44DB-A3FD-88DF9763B9F6}"/>
              </a:ext>
            </a:extLst>
          </p:cNvPr>
          <p:cNvSpPr>
            <a:spLocks noGrp="1"/>
          </p:cNvSpPr>
          <p:nvPr>
            <p:ph type="dt" sz="half" idx="10"/>
          </p:nvPr>
        </p:nvSpPr>
        <p:spPr/>
        <p:txBody>
          <a:bodyPr/>
          <a:lstStyle/>
          <a:p>
            <a:fld id="{0625B333-B513-4291-A22B-72B9819DD8D1}" type="datetimeFigureOut">
              <a:rPr lang="zh-CN" altLang="en-US" smtClean="0"/>
              <a:t>2024/5/6</a:t>
            </a:fld>
            <a:endParaRPr lang="zh-CN" altLang="en-US"/>
          </a:p>
        </p:txBody>
      </p:sp>
      <p:sp>
        <p:nvSpPr>
          <p:cNvPr id="6" name="页脚占位符 5">
            <a:extLst>
              <a:ext uri="{FF2B5EF4-FFF2-40B4-BE49-F238E27FC236}">
                <a16:creationId xmlns="" xmlns:a16="http://schemas.microsoft.com/office/drawing/2014/main" id="{76925EAE-20D7-4928-8AAC-9B8455534DE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 xmlns:a16="http://schemas.microsoft.com/office/drawing/2014/main" id="{0C627AC4-9746-43FB-99BD-221974BD3492}"/>
              </a:ext>
            </a:extLst>
          </p:cNvPr>
          <p:cNvSpPr>
            <a:spLocks noGrp="1"/>
          </p:cNvSpPr>
          <p:nvPr>
            <p:ph type="sldNum" sz="quarter" idx="12"/>
          </p:nvPr>
        </p:nvSpPr>
        <p:spPr/>
        <p:txBody>
          <a:bodyPr/>
          <a:lstStyle/>
          <a:p>
            <a:fld id="{6112717C-5852-445E-8CE9-C7610B65867F}" type="slidenum">
              <a:rPr lang="zh-CN" altLang="en-US" smtClean="0"/>
              <a:t>‹#›</a:t>
            </a:fld>
            <a:endParaRPr lang="zh-CN" altLang="en-US"/>
          </a:p>
        </p:txBody>
      </p:sp>
    </p:spTree>
    <p:extLst>
      <p:ext uri="{BB962C8B-B14F-4D97-AF65-F5344CB8AC3E}">
        <p14:creationId xmlns:p14="http://schemas.microsoft.com/office/powerpoint/2010/main" val="4266996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67DF1320-5103-4BDD-A6D4-3E67AA44DB9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 xmlns:a16="http://schemas.microsoft.com/office/drawing/2014/main" id="{1DEE24C9-B8BB-4EB7-A9B5-4DA6FB2AD4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 xmlns:a16="http://schemas.microsoft.com/office/drawing/2014/main" id="{97C88426-13F8-4C93-A958-3B16BD17B577}"/>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 xmlns:a16="http://schemas.microsoft.com/office/drawing/2014/main" id="{0F38D549-5F1A-4859-9B36-3FB339014D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 xmlns:a16="http://schemas.microsoft.com/office/drawing/2014/main" id="{B696DC14-96F6-4D48-9271-FB4B7BD1B194}"/>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 xmlns:a16="http://schemas.microsoft.com/office/drawing/2014/main" id="{A6027CB3-D08F-4D4E-82E8-2664E8D740AB}"/>
              </a:ext>
            </a:extLst>
          </p:cNvPr>
          <p:cNvSpPr>
            <a:spLocks noGrp="1"/>
          </p:cNvSpPr>
          <p:nvPr>
            <p:ph type="dt" sz="half" idx="10"/>
          </p:nvPr>
        </p:nvSpPr>
        <p:spPr/>
        <p:txBody>
          <a:bodyPr/>
          <a:lstStyle/>
          <a:p>
            <a:fld id="{0625B333-B513-4291-A22B-72B9819DD8D1}" type="datetimeFigureOut">
              <a:rPr lang="zh-CN" altLang="en-US" smtClean="0"/>
              <a:t>2024/5/6</a:t>
            </a:fld>
            <a:endParaRPr lang="zh-CN" altLang="en-US"/>
          </a:p>
        </p:txBody>
      </p:sp>
      <p:sp>
        <p:nvSpPr>
          <p:cNvPr id="8" name="页脚占位符 7">
            <a:extLst>
              <a:ext uri="{FF2B5EF4-FFF2-40B4-BE49-F238E27FC236}">
                <a16:creationId xmlns="" xmlns:a16="http://schemas.microsoft.com/office/drawing/2014/main" id="{EC4973EB-CD14-4661-81D3-F636BAB0326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 xmlns:a16="http://schemas.microsoft.com/office/drawing/2014/main" id="{83CF2AE9-1273-4E69-B8DF-797F358821C9}"/>
              </a:ext>
            </a:extLst>
          </p:cNvPr>
          <p:cNvSpPr>
            <a:spLocks noGrp="1"/>
          </p:cNvSpPr>
          <p:nvPr>
            <p:ph type="sldNum" sz="quarter" idx="12"/>
          </p:nvPr>
        </p:nvSpPr>
        <p:spPr/>
        <p:txBody>
          <a:bodyPr/>
          <a:lstStyle/>
          <a:p>
            <a:fld id="{6112717C-5852-445E-8CE9-C7610B65867F}" type="slidenum">
              <a:rPr lang="zh-CN" altLang="en-US" smtClean="0"/>
              <a:t>‹#›</a:t>
            </a:fld>
            <a:endParaRPr lang="zh-CN" altLang="en-US"/>
          </a:p>
        </p:txBody>
      </p:sp>
    </p:spTree>
    <p:extLst>
      <p:ext uri="{BB962C8B-B14F-4D97-AF65-F5344CB8AC3E}">
        <p14:creationId xmlns:p14="http://schemas.microsoft.com/office/powerpoint/2010/main" val="3395617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C2614BBD-7400-4A15-AFF5-E679AE67E10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 xmlns:a16="http://schemas.microsoft.com/office/drawing/2014/main" id="{F8971911-54D2-4D79-B359-A3B085F6475F}"/>
              </a:ext>
            </a:extLst>
          </p:cNvPr>
          <p:cNvSpPr>
            <a:spLocks noGrp="1"/>
          </p:cNvSpPr>
          <p:nvPr>
            <p:ph type="dt" sz="half" idx="10"/>
          </p:nvPr>
        </p:nvSpPr>
        <p:spPr/>
        <p:txBody>
          <a:bodyPr/>
          <a:lstStyle/>
          <a:p>
            <a:fld id="{0625B333-B513-4291-A22B-72B9819DD8D1}" type="datetimeFigureOut">
              <a:rPr lang="zh-CN" altLang="en-US" smtClean="0"/>
              <a:t>2024/5/6</a:t>
            </a:fld>
            <a:endParaRPr lang="zh-CN" altLang="en-US"/>
          </a:p>
        </p:txBody>
      </p:sp>
      <p:sp>
        <p:nvSpPr>
          <p:cNvPr id="4" name="页脚占位符 3">
            <a:extLst>
              <a:ext uri="{FF2B5EF4-FFF2-40B4-BE49-F238E27FC236}">
                <a16:creationId xmlns="" xmlns:a16="http://schemas.microsoft.com/office/drawing/2014/main" id="{53451B06-912B-4273-B65D-14E9B1FE4EB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 xmlns:a16="http://schemas.microsoft.com/office/drawing/2014/main" id="{CD3E01EB-BDF3-4E44-8D03-1E920B890FAE}"/>
              </a:ext>
            </a:extLst>
          </p:cNvPr>
          <p:cNvSpPr>
            <a:spLocks noGrp="1"/>
          </p:cNvSpPr>
          <p:nvPr>
            <p:ph type="sldNum" sz="quarter" idx="12"/>
          </p:nvPr>
        </p:nvSpPr>
        <p:spPr/>
        <p:txBody>
          <a:bodyPr/>
          <a:lstStyle/>
          <a:p>
            <a:fld id="{6112717C-5852-445E-8CE9-C7610B65867F}" type="slidenum">
              <a:rPr lang="zh-CN" altLang="en-US" smtClean="0"/>
              <a:t>‹#›</a:t>
            </a:fld>
            <a:endParaRPr lang="zh-CN" altLang="en-US"/>
          </a:p>
        </p:txBody>
      </p:sp>
    </p:spTree>
    <p:extLst>
      <p:ext uri="{BB962C8B-B14F-4D97-AF65-F5344CB8AC3E}">
        <p14:creationId xmlns:p14="http://schemas.microsoft.com/office/powerpoint/2010/main" val="4088405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 xmlns:a16="http://schemas.microsoft.com/office/drawing/2014/main" id="{18D85952-691B-48E1-8B21-8961A1227938}"/>
              </a:ext>
            </a:extLst>
          </p:cNvPr>
          <p:cNvSpPr>
            <a:spLocks noGrp="1"/>
          </p:cNvSpPr>
          <p:nvPr>
            <p:ph type="dt" sz="half" idx="10"/>
          </p:nvPr>
        </p:nvSpPr>
        <p:spPr/>
        <p:txBody>
          <a:bodyPr/>
          <a:lstStyle/>
          <a:p>
            <a:fld id="{0625B333-B513-4291-A22B-72B9819DD8D1}" type="datetimeFigureOut">
              <a:rPr lang="zh-CN" altLang="en-US" smtClean="0"/>
              <a:t>2024/5/6</a:t>
            </a:fld>
            <a:endParaRPr lang="zh-CN" altLang="en-US"/>
          </a:p>
        </p:txBody>
      </p:sp>
      <p:sp>
        <p:nvSpPr>
          <p:cNvPr id="3" name="页脚占位符 2">
            <a:extLst>
              <a:ext uri="{FF2B5EF4-FFF2-40B4-BE49-F238E27FC236}">
                <a16:creationId xmlns="" xmlns:a16="http://schemas.microsoft.com/office/drawing/2014/main" id="{08D07F39-2754-40BA-A914-810DD5FB63A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 xmlns:a16="http://schemas.microsoft.com/office/drawing/2014/main" id="{65E193B2-2F25-4DCA-941A-C48749A2AE08}"/>
              </a:ext>
            </a:extLst>
          </p:cNvPr>
          <p:cNvSpPr>
            <a:spLocks noGrp="1"/>
          </p:cNvSpPr>
          <p:nvPr>
            <p:ph type="sldNum" sz="quarter" idx="12"/>
          </p:nvPr>
        </p:nvSpPr>
        <p:spPr/>
        <p:txBody>
          <a:bodyPr/>
          <a:lstStyle/>
          <a:p>
            <a:fld id="{6112717C-5852-445E-8CE9-C7610B65867F}" type="slidenum">
              <a:rPr lang="zh-CN" altLang="en-US" smtClean="0"/>
              <a:t>‹#›</a:t>
            </a:fld>
            <a:endParaRPr lang="zh-CN" altLang="en-US"/>
          </a:p>
        </p:txBody>
      </p:sp>
    </p:spTree>
    <p:extLst>
      <p:ext uri="{BB962C8B-B14F-4D97-AF65-F5344CB8AC3E}">
        <p14:creationId xmlns:p14="http://schemas.microsoft.com/office/powerpoint/2010/main" val="30365919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E2AD876C-2295-4BC2-BEDE-8C1398F77FC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 xmlns:a16="http://schemas.microsoft.com/office/drawing/2014/main" id="{BDBD4F3D-E75F-42D7-BC6F-9051DE5560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 xmlns:a16="http://schemas.microsoft.com/office/drawing/2014/main" id="{47B2BD31-C1D0-4424-A5B4-BB82F53FA7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 xmlns:a16="http://schemas.microsoft.com/office/drawing/2014/main" id="{2722B0D5-E341-4F41-9225-8DACD9A577D3}"/>
              </a:ext>
            </a:extLst>
          </p:cNvPr>
          <p:cNvSpPr>
            <a:spLocks noGrp="1"/>
          </p:cNvSpPr>
          <p:nvPr>
            <p:ph type="dt" sz="half" idx="10"/>
          </p:nvPr>
        </p:nvSpPr>
        <p:spPr/>
        <p:txBody>
          <a:bodyPr/>
          <a:lstStyle/>
          <a:p>
            <a:fld id="{0625B333-B513-4291-A22B-72B9819DD8D1}" type="datetimeFigureOut">
              <a:rPr lang="zh-CN" altLang="en-US" smtClean="0"/>
              <a:t>2024/5/6</a:t>
            </a:fld>
            <a:endParaRPr lang="zh-CN" altLang="en-US"/>
          </a:p>
        </p:txBody>
      </p:sp>
      <p:sp>
        <p:nvSpPr>
          <p:cNvPr id="6" name="页脚占位符 5">
            <a:extLst>
              <a:ext uri="{FF2B5EF4-FFF2-40B4-BE49-F238E27FC236}">
                <a16:creationId xmlns="" xmlns:a16="http://schemas.microsoft.com/office/drawing/2014/main" id="{19846B72-7C24-4C02-8819-2FC74B9783B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 xmlns:a16="http://schemas.microsoft.com/office/drawing/2014/main" id="{F49611D4-CD4F-49C4-AA4D-604D3FE7F4CC}"/>
              </a:ext>
            </a:extLst>
          </p:cNvPr>
          <p:cNvSpPr>
            <a:spLocks noGrp="1"/>
          </p:cNvSpPr>
          <p:nvPr>
            <p:ph type="sldNum" sz="quarter" idx="12"/>
          </p:nvPr>
        </p:nvSpPr>
        <p:spPr/>
        <p:txBody>
          <a:bodyPr/>
          <a:lstStyle/>
          <a:p>
            <a:fld id="{6112717C-5852-445E-8CE9-C7610B65867F}" type="slidenum">
              <a:rPr lang="zh-CN" altLang="en-US" smtClean="0"/>
              <a:t>‹#›</a:t>
            </a:fld>
            <a:endParaRPr lang="zh-CN" altLang="en-US"/>
          </a:p>
        </p:txBody>
      </p:sp>
    </p:spTree>
    <p:extLst>
      <p:ext uri="{BB962C8B-B14F-4D97-AF65-F5344CB8AC3E}">
        <p14:creationId xmlns:p14="http://schemas.microsoft.com/office/powerpoint/2010/main" val="1166283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EC7C295B-B92B-4888-B651-14398FD2F97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 xmlns:a16="http://schemas.microsoft.com/office/drawing/2014/main" id="{C878454E-AEC4-49E9-82D2-8A98D87F8A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 xmlns:a16="http://schemas.microsoft.com/office/drawing/2014/main" id="{8F8D0958-BF0D-4CD2-840E-A06394F46C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 xmlns:a16="http://schemas.microsoft.com/office/drawing/2014/main" id="{E7FBAAF8-EB13-48CA-9AA2-B278BCE91618}"/>
              </a:ext>
            </a:extLst>
          </p:cNvPr>
          <p:cNvSpPr>
            <a:spLocks noGrp="1"/>
          </p:cNvSpPr>
          <p:nvPr>
            <p:ph type="dt" sz="half" idx="10"/>
          </p:nvPr>
        </p:nvSpPr>
        <p:spPr/>
        <p:txBody>
          <a:bodyPr/>
          <a:lstStyle/>
          <a:p>
            <a:fld id="{0625B333-B513-4291-A22B-72B9819DD8D1}" type="datetimeFigureOut">
              <a:rPr lang="zh-CN" altLang="en-US" smtClean="0"/>
              <a:t>2024/5/6</a:t>
            </a:fld>
            <a:endParaRPr lang="zh-CN" altLang="en-US"/>
          </a:p>
        </p:txBody>
      </p:sp>
      <p:sp>
        <p:nvSpPr>
          <p:cNvPr id="6" name="页脚占位符 5">
            <a:extLst>
              <a:ext uri="{FF2B5EF4-FFF2-40B4-BE49-F238E27FC236}">
                <a16:creationId xmlns="" xmlns:a16="http://schemas.microsoft.com/office/drawing/2014/main" id="{49885FB2-A893-4866-A61E-77078E05BB7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 xmlns:a16="http://schemas.microsoft.com/office/drawing/2014/main" id="{96906C5D-36EA-4761-B66A-B7BB9696E09F}"/>
              </a:ext>
            </a:extLst>
          </p:cNvPr>
          <p:cNvSpPr>
            <a:spLocks noGrp="1"/>
          </p:cNvSpPr>
          <p:nvPr>
            <p:ph type="sldNum" sz="quarter" idx="12"/>
          </p:nvPr>
        </p:nvSpPr>
        <p:spPr/>
        <p:txBody>
          <a:bodyPr/>
          <a:lstStyle/>
          <a:p>
            <a:fld id="{6112717C-5852-445E-8CE9-C7610B65867F}" type="slidenum">
              <a:rPr lang="zh-CN" altLang="en-US" smtClean="0"/>
              <a:t>‹#›</a:t>
            </a:fld>
            <a:endParaRPr lang="zh-CN" altLang="en-US"/>
          </a:p>
        </p:txBody>
      </p:sp>
    </p:spTree>
    <p:extLst>
      <p:ext uri="{BB962C8B-B14F-4D97-AF65-F5344CB8AC3E}">
        <p14:creationId xmlns:p14="http://schemas.microsoft.com/office/powerpoint/2010/main" val="2729829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BE1EAC9E-E98D-4C35-8477-ED60DEC75E9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 xmlns:a16="http://schemas.microsoft.com/office/drawing/2014/main" id="{49126233-7744-4DA1-8ECC-9590720DFAE4}"/>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 xmlns:a16="http://schemas.microsoft.com/office/drawing/2014/main" id="{CDF3C5D5-624A-4CA9-B077-A86050F7B587}"/>
              </a:ext>
            </a:extLst>
          </p:cNvPr>
          <p:cNvSpPr>
            <a:spLocks noGrp="1"/>
          </p:cNvSpPr>
          <p:nvPr>
            <p:ph type="dt" sz="half" idx="10"/>
          </p:nvPr>
        </p:nvSpPr>
        <p:spPr/>
        <p:txBody>
          <a:bodyPr/>
          <a:lstStyle/>
          <a:p>
            <a:fld id="{0625B333-B513-4291-A22B-72B9819DD8D1}" type="datetimeFigureOut">
              <a:rPr lang="zh-CN" altLang="en-US" smtClean="0"/>
              <a:t>2024/5/6</a:t>
            </a:fld>
            <a:endParaRPr lang="zh-CN" altLang="en-US"/>
          </a:p>
        </p:txBody>
      </p:sp>
      <p:sp>
        <p:nvSpPr>
          <p:cNvPr id="5" name="页脚占位符 4">
            <a:extLst>
              <a:ext uri="{FF2B5EF4-FFF2-40B4-BE49-F238E27FC236}">
                <a16:creationId xmlns="" xmlns:a16="http://schemas.microsoft.com/office/drawing/2014/main" id="{2CD3111F-144F-4A37-9809-8253563296A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 xmlns:a16="http://schemas.microsoft.com/office/drawing/2014/main" id="{62DEB900-1C1C-4B9F-856E-56409E5CF8CE}"/>
              </a:ext>
            </a:extLst>
          </p:cNvPr>
          <p:cNvSpPr>
            <a:spLocks noGrp="1"/>
          </p:cNvSpPr>
          <p:nvPr>
            <p:ph type="sldNum" sz="quarter" idx="12"/>
          </p:nvPr>
        </p:nvSpPr>
        <p:spPr/>
        <p:txBody>
          <a:bodyPr/>
          <a:lstStyle/>
          <a:p>
            <a:fld id="{6112717C-5852-445E-8CE9-C7610B65867F}" type="slidenum">
              <a:rPr lang="zh-CN" altLang="en-US" smtClean="0"/>
              <a:t>‹#›</a:t>
            </a:fld>
            <a:endParaRPr lang="zh-CN" altLang="en-US"/>
          </a:p>
        </p:txBody>
      </p:sp>
    </p:spTree>
    <p:extLst>
      <p:ext uri="{BB962C8B-B14F-4D97-AF65-F5344CB8AC3E}">
        <p14:creationId xmlns:p14="http://schemas.microsoft.com/office/powerpoint/2010/main" val="3500296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 xmlns:a16="http://schemas.microsoft.com/office/drawing/2014/main" id="{06443DF5-2C5A-4642-8D00-DAC14C8AC6FB}"/>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 xmlns:a16="http://schemas.microsoft.com/office/drawing/2014/main" id="{C7E02D38-194D-4D97-B7E5-E814290055E0}"/>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 xmlns:a16="http://schemas.microsoft.com/office/drawing/2014/main" id="{A18CE579-43EF-4FE3-ACEC-65E23331C1B6}"/>
              </a:ext>
            </a:extLst>
          </p:cNvPr>
          <p:cNvSpPr>
            <a:spLocks noGrp="1"/>
          </p:cNvSpPr>
          <p:nvPr>
            <p:ph type="dt" sz="half" idx="10"/>
          </p:nvPr>
        </p:nvSpPr>
        <p:spPr/>
        <p:txBody>
          <a:bodyPr/>
          <a:lstStyle/>
          <a:p>
            <a:fld id="{0625B333-B513-4291-A22B-72B9819DD8D1}" type="datetimeFigureOut">
              <a:rPr lang="zh-CN" altLang="en-US" smtClean="0"/>
              <a:t>2024/5/6</a:t>
            </a:fld>
            <a:endParaRPr lang="zh-CN" altLang="en-US"/>
          </a:p>
        </p:txBody>
      </p:sp>
      <p:sp>
        <p:nvSpPr>
          <p:cNvPr id="5" name="页脚占位符 4">
            <a:extLst>
              <a:ext uri="{FF2B5EF4-FFF2-40B4-BE49-F238E27FC236}">
                <a16:creationId xmlns="" xmlns:a16="http://schemas.microsoft.com/office/drawing/2014/main" id="{10C319E7-FA97-4AAB-9274-26B766B6D6E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 xmlns:a16="http://schemas.microsoft.com/office/drawing/2014/main" id="{A2C2204A-6852-48F1-9C87-F14F4E757C33}"/>
              </a:ext>
            </a:extLst>
          </p:cNvPr>
          <p:cNvSpPr>
            <a:spLocks noGrp="1"/>
          </p:cNvSpPr>
          <p:nvPr>
            <p:ph type="sldNum" sz="quarter" idx="12"/>
          </p:nvPr>
        </p:nvSpPr>
        <p:spPr/>
        <p:txBody>
          <a:bodyPr/>
          <a:lstStyle/>
          <a:p>
            <a:fld id="{6112717C-5852-445E-8CE9-C7610B65867F}" type="slidenum">
              <a:rPr lang="zh-CN" altLang="en-US" smtClean="0"/>
              <a:t>‹#›</a:t>
            </a:fld>
            <a:endParaRPr lang="zh-CN" altLang="en-US"/>
          </a:p>
        </p:txBody>
      </p:sp>
    </p:spTree>
    <p:extLst>
      <p:ext uri="{BB962C8B-B14F-4D97-AF65-F5344CB8AC3E}">
        <p14:creationId xmlns:p14="http://schemas.microsoft.com/office/powerpoint/2010/main" val="4160371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9" name="图片占位符 8"/>
          <p:cNvSpPr>
            <a:spLocks noGrp="1"/>
          </p:cNvSpPr>
          <p:nvPr>
            <p:ph type="pic" sz="quarter" idx="10"/>
          </p:nvPr>
        </p:nvSpPr>
        <p:spPr>
          <a:xfrm>
            <a:off x="0" y="0"/>
            <a:ext cx="5279257" cy="5530032"/>
          </a:xfrm>
          <a:custGeom>
            <a:avLst/>
            <a:gdLst>
              <a:gd name="connsiteX0" fmla="*/ 0 w 5279257"/>
              <a:gd name="connsiteY0" fmla="*/ 0 h 5530032"/>
              <a:gd name="connsiteX1" fmla="*/ 3641372 w 5279257"/>
              <a:gd name="connsiteY1" fmla="*/ 0 h 5530032"/>
              <a:gd name="connsiteX2" fmla="*/ 5010556 w 5279257"/>
              <a:gd name="connsiteY2" fmla="*/ 1369184 h 5530032"/>
              <a:gd name="connsiteX3" fmla="*/ 5010556 w 5279257"/>
              <a:gd name="connsiteY3" fmla="*/ 2666592 h 5530032"/>
              <a:gd name="connsiteX4" fmla="*/ 2415817 w 5279257"/>
              <a:gd name="connsiteY4" fmla="*/ 5261331 h 5530032"/>
              <a:gd name="connsiteX5" fmla="*/ 1118409 w 5279257"/>
              <a:gd name="connsiteY5" fmla="*/ 5261331 h 5530032"/>
              <a:gd name="connsiteX6" fmla="*/ 1 w 5279257"/>
              <a:gd name="connsiteY6" fmla="*/ 4142923 h 5530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257" h="5530032">
                <a:moveTo>
                  <a:pt x="0" y="0"/>
                </a:moveTo>
                <a:lnTo>
                  <a:pt x="3641372" y="0"/>
                </a:lnTo>
                <a:lnTo>
                  <a:pt x="5010556" y="1369184"/>
                </a:lnTo>
                <a:cubicBezTo>
                  <a:pt x="5368825" y="1727453"/>
                  <a:pt x="5368825" y="2308323"/>
                  <a:pt x="5010556" y="2666592"/>
                </a:cubicBezTo>
                <a:lnTo>
                  <a:pt x="2415817" y="5261331"/>
                </a:lnTo>
                <a:cubicBezTo>
                  <a:pt x="2057548" y="5619600"/>
                  <a:pt x="1476678" y="5619600"/>
                  <a:pt x="1118409" y="5261331"/>
                </a:cubicBezTo>
                <a:lnTo>
                  <a:pt x="1" y="4142923"/>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878816034"/>
      </p:ext>
    </p:extLst>
  </p:cSld>
  <p:clrMapOvr>
    <a:masterClrMapping/>
  </p:clrMapOvr>
  <p:transition spd="med">
    <p:fade thruBlk="1"/>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自定义版式">
    <p:bg>
      <p:bgPr>
        <a:gradFill>
          <a:gsLst>
            <a:gs pos="100000">
              <a:schemeClr val="bg1"/>
            </a:gs>
            <a:gs pos="4000">
              <a:srgbClr val="CADFF2"/>
            </a:gs>
            <a:gs pos="22000">
              <a:srgbClr val="E6EFF8"/>
            </a:gs>
            <a:gs pos="49000">
              <a:srgbClr val="FFFFFF"/>
            </a:gs>
          </a:gsLst>
          <a:lin ang="5400000" scaled="1"/>
        </a:gra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60FAD5FE-5959-4137-8D12-42FF11DBF87B}" type="datetimeFigureOut">
              <a:rPr lang="zh-CN" altLang="en-US" smtClean="0"/>
              <a:t>2024/5/6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432D5AF-E13C-4CC5-A6C3-31AAAA6C5F3F}" type="slidenum">
              <a:rPr lang="zh-CN" altLang="en-US" smtClean="0"/>
              <a:t>‹#›</a:t>
            </a:fld>
            <a:endParaRPr lang="zh-CN" altLang="en-US"/>
          </a:p>
        </p:txBody>
      </p:sp>
      <p:pic>
        <p:nvPicPr>
          <p:cNvPr id="6" name="图片 5"/>
          <p:cNvPicPr>
            <a:picLocks noChangeAspect="1"/>
          </p:cNvPicPr>
          <p:nvPr userDrawn="1"/>
        </p:nvPicPr>
        <p:blipFill>
          <a:blip r:embed="rId2"/>
          <a:stretch>
            <a:fillRect/>
          </a:stretch>
        </p:blipFill>
        <p:spPr>
          <a:xfrm>
            <a:off x="0" y="4409885"/>
            <a:ext cx="12192000" cy="2448115"/>
          </a:xfrm>
          <a:prstGeom prst="rect">
            <a:avLst/>
          </a:prstGeom>
        </p:spPr>
      </p:pic>
    </p:spTree>
    <p:extLst>
      <p:ext uri="{BB962C8B-B14F-4D97-AF65-F5344CB8AC3E}">
        <p14:creationId xmlns:p14="http://schemas.microsoft.com/office/powerpoint/2010/main" val="13019216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 xmlns:a16="http://schemas.microsoft.com/office/drawing/2014/main" id="{11CB4FE3-DA8E-4E49-B3CD-A14578E064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 xmlns:a16="http://schemas.microsoft.com/office/drawing/2014/main" id="{4D3D4E6D-EE4F-4235-AD15-11B7283BA9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 xmlns:a16="http://schemas.microsoft.com/office/drawing/2014/main" id="{33115E95-5E8E-4D3C-8C8F-8FD655ACC6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25B333-B513-4291-A22B-72B9819DD8D1}" type="datetimeFigureOut">
              <a:rPr lang="zh-CN" altLang="en-US" smtClean="0"/>
              <a:t>2024/5/6</a:t>
            </a:fld>
            <a:endParaRPr lang="zh-CN" altLang="en-US"/>
          </a:p>
        </p:txBody>
      </p:sp>
      <p:sp>
        <p:nvSpPr>
          <p:cNvPr id="5" name="页脚占位符 4">
            <a:extLst>
              <a:ext uri="{FF2B5EF4-FFF2-40B4-BE49-F238E27FC236}">
                <a16:creationId xmlns="" xmlns:a16="http://schemas.microsoft.com/office/drawing/2014/main" id="{4085AEB1-64E0-4546-8C08-B9B0B056F3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 xmlns:a16="http://schemas.microsoft.com/office/drawing/2014/main" id="{3850F0B8-4353-4AF6-AE66-5FC6BBBB5B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12717C-5852-445E-8CE9-C7610B65867F}" type="slidenum">
              <a:rPr lang="zh-CN" altLang="en-US" smtClean="0"/>
              <a:t>‹#›</a:t>
            </a:fld>
            <a:endParaRPr lang="zh-CN" altLang="en-US"/>
          </a:p>
        </p:txBody>
      </p:sp>
    </p:spTree>
    <p:extLst>
      <p:ext uri="{BB962C8B-B14F-4D97-AF65-F5344CB8AC3E}">
        <p14:creationId xmlns:p14="http://schemas.microsoft.com/office/powerpoint/2010/main" val="2830594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jpeg"/><Relationship Id="rId7"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9.pn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6.png"/><Relationship Id="rId4" Type="http://schemas.openxmlformats.org/officeDocument/2006/relationships/image" Target="../media/image11.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6.png"/><Relationship Id="rId11" Type="http://schemas.openxmlformats.org/officeDocument/2006/relationships/image" Target="../media/image2.jpeg"/><Relationship Id="rId5" Type="http://schemas.openxmlformats.org/officeDocument/2006/relationships/image" Target="../media/image25.png"/><Relationship Id="rId10" Type="http://schemas.openxmlformats.org/officeDocument/2006/relationships/image" Target="../media/image14.png"/><Relationship Id="rId4" Type="http://schemas.openxmlformats.org/officeDocument/2006/relationships/image" Target="../media/image24.png"/><Relationship Id="rId9" Type="http://schemas.openxmlformats.org/officeDocument/2006/relationships/image" Target="../media/image29.png"/></Relationships>
</file>

<file path=ppt/slides/_rels/slide7.xml.rels><?xml version="1.0" encoding="UTF-8" standalone="yes"?>
<Relationships xmlns="http://schemas.openxmlformats.org/package/2006/relationships"><Relationship Id="rId3" Type="http://schemas.openxmlformats.org/officeDocument/2006/relationships/hyperlink" Target="https://www.simapps.com/" TargetMode="External"/><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hyperlink" Target="https://kyk.xet.tech/s/3vvN6T" TargetMode="External"/><Relationship Id="rId3" Type="http://schemas.openxmlformats.org/officeDocument/2006/relationships/image" Target="../media/image14.png"/><Relationship Id="rId7" Type="http://schemas.openxmlformats.org/officeDocument/2006/relationships/hyperlink" Target="https://www.simapps.com/l/268.html" TargetMode="Externa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hyperlink" Target="https://www.simapps.com/v/29863.html" TargetMode="External"/><Relationship Id="rId11" Type="http://schemas.openxmlformats.org/officeDocument/2006/relationships/image" Target="../media/image2.jpeg"/><Relationship Id="rId5" Type="http://schemas.openxmlformats.org/officeDocument/2006/relationships/hyperlink" Target="https://www.simapps.com/v/29865.html" TargetMode="External"/><Relationship Id="rId10" Type="http://schemas.openxmlformats.org/officeDocument/2006/relationships/hyperlink" Target="https://www.simwe.com/" TargetMode="External"/><Relationship Id="rId4" Type="http://schemas.openxmlformats.org/officeDocument/2006/relationships/hyperlink" Target="https://www.simapps.com/page/flow.html" TargetMode="External"/><Relationship Id="rId9" Type="http://schemas.openxmlformats.org/officeDocument/2006/relationships/hyperlink" Target="https://live.bilibili.com/25772427" TargetMode="External"/></Relationships>
</file>

<file path=ppt/slides/_rels/slide10.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7.png"/><Relationship Id="rId7" Type="http://schemas.openxmlformats.org/officeDocument/2006/relationships/diagramQuickStyle" Target="../diagrams/quickStyle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2.jpeg"/><Relationship Id="rId9" Type="http://schemas.microsoft.com/office/2007/relationships/diagramDrawing" Target="../diagrams/drawing1.xml"/></Relationships>
</file>

<file path=ppt/slides/_rels/slide11.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2.jpeg"/><Relationship Id="rId7" Type="http://schemas.openxmlformats.org/officeDocument/2006/relationships/diagramQuickStyle" Target="../diagrams/quickStyle2.xm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diagramLayout" Target="../diagrams/layout2.xml"/><Relationship Id="rId5" Type="http://schemas.openxmlformats.org/officeDocument/2006/relationships/diagramData" Target="../diagrams/data2.xml"/><Relationship Id="rId10" Type="http://schemas.openxmlformats.org/officeDocument/2006/relationships/image" Target="../media/image34.png"/><Relationship Id="rId4" Type="http://schemas.openxmlformats.org/officeDocument/2006/relationships/image" Target="../media/image14.png"/><Relationship Id="rId9" Type="http://schemas.microsoft.com/office/2007/relationships/diagramDrawing" Target="../diagrams/drawing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14.png"/><Relationship Id="rId7"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2.jpeg"/><Relationship Id="rId9" Type="http://schemas.openxmlformats.org/officeDocument/2006/relationships/image" Target="../media/image45.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48.jpe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2.jpe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4FB3E471-9905-43FA-B086-B927CED42E87}"/>
              </a:ext>
            </a:extLst>
          </p:cNvPr>
          <p:cNvSpPr>
            <a:spLocks noGrp="1"/>
          </p:cNvSpPr>
          <p:nvPr>
            <p:ph type="ctrTitle"/>
          </p:nvPr>
        </p:nvSpPr>
        <p:spPr>
          <a:xfrm>
            <a:off x="1364428" y="1549100"/>
            <a:ext cx="9463144" cy="2807235"/>
          </a:xfrm>
        </p:spPr>
        <p:txBody>
          <a:bodyPr>
            <a:normAutofit fontScale="90000"/>
          </a:bodyPr>
          <a:lstStyle/>
          <a:p>
            <a:pPr>
              <a:lnSpc>
                <a:spcPct val="150000"/>
              </a:lnSpc>
            </a:pPr>
            <a:r>
              <a:rPr lang="zh-CN" altLang="en-US" sz="6700" dirty="0">
                <a:solidFill>
                  <a:srgbClr val="002060"/>
                </a:solidFill>
                <a:latin typeface="黑体" panose="02010609060101010101" pitchFamily="49" charset="-122"/>
                <a:ea typeface="黑体" panose="02010609060101010101" pitchFamily="49" charset="-122"/>
                <a:cs typeface="Times New Roman" panose="02020603050405020304" pitchFamily="18" charset="0"/>
              </a:rPr>
              <a:t>自选实验</a:t>
            </a:r>
            <a:r>
              <a:rPr lang="en-US" altLang="zh-CN" sz="6600" b="1"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
            </a:r>
            <a:br>
              <a:rPr lang="en-US" altLang="zh-CN" sz="6600" b="1"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br>
            <a:r>
              <a:rPr lang="en-US" altLang="zh-CN" sz="6700" b="1"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Simdroid</a:t>
            </a:r>
            <a:r>
              <a:rPr lang="zh-CN" altLang="en-US" sz="6700" b="1" dirty="0">
                <a:solidFill>
                  <a:srgbClr val="C00000"/>
                </a:solidFill>
                <a:latin typeface="黑体" panose="02010609060101010101" pitchFamily="49" charset="-122"/>
                <a:ea typeface="黑体" panose="02010609060101010101" pitchFamily="49" charset="-122"/>
              </a:rPr>
              <a:t>物理仿真软件设计</a:t>
            </a:r>
          </a:p>
        </p:txBody>
      </p:sp>
      <p:pic>
        <p:nvPicPr>
          <p:cNvPr id="4" name="图片 1">
            <a:extLst>
              <a:ext uri="{FF2B5EF4-FFF2-40B4-BE49-F238E27FC236}">
                <a16:creationId xmlns="" xmlns:a16="http://schemas.microsoft.com/office/drawing/2014/main" id="{4D28D686-E0C6-4E9C-B8A2-23347D5F2DD8}"/>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638" y="106054"/>
            <a:ext cx="950811"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 xmlns:a16="http://schemas.microsoft.com/office/drawing/2014/main" id="{BF320991-CA7C-419A-B4D5-6D169D34296B}"/>
              </a:ext>
            </a:extLst>
          </p:cNvPr>
          <p:cNvSpPr>
            <a:spLocks noChangeArrowheads="1"/>
          </p:cNvSpPr>
          <p:nvPr/>
        </p:nvSpPr>
        <p:spPr bwMode="auto">
          <a:xfrm>
            <a:off x="9632515" y="6342785"/>
            <a:ext cx="24122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黑体" panose="02010609060101010101" pitchFamily="49" charset="-122"/>
                <a:ea typeface="黑体" panose="02010609060101010101" pitchFamily="49" charset="-122"/>
                <a:cs typeface="+mn-cs"/>
              </a:rPr>
              <a:t>2021</a:t>
            </a:r>
            <a:r>
              <a:rPr kumimoji="0" lang="zh-CN" altLang="en-US" sz="2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黑体" panose="02010609060101010101" pitchFamily="49" charset="-122"/>
                <a:ea typeface="黑体" panose="02010609060101010101" pitchFamily="49" charset="-122"/>
                <a:cs typeface="+mn-cs"/>
              </a:rPr>
              <a:t>年</a:t>
            </a:r>
            <a:r>
              <a:rPr kumimoji="0" lang="en-US" altLang="zh-CN" sz="2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黑体" panose="02010609060101010101" pitchFamily="49" charset="-122"/>
                <a:ea typeface="黑体" panose="02010609060101010101" pitchFamily="49" charset="-122"/>
                <a:cs typeface="+mn-cs"/>
              </a:rPr>
              <a:t>9</a:t>
            </a:r>
            <a:r>
              <a:rPr kumimoji="0" lang="zh-CN" altLang="en-US" sz="2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黑体" panose="02010609060101010101" pitchFamily="49" charset="-122"/>
                <a:ea typeface="黑体" panose="02010609060101010101" pitchFamily="49" charset="-122"/>
                <a:cs typeface="+mn-cs"/>
              </a:rPr>
              <a:t>月</a:t>
            </a:r>
            <a:r>
              <a:rPr kumimoji="0" lang="en-US" altLang="zh-CN" sz="2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黑体" panose="02010609060101010101" pitchFamily="49" charset="-122"/>
                <a:ea typeface="黑体" panose="02010609060101010101" pitchFamily="49" charset="-122"/>
                <a:cs typeface="+mn-cs"/>
              </a:rPr>
              <a:t>8</a:t>
            </a:r>
            <a:r>
              <a:rPr kumimoji="0" lang="zh-CN" altLang="en-US" sz="2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黑体" panose="02010609060101010101" pitchFamily="49" charset="-122"/>
                <a:ea typeface="黑体" panose="02010609060101010101" pitchFamily="49" charset="-122"/>
                <a:cs typeface="+mn-cs"/>
              </a:rPr>
              <a:t>日</a:t>
            </a:r>
            <a:endParaRPr kumimoji="0" lang="zh-CN" altLang="en-GB" sz="2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黑体" panose="02010609060101010101" pitchFamily="49" charset="-122"/>
              <a:ea typeface="黑体" panose="02010609060101010101" pitchFamily="49" charset="-122"/>
              <a:cs typeface="+mn-cs"/>
            </a:endParaRPr>
          </a:p>
        </p:txBody>
      </p:sp>
      <p:grpSp>
        <p:nvGrpSpPr>
          <p:cNvPr id="9" name="组合 8">
            <a:extLst>
              <a:ext uri="{FF2B5EF4-FFF2-40B4-BE49-F238E27FC236}">
                <a16:creationId xmlns="" xmlns:a16="http://schemas.microsoft.com/office/drawing/2014/main" id="{7DE2A641-F9BE-4734-ADDB-5A0E3D3FCD65}"/>
              </a:ext>
            </a:extLst>
          </p:cNvPr>
          <p:cNvGrpSpPr/>
          <p:nvPr/>
        </p:nvGrpSpPr>
        <p:grpSpPr>
          <a:xfrm>
            <a:off x="0" y="4409885"/>
            <a:ext cx="12192000" cy="2448115"/>
            <a:chOff x="0" y="4409885"/>
            <a:chExt cx="12192000" cy="2448115"/>
          </a:xfrm>
        </p:grpSpPr>
        <p:pic>
          <p:nvPicPr>
            <p:cNvPr id="5" name="图片 4">
              <a:extLst>
                <a:ext uri="{FF2B5EF4-FFF2-40B4-BE49-F238E27FC236}">
                  <a16:creationId xmlns="" xmlns:a16="http://schemas.microsoft.com/office/drawing/2014/main" id="{FF5089D2-D93A-408A-BBA0-6EA21F8A3E5C}"/>
                </a:ext>
              </a:extLst>
            </p:cNvPr>
            <p:cNvPicPr>
              <a:picLocks noChangeAspect="1"/>
            </p:cNvPicPr>
            <p:nvPr/>
          </p:nvPicPr>
          <p:blipFill>
            <a:blip r:embed="rId7"/>
            <a:stretch>
              <a:fillRect/>
            </a:stretch>
          </p:blipFill>
          <p:spPr>
            <a:xfrm>
              <a:off x="0" y="4409885"/>
              <a:ext cx="12192000" cy="2448115"/>
            </a:xfrm>
            <a:prstGeom prst="rect">
              <a:avLst/>
            </a:prstGeom>
            <a:noFill/>
          </p:spPr>
        </p:pic>
        <p:pic>
          <p:nvPicPr>
            <p:cNvPr id="8" name="图片 7">
              <a:extLst>
                <a:ext uri="{FF2B5EF4-FFF2-40B4-BE49-F238E27FC236}">
                  <a16:creationId xmlns="" xmlns:a16="http://schemas.microsoft.com/office/drawing/2014/main" id="{0778C7DA-ABC4-44F3-9DB8-137C82B9B69A}"/>
                </a:ext>
              </a:extLst>
            </p:cNvPr>
            <p:cNvPicPr>
              <a:picLocks noChangeAspect="1"/>
            </p:cNvPicPr>
            <p:nvPr/>
          </p:nvPicPr>
          <p:blipFill>
            <a:blip r:embed="rId8"/>
            <a:stretch>
              <a:fillRect/>
            </a:stretch>
          </p:blipFill>
          <p:spPr>
            <a:xfrm>
              <a:off x="11032349" y="5046874"/>
              <a:ext cx="1012368" cy="865411"/>
            </a:xfrm>
            <a:prstGeom prst="rect">
              <a:avLst/>
            </a:prstGeom>
          </p:spPr>
        </p:pic>
      </p:grpSp>
      <p:sp>
        <p:nvSpPr>
          <p:cNvPr id="10" name="标题 1">
            <a:extLst>
              <a:ext uri="{FF2B5EF4-FFF2-40B4-BE49-F238E27FC236}">
                <a16:creationId xmlns="" xmlns:a16="http://schemas.microsoft.com/office/drawing/2014/main" id="{4A787469-4A02-4A70-92B5-00CD3E1CCD95}"/>
              </a:ext>
            </a:extLst>
          </p:cNvPr>
          <p:cNvSpPr txBox="1">
            <a:spLocks/>
          </p:cNvSpPr>
          <p:nvPr/>
        </p:nvSpPr>
        <p:spPr>
          <a:xfrm>
            <a:off x="1524000" y="635287"/>
            <a:ext cx="9144000" cy="151490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zh-CN" altLang="en-US" sz="3600" b="1" dirty="0">
              <a:solidFill>
                <a:srgbClr val="C00000"/>
              </a:solidFill>
              <a:latin typeface="黑体" panose="02010609060101010101" pitchFamily="49" charset="-122"/>
              <a:ea typeface="黑体" panose="02010609060101010101" pitchFamily="49" charset="-122"/>
            </a:endParaRPr>
          </a:p>
        </p:txBody>
      </p:sp>
      <p:sp>
        <p:nvSpPr>
          <p:cNvPr id="11" name="文本框 10">
            <a:extLst>
              <a:ext uri="{FF2B5EF4-FFF2-40B4-BE49-F238E27FC236}">
                <a16:creationId xmlns="" xmlns:a16="http://schemas.microsoft.com/office/drawing/2014/main" id="{BF0B1AC7-6132-4F8B-8536-D842B99F36EC}"/>
              </a:ext>
            </a:extLst>
          </p:cNvPr>
          <p:cNvSpPr txBox="1"/>
          <p:nvPr/>
        </p:nvSpPr>
        <p:spPr>
          <a:xfrm>
            <a:off x="6513740" y="235177"/>
            <a:ext cx="5268685" cy="40011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405D92"/>
                </a:solidFill>
                <a:effectLst/>
                <a:uLnTx/>
                <a:uFillTx/>
                <a:latin typeface="Calibri" panose="020F0502020204030204"/>
                <a:ea typeface="宋体" panose="02010600030101010101" pitchFamily="2" charset="-122"/>
                <a:cs typeface="+mn-cs"/>
              </a:rPr>
              <a:t>2022-2023</a:t>
            </a:r>
            <a:r>
              <a:rPr kumimoji="0" lang="zh-CN" altLang="en-US" sz="2000" b="1" i="0" u="none" strike="noStrike" kern="1200" cap="none" spc="0" normalizeH="0" baseline="0" noProof="0" dirty="0">
                <a:ln>
                  <a:noFill/>
                </a:ln>
                <a:solidFill>
                  <a:srgbClr val="405D92"/>
                </a:solidFill>
                <a:effectLst/>
                <a:uLnTx/>
                <a:uFillTx/>
                <a:latin typeface="Calibri" panose="020F0502020204030204"/>
                <a:ea typeface="宋体" panose="02010600030101010101" pitchFamily="2" charset="-122"/>
                <a:cs typeface="+mn-cs"/>
              </a:rPr>
              <a:t>学年 第二学期</a:t>
            </a:r>
          </a:p>
        </p:txBody>
      </p:sp>
    </p:spTree>
    <p:extLst>
      <p:ext uri="{BB962C8B-B14F-4D97-AF65-F5344CB8AC3E}">
        <p14:creationId xmlns:p14="http://schemas.microsoft.com/office/powerpoint/2010/main" val="25164446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 xmlns:a16="http://schemas.microsoft.com/office/drawing/2014/main" id="{F2CB3D25-ADF9-44D2-EA5D-45681058C87D}"/>
              </a:ext>
            </a:extLst>
          </p:cNvPr>
          <p:cNvSpPr txBox="1"/>
          <p:nvPr/>
        </p:nvSpPr>
        <p:spPr>
          <a:xfrm>
            <a:off x="764170" y="2139593"/>
            <a:ext cx="10977425" cy="954107"/>
          </a:xfrm>
          <a:prstGeom prst="rect">
            <a:avLst/>
          </a:prstGeom>
          <a:noFill/>
        </p:spPr>
        <p:txBody>
          <a:bodyPr wrap="square" rtlCol="0">
            <a:spAutoFit/>
          </a:bodyPr>
          <a:lstStyle/>
          <a:p>
            <a:pPr lvl="0" algn="just">
              <a:defRPr/>
            </a:pPr>
            <a:r>
              <a:rPr lang="en-US" altLang="zh-CN" sz="3200" b="1" dirty="0">
                <a:solidFill>
                  <a:srgbClr val="C00000"/>
                </a:solidFill>
                <a:latin typeface="华文楷体" panose="02010600040101010101" pitchFamily="2" charset="-122"/>
                <a:ea typeface="华文楷体" panose="02010600040101010101" pitchFamily="2" charset="-122"/>
              </a:rPr>
              <a:t>CAE</a:t>
            </a:r>
            <a:r>
              <a:rPr lang="zh-CN" altLang="en-US" sz="2400" b="1" dirty="0">
                <a:solidFill>
                  <a:prstClr val="black"/>
                </a:solidFill>
                <a:latin typeface="华文楷体" panose="02010600040101010101" pitchFamily="2" charset="-122"/>
                <a:ea typeface="华文楷体" panose="02010600040101010101" pitchFamily="2" charset="-122"/>
              </a:rPr>
              <a:t>（</a:t>
            </a:r>
            <a:r>
              <a:rPr lang="en-US" altLang="zh-CN" sz="2400" b="1" dirty="0">
                <a:solidFill>
                  <a:prstClr val="black"/>
                </a:solidFill>
                <a:latin typeface="华文楷体" panose="02010600040101010101" pitchFamily="2" charset="-122"/>
                <a:ea typeface="华文楷体" panose="02010600040101010101" pitchFamily="2" charset="-122"/>
              </a:rPr>
              <a:t>Computer Aided Engineering</a:t>
            </a:r>
            <a:r>
              <a:rPr lang="zh-CN" altLang="en-US" sz="2400" b="1" dirty="0">
                <a:solidFill>
                  <a:prstClr val="black"/>
                </a:solidFill>
                <a:latin typeface="华文楷体" panose="02010600040101010101" pitchFamily="2" charset="-122"/>
                <a:ea typeface="华文楷体" panose="02010600040101010101" pitchFamily="2" charset="-122"/>
              </a:rPr>
              <a:t>，计算机辅助工程），是用计算机辅助求解复杂工程问题和优化设计产品力学性能、结构性能的一种数值分析方法。</a:t>
            </a:r>
            <a:endParaRPr lang="en-US" altLang="zh-CN" sz="2400" b="1" dirty="0">
              <a:solidFill>
                <a:prstClr val="black"/>
              </a:solidFill>
              <a:latin typeface="华文楷体" panose="02010600040101010101" pitchFamily="2" charset="-122"/>
              <a:ea typeface="华文楷体" panose="02010600040101010101" pitchFamily="2" charset="-122"/>
            </a:endParaRPr>
          </a:p>
        </p:txBody>
      </p:sp>
      <p:sp>
        <p:nvSpPr>
          <p:cNvPr id="6" name="文本框 5">
            <a:extLst>
              <a:ext uri="{FF2B5EF4-FFF2-40B4-BE49-F238E27FC236}">
                <a16:creationId xmlns="" xmlns:a16="http://schemas.microsoft.com/office/drawing/2014/main" id="{3133D602-D76B-6BF4-24C7-C89386C35D0C}"/>
              </a:ext>
            </a:extLst>
          </p:cNvPr>
          <p:cNvSpPr txBox="1"/>
          <p:nvPr/>
        </p:nvSpPr>
        <p:spPr>
          <a:xfrm>
            <a:off x="764170" y="3372569"/>
            <a:ext cx="11070612" cy="2923877"/>
          </a:xfrm>
          <a:prstGeom prst="rect">
            <a:avLst/>
          </a:prstGeom>
          <a:noFill/>
        </p:spPr>
        <p:txBody>
          <a:bodyPr wrap="square">
            <a:spAutoFit/>
          </a:bodyPr>
          <a:lstStyle/>
          <a:p>
            <a:pPr algn="just"/>
            <a:r>
              <a:rPr lang="en-US" altLang="zh-CN" sz="3200" b="1" i="0" dirty="0">
                <a:solidFill>
                  <a:srgbClr val="C00000"/>
                </a:solidFill>
                <a:effectLst/>
                <a:latin typeface="华文楷体" panose="02010600040101010101" pitchFamily="2" charset="-122"/>
                <a:ea typeface="华文楷体" panose="02010600040101010101" pitchFamily="2" charset="-122"/>
              </a:rPr>
              <a:t>Simdroid</a:t>
            </a:r>
            <a:r>
              <a:rPr lang="zh-CN" altLang="en-US" sz="2400" b="1" i="0" dirty="0">
                <a:effectLst/>
                <a:latin typeface="华文楷体" panose="02010600040101010101" pitchFamily="2" charset="-122"/>
                <a:ea typeface="华文楷体" panose="02010600040101010101" pitchFamily="2" charset="-122"/>
              </a:rPr>
              <a:t>是</a:t>
            </a:r>
            <a:r>
              <a:rPr lang="zh-CN" altLang="zh-CN" sz="2400" b="1" dirty="0">
                <a:effectLst/>
                <a:latin typeface="华文楷体" panose="02010600040101010101" pitchFamily="2" charset="-122"/>
                <a:ea typeface="华文楷体" panose="02010600040101010101" pitchFamily="2" charset="-122"/>
                <a:cs typeface="Times New Roman" panose="02020603050405020304" pitchFamily="18" charset="0"/>
              </a:rPr>
              <a:t>北京云道智造科技有限公司</a:t>
            </a:r>
            <a:r>
              <a:rPr lang="zh-CN" altLang="en-US" sz="2400" b="1" dirty="0">
                <a:effectLst/>
                <a:latin typeface="华文楷体" panose="02010600040101010101" pitchFamily="2" charset="-122"/>
                <a:ea typeface="华文楷体" panose="02010600040101010101" pitchFamily="2" charset="-122"/>
                <a:cs typeface="Times New Roman" panose="02020603050405020304" pitchFamily="18" charset="0"/>
              </a:rPr>
              <a:t>出品的</a:t>
            </a:r>
            <a:r>
              <a:rPr lang="zh-CN" altLang="en-US" sz="2400" b="1" i="0" dirty="0">
                <a:effectLst/>
                <a:latin typeface="华文楷体" panose="02010600040101010101" pitchFamily="2" charset="-122"/>
                <a:ea typeface="华文楷体" panose="02010600040101010101" pitchFamily="2" charset="-122"/>
              </a:rPr>
              <a:t>一款基于自主仿真内核开发的通用</a:t>
            </a:r>
            <a:r>
              <a:rPr lang="en-US" altLang="zh-CN" sz="2400" b="1" i="0" dirty="0">
                <a:effectLst/>
                <a:latin typeface="华文楷体" panose="02010600040101010101" pitchFamily="2" charset="-122"/>
                <a:ea typeface="华文楷体" panose="02010600040101010101" pitchFamily="2" charset="-122"/>
              </a:rPr>
              <a:t>CAE</a:t>
            </a:r>
            <a:r>
              <a:rPr lang="zh-CN" altLang="en-US" sz="2400" b="1" i="0" dirty="0">
                <a:effectLst/>
                <a:latin typeface="华文楷体" panose="02010600040101010101" pitchFamily="2" charset="-122"/>
                <a:ea typeface="华文楷体" panose="02010600040101010101" pitchFamily="2" charset="-122"/>
              </a:rPr>
              <a:t>平台，</a:t>
            </a:r>
            <a:r>
              <a:rPr lang="zh-CN" altLang="zh-CN" sz="2400" b="1" dirty="0">
                <a:effectLst/>
                <a:latin typeface="华文楷体" panose="02010600040101010101" pitchFamily="2" charset="-122"/>
                <a:ea typeface="华文楷体" panose="02010600040101010101" pitchFamily="2" charset="-122"/>
                <a:cs typeface="Times New Roman" panose="02020603050405020304" pitchFamily="18" charset="0"/>
              </a:rPr>
              <a:t>基于“</a:t>
            </a:r>
            <a:r>
              <a:rPr lang="zh-CN" altLang="zh-CN" sz="2400" b="1" dirty="0">
                <a:effectLst/>
                <a:highlight>
                  <a:srgbClr val="FFFF00"/>
                </a:highlight>
                <a:latin typeface="华文楷体" panose="02010600040101010101" pitchFamily="2" charset="-122"/>
                <a:ea typeface="华文楷体" panose="02010600040101010101" pitchFamily="2" charset="-122"/>
                <a:cs typeface="Times New Roman" panose="02020603050405020304" pitchFamily="18" charset="0"/>
              </a:rPr>
              <a:t>仿真平台</a:t>
            </a:r>
            <a:r>
              <a:rPr lang="en-US" altLang="zh-CN" sz="2400" b="1" dirty="0">
                <a:effectLst/>
                <a:highlight>
                  <a:srgbClr val="FFFF00"/>
                </a:highlight>
                <a:latin typeface="华文楷体" panose="02010600040101010101" pitchFamily="2" charset="-122"/>
                <a:ea typeface="华文楷体" panose="02010600040101010101" pitchFamily="2" charset="-122"/>
                <a:cs typeface="Times New Roman" panose="02020603050405020304" pitchFamily="18" charset="0"/>
              </a:rPr>
              <a:t>+</a:t>
            </a:r>
            <a:r>
              <a:rPr lang="zh-CN" altLang="zh-CN" sz="2400" b="1" dirty="0">
                <a:effectLst/>
                <a:highlight>
                  <a:srgbClr val="FFFF00"/>
                </a:highlight>
                <a:latin typeface="华文楷体" panose="02010600040101010101" pitchFamily="2" charset="-122"/>
                <a:ea typeface="华文楷体" panose="02010600040101010101" pitchFamily="2" charset="-122"/>
                <a:cs typeface="Times New Roman" panose="02020603050405020304" pitchFamily="18" charset="0"/>
              </a:rPr>
              <a:t>仿真</a:t>
            </a:r>
            <a:r>
              <a:rPr lang="en-US" altLang="zh-CN" sz="2400" b="1" dirty="0">
                <a:effectLst/>
                <a:highlight>
                  <a:srgbClr val="FFFF00"/>
                </a:highlight>
                <a:latin typeface="华文楷体" panose="02010600040101010101" pitchFamily="2" charset="-122"/>
                <a:ea typeface="华文楷体" panose="02010600040101010101" pitchFamily="2" charset="-122"/>
                <a:cs typeface="Times New Roman" panose="02020603050405020304" pitchFamily="18" charset="0"/>
              </a:rPr>
              <a:t>APP</a:t>
            </a:r>
            <a:r>
              <a:rPr lang="zh-CN" altLang="zh-CN" sz="2400" b="1" dirty="0">
                <a:effectLst/>
                <a:latin typeface="华文楷体" panose="02010600040101010101" pitchFamily="2" charset="-122"/>
                <a:ea typeface="华文楷体" panose="02010600040101010101" pitchFamily="2" charset="-122"/>
                <a:cs typeface="Times New Roman" panose="02020603050405020304" pitchFamily="18" charset="0"/>
              </a:rPr>
              <a:t>”模式的通用多物理场</a:t>
            </a:r>
            <a:r>
              <a:rPr lang="zh-CN" altLang="en-US" sz="2400" b="1" i="0" dirty="0">
                <a:effectLst/>
                <a:latin typeface="华文楷体" panose="02010600040101010101" pitchFamily="2" charset="-122"/>
                <a:ea typeface="华文楷体" panose="02010600040101010101" pitchFamily="2" charset="-122"/>
              </a:rPr>
              <a:t>开发平台和运行平台。</a:t>
            </a:r>
            <a:r>
              <a:rPr lang="zh-CN" altLang="zh-CN" sz="2400" b="1" dirty="0">
                <a:effectLst/>
                <a:latin typeface="华文楷体" panose="02010600040101010101" pitchFamily="2" charset="-122"/>
                <a:ea typeface="华文楷体" panose="02010600040101010101" pitchFamily="2" charset="-122"/>
                <a:cs typeface="Times New Roman" panose="02020603050405020304" pitchFamily="18" charset="0"/>
              </a:rPr>
              <a:t>该平台具备自主可控的</a:t>
            </a:r>
            <a:r>
              <a:rPr lang="zh-CN" altLang="zh-CN" sz="3200" b="1" dirty="0">
                <a:effectLst/>
                <a:highlight>
                  <a:srgbClr val="FFFF00"/>
                </a:highlight>
                <a:latin typeface="华文楷体" panose="02010600040101010101" pitchFamily="2" charset="-122"/>
                <a:ea typeface="华文楷体" panose="02010600040101010101" pitchFamily="2" charset="-122"/>
                <a:cs typeface="Times New Roman" panose="02020603050405020304" pitchFamily="18" charset="0"/>
              </a:rPr>
              <a:t>结构</a:t>
            </a:r>
            <a:r>
              <a:rPr lang="zh-CN" altLang="zh-CN" sz="3200" b="1" dirty="0">
                <a:effectLst/>
                <a:latin typeface="华文楷体" panose="02010600040101010101" pitchFamily="2" charset="-122"/>
                <a:ea typeface="华文楷体" panose="02010600040101010101" pitchFamily="2" charset="-122"/>
                <a:cs typeface="Times New Roman" panose="02020603050405020304" pitchFamily="18" charset="0"/>
              </a:rPr>
              <a:t>、</a:t>
            </a:r>
            <a:r>
              <a:rPr lang="zh-CN" altLang="zh-CN" sz="3200" b="1" dirty="0">
                <a:effectLst/>
                <a:highlight>
                  <a:srgbClr val="FFFF00"/>
                </a:highlight>
                <a:latin typeface="华文楷体" panose="02010600040101010101" pitchFamily="2" charset="-122"/>
                <a:ea typeface="华文楷体" panose="02010600040101010101" pitchFamily="2" charset="-122"/>
                <a:cs typeface="Times New Roman" panose="02020603050405020304" pitchFamily="18" charset="0"/>
              </a:rPr>
              <a:t>电磁</a:t>
            </a:r>
            <a:r>
              <a:rPr lang="zh-CN" altLang="zh-CN" sz="3200" b="1" dirty="0">
                <a:effectLst/>
                <a:latin typeface="华文楷体" panose="02010600040101010101" pitchFamily="2" charset="-122"/>
                <a:ea typeface="华文楷体" panose="02010600040101010101" pitchFamily="2" charset="-122"/>
                <a:cs typeface="Times New Roman" panose="02020603050405020304" pitchFamily="18" charset="0"/>
              </a:rPr>
              <a:t>、</a:t>
            </a:r>
            <a:r>
              <a:rPr lang="zh-CN" altLang="zh-CN" sz="3200" b="1" dirty="0">
                <a:effectLst/>
                <a:highlight>
                  <a:srgbClr val="FFFF00"/>
                </a:highlight>
                <a:latin typeface="华文楷体" panose="02010600040101010101" pitchFamily="2" charset="-122"/>
                <a:ea typeface="华文楷体" panose="02010600040101010101" pitchFamily="2" charset="-122"/>
                <a:cs typeface="Times New Roman" panose="02020603050405020304" pitchFamily="18" charset="0"/>
              </a:rPr>
              <a:t>流体</a:t>
            </a:r>
            <a:r>
              <a:rPr lang="zh-CN" altLang="zh-CN" sz="3200" b="1" dirty="0">
                <a:effectLst/>
                <a:latin typeface="华文楷体" panose="02010600040101010101" pitchFamily="2" charset="-122"/>
                <a:ea typeface="华文楷体" panose="02010600040101010101" pitchFamily="2" charset="-122"/>
                <a:cs typeface="Times New Roman" panose="02020603050405020304" pitchFamily="18" charset="0"/>
              </a:rPr>
              <a:t>和</a:t>
            </a:r>
            <a:r>
              <a:rPr lang="zh-CN" altLang="zh-CN" sz="3200" b="1" dirty="0">
                <a:effectLst/>
                <a:highlight>
                  <a:srgbClr val="FFFF00"/>
                </a:highlight>
                <a:latin typeface="华文楷体" panose="02010600040101010101" pitchFamily="2" charset="-122"/>
                <a:ea typeface="华文楷体" panose="02010600040101010101" pitchFamily="2" charset="-122"/>
                <a:cs typeface="Times New Roman" panose="02020603050405020304" pitchFamily="18" charset="0"/>
              </a:rPr>
              <a:t>热</a:t>
            </a:r>
            <a:r>
              <a:rPr lang="zh-CN" altLang="zh-CN" sz="2400" b="1" dirty="0">
                <a:effectLst/>
                <a:latin typeface="华文楷体" panose="02010600040101010101" pitchFamily="2" charset="-122"/>
                <a:ea typeface="华文楷体" panose="02010600040101010101" pitchFamily="2" charset="-122"/>
                <a:cs typeface="Times New Roman" panose="02020603050405020304" pitchFamily="18" charset="0"/>
              </a:rPr>
              <a:t>四大物理场求解器和多物理场仿真内核，在统一友好的环境中为仿真工作者提供了</a:t>
            </a:r>
            <a:r>
              <a:rPr lang="zh-CN" altLang="zh-CN" sz="2400" b="1" dirty="0">
                <a:solidFill>
                  <a:schemeClr val="accent1"/>
                </a:solidFill>
                <a:effectLst/>
                <a:latin typeface="华文楷体" panose="02010600040101010101" pitchFamily="2" charset="-122"/>
                <a:ea typeface="华文楷体" panose="02010600040101010101" pitchFamily="2" charset="-122"/>
                <a:cs typeface="Times New Roman" panose="02020603050405020304" pitchFamily="18" charset="0"/>
              </a:rPr>
              <a:t>前处理、求解分析和后处理</a:t>
            </a:r>
            <a:r>
              <a:rPr lang="zh-CN" altLang="zh-CN" sz="2400" b="1" dirty="0">
                <a:effectLst/>
                <a:latin typeface="华文楷体" panose="02010600040101010101" pitchFamily="2" charset="-122"/>
                <a:ea typeface="华文楷体" panose="02010600040101010101" pitchFamily="2" charset="-122"/>
                <a:cs typeface="Times New Roman" panose="02020603050405020304" pitchFamily="18" charset="0"/>
              </a:rPr>
              <a:t>工具，同时其内置的</a:t>
            </a:r>
            <a:r>
              <a:rPr lang="en-US" altLang="zh-CN" sz="2400" b="1" dirty="0">
                <a:effectLst/>
                <a:latin typeface="华文楷体" panose="02010600040101010101" pitchFamily="2" charset="-122"/>
                <a:ea typeface="华文楷体" panose="02010600040101010101" pitchFamily="2" charset="-122"/>
                <a:cs typeface="Times New Roman" panose="02020603050405020304" pitchFamily="18" charset="0"/>
              </a:rPr>
              <a:t>APP</a:t>
            </a:r>
            <a:r>
              <a:rPr lang="zh-CN" altLang="zh-CN" sz="2400" b="1" dirty="0">
                <a:effectLst/>
                <a:latin typeface="华文楷体" panose="02010600040101010101" pitchFamily="2" charset="-122"/>
                <a:ea typeface="华文楷体" panose="02010600040101010101" pitchFamily="2" charset="-122"/>
                <a:cs typeface="Times New Roman" panose="02020603050405020304" pitchFamily="18" charset="0"/>
              </a:rPr>
              <a:t>开发器支持用户以无代码化开发的方式便捷封装全参数化仿真模型及仿真流程，将仿真知识、专家经验转化为可复用的仿真</a:t>
            </a:r>
            <a:r>
              <a:rPr lang="en-US" altLang="zh-CN" sz="2400" b="1" dirty="0">
                <a:effectLst/>
                <a:latin typeface="华文楷体" panose="02010600040101010101" pitchFamily="2" charset="-122"/>
                <a:ea typeface="华文楷体" panose="02010600040101010101" pitchFamily="2" charset="-122"/>
                <a:cs typeface="Times New Roman" panose="02020603050405020304" pitchFamily="18" charset="0"/>
              </a:rPr>
              <a:t>APP</a:t>
            </a:r>
            <a:r>
              <a:rPr lang="zh-CN" altLang="zh-CN" sz="2400" b="1" dirty="0">
                <a:effectLst/>
                <a:latin typeface="华文楷体" panose="02010600040101010101" pitchFamily="2" charset="-122"/>
                <a:ea typeface="华文楷体" panose="02010600040101010101" pitchFamily="2" charset="-122"/>
                <a:cs typeface="Times New Roman" panose="02020603050405020304" pitchFamily="18" charset="0"/>
              </a:rPr>
              <a:t>，实现知识变现。</a:t>
            </a:r>
            <a:endParaRPr lang="zh-CN" altLang="en-US" sz="2400" b="1" i="0" dirty="0">
              <a:effectLst/>
              <a:latin typeface="华文楷体" panose="02010600040101010101" pitchFamily="2" charset="-122"/>
              <a:ea typeface="华文楷体" panose="02010600040101010101" pitchFamily="2" charset="-122"/>
            </a:endParaRPr>
          </a:p>
        </p:txBody>
      </p:sp>
      <p:pic>
        <p:nvPicPr>
          <p:cNvPr id="7" name="图片占位符 11">
            <a:extLst>
              <a:ext uri="{FF2B5EF4-FFF2-40B4-BE49-F238E27FC236}">
                <a16:creationId xmlns="" xmlns:a16="http://schemas.microsoft.com/office/drawing/2014/main" id="{3E9F137B-308A-8377-BA82-C06B3C745C3D}"/>
              </a:ext>
            </a:extLst>
          </p:cNvPr>
          <p:cNvPicPr>
            <a:picLocks noChangeAspect="1"/>
          </p:cNvPicPr>
          <p:nvPr/>
        </p:nvPicPr>
        <p:blipFill>
          <a:blip r:embed="rId3">
            <a:extLst>
              <a:ext uri="{28A0092B-C50C-407E-A947-70E740481C1C}">
                <a14:useLocalDpi xmlns:a14="http://schemas.microsoft.com/office/drawing/2010/main" val="0"/>
              </a:ext>
            </a:extLst>
          </a:blip>
          <a:srcRect l="14657" r="14657"/>
          <a:stretch>
            <a:fillRect/>
          </a:stretch>
        </p:blipFill>
        <p:spPr>
          <a:xfrm>
            <a:off x="127002" y="130993"/>
            <a:ext cx="1846618" cy="1934336"/>
          </a:xfrm>
          <a:custGeom>
            <a:avLst/>
            <a:gdLst>
              <a:gd name="connsiteX0" fmla="*/ 0 w 5279257"/>
              <a:gd name="connsiteY0" fmla="*/ 0 h 5530032"/>
              <a:gd name="connsiteX1" fmla="*/ 3641372 w 5279257"/>
              <a:gd name="connsiteY1" fmla="*/ 0 h 5530032"/>
              <a:gd name="connsiteX2" fmla="*/ 5010556 w 5279257"/>
              <a:gd name="connsiteY2" fmla="*/ 1369184 h 5530032"/>
              <a:gd name="connsiteX3" fmla="*/ 5010556 w 5279257"/>
              <a:gd name="connsiteY3" fmla="*/ 2666592 h 5530032"/>
              <a:gd name="connsiteX4" fmla="*/ 2415817 w 5279257"/>
              <a:gd name="connsiteY4" fmla="*/ 5261331 h 5530032"/>
              <a:gd name="connsiteX5" fmla="*/ 1118409 w 5279257"/>
              <a:gd name="connsiteY5" fmla="*/ 5261331 h 5530032"/>
              <a:gd name="connsiteX6" fmla="*/ 1 w 5279257"/>
              <a:gd name="connsiteY6" fmla="*/ 4142923 h 5530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257" h="5530032">
                <a:moveTo>
                  <a:pt x="0" y="0"/>
                </a:moveTo>
                <a:lnTo>
                  <a:pt x="3641372" y="0"/>
                </a:lnTo>
                <a:lnTo>
                  <a:pt x="5010556" y="1369184"/>
                </a:lnTo>
                <a:cubicBezTo>
                  <a:pt x="5368825" y="1727453"/>
                  <a:pt x="5368825" y="2308323"/>
                  <a:pt x="5010556" y="2666592"/>
                </a:cubicBezTo>
                <a:lnTo>
                  <a:pt x="2415817" y="5261331"/>
                </a:lnTo>
                <a:cubicBezTo>
                  <a:pt x="2057548" y="5619600"/>
                  <a:pt x="1476678" y="5619600"/>
                  <a:pt x="1118409" y="5261331"/>
                </a:cubicBezTo>
                <a:lnTo>
                  <a:pt x="1" y="4142923"/>
                </a:lnTo>
                <a:close/>
              </a:path>
            </a:pathLst>
          </a:custGeom>
          <a:ln w="152400">
            <a:solidFill>
              <a:srgbClr val="A2C9EC"/>
            </a:solidFill>
          </a:ln>
        </p:spPr>
      </p:pic>
      <p:sp>
        <p:nvSpPr>
          <p:cNvPr id="8" name="任意多边形: 形状 23">
            <a:extLst>
              <a:ext uri="{FF2B5EF4-FFF2-40B4-BE49-F238E27FC236}">
                <a16:creationId xmlns="" xmlns:a16="http://schemas.microsoft.com/office/drawing/2014/main" id="{D750F93B-D576-CB7D-0D75-81173D22D98D}"/>
              </a:ext>
            </a:extLst>
          </p:cNvPr>
          <p:cNvSpPr/>
          <p:nvPr/>
        </p:nvSpPr>
        <p:spPr>
          <a:xfrm rot="2700000">
            <a:off x="4555314" y="-1471484"/>
            <a:ext cx="2995405" cy="3015142"/>
          </a:xfrm>
          <a:custGeom>
            <a:avLst/>
            <a:gdLst>
              <a:gd name="connsiteX0" fmla="*/ 0 w 4362601"/>
              <a:gd name="connsiteY0" fmla="*/ 1367196 h 4382338"/>
              <a:gd name="connsiteX1" fmla="*/ 1367196 w 4362601"/>
              <a:gd name="connsiteY1" fmla="*/ 0 h 4382338"/>
              <a:gd name="connsiteX2" fmla="*/ 2995405 w 4362601"/>
              <a:gd name="connsiteY2" fmla="*/ 0 h 4382338"/>
              <a:gd name="connsiteX3" fmla="*/ 4362601 w 4362601"/>
              <a:gd name="connsiteY3" fmla="*/ 1367196 h 4382338"/>
              <a:gd name="connsiteX4" fmla="*/ 4362601 w 4362601"/>
              <a:gd name="connsiteY4" fmla="*/ 3015142 h 4382338"/>
              <a:gd name="connsiteX5" fmla="*/ 2995405 w 4362601"/>
              <a:gd name="connsiteY5" fmla="*/ 4382338 h 4382338"/>
              <a:gd name="connsiteX6" fmla="*/ 1367196 w 4362601"/>
              <a:gd name="connsiteY6" fmla="*/ 4382338 h 4382338"/>
              <a:gd name="connsiteX7" fmla="*/ 0 w 4362601"/>
              <a:gd name="connsiteY7" fmla="*/ 3015142 h 4382338"/>
              <a:gd name="connsiteX8" fmla="*/ 0 w 4362601"/>
              <a:gd name="connsiteY8" fmla="*/ 1367196 h 4382338"/>
              <a:gd name="connsiteX0-1" fmla="*/ 0 w 4362601"/>
              <a:gd name="connsiteY0-2" fmla="*/ 1367196 h 4382338"/>
              <a:gd name="connsiteX1-3" fmla="*/ 1367196 w 4362601"/>
              <a:gd name="connsiteY1-4" fmla="*/ 0 h 4382338"/>
              <a:gd name="connsiteX2-5" fmla="*/ 2995405 w 4362601"/>
              <a:gd name="connsiteY2-6" fmla="*/ 0 h 4382338"/>
              <a:gd name="connsiteX3-7" fmla="*/ 4362601 w 4362601"/>
              <a:gd name="connsiteY3-8" fmla="*/ 1367196 h 4382338"/>
              <a:gd name="connsiteX4-9" fmla="*/ 4362601 w 4362601"/>
              <a:gd name="connsiteY4-10" fmla="*/ 3015142 h 4382338"/>
              <a:gd name="connsiteX5-11" fmla="*/ 2995405 w 4362601"/>
              <a:gd name="connsiteY5-12" fmla="*/ 4382338 h 4382338"/>
              <a:gd name="connsiteX6-13" fmla="*/ 1367196 w 4362601"/>
              <a:gd name="connsiteY6-14" fmla="*/ 4382338 h 4382338"/>
              <a:gd name="connsiteX7-15" fmla="*/ 0 w 4362601"/>
              <a:gd name="connsiteY7-16" fmla="*/ 1367196 h 4382338"/>
              <a:gd name="connsiteX0-17" fmla="*/ 203526 w 3198931"/>
              <a:gd name="connsiteY0-18" fmla="*/ 4382338 h 4382338"/>
              <a:gd name="connsiteX1-19" fmla="*/ 203526 w 3198931"/>
              <a:gd name="connsiteY1-20" fmla="*/ 0 h 4382338"/>
              <a:gd name="connsiteX2-21" fmla="*/ 1831735 w 3198931"/>
              <a:gd name="connsiteY2-22" fmla="*/ 0 h 4382338"/>
              <a:gd name="connsiteX3-23" fmla="*/ 3198931 w 3198931"/>
              <a:gd name="connsiteY3-24" fmla="*/ 1367196 h 4382338"/>
              <a:gd name="connsiteX4-25" fmla="*/ 3198931 w 3198931"/>
              <a:gd name="connsiteY4-26" fmla="*/ 3015142 h 4382338"/>
              <a:gd name="connsiteX5-27" fmla="*/ 1831735 w 3198931"/>
              <a:gd name="connsiteY5-28" fmla="*/ 4382338 h 4382338"/>
              <a:gd name="connsiteX6-29" fmla="*/ 203526 w 3198931"/>
              <a:gd name="connsiteY6-30" fmla="*/ 4382338 h 4382338"/>
              <a:gd name="connsiteX0-31" fmla="*/ 0 w 2995405"/>
              <a:gd name="connsiteY0-32" fmla="*/ 4382338 h 4382338"/>
              <a:gd name="connsiteX1-33" fmla="*/ 1628209 w 2995405"/>
              <a:gd name="connsiteY1-34" fmla="*/ 0 h 4382338"/>
              <a:gd name="connsiteX2-35" fmla="*/ 2995405 w 2995405"/>
              <a:gd name="connsiteY2-36" fmla="*/ 1367196 h 4382338"/>
              <a:gd name="connsiteX3-37" fmla="*/ 2995405 w 2995405"/>
              <a:gd name="connsiteY3-38" fmla="*/ 3015142 h 4382338"/>
              <a:gd name="connsiteX4-39" fmla="*/ 1628209 w 2995405"/>
              <a:gd name="connsiteY4-40" fmla="*/ 4382338 h 4382338"/>
              <a:gd name="connsiteX5-41" fmla="*/ 0 w 2995405"/>
              <a:gd name="connsiteY5-42" fmla="*/ 4382338 h 4382338"/>
              <a:gd name="connsiteX0-43" fmla="*/ 0 w 2995405"/>
              <a:gd name="connsiteY0-44" fmla="*/ 3015142 h 3015142"/>
              <a:gd name="connsiteX1-45" fmla="*/ 2995405 w 2995405"/>
              <a:gd name="connsiteY1-46" fmla="*/ 0 h 3015142"/>
              <a:gd name="connsiteX2-47" fmla="*/ 2995405 w 2995405"/>
              <a:gd name="connsiteY2-48" fmla="*/ 1647946 h 3015142"/>
              <a:gd name="connsiteX3-49" fmla="*/ 1628209 w 2995405"/>
              <a:gd name="connsiteY3-50" fmla="*/ 3015142 h 3015142"/>
              <a:gd name="connsiteX4-51" fmla="*/ 0 w 2995405"/>
              <a:gd name="connsiteY4-52" fmla="*/ 3015142 h 3015142"/>
              <a:gd name="connsiteX0-53" fmla="*/ 0 w 2995405"/>
              <a:gd name="connsiteY0-54" fmla="*/ 3015142 h 3015142"/>
              <a:gd name="connsiteX1-55" fmla="*/ 2995405 w 2995405"/>
              <a:gd name="connsiteY1-56" fmla="*/ 0 h 3015142"/>
              <a:gd name="connsiteX2-57" fmla="*/ 2995405 w 2995405"/>
              <a:gd name="connsiteY2-58" fmla="*/ 1647946 h 3015142"/>
              <a:gd name="connsiteX3-59" fmla="*/ 1628209 w 2995405"/>
              <a:gd name="connsiteY3-60" fmla="*/ 3015142 h 3015142"/>
              <a:gd name="connsiteX4-61" fmla="*/ 0 w 2995405"/>
              <a:gd name="connsiteY4-62" fmla="*/ 3015142 h 301514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995405" h="3015142">
                <a:moveTo>
                  <a:pt x="0" y="3015142"/>
                </a:moveTo>
                <a:lnTo>
                  <a:pt x="2995405" y="0"/>
                </a:lnTo>
                <a:lnTo>
                  <a:pt x="2995405" y="1647946"/>
                </a:lnTo>
                <a:cubicBezTo>
                  <a:pt x="2995405" y="2403028"/>
                  <a:pt x="2383291" y="3015142"/>
                  <a:pt x="1628209" y="3015142"/>
                </a:cubicBezTo>
                <a:lnTo>
                  <a:pt x="0" y="3015142"/>
                </a:lnTo>
                <a:close/>
              </a:path>
            </a:pathLst>
          </a:custGeom>
          <a:solidFill>
            <a:srgbClr val="2D84D3"/>
          </a:solidFill>
          <a:ln w="152400">
            <a:solidFill>
              <a:srgbClr val="A2C9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pic>
        <p:nvPicPr>
          <p:cNvPr id="9" name="图片 1">
            <a:extLst>
              <a:ext uri="{FF2B5EF4-FFF2-40B4-BE49-F238E27FC236}">
                <a16:creationId xmlns="" xmlns:a16="http://schemas.microsoft.com/office/drawing/2014/main" id="{0937FB72-1CFC-BAB4-5718-ABE035D6528D}"/>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63448" y="130993"/>
            <a:ext cx="950811"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 xmlns:a16="http://schemas.microsoft.com/office/drawing/2014/main" id="{94434688-0D56-D8FE-96C5-4F9C1504FF46}"/>
              </a:ext>
            </a:extLst>
          </p:cNvPr>
          <p:cNvSpPr/>
          <p:nvPr/>
        </p:nvSpPr>
        <p:spPr>
          <a:xfrm>
            <a:off x="3694963" y="293804"/>
            <a:ext cx="4575406" cy="646331"/>
          </a:xfrm>
          <a:prstGeom prst="rect">
            <a:avLst/>
          </a:prstGeom>
          <a:noFill/>
        </p:spPr>
        <p:txBody>
          <a:bodyPr wrap="square" lIns="91440" tIns="45720" rIns="91440" bIns="45720">
            <a:spAutoFit/>
          </a:bodyPr>
          <a:lstStyle/>
          <a:p>
            <a:pPr algn="ctr"/>
            <a:r>
              <a:rPr lang="zh-CN" altLang="en-US" sz="3600" b="1" cap="none" spc="0" dirty="0">
                <a:ln w="0"/>
                <a:solidFill>
                  <a:schemeClr val="bg1"/>
                </a:solidFill>
                <a:effectLst>
                  <a:outerShdw blurRad="38100" dist="25400" dir="5400000" algn="ctr" rotWithShape="0">
                    <a:srgbClr val="6E747A">
                      <a:alpha val="43000"/>
                    </a:srgbClr>
                  </a:outerShdw>
                </a:effectLst>
              </a:rPr>
              <a:t>实验背景</a:t>
            </a:r>
          </a:p>
        </p:txBody>
      </p:sp>
    </p:spTree>
    <p:extLst>
      <p:ext uri="{BB962C8B-B14F-4D97-AF65-F5344CB8AC3E}">
        <p14:creationId xmlns:p14="http://schemas.microsoft.com/office/powerpoint/2010/main" val="415288240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315572" y="359837"/>
            <a:ext cx="7870554" cy="4894548"/>
          </a:xfrm>
          <a:prstGeom prst="rect">
            <a:avLst/>
          </a:prstGeom>
        </p:spPr>
      </p:pic>
      <p:sp>
        <p:nvSpPr>
          <p:cNvPr id="5" name="文本框 4"/>
          <p:cNvSpPr txBox="1"/>
          <p:nvPr/>
        </p:nvSpPr>
        <p:spPr>
          <a:xfrm>
            <a:off x="8759537" y="631478"/>
            <a:ext cx="2193852" cy="1077218"/>
          </a:xfrm>
          <a:prstGeom prst="rect">
            <a:avLst/>
          </a:prstGeom>
          <a:noFill/>
        </p:spPr>
        <p:txBody>
          <a:bodyPr wrap="square" rtlCol="0">
            <a:spAutoFit/>
          </a:bodyPr>
          <a:lstStyle/>
          <a:p>
            <a:pPr algn="just"/>
            <a:r>
              <a:rPr lang="en-US" altLang="zh-CN" sz="3200" b="1" dirty="0">
                <a:solidFill>
                  <a:srgbClr val="002060"/>
                </a:solidFill>
                <a:latin typeface="Times New Roman" panose="02020603050405020304" pitchFamily="18" charset="0"/>
                <a:ea typeface="华文楷体" panose="02010600040101010101" pitchFamily="2" charset="-122"/>
                <a:cs typeface="Times New Roman" panose="02020603050405020304" pitchFamily="18" charset="0"/>
              </a:rPr>
              <a:t>Simdroid</a:t>
            </a:r>
            <a:r>
              <a:rPr lang="zh-CN" altLang="en-US" sz="3200" b="1" dirty="0">
                <a:solidFill>
                  <a:srgbClr val="002060"/>
                </a:solidFill>
                <a:latin typeface="华文楷体" panose="02010600040101010101" pitchFamily="2" charset="-122"/>
                <a:ea typeface="华文楷体" panose="02010600040101010101" pitchFamily="2" charset="-122"/>
              </a:rPr>
              <a:t>开发界面</a:t>
            </a:r>
          </a:p>
        </p:txBody>
      </p:sp>
      <p:pic>
        <p:nvPicPr>
          <p:cNvPr id="7" name="图片 1">
            <a:extLst>
              <a:ext uri="{FF2B5EF4-FFF2-40B4-BE49-F238E27FC236}">
                <a16:creationId xmlns="" xmlns:a16="http://schemas.microsoft.com/office/drawing/2014/main" id="{D461EA3D-9905-91BC-BF91-E9BB0D4BEB9F}"/>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42666" y="163960"/>
            <a:ext cx="950811"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rotWithShape="1">
          <a:blip r:embed="rId5"/>
          <a:srcRect r="707"/>
          <a:stretch/>
        </p:blipFill>
        <p:spPr>
          <a:xfrm>
            <a:off x="5670606" y="1951473"/>
            <a:ext cx="5947465" cy="4392000"/>
          </a:xfrm>
          <a:prstGeom prst="rect">
            <a:avLst/>
          </a:prstGeom>
        </p:spPr>
      </p:pic>
    </p:spTree>
    <p:extLst>
      <p:ext uri="{BB962C8B-B14F-4D97-AF65-F5344CB8AC3E}">
        <p14:creationId xmlns:p14="http://schemas.microsoft.com/office/powerpoint/2010/main" val="1488917019"/>
      </p:ext>
    </p:extLst>
  </p:cSld>
  <p:clrMapOvr>
    <a:masterClrMapping/>
  </p:clrMapOvr>
  <p:transition spd="med">
    <p:fade thruBlk="1"/>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889305" y="115605"/>
            <a:ext cx="7728493" cy="584775"/>
          </a:xfrm>
          <a:prstGeom prst="rect">
            <a:avLst/>
          </a:prstGeom>
        </p:spPr>
        <p:txBody>
          <a:bodyPr wrap="square">
            <a:spAutoFit/>
          </a:bodyPr>
          <a:lstStyle/>
          <a:p>
            <a:r>
              <a:rPr lang="zh-CN" altLang="en-US" sz="3200" b="1" dirty="0">
                <a:solidFill>
                  <a:srgbClr val="0070C0"/>
                </a:solidFill>
                <a:latin typeface="黑体" panose="02010609060101010101" pitchFamily="49" charset="-122"/>
                <a:ea typeface="黑体" panose="02010609060101010101" pitchFamily="49" charset="-122"/>
              </a:rPr>
              <a:t>例</a:t>
            </a:r>
            <a:r>
              <a:rPr lang="en-US" altLang="zh-CN" sz="3200" b="1" dirty="0">
                <a:solidFill>
                  <a:srgbClr val="0070C0"/>
                </a:solidFill>
                <a:latin typeface="黑体" panose="02010609060101010101" pitchFamily="49" charset="-122"/>
                <a:ea typeface="黑体" panose="02010609060101010101" pitchFamily="49" charset="-122"/>
              </a:rPr>
              <a:t>1</a:t>
            </a:r>
            <a:r>
              <a:rPr lang="zh-CN" altLang="en-US" sz="3200" b="1" dirty="0">
                <a:solidFill>
                  <a:srgbClr val="0070C0"/>
                </a:solidFill>
                <a:latin typeface="黑体" panose="02010609060101010101" pitchFamily="49" charset="-122"/>
                <a:ea typeface="黑体" panose="02010609060101010101" pitchFamily="49" charset="-122"/>
              </a:rPr>
              <a:t>：工程电磁场</a:t>
            </a:r>
            <a:r>
              <a:rPr lang="en-US" altLang="zh-CN" sz="3200" b="1" dirty="0">
                <a:solidFill>
                  <a:srgbClr val="0070C0"/>
                </a:solidFill>
                <a:latin typeface="黑体" panose="02010609060101010101" pitchFamily="49" charset="-122"/>
                <a:ea typeface="黑体" panose="02010609060101010101" pitchFamily="49" charset="-122"/>
              </a:rPr>
              <a:t>-</a:t>
            </a:r>
            <a:r>
              <a:rPr lang="zh-CN" altLang="en-US" sz="3200" b="1" dirty="0">
                <a:solidFill>
                  <a:srgbClr val="0070C0"/>
                </a:solidFill>
                <a:latin typeface="黑体" panose="02010609060101010101" pitchFamily="49" charset="-122"/>
                <a:ea typeface="黑体" panose="02010609060101010101" pitchFamily="49" charset="-122"/>
              </a:rPr>
              <a:t>三相电缆的电场分析</a:t>
            </a:r>
            <a:endParaRPr lang="zh-CN" altLang="en-US" sz="3200" b="1" i="0" dirty="0">
              <a:solidFill>
                <a:srgbClr val="0070C0"/>
              </a:solidFill>
              <a:effectLst/>
              <a:latin typeface="黑体" panose="02010609060101010101" pitchFamily="49" charset="-122"/>
              <a:ea typeface="黑体" panose="02010609060101010101" pitchFamily="49" charset="-122"/>
            </a:endParaRPr>
          </a:p>
        </p:txBody>
      </p:sp>
      <p:pic>
        <p:nvPicPr>
          <p:cNvPr id="11" name="图片 10"/>
          <p:cNvPicPr>
            <a:picLocks noChangeAspect="1"/>
          </p:cNvPicPr>
          <p:nvPr/>
        </p:nvPicPr>
        <p:blipFill>
          <a:blip r:embed="rId3"/>
          <a:stretch>
            <a:fillRect/>
          </a:stretch>
        </p:blipFill>
        <p:spPr>
          <a:xfrm>
            <a:off x="6096000" y="719512"/>
            <a:ext cx="2742481" cy="2749253"/>
          </a:xfrm>
          <a:prstGeom prst="rect">
            <a:avLst/>
          </a:prstGeom>
        </p:spPr>
      </p:pic>
      <p:pic>
        <p:nvPicPr>
          <p:cNvPr id="13" name="图片 12"/>
          <p:cNvPicPr>
            <a:picLocks noChangeAspect="1"/>
          </p:cNvPicPr>
          <p:nvPr/>
        </p:nvPicPr>
        <p:blipFill>
          <a:blip r:embed="rId4"/>
          <a:stretch>
            <a:fillRect/>
          </a:stretch>
        </p:blipFill>
        <p:spPr>
          <a:xfrm>
            <a:off x="9028496" y="703373"/>
            <a:ext cx="2850067" cy="2857184"/>
          </a:xfrm>
          <a:prstGeom prst="rect">
            <a:avLst/>
          </a:prstGeom>
        </p:spPr>
      </p:pic>
      <p:pic>
        <p:nvPicPr>
          <p:cNvPr id="12" name="图片 11"/>
          <p:cNvPicPr>
            <a:picLocks noChangeAspect="1"/>
          </p:cNvPicPr>
          <p:nvPr/>
        </p:nvPicPr>
        <p:blipFill>
          <a:blip r:embed="rId5"/>
          <a:stretch>
            <a:fillRect/>
          </a:stretch>
        </p:blipFill>
        <p:spPr>
          <a:xfrm>
            <a:off x="7865771" y="3645919"/>
            <a:ext cx="2922612" cy="2911761"/>
          </a:xfrm>
          <a:prstGeom prst="rect">
            <a:avLst/>
          </a:prstGeom>
        </p:spPr>
      </p:pic>
      <p:pic>
        <p:nvPicPr>
          <p:cNvPr id="10" name="图片 9"/>
          <p:cNvPicPr>
            <a:picLocks noChangeAspect="1"/>
          </p:cNvPicPr>
          <p:nvPr/>
        </p:nvPicPr>
        <p:blipFill>
          <a:blip r:embed="rId6"/>
          <a:stretch>
            <a:fillRect/>
          </a:stretch>
        </p:blipFill>
        <p:spPr>
          <a:xfrm>
            <a:off x="4367625" y="3560557"/>
            <a:ext cx="2930928" cy="2997123"/>
          </a:xfrm>
          <a:prstGeom prst="rect">
            <a:avLst/>
          </a:prstGeom>
        </p:spPr>
      </p:pic>
      <p:pic>
        <p:nvPicPr>
          <p:cNvPr id="14" name="图片占位符 11"/>
          <p:cNvPicPr>
            <a:picLocks noGrp="1" noChangeAspect="1"/>
          </p:cNvPicPr>
          <p:nvPr>
            <p:ph type="pic" sz="quarter" idx="10"/>
          </p:nvPr>
        </p:nvPicPr>
        <p:blipFill>
          <a:blip r:embed="rId7" cstate="print">
            <a:extLst>
              <a:ext uri="{28A0092B-C50C-407E-A947-70E740481C1C}">
                <a14:useLocalDpi xmlns:a14="http://schemas.microsoft.com/office/drawing/2010/main" val="0"/>
              </a:ext>
            </a:extLst>
          </a:blip>
          <a:srcRect l="14657" r="14657"/>
          <a:stretch>
            <a:fillRect/>
          </a:stretch>
        </p:blipFill>
        <p:spPr>
          <a:xfrm>
            <a:off x="133727" y="148465"/>
            <a:ext cx="1377439" cy="1442870"/>
          </a:xfrm>
          <a:ln w="152400">
            <a:solidFill>
              <a:srgbClr val="A2C9EC"/>
            </a:solidFill>
          </a:ln>
        </p:spPr>
      </p:pic>
      <p:pic>
        <p:nvPicPr>
          <p:cNvPr id="15" name="图片 1">
            <a:extLst>
              <a:ext uri="{FF2B5EF4-FFF2-40B4-BE49-F238E27FC236}">
                <a16:creationId xmlns="" xmlns:a16="http://schemas.microsoft.com/office/drawing/2014/main" id="{D461EA3D-9905-91BC-BF91-E9BB0D4BEB9F}"/>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75290" y="5716951"/>
            <a:ext cx="950811"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 xmlns:a16="http://schemas.microsoft.com/office/drawing/2014/main" id="{104F0088-9092-9F9E-2910-A3B29ADCE99D}"/>
              </a:ext>
            </a:extLst>
          </p:cNvPr>
          <p:cNvPicPr>
            <a:picLocks noChangeAspect="1"/>
          </p:cNvPicPr>
          <p:nvPr/>
        </p:nvPicPr>
        <p:blipFill>
          <a:blip r:embed="rId9"/>
          <a:stretch>
            <a:fillRect/>
          </a:stretch>
        </p:blipFill>
        <p:spPr>
          <a:xfrm>
            <a:off x="98793" y="1989178"/>
            <a:ext cx="3754635" cy="3453269"/>
          </a:xfrm>
          <a:prstGeom prst="rect">
            <a:avLst/>
          </a:prstGeom>
        </p:spPr>
      </p:pic>
      <p:pic>
        <p:nvPicPr>
          <p:cNvPr id="9" name="图片 8"/>
          <p:cNvPicPr>
            <a:picLocks noChangeAspect="1"/>
          </p:cNvPicPr>
          <p:nvPr/>
        </p:nvPicPr>
        <p:blipFill>
          <a:blip r:embed="rId10"/>
          <a:stretch>
            <a:fillRect/>
          </a:stretch>
        </p:blipFill>
        <p:spPr>
          <a:xfrm>
            <a:off x="3212143" y="719512"/>
            <a:ext cx="2739019" cy="2749253"/>
          </a:xfrm>
          <a:prstGeom prst="rect">
            <a:avLst/>
          </a:prstGeom>
        </p:spPr>
      </p:pic>
    </p:spTree>
    <p:extLst>
      <p:ext uri="{BB962C8B-B14F-4D97-AF65-F5344CB8AC3E}">
        <p14:creationId xmlns:p14="http://schemas.microsoft.com/office/powerpoint/2010/main" val="2838094090"/>
      </p:ext>
    </p:extLst>
  </p:cSld>
  <p:clrMapOvr>
    <a:masterClrMapping/>
  </p:clrMapOvr>
  <p:transition spd="med">
    <p:fade thruBlk="1"/>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6024394" y="683268"/>
            <a:ext cx="2986983" cy="2565792"/>
          </a:xfrm>
          <a:prstGeom prst="rect">
            <a:avLst/>
          </a:prstGeom>
        </p:spPr>
      </p:pic>
      <p:pic>
        <p:nvPicPr>
          <p:cNvPr id="6" name="图片 5"/>
          <p:cNvPicPr>
            <a:picLocks noChangeAspect="1"/>
          </p:cNvPicPr>
          <p:nvPr/>
        </p:nvPicPr>
        <p:blipFill>
          <a:blip r:embed="rId4"/>
          <a:stretch>
            <a:fillRect/>
          </a:stretch>
        </p:blipFill>
        <p:spPr>
          <a:xfrm>
            <a:off x="9173477" y="686291"/>
            <a:ext cx="2904307" cy="2565792"/>
          </a:xfrm>
          <a:prstGeom prst="rect">
            <a:avLst/>
          </a:prstGeom>
        </p:spPr>
      </p:pic>
      <p:pic>
        <p:nvPicPr>
          <p:cNvPr id="7" name="图片 6"/>
          <p:cNvPicPr>
            <a:picLocks noChangeAspect="1"/>
          </p:cNvPicPr>
          <p:nvPr/>
        </p:nvPicPr>
        <p:blipFill>
          <a:blip r:embed="rId5"/>
          <a:stretch>
            <a:fillRect/>
          </a:stretch>
        </p:blipFill>
        <p:spPr>
          <a:xfrm>
            <a:off x="8636757" y="3578087"/>
            <a:ext cx="3299693" cy="2805599"/>
          </a:xfrm>
          <a:prstGeom prst="rect">
            <a:avLst/>
          </a:prstGeom>
        </p:spPr>
      </p:pic>
      <p:sp>
        <p:nvSpPr>
          <p:cNvPr id="9" name="矩形 8"/>
          <p:cNvSpPr/>
          <p:nvPr/>
        </p:nvSpPr>
        <p:spPr>
          <a:xfrm>
            <a:off x="4529532" y="79766"/>
            <a:ext cx="4868690" cy="584775"/>
          </a:xfrm>
          <a:prstGeom prst="rect">
            <a:avLst/>
          </a:prstGeom>
        </p:spPr>
        <p:txBody>
          <a:bodyPr wrap="square">
            <a:spAutoFit/>
          </a:bodyPr>
          <a:lstStyle/>
          <a:p>
            <a:r>
              <a:rPr lang="zh-CN" altLang="en-US" sz="3200" b="1" dirty="0">
                <a:solidFill>
                  <a:srgbClr val="0070C0"/>
                </a:solidFill>
                <a:latin typeface="黑体" panose="02010609060101010101" pitchFamily="49" charset="-122"/>
                <a:ea typeface="黑体" panose="02010609060101010101" pitchFamily="49" charset="-122"/>
              </a:rPr>
              <a:t>例</a:t>
            </a:r>
            <a:r>
              <a:rPr lang="en-US" altLang="zh-CN" sz="3200" b="1" dirty="0">
                <a:solidFill>
                  <a:srgbClr val="0070C0"/>
                </a:solidFill>
                <a:latin typeface="黑体" panose="02010609060101010101" pitchFamily="49" charset="-122"/>
                <a:ea typeface="黑体" panose="02010609060101010101" pitchFamily="49" charset="-122"/>
              </a:rPr>
              <a:t>2</a:t>
            </a:r>
            <a:r>
              <a:rPr lang="zh-CN" altLang="en-US" sz="3200" b="1" dirty="0">
                <a:solidFill>
                  <a:srgbClr val="0070C0"/>
                </a:solidFill>
                <a:latin typeface="黑体" panose="02010609060101010101" pitchFamily="49" charset="-122"/>
                <a:ea typeface="黑体" panose="02010609060101010101" pitchFamily="49" charset="-122"/>
              </a:rPr>
              <a:t>：金属扭转试验</a:t>
            </a:r>
            <a:endParaRPr lang="zh-CN" altLang="en-US" sz="3200" b="1" dirty="0">
              <a:latin typeface="黑体" panose="02010609060101010101" pitchFamily="49" charset="-122"/>
              <a:ea typeface="黑体" panose="02010609060101010101" pitchFamily="49" charset="-122"/>
            </a:endParaRPr>
          </a:p>
        </p:txBody>
      </p:sp>
      <p:pic>
        <p:nvPicPr>
          <p:cNvPr id="3" name="图片 2"/>
          <p:cNvPicPr>
            <a:picLocks noChangeAspect="1"/>
          </p:cNvPicPr>
          <p:nvPr/>
        </p:nvPicPr>
        <p:blipFill>
          <a:blip r:embed="rId6"/>
          <a:stretch>
            <a:fillRect/>
          </a:stretch>
        </p:blipFill>
        <p:spPr>
          <a:xfrm>
            <a:off x="5289362" y="3609891"/>
            <a:ext cx="3216644" cy="2741989"/>
          </a:xfrm>
          <a:prstGeom prst="rect">
            <a:avLst/>
          </a:prstGeom>
        </p:spPr>
      </p:pic>
      <p:pic>
        <p:nvPicPr>
          <p:cNvPr id="10" name="图片 9">
            <a:extLst>
              <a:ext uri="{FF2B5EF4-FFF2-40B4-BE49-F238E27FC236}">
                <a16:creationId xmlns="" xmlns:a16="http://schemas.microsoft.com/office/drawing/2014/main" id="{2BA53E62-8025-2F15-FD38-F0B48B2033A8}"/>
              </a:ext>
            </a:extLst>
          </p:cNvPr>
          <p:cNvPicPr>
            <a:picLocks noChangeAspect="1"/>
          </p:cNvPicPr>
          <p:nvPr/>
        </p:nvPicPr>
        <p:blipFill>
          <a:blip r:embed="rId7"/>
          <a:stretch>
            <a:fillRect/>
          </a:stretch>
        </p:blipFill>
        <p:spPr>
          <a:xfrm>
            <a:off x="0" y="2752478"/>
            <a:ext cx="4780860" cy="4105522"/>
          </a:xfrm>
          <a:prstGeom prst="rect">
            <a:avLst/>
          </a:prstGeom>
        </p:spPr>
      </p:pic>
      <p:pic>
        <p:nvPicPr>
          <p:cNvPr id="4" name="图片 3"/>
          <p:cNvPicPr>
            <a:picLocks noChangeAspect="1"/>
          </p:cNvPicPr>
          <p:nvPr/>
        </p:nvPicPr>
        <p:blipFill>
          <a:blip r:embed="rId8"/>
          <a:stretch>
            <a:fillRect/>
          </a:stretch>
        </p:blipFill>
        <p:spPr>
          <a:xfrm>
            <a:off x="3094361" y="682611"/>
            <a:ext cx="2861135" cy="2565792"/>
          </a:xfrm>
          <a:prstGeom prst="rect">
            <a:avLst/>
          </a:prstGeom>
        </p:spPr>
      </p:pic>
      <p:pic>
        <p:nvPicPr>
          <p:cNvPr id="12" name="图片占位符 11">
            <a:extLst>
              <a:ext uri="{FF2B5EF4-FFF2-40B4-BE49-F238E27FC236}">
                <a16:creationId xmlns="" xmlns:a16="http://schemas.microsoft.com/office/drawing/2014/main" id="{63DE2DAE-3254-64E8-B501-655DB112E1E1}"/>
              </a:ext>
            </a:extLst>
          </p:cNvPr>
          <p:cNvPicPr>
            <a:picLocks noChangeAspect="1"/>
          </p:cNvPicPr>
          <p:nvPr/>
        </p:nvPicPr>
        <p:blipFill>
          <a:blip r:embed="rId9" cstate="print">
            <a:extLst>
              <a:ext uri="{28A0092B-C50C-407E-A947-70E740481C1C}">
                <a14:useLocalDpi xmlns:a14="http://schemas.microsoft.com/office/drawing/2010/main" val="0"/>
              </a:ext>
            </a:extLst>
          </a:blip>
          <a:srcRect l="14657" r="14657"/>
          <a:stretch>
            <a:fillRect/>
          </a:stretch>
        </p:blipFill>
        <p:spPr>
          <a:xfrm>
            <a:off x="133727" y="148465"/>
            <a:ext cx="1377439" cy="1442870"/>
          </a:xfrm>
          <a:custGeom>
            <a:avLst/>
            <a:gdLst>
              <a:gd name="connsiteX0" fmla="*/ 0 w 5279257"/>
              <a:gd name="connsiteY0" fmla="*/ 0 h 5530032"/>
              <a:gd name="connsiteX1" fmla="*/ 3641372 w 5279257"/>
              <a:gd name="connsiteY1" fmla="*/ 0 h 5530032"/>
              <a:gd name="connsiteX2" fmla="*/ 5010556 w 5279257"/>
              <a:gd name="connsiteY2" fmla="*/ 1369184 h 5530032"/>
              <a:gd name="connsiteX3" fmla="*/ 5010556 w 5279257"/>
              <a:gd name="connsiteY3" fmla="*/ 2666592 h 5530032"/>
              <a:gd name="connsiteX4" fmla="*/ 2415817 w 5279257"/>
              <a:gd name="connsiteY4" fmla="*/ 5261331 h 5530032"/>
              <a:gd name="connsiteX5" fmla="*/ 1118409 w 5279257"/>
              <a:gd name="connsiteY5" fmla="*/ 5261331 h 5530032"/>
              <a:gd name="connsiteX6" fmla="*/ 1 w 5279257"/>
              <a:gd name="connsiteY6" fmla="*/ 4142923 h 5530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257" h="5530032">
                <a:moveTo>
                  <a:pt x="0" y="0"/>
                </a:moveTo>
                <a:lnTo>
                  <a:pt x="3641372" y="0"/>
                </a:lnTo>
                <a:lnTo>
                  <a:pt x="5010556" y="1369184"/>
                </a:lnTo>
                <a:cubicBezTo>
                  <a:pt x="5368825" y="1727453"/>
                  <a:pt x="5368825" y="2308323"/>
                  <a:pt x="5010556" y="2666592"/>
                </a:cubicBezTo>
                <a:lnTo>
                  <a:pt x="2415817" y="5261331"/>
                </a:lnTo>
                <a:cubicBezTo>
                  <a:pt x="2057548" y="5619600"/>
                  <a:pt x="1476678" y="5619600"/>
                  <a:pt x="1118409" y="5261331"/>
                </a:cubicBezTo>
                <a:lnTo>
                  <a:pt x="1" y="4142923"/>
                </a:lnTo>
                <a:close/>
              </a:path>
            </a:pathLst>
          </a:custGeom>
          <a:ln w="152400">
            <a:solidFill>
              <a:srgbClr val="A2C9EC"/>
            </a:solidFill>
          </a:ln>
        </p:spPr>
      </p:pic>
    </p:spTree>
    <p:extLst>
      <p:ext uri="{BB962C8B-B14F-4D97-AF65-F5344CB8AC3E}">
        <p14:creationId xmlns:p14="http://schemas.microsoft.com/office/powerpoint/2010/main" val="1667907152"/>
      </p:ext>
    </p:extLst>
  </p:cSld>
  <p:clrMapOvr>
    <a:masterClrMapping/>
  </p:clrMapOvr>
  <p:transition spd="med">
    <p:fade thruBlk="1"/>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 xmlns:a16="http://schemas.microsoft.com/office/drawing/2014/main" id="{EC05C90D-593C-1727-1ABF-E24447E709DA}"/>
              </a:ext>
            </a:extLst>
          </p:cNvPr>
          <p:cNvPicPr>
            <a:picLocks noChangeAspect="1"/>
          </p:cNvPicPr>
          <p:nvPr/>
        </p:nvPicPr>
        <p:blipFill>
          <a:blip r:embed="rId3"/>
          <a:stretch>
            <a:fillRect/>
          </a:stretch>
        </p:blipFill>
        <p:spPr>
          <a:xfrm>
            <a:off x="133727" y="2208501"/>
            <a:ext cx="4282990" cy="3427012"/>
          </a:xfrm>
          <a:prstGeom prst="rect">
            <a:avLst/>
          </a:prstGeom>
        </p:spPr>
      </p:pic>
      <p:pic>
        <p:nvPicPr>
          <p:cNvPr id="3" name="图片 2"/>
          <p:cNvPicPr>
            <a:picLocks noChangeAspect="1"/>
          </p:cNvPicPr>
          <p:nvPr/>
        </p:nvPicPr>
        <p:blipFill>
          <a:blip r:embed="rId4"/>
          <a:stretch>
            <a:fillRect/>
          </a:stretch>
        </p:blipFill>
        <p:spPr>
          <a:xfrm>
            <a:off x="4243513" y="766433"/>
            <a:ext cx="2654405" cy="2243931"/>
          </a:xfrm>
          <a:prstGeom prst="rect">
            <a:avLst/>
          </a:prstGeom>
        </p:spPr>
      </p:pic>
      <p:pic>
        <p:nvPicPr>
          <p:cNvPr id="4" name="图片 3"/>
          <p:cNvPicPr>
            <a:picLocks noChangeAspect="1"/>
          </p:cNvPicPr>
          <p:nvPr/>
        </p:nvPicPr>
        <p:blipFill>
          <a:blip r:embed="rId5"/>
          <a:stretch>
            <a:fillRect/>
          </a:stretch>
        </p:blipFill>
        <p:spPr>
          <a:xfrm>
            <a:off x="6711195" y="350328"/>
            <a:ext cx="2620181" cy="2243931"/>
          </a:xfrm>
          <a:prstGeom prst="rect">
            <a:avLst/>
          </a:prstGeom>
        </p:spPr>
      </p:pic>
      <p:pic>
        <p:nvPicPr>
          <p:cNvPr id="5" name="图片 4"/>
          <p:cNvPicPr>
            <a:picLocks noChangeAspect="1"/>
          </p:cNvPicPr>
          <p:nvPr/>
        </p:nvPicPr>
        <p:blipFill>
          <a:blip r:embed="rId6"/>
          <a:stretch>
            <a:fillRect/>
          </a:stretch>
        </p:blipFill>
        <p:spPr>
          <a:xfrm>
            <a:off x="9144652" y="724338"/>
            <a:ext cx="2669862" cy="2243931"/>
          </a:xfrm>
          <a:prstGeom prst="rect">
            <a:avLst/>
          </a:prstGeom>
        </p:spPr>
      </p:pic>
      <p:pic>
        <p:nvPicPr>
          <p:cNvPr id="6" name="图片 5"/>
          <p:cNvPicPr>
            <a:picLocks noChangeAspect="1"/>
          </p:cNvPicPr>
          <p:nvPr/>
        </p:nvPicPr>
        <p:blipFill>
          <a:blip r:embed="rId7"/>
          <a:stretch>
            <a:fillRect/>
          </a:stretch>
        </p:blipFill>
        <p:spPr>
          <a:xfrm>
            <a:off x="4335069" y="3627530"/>
            <a:ext cx="2654403" cy="2289465"/>
          </a:xfrm>
          <a:prstGeom prst="rect">
            <a:avLst/>
          </a:prstGeom>
        </p:spPr>
      </p:pic>
      <p:pic>
        <p:nvPicPr>
          <p:cNvPr id="7" name="图片 6"/>
          <p:cNvPicPr>
            <a:picLocks noChangeAspect="1"/>
          </p:cNvPicPr>
          <p:nvPr/>
        </p:nvPicPr>
        <p:blipFill>
          <a:blip r:embed="rId8"/>
          <a:stretch>
            <a:fillRect/>
          </a:stretch>
        </p:blipFill>
        <p:spPr>
          <a:xfrm>
            <a:off x="6701811" y="3140764"/>
            <a:ext cx="2620181" cy="2217336"/>
          </a:xfrm>
          <a:prstGeom prst="rect">
            <a:avLst/>
          </a:prstGeom>
        </p:spPr>
      </p:pic>
      <p:pic>
        <p:nvPicPr>
          <p:cNvPr id="8" name="图片 7"/>
          <p:cNvPicPr>
            <a:picLocks noChangeAspect="1"/>
          </p:cNvPicPr>
          <p:nvPr/>
        </p:nvPicPr>
        <p:blipFill>
          <a:blip r:embed="rId9"/>
          <a:stretch>
            <a:fillRect/>
          </a:stretch>
        </p:blipFill>
        <p:spPr>
          <a:xfrm>
            <a:off x="9236212" y="3604672"/>
            <a:ext cx="2664268" cy="2217336"/>
          </a:xfrm>
          <a:prstGeom prst="rect">
            <a:avLst/>
          </a:prstGeom>
        </p:spPr>
      </p:pic>
      <p:sp>
        <p:nvSpPr>
          <p:cNvPr id="9" name="矩形 8"/>
          <p:cNvSpPr/>
          <p:nvPr/>
        </p:nvSpPr>
        <p:spPr>
          <a:xfrm>
            <a:off x="1734517" y="39381"/>
            <a:ext cx="6754091" cy="584775"/>
          </a:xfrm>
          <a:prstGeom prst="rect">
            <a:avLst/>
          </a:prstGeom>
        </p:spPr>
        <p:txBody>
          <a:bodyPr wrap="square">
            <a:spAutoFit/>
          </a:bodyPr>
          <a:lstStyle/>
          <a:p>
            <a:r>
              <a:rPr lang="zh-CN" altLang="en-US" sz="3200" b="1" dirty="0">
                <a:solidFill>
                  <a:srgbClr val="0070C0"/>
                </a:solidFill>
                <a:latin typeface="黑体" panose="02010609060101010101" pitchFamily="49" charset="-122"/>
                <a:ea typeface="黑体" panose="02010609060101010101" pitchFamily="49" charset="-122"/>
              </a:rPr>
              <a:t>例</a:t>
            </a:r>
            <a:r>
              <a:rPr lang="en-US" altLang="zh-CN" sz="3200" b="1" dirty="0">
                <a:solidFill>
                  <a:srgbClr val="0070C0"/>
                </a:solidFill>
                <a:latin typeface="黑体" panose="02010609060101010101" pitchFamily="49" charset="-122"/>
                <a:ea typeface="黑体" panose="02010609060101010101" pitchFamily="49" charset="-122"/>
              </a:rPr>
              <a:t>3</a:t>
            </a:r>
            <a:r>
              <a:rPr lang="zh-CN" altLang="en-US" sz="3200" b="1" dirty="0">
                <a:solidFill>
                  <a:srgbClr val="0070C0"/>
                </a:solidFill>
                <a:latin typeface="黑体" panose="02010609060101010101" pitchFamily="49" charset="-122"/>
                <a:ea typeface="黑体" panose="02010609060101010101" pitchFamily="49" charset="-122"/>
              </a:rPr>
              <a:t>：砖砌炉墙传热分析</a:t>
            </a:r>
            <a:endParaRPr lang="zh-CN" altLang="en-US" sz="3200" b="1" i="0" dirty="0">
              <a:solidFill>
                <a:srgbClr val="0070C0"/>
              </a:solidFill>
              <a:effectLst/>
              <a:latin typeface="黑体" panose="02010609060101010101" pitchFamily="49" charset="-122"/>
              <a:ea typeface="黑体" panose="02010609060101010101" pitchFamily="49" charset="-122"/>
            </a:endParaRPr>
          </a:p>
        </p:txBody>
      </p:sp>
      <p:pic>
        <p:nvPicPr>
          <p:cNvPr id="10" name="图片占位符 11"/>
          <p:cNvPicPr>
            <a:picLocks noGrp="1" noChangeAspect="1"/>
          </p:cNvPicPr>
          <p:nvPr>
            <p:ph type="pic" sz="quarter" idx="10"/>
          </p:nvPr>
        </p:nvPicPr>
        <p:blipFill>
          <a:blip r:embed="rId10" cstate="print">
            <a:extLst>
              <a:ext uri="{28A0092B-C50C-407E-A947-70E740481C1C}">
                <a14:useLocalDpi xmlns:a14="http://schemas.microsoft.com/office/drawing/2010/main" val="0"/>
              </a:ext>
            </a:extLst>
          </a:blip>
          <a:srcRect l="14657" r="14657"/>
          <a:stretch>
            <a:fillRect/>
          </a:stretch>
        </p:blipFill>
        <p:spPr>
          <a:xfrm>
            <a:off x="133727" y="148465"/>
            <a:ext cx="1377439" cy="1442870"/>
          </a:xfrm>
          <a:ln w="152400">
            <a:solidFill>
              <a:srgbClr val="A2C9EC"/>
            </a:solidFill>
          </a:ln>
        </p:spPr>
      </p:pic>
      <p:pic>
        <p:nvPicPr>
          <p:cNvPr id="11" name="图片 1">
            <a:extLst>
              <a:ext uri="{FF2B5EF4-FFF2-40B4-BE49-F238E27FC236}">
                <a16:creationId xmlns="" xmlns:a16="http://schemas.microsoft.com/office/drawing/2014/main" id="{D461EA3D-9905-91BC-BF91-E9BB0D4BEB9F}"/>
              </a:ext>
            </a:extLst>
          </p:cNvPr>
          <p:cNvPicPr>
            <a:picLocks noChangeAspect="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75290" y="5716951"/>
            <a:ext cx="950811"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1576103"/>
      </p:ext>
    </p:extLst>
  </p:cSld>
  <p:clrMapOvr>
    <a:masterClrMapping/>
  </p:clrMapOvr>
  <p:transition spd="med">
    <p:fade thruBlk="1"/>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 xmlns:a16="http://schemas.microsoft.com/office/drawing/2014/main" id="{59F505BC-E8FF-F11B-FCB4-8E774A22A0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5937" y="1107944"/>
            <a:ext cx="11270741" cy="5555863"/>
          </a:xfrm>
          <a:prstGeom prst="rect">
            <a:avLst/>
          </a:prstGeom>
        </p:spPr>
      </p:pic>
      <p:sp>
        <p:nvSpPr>
          <p:cNvPr id="4" name="文本框 3">
            <a:extLst>
              <a:ext uri="{FF2B5EF4-FFF2-40B4-BE49-F238E27FC236}">
                <a16:creationId xmlns="" xmlns:a16="http://schemas.microsoft.com/office/drawing/2014/main" id="{88AF0EFC-FE96-631A-C5AA-1860B86CA0BB}"/>
              </a:ext>
            </a:extLst>
          </p:cNvPr>
          <p:cNvSpPr txBox="1"/>
          <p:nvPr/>
        </p:nvSpPr>
        <p:spPr>
          <a:xfrm>
            <a:off x="685800" y="419699"/>
            <a:ext cx="10477648" cy="707886"/>
          </a:xfrm>
          <a:prstGeom prst="rect">
            <a:avLst/>
          </a:prstGeom>
          <a:noFill/>
        </p:spPr>
        <p:txBody>
          <a:bodyPr wrap="square">
            <a:spAutoFit/>
          </a:bodyPr>
          <a:lstStyle/>
          <a:p>
            <a:r>
              <a:rPr lang="zh-CN" altLang="zh-CN" sz="2000" b="1" dirty="0">
                <a:solidFill>
                  <a:srgbClr val="002060"/>
                </a:solidFill>
                <a:latin typeface="黑体" panose="02010609060101010101" pitchFamily="49" charset="-122"/>
                <a:ea typeface="黑体" panose="02010609060101010101" pitchFamily="49" charset="-122"/>
              </a:rPr>
              <a:t>登录</a:t>
            </a:r>
            <a:r>
              <a:rPr lang="en-US" altLang="zh-CN" sz="20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Simapps</a:t>
            </a:r>
            <a:r>
              <a:rPr lang="zh-CN" altLang="zh-CN" sz="2000" b="1" dirty="0">
                <a:solidFill>
                  <a:srgbClr val="002060"/>
                </a:solidFill>
                <a:latin typeface="黑体" panose="02010609060101010101" pitchFamily="49" charset="-122"/>
                <a:ea typeface="黑体" panose="02010609060101010101" pitchFamily="49" charset="-122"/>
              </a:rPr>
              <a:t>网站（</a:t>
            </a:r>
            <a:r>
              <a:rPr lang="en-US" altLang="zh-CN" sz="2000" b="1" u="sng"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hlinkClick r:id="rId3"/>
              </a:rPr>
              <a:t>Simapps Store</a:t>
            </a:r>
            <a:r>
              <a:rPr lang="zh-CN" altLang="zh-CN" sz="2000" b="1" dirty="0">
                <a:solidFill>
                  <a:srgbClr val="002060"/>
                </a:solidFill>
                <a:latin typeface="黑体" panose="02010609060101010101" pitchFamily="49" charset="-122"/>
                <a:ea typeface="黑体" panose="02010609060101010101" pitchFamily="49" charset="-122"/>
              </a:rPr>
              <a:t>）</a:t>
            </a:r>
            <a:endParaRPr lang="en-US" altLang="zh-CN" sz="2000" b="1" dirty="0">
              <a:solidFill>
                <a:srgbClr val="002060"/>
              </a:solidFill>
              <a:latin typeface="黑体" panose="02010609060101010101" pitchFamily="49" charset="-122"/>
              <a:ea typeface="黑体" panose="02010609060101010101" pitchFamily="49" charset="-122"/>
            </a:endParaRPr>
          </a:p>
          <a:p>
            <a:r>
              <a:rPr lang="zh-CN" altLang="zh-CN" sz="2000" b="1" dirty="0">
                <a:solidFill>
                  <a:srgbClr val="002060"/>
                </a:solidFill>
                <a:latin typeface="黑体" panose="02010609060101010101" pitchFamily="49" charset="-122"/>
                <a:ea typeface="黑体" panose="02010609060101010101" pitchFamily="49" charset="-122"/>
              </a:rPr>
              <a:t>点击①【开发者社区】②【仿真工具】通用</a:t>
            </a:r>
            <a:r>
              <a:rPr lang="en-US" altLang="zh-CN" sz="2000" b="1" dirty="0">
                <a:solidFill>
                  <a:srgbClr val="002060"/>
                </a:solidFill>
                <a:latin typeface="黑体" panose="02010609060101010101" pitchFamily="49" charset="-122"/>
                <a:ea typeface="黑体" panose="02010609060101010101" pitchFamily="49" charset="-122"/>
              </a:rPr>
              <a:t>CAE</a:t>
            </a:r>
            <a:r>
              <a:rPr lang="zh-CN" altLang="zh-CN" sz="2000" b="1" dirty="0">
                <a:solidFill>
                  <a:srgbClr val="002060"/>
                </a:solidFill>
                <a:latin typeface="黑体" panose="02010609060101010101" pitchFamily="49" charset="-122"/>
                <a:ea typeface="黑体" panose="02010609060101010101" pitchFamily="49" charset="-122"/>
              </a:rPr>
              <a:t>平台</a:t>
            </a:r>
            <a:r>
              <a:rPr lang="en-US" altLang="zh-CN" sz="2000" b="1" dirty="0">
                <a:solidFill>
                  <a:srgbClr val="002060"/>
                </a:solidFill>
                <a:latin typeface="黑体" panose="02010609060101010101" pitchFamily="49" charset="-122"/>
                <a:ea typeface="黑体" panose="02010609060101010101" pitchFamily="49" charset="-122"/>
              </a:rPr>
              <a:t>Simdroid </a:t>
            </a:r>
            <a:r>
              <a:rPr lang="zh-CN" altLang="zh-CN" sz="2000" b="1" dirty="0">
                <a:solidFill>
                  <a:srgbClr val="002060"/>
                </a:solidFill>
                <a:latin typeface="黑体" panose="02010609060101010101" pitchFamily="49" charset="-122"/>
                <a:ea typeface="黑体" panose="02010609060101010101" pitchFamily="49" charset="-122"/>
              </a:rPr>
              <a:t>③【下载试用】</a:t>
            </a:r>
            <a:endParaRPr lang="zh-CN" altLang="en-US" sz="2000" b="1" dirty="0">
              <a:solidFill>
                <a:srgbClr val="002060"/>
              </a:solidFill>
              <a:latin typeface="黑体" panose="02010609060101010101" pitchFamily="49" charset="-122"/>
              <a:ea typeface="黑体" panose="02010609060101010101" pitchFamily="49" charset="-122"/>
            </a:endParaRPr>
          </a:p>
        </p:txBody>
      </p:sp>
      <p:pic>
        <p:nvPicPr>
          <p:cNvPr id="5" name="图片 1">
            <a:extLst>
              <a:ext uri="{FF2B5EF4-FFF2-40B4-BE49-F238E27FC236}">
                <a16:creationId xmlns="" xmlns:a16="http://schemas.microsoft.com/office/drawing/2014/main" id="{D461EA3D-9905-91BC-BF91-E9BB0D4BEB9F}"/>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63448" y="130993"/>
            <a:ext cx="950811"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939417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1">
            <a:extLst>
              <a:ext uri="{FF2B5EF4-FFF2-40B4-BE49-F238E27FC236}">
                <a16:creationId xmlns="" xmlns:a16="http://schemas.microsoft.com/office/drawing/2014/main" id="{C3CEC2E7-8973-8877-8D17-18A65BCEAAD3}"/>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36411" y="5479548"/>
            <a:ext cx="950811"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占位符 11">
            <a:extLst>
              <a:ext uri="{FF2B5EF4-FFF2-40B4-BE49-F238E27FC236}">
                <a16:creationId xmlns="" xmlns:a16="http://schemas.microsoft.com/office/drawing/2014/main" id="{C2D18D4A-B46E-A8CD-CBF5-D4DD5EFFE170}"/>
              </a:ext>
            </a:extLst>
          </p:cNvPr>
          <p:cNvPicPr>
            <a:picLocks noChangeAspect="1"/>
          </p:cNvPicPr>
          <p:nvPr/>
        </p:nvPicPr>
        <p:blipFill>
          <a:blip r:embed="rId4" cstate="print">
            <a:extLst>
              <a:ext uri="{28A0092B-C50C-407E-A947-70E740481C1C}">
                <a14:useLocalDpi xmlns:a14="http://schemas.microsoft.com/office/drawing/2010/main" val="0"/>
              </a:ext>
            </a:extLst>
          </a:blip>
          <a:srcRect l="14657" r="14657"/>
          <a:stretch>
            <a:fillRect/>
          </a:stretch>
        </p:blipFill>
        <p:spPr>
          <a:xfrm>
            <a:off x="133727" y="148465"/>
            <a:ext cx="1377439" cy="1442870"/>
          </a:xfrm>
          <a:custGeom>
            <a:avLst/>
            <a:gdLst>
              <a:gd name="connsiteX0" fmla="*/ 0 w 5279257"/>
              <a:gd name="connsiteY0" fmla="*/ 0 h 5530032"/>
              <a:gd name="connsiteX1" fmla="*/ 3641372 w 5279257"/>
              <a:gd name="connsiteY1" fmla="*/ 0 h 5530032"/>
              <a:gd name="connsiteX2" fmla="*/ 5010556 w 5279257"/>
              <a:gd name="connsiteY2" fmla="*/ 1369184 h 5530032"/>
              <a:gd name="connsiteX3" fmla="*/ 5010556 w 5279257"/>
              <a:gd name="connsiteY3" fmla="*/ 2666592 h 5530032"/>
              <a:gd name="connsiteX4" fmla="*/ 2415817 w 5279257"/>
              <a:gd name="connsiteY4" fmla="*/ 5261331 h 5530032"/>
              <a:gd name="connsiteX5" fmla="*/ 1118409 w 5279257"/>
              <a:gd name="connsiteY5" fmla="*/ 5261331 h 5530032"/>
              <a:gd name="connsiteX6" fmla="*/ 1 w 5279257"/>
              <a:gd name="connsiteY6" fmla="*/ 4142923 h 5530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257" h="5530032">
                <a:moveTo>
                  <a:pt x="0" y="0"/>
                </a:moveTo>
                <a:lnTo>
                  <a:pt x="3641372" y="0"/>
                </a:lnTo>
                <a:lnTo>
                  <a:pt x="5010556" y="1369184"/>
                </a:lnTo>
                <a:cubicBezTo>
                  <a:pt x="5368825" y="1727453"/>
                  <a:pt x="5368825" y="2308323"/>
                  <a:pt x="5010556" y="2666592"/>
                </a:cubicBezTo>
                <a:lnTo>
                  <a:pt x="2415817" y="5261331"/>
                </a:lnTo>
                <a:cubicBezTo>
                  <a:pt x="2057548" y="5619600"/>
                  <a:pt x="1476678" y="5619600"/>
                  <a:pt x="1118409" y="5261331"/>
                </a:cubicBezTo>
                <a:lnTo>
                  <a:pt x="1" y="4142923"/>
                </a:lnTo>
                <a:close/>
              </a:path>
            </a:pathLst>
          </a:custGeom>
          <a:ln w="152400">
            <a:solidFill>
              <a:srgbClr val="A2C9EC"/>
            </a:solidFill>
          </a:ln>
        </p:spPr>
      </p:pic>
      <p:sp>
        <p:nvSpPr>
          <p:cNvPr id="13" name="文本框 4"/>
          <p:cNvSpPr txBox="1">
            <a:spLocks noChangeArrowheads="1"/>
          </p:cNvSpPr>
          <p:nvPr/>
        </p:nvSpPr>
        <p:spPr bwMode="auto">
          <a:xfrm>
            <a:off x="1569881" y="282802"/>
            <a:ext cx="480095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a:lnSpc>
                <a:spcPct val="100000"/>
              </a:lnSpc>
              <a:spcBef>
                <a:spcPct val="0"/>
              </a:spcBef>
              <a:buFontTx/>
              <a:buNone/>
            </a:pPr>
            <a:r>
              <a:rPr lang="zh-CN" altLang="zh-CN" sz="2000" b="1" dirty="0">
                <a:solidFill>
                  <a:srgbClr val="002060"/>
                </a:solidFill>
                <a:latin typeface="黑体" panose="02010609060101010101" pitchFamily="49" charset="-122"/>
                <a:ea typeface="黑体" panose="02010609060101010101" pitchFamily="49" charset="-122"/>
              </a:rPr>
              <a:t>点击头像，输入手机号和验证</a:t>
            </a:r>
            <a:r>
              <a:rPr lang="zh-CN" altLang="zh-CN" sz="2000" b="1" dirty="0" smtClean="0">
                <a:solidFill>
                  <a:srgbClr val="002060"/>
                </a:solidFill>
                <a:latin typeface="黑体" panose="02010609060101010101" pitchFamily="49" charset="-122"/>
                <a:ea typeface="黑体" panose="02010609060101010101" pitchFamily="49" charset="-122"/>
              </a:rPr>
              <a:t>码</a:t>
            </a:r>
            <a:r>
              <a:rPr lang="zh-CN" altLang="en-US" sz="2000" b="1" dirty="0">
                <a:solidFill>
                  <a:srgbClr val="002060"/>
                </a:solidFill>
                <a:latin typeface="黑体" panose="02010609060101010101" pitchFamily="49" charset="-122"/>
                <a:ea typeface="黑体" panose="02010609060101010101" pitchFamily="49" charset="-122"/>
              </a:rPr>
              <a:t>注册</a:t>
            </a:r>
            <a:r>
              <a:rPr lang="zh-CN" altLang="zh-CN" sz="2000" b="1" dirty="0" smtClean="0">
                <a:solidFill>
                  <a:srgbClr val="002060"/>
                </a:solidFill>
                <a:latin typeface="黑体" panose="02010609060101010101" pitchFamily="49" charset="-122"/>
                <a:ea typeface="黑体" panose="02010609060101010101" pitchFamily="49" charset="-122"/>
              </a:rPr>
              <a:t>登录</a:t>
            </a:r>
            <a:endParaRPr lang="zh-CN" altLang="en-US" sz="2000" b="1" dirty="0">
              <a:solidFill>
                <a:srgbClr val="002060"/>
              </a:solidFill>
              <a:latin typeface="黑体" panose="02010609060101010101" pitchFamily="49" charset="-122"/>
              <a:ea typeface="黑体" panose="02010609060101010101" pitchFamily="49" charset="-122"/>
            </a:endParaRPr>
          </a:p>
        </p:txBody>
      </p:sp>
      <p:pic>
        <p:nvPicPr>
          <p:cNvPr id="14" name="图片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37229" y="748142"/>
            <a:ext cx="5066260" cy="28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椭圆 14"/>
          <p:cNvSpPr/>
          <p:nvPr/>
        </p:nvSpPr>
        <p:spPr>
          <a:xfrm>
            <a:off x="1294110" y="765368"/>
            <a:ext cx="714758" cy="39020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pic>
        <p:nvPicPr>
          <p:cNvPr id="8" name="图片 7"/>
          <p:cNvPicPr/>
          <p:nvPr/>
        </p:nvPicPr>
        <p:blipFill>
          <a:blip r:embed="rId6"/>
          <a:stretch>
            <a:fillRect/>
          </a:stretch>
        </p:blipFill>
        <p:spPr>
          <a:xfrm>
            <a:off x="6646608" y="755320"/>
            <a:ext cx="5061585" cy="2879725"/>
          </a:xfrm>
          <a:prstGeom prst="rect">
            <a:avLst/>
          </a:prstGeom>
        </p:spPr>
      </p:pic>
      <p:sp>
        <p:nvSpPr>
          <p:cNvPr id="9" name="文本框 4"/>
          <p:cNvSpPr txBox="1">
            <a:spLocks noChangeArrowheads="1"/>
          </p:cNvSpPr>
          <p:nvPr/>
        </p:nvSpPr>
        <p:spPr bwMode="auto">
          <a:xfrm>
            <a:off x="8267241" y="282802"/>
            <a:ext cx="18203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a:lnSpc>
                <a:spcPct val="100000"/>
              </a:lnSpc>
              <a:spcBef>
                <a:spcPct val="0"/>
              </a:spcBef>
              <a:buFontTx/>
              <a:buNone/>
            </a:pPr>
            <a:r>
              <a:rPr lang="zh-CN" altLang="en-US" sz="2000" b="1" dirty="0">
                <a:solidFill>
                  <a:srgbClr val="002060"/>
                </a:solidFill>
                <a:latin typeface="黑体" panose="02010609060101010101" pitchFamily="49" charset="-122"/>
                <a:ea typeface="黑体" panose="02010609060101010101" pitchFamily="49" charset="-122"/>
              </a:rPr>
              <a:t>升级为开发者</a:t>
            </a:r>
            <a:endParaRPr lang="zh-CN" altLang="en-US" sz="2000" b="1" dirty="0">
              <a:solidFill>
                <a:srgbClr val="002060"/>
              </a:solidFill>
              <a:latin typeface="黑体" panose="02010609060101010101" pitchFamily="49" charset="-122"/>
              <a:ea typeface="黑体" panose="02010609060101010101" pitchFamily="49" charset="-122"/>
            </a:endParaRPr>
          </a:p>
        </p:txBody>
      </p:sp>
      <p:sp>
        <p:nvSpPr>
          <p:cNvPr id="11" name="椭圆 10"/>
          <p:cNvSpPr/>
          <p:nvPr/>
        </p:nvSpPr>
        <p:spPr>
          <a:xfrm>
            <a:off x="8518598" y="2053231"/>
            <a:ext cx="1317604" cy="48901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pic>
        <p:nvPicPr>
          <p:cNvPr id="17" name="图片 16"/>
          <p:cNvPicPr/>
          <p:nvPr/>
        </p:nvPicPr>
        <p:blipFill>
          <a:blip r:embed="rId7"/>
          <a:stretch>
            <a:fillRect/>
          </a:stretch>
        </p:blipFill>
        <p:spPr>
          <a:xfrm>
            <a:off x="1433216" y="3693372"/>
            <a:ext cx="5074285" cy="2879725"/>
          </a:xfrm>
          <a:prstGeom prst="rect">
            <a:avLst/>
          </a:prstGeom>
        </p:spPr>
      </p:pic>
      <p:sp>
        <p:nvSpPr>
          <p:cNvPr id="18" name="文本框 4"/>
          <p:cNvSpPr txBox="1">
            <a:spLocks noChangeArrowheads="1"/>
          </p:cNvSpPr>
          <p:nvPr/>
        </p:nvSpPr>
        <p:spPr bwMode="auto">
          <a:xfrm>
            <a:off x="6503489" y="3830109"/>
            <a:ext cx="280128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a:lnSpc>
                <a:spcPct val="100000"/>
              </a:lnSpc>
              <a:spcBef>
                <a:spcPct val="0"/>
              </a:spcBef>
              <a:buFontTx/>
              <a:buNone/>
            </a:pPr>
            <a:r>
              <a:rPr lang="zh-CN" altLang="en-US" sz="2000" b="1" dirty="0">
                <a:solidFill>
                  <a:srgbClr val="002060"/>
                </a:solidFill>
                <a:latin typeface="黑体" panose="02010609060101010101" pitchFamily="49" charset="-122"/>
                <a:ea typeface="黑体" panose="02010609060101010101" pitchFamily="49" charset="-122"/>
              </a:rPr>
              <a:t>积分</a:t>
            </a:r>
            <a:r>
              <a:rPr lang="zh-CN" altLang="en-US" sz="2000" b="1" dirty="0" smtClean="0">
                <a:solidFill>
                  <a:srgbClr val="002060"/>
                </a:solidFill>
                <a:latin typeface="黑体" panose="02010609060101010101" pitchFamily="49" charset="-122"/>
                <a:ea typeface="黑体" panose="02010609060101010101" pitchFamily="49" charset="-122"/>
              </a:rPr>
              <a:t>兑换</a:t>
            </a:r>
            <a:r>
              <a:rPr lang="en-US" altLang="zh-CN" sz="2000" b="1" dirty="0" smtClean="0">
                <a:solidFill>
                  <a:srgbClr val="002060"/>
                </a:solidFill>
                <a:latin typeface="黑体" panose="02010609060101010101" pitchFamily="49" charset="-122"/>
                <a:ea typeface="黑体" panose="02010609060101010101" pitchFamily="49" charset="-122"/>
              </a:rPr>
              <a:t>30</a:t>
            </a:r>
            <a:r>
              <a:rPr lang="zh-CN" altLang="en-US" sz="2000" b="1" dirty="0" smtClean="0">
                <a:solidFill>
                  <a:srgbClr val="002060"/>
                </a:solidFill>
                <a:latin typeface="黑体" panose="02010609060101010101" pitchFamily="49" charset="-122"/>
                <a:ea typeface="黑体" panose="02010609060101010101" pitchFamily="49" charset="-122"/>
              </a:rPr>
              <a:t>天使用时长</a:t>
            </a:r>
            <a:endParaRPr lang="zh-CN" altLang="en-US" sz="2000" b="1" dirty="0">
              <a:solidFill>
                <a:srgbClr val="002060"/>
              </a:solidFill>
              <a:latin typeface="黑体" panose="02010609060101010101" pitchFamily="49" charset="-122"/>
              <a:ea typeface="黑体" panose="02010609060101010101" pitchFamily="49" charset="-122"/>
            </a:endParaRPr>
          </a:p>
        </p:txBody>
      </p:sp>
      <p:sp>
        <p:nvSpPr>
          <p:cNvPr id="19" name="文本框 3"/>
          <p:cNvSpPr txBox="1">
            <a:spLocks noChangeArrowheads="1"/>
          </p:cNvSpPr>
          <p:nvPr/>
        </p:nvSpPr>
        <p:spPr bwMode="auto">
          <a:xfrm>
            <a:off x="7271012" y="4525441"/>
            <a:ext cx="3812773"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just">
              <a:lnSpc>
                <a:spcPct val="100000"/>
              </a:lnSpc>
              <a:spcBef>
                <a:spcPct val="0"/>
              </a:spcBef>
              <a:buFontTx/>
              <a:buNone/>
            </a:pPr>
            <a:r>
              <a:rPr lang="zh-CN" altLang="en-US" b="1" dirty="0" smtClean="0">
                <a:solidFill>
                  <a:srgbClr val="C00000"/>
                </a:solidFill>
                <a:highlight>
                  <a:srgbClr val="FFFF00"/>
                </a:highlight>
                <a:latin typeface="黑体" panose="02010609060101010101" pitchFamily="49" charset="-122"/>
                <a:ea typeface="黑体" panose="02010609060101010101" pitchFamily="49" charset="-122"/>
                <a:cs typeface="Times New Roman" panose="02020603050405020304" pitchFamily="18" charset="0"/>
              </a:rPr>
              <a:t>请</a:t>
            </a:r>
            <a:r>
              <a:rPr lang="zh-CN" altLang="en-US" b="1" dirty="0">
                <a:solidFill>
                  <a:srgbClr val="C00000"/>
                </a:solidFill>
                <a:highlight>
                  <a:srgbClr val="FFFF00"/>
                </a:highlight>
                <a:latin typeface="黑体" panose="02010609060101010101" pitchFamily="49" charset="-122"/>
                <a:ea typeface="黑体" panose="02010609060101010101" pitchFamily="49" charset="-122"/>
                <a:cs typeface="Times New Roman" panose="02020603050405020304" pitchFamily="18" charset="0"/>
              </a:rPr>
              <a:t>同学们在上课前完成账户注册和软件</a:t>
            </a:r>
            <a:r>
              <a:rPr lang="zh-CN" altLang="en-US" b="1" dirty="0" smtClean="0">
                <a:solidFill>
                  <a:srgbClr val="C00000"/>
                </a:solidFill>
                <a:highlight>
                  <a:srgbClr val="FFFF00"/>
                </a:highlight>
                <a:latin typeface="黑体" panose="02010609060101010101" pitchFamily="49" charset="-122"/>
                <a:ea typeface="黑体" panose="02010609060101010101" pitchFamily="49" charset="-122"/>
                <a:cs typeface="Times New Roman" panose="02020603050405020304" pitchFamily="18" charset="0"/>
              </a:rPr>
              <a:t>下载！</a:t>
            </a:r>
            <a:endParaRPr lang="zh-CN" altLang="en-US" b="1" dirty="0">
              <a:solidFill>
                <a:srgbClr val="C00000"/>
              </a:solidFill>
              <a:highlight>
                <a:srgbClr val="FFFF00"/>
              </a:highlight>
              <a:latin typeface="黑体" panose="02010609060101010101" pitchFamily="49" charset="-122"/>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918195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additive="base">
                                        <p:cTn id="29" dur="500" fill="hold"/>
                                        <p:tgtEl>
                                          <p:spTgt spid="19"/>
                                        </p:tgtEl>
                                        <p:attrNameLst>
                                          <p:attrName>ppt_x</p:attrName>
                                        </p:attrNameLst>
                                      </p:cBhvr>
                                      <p:tavLst>
                                        <p:tav tm="0">
                                          <p:val>
                                            <p:strVal val="#ppt_x"/>
                                          </p:val>
                                        </p:tav>
                                        <p:tav tm="100000">
                                          <p:val>
                                            <p:strVal val="#ppt_x"/>
                                          </p:val>
                                        </p:tav>
                                      </p:tavLst>
                                    </p:anim>
                                    <p:anim calcmode="lin" valueType="num">
                                      <p:cBhvr additive="base">
                                        <p:cTn id="3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animBg="1"/>
      <p:bldP spid="9" grpId="0"/>
      <p:bldP spid="11" grpId="0" animBg="1"/>
      <p:bldP spid="18" grpId="0"/>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占位符 11"/>
          <p:cNvPicPr>
            <a:picLocks noChangeAspect="1"/>
          </p:cNvPicPr>
          <p:nvPr/>
        </p:nvPicPr>
        <p:blipFill>
          <a:blip r:embed="rId3" cstate="print">
            <a:extLst>
              <a:ext uri="{28A0092B-C50C-407E-A947-70E740481C1C}">
                <a14:useLocalDpi xmlns:a14="http://schemas.microsoft.com/office/drawing/2010/main" val="0"/>
              </a:ext>
            </a:extLst>
          </a:blip>
          <a:srcRect l="14657" r="14657"/>
          <a:stretch>
            <a:fillRect/>
          </a:stretch>
        </p:blipFill>
        <p:spPr>
          <a:xfrm>
            <a:off x="133727" y="148465"/>
            <a:ext cx="1377439" cy="1442870"/>
          </a:xfrm>
          <a:custGeom>
            <a:avLst/>
            <a:gdLst>
              <a:gd name="connsiteX0" fmla="*/ 0 w 5279257"/>
              <a:gd name="connsiteY0" fmla="*/ 0 h 5530032"/>
              <a:gd name="connsiteX1" fmla="*/ 3641372 w 5279257"/>
              <a:gd name="connsiteY1" fmla="*/ 0 h 5530032"/>
              <a:gd name="connsiteX2" fmla="*/ 5010556 w 5279257"/>
              <a:gd name="connsiteY2" fmla="*/ 1369184 h 5530032"/>
              <a:gd name="connsiteX3" fmla="*/ 5010556 w 5279257"/>
              <a:gd name="connsiteY3" fmla="*/ 2666592 h 5530032"/>
              <a:gd name="connsiteX4" fmla="*/ 2415817 w 5279257"/>
              <a:gd name="connsiteY4" fmla="*/ 5261331 h 5530032"/>
              <a:gd name="connsiteX5" fmla="*/ 1118409 w 5279257"/>
              <a:gd name="connsiteY5" fmla="*/ 5261331 h 5530032"/>
              <a:gd name="connsiteX6" fmla="*/ 1 w 5279257"/>
              <a:gd name="connsiteY6" fmla="*/ 4142923 h 5530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257" h="5530032">
                <a:moveTo>
                  <a:pt x="0" y="0"/>
                </a:moveTo>
                <a:lnTo>
                  <a:pt x="3641372" y="0"/>
                </a:lnTo>
                <a:lnTo>
                  <a:pt x="5010556" y="1369184"/>
                </a:lnTo>
                <a:cubicBezTo>
                  <a:pt x="5368825" y="1727453"/>
                  <a:pt x="5368825" y="2308323"/>
                  <a:pt x="5010556" y="2666592"/>
                </a:cubicBezTo>
                <a:lnTo>
                  <a:pt x="2415817" y="5261331"/>
                </a:lnTo>
                <a:cubicBezTo>
                  <a:pt x="2057548" y="5619600"/>
                  <a:pt x="1476678" y="5619600"/>
                  <a:pt x="1118409" y="5261331"/>
                </a:cubicBezTo>
                <a:lnTo>
                  <a:pt x="1" y="4142923"/>
                </a:lnTo>
                <a:close/>
              </a:path>
            </a:pathLst>
          </a:custGeom>
          <a:ln w="152400">
            <a:solidFill>
              <a:srgbClr val="A2C9EC"/>
            </a:solidFill>
          </a:ln>
        </p:spPr>
      </p:pic>
      <p:sp>
        <p:nvSpPr>
          <p:cNvPr id="4" name="Rectangle 2">
            <a:extLst>
              <a:ext uri="{FF2B5EF4-FFF2-40B4-BE49-F238E27FC236}">
                <a16:creationId xmlns="" xmlns:a16="http://schemas.microsoft.com/office/drawing/2014/main" id="{167E36FB-1BCA-4E40-AD87-F1416DA07AF8}"/>
              </a:ext>
            </a:extLst>
          </p:cNvPr>
          <p:cNvSpPr txBox="1">
            <a:spLocks noChangeArrowheads="1"/>
          </p:cNvSpPr>
          <p:nvPr/>
        </p:nvSpPr>
        <p:spPr>
          <a:xfrm>
            <a:off x="3742252" y="555660"/>
            <a:ext cx="4550296" cy="583817"/>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zh-CN" altLang="en-US" sz="3600" b="1" dirty="0">
                <a:solidFill>
                  <a:srgbClr val="002060"/>
                </a:solidFill>
                <a:latin typeface="华文新魏" panose="02010800040101010101" pitchFamily="2" charset="-122"/>
                <a:ea typeface="华文新魏" panose="02010800040101010101" pitchFamily="2" charset="-122"/>
              </a:rPr>
              <a:t>软件下载及学习渠道</a:t>
            </a:r>
            <a:endParaRPr kumimoji="0" lang="zh-CN" altLang="en-US" sz="3600" b="1" i="0" u="none" strike="noStrike" kern="1200" cap="none" spc="0" normalizeH="0" baseline="0" noProof="0" dirty="0">
              <a:ln>
                <a:noFill/>
              </a:ln>
              <a:solidFill>
                <a:srgbClr val="002060"/>
              </a:solidFill>
              <a:effectLst/>
              <a:uLnTx/>
              <a:uFillTx/>
              <a:latin typeface="华文新魏" panose="02010800040101010101" pitchFamily="2" charset="-122"/>
              <a:ea typeface="华文新魏" panose="02010800040101010101" pitchFamily="2" charset="-122"/>
              <a:cs typeface="+mn-cs"/>
            </a:endParaRPr>
          </a:p>
        </p:txBody>
      </p:sp>
      <p:graphicFrame>
        <p:nvGraphicFramePr>
          <p:cNvPr id="5" name="表格 4">
            <a:extLst>
              <a:ext uri="{FF2B5EF4-FFF2-40B4-BE49-F238E27FC236}">
                <a16:creationId xmlns="" xmlns:a16="http://schemas.microsoft.com/office/drawing/2014/main" id="{DA8EF2B3-CB90-C00B-DC09-28FA3083AD03}"/>
              </a:ext>
            </a:extLst>
          </p:cNvPr>
          <p:cNvGraphicFramePr>
            <a:graphicFrameLocks noGrp="1"/>
          </p:cNvGraphicFramePr>
          <p:nvPr>
            <p:extLst>
              <p:ext uri="{D42A27DB-BD31-4B8C-83A1-F6EECF244321}">
                <p14:modId xmlns:p14="http://schemas.microsoft.com/office/powerpoint/2010/main" val="585671016"/>
              </p:ext>
            </p:extLst>
          </p:nvPr>
        </p:nvGraphicFramePr>
        <p:xfrm>
          <a:off x="1732942" y="1676251"/>
          <a:ext cx="8761603" cy="3857251"/>
        </p:xfrm>
        <a:graphic>
          <a:graphicData uri="http://schemas.openxmlformats.org/drawingml/2006/table">
            <a:tbl>
              <a:tblPr firstRow="1" bandRow="1">
                <a:tableStyleId>{22838BEF-8BB2-4498-84A7-C5851F593DF1}</a:tableStyleId>
              </a:tblPr>
              <a:tblGrid>
                <a:gridCol w="425672">
                  <a:extLst>
                    <a:ext uri="{9D8B030D-6E8A-4147-A177-3AD203B41FA5}">
                      <a16:colId xmlns="" xmlns:a16="http://schemas.microsoft.com/office/drawing/2014/main" val="2199514372"/>
                    </a:ext>
                  </a:extLst>
                </a:gridCol>
                <a:gridCol w="3181384">
                  <a:extLst>
                    <a:ext uri="{9D8B030D-6E8A-4147-A177-3AD203B41FA5}">
                      <a16:colId xmlns="" xmlns:a16="http://schemas.microsoft.com/office/drawing/2014/main" val="3892280010"/>
                    </a:ext>
                  </a:extLst>
                </a:gridCol>
                <a:gridCol w="5154547">
                  <a:extLst>
                    <a:ext uri="{9D8B030D-6E8A-4147-A177-3AD203B41FA5}">
                      <a16:colId xmlns="" xmlns:a16="http://schemas.microsoft.com/office/drawing/2014/main" val="2234639526"/>
                    </a:ext>
                  </a:extLst>
                </a:gridCol>
              </a:tblGrid>
              <a:tr h="482400">
                <a:tc>
                  <a:txBody>
                    <a:bodyPr/>
                    <a:lstStyle/>
                    <a:p>
                      <a:r>
                        <a:rPr lang="en-US" altLang="zh-CN" sz="2000" b="1" dirty="0">
                          <a:latin typeface="华文楷体" panose="02010600040101010101" pitchFamily="2" charset="-122"/>
                          <a:ea typeface="华文楷体" panose="02010600040101010101" pitchFamily="2" charset="-122"/>
                        </a:rPr>
                        <a:t>1</a:t>
                      </a:r>
                      <a:endParaRPr lang="zh-CN" altLang="en-US" sz="2000" b="1" dirty="0">
                        <a:latin typeface="华文楷体" panose="02010600040101010101" pitchFamily="2" charset="-122"/>
                        <a:ea typeface="华文楷体" panose="02010600040101010101" pitchFamily="2" charset="-122"/>
                      </a:endParaRPr>
                    </a:p>
                  </a:txBody>
                  <a:tcPr anchor="ctr"/>
                </a:tc>
                <a:tc>
                  <a:txBody>
                    <a:bodyPr/>
                    <a:lstStyle/>
                    <a:p>
                      <a:r>
                        <a:rPr lang="zh-CN" altLang="en-US" sz="2000" b="1" dirty="0">
                          <a:solidFill>
                            <a:schemeClr val="tx1"/>
                          </a:solidFill>
                          <a:highlight>
                            <a:srgbClr val="FFFF00"/>
                          </a:highlight>
                          <a:latin typeface="华文楷体" panose="02010600040101010101" pitchFamily="2" charset="-122"/>
                          <a:ea typeface="华文楷体" panose="02010600040101010101" pitchFamily="2" charset="-122"/>
                        </a:rPr>
                        <a:t>软件下载</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b="1" dirty="0">
                          <a:solidFill>
                            <a:schemeClr val="accent1"/>
                          </a:solidFill>
                          <a:latin typeface="华文楷体" panose="02010600040101010101" pitchFamily="2" charset="-122"/>
                          <a:ea typeface="华文楷体" panose="02010600040101010101" pitchFamily="2" charset="-122"/>
                          <a:hlinkClick r:id="rId4">
                            <a:extLst>
                              <a:ext uri="{A12FA001-AC4F-418D-AE19-62706E023703}">
                                <ahyp:hlinkClr xmlns="" xmlns:ahyp="http://schemas.microsoft.com/office/drawing/2018/hyperlinkcolor" val="tx"/>
                              </a:ext>
                            </a:extLst>
                          </a:hlinkClick>
                        </a:rPr>
                        <a:t>https://www.simapps.com/page/flow.html</a:t>
                      </a:r>
                      <a:r>
                        <a:rPr lang="zh-CN" altLang="en-US" sz="2000" b="1" dirty="0">
                          <a:solidFill>
                            <a:schemeClr val="accent1"/>
                          </a:solidFill>
                          <a:latin typeface="华文楷体" panose="02010600040101010101" pitchFamily="2" charset="-122"/>
                          <a:ea typeface="华文楷体" panose="02010600040101010101" pitchFamily="2" charset="-122"/>
                        </a:rPr>
                        <a:t> </a:t>
                      </a:r>
                    </a:p>
                  </a:txBody>
                  <a:tcPr anchor="ctr"/>
                </a:tc>
                <a:extLst>
                  <a:ext uri="{0D108BD9-81ED-4DB2-BD59-A6C34878D82A}">
                    <a16:rowId xmlns="" xmlns:a16="http://schemas.microsoft.com/office/drawing/2014/main" val="4186583689"/>
                  </a:ext>
                </a:extLst>
              </a:tr>
              <a:tr h="482400">
                <a:tc>
                  <a:txBody>
                    <a:bodyPr/>
                    <a:lstStyle/>
                    <a:p>
                      <a:r>
                        <a:rPr lang="en-US" altLang="zh-CN" sz="2000" b="1" dirty="0" smtClean="0">
                          <a:latin typeface="华文楷体" panose="02010600040101010101" pitchFamily="2" charset="-122"/>
                          <a:ea typeface="华文楷体" panose="02010600040101010101" pitchFamily="2" charset="-122"/>
                        </a:rPr>
                        <a:t>2</a:t>
                      </a:r>
                      <a:endParaRPr lang="zh-CN" altLang="en-US" sz="2000" b="1" dirty="0">
                        <a:latin typeface="华文楷体" panose="02010600040101010101" pitchFamily="2" charset="-122"/>
                        <a:ea typeface="华文楷体" panose="02010600040101010101" pitchFamily="2" charset="-122"/>
                      </a:endParaRPr>
                    </a:p>
                  </a:txBody>
                  <a:tcPr anchor="ctr"/>
                </a:tc>
                <a:tc>
                  <a:txBody>
                    <a:bodyPr/>
                    <a:lstStyle/>
                    <a:p>
                      <a:r>
                        <a:rPr lang="zh-CN" altLang="en-US" sz="2000" b="1" dirty="0">
                          <a:solidFill>
                            <a:schemeClr val="tx1"/>
                          </a:solidFill>
                          <a:latin typeface="华文楷体" panose="02010600040101010101" pitchFamily="2" charset="-122"/>
                          <a:ea typeface="华文楷体" panose="02010600040101010101" pitchFamily="2" charset="-122"/>
                        </a:rPr>
                        <a:t>APP开发指南</a:t>
                      </a:r>
                    </a:p>
                  </a:txBody>
                  <a:tcPr anchor="ctr"/>
                </a:tc>
                <a:tc>
                  <a:txBody>
                    <a:bodyPr/>
                    <a:lstStyle/>
                    <a:p>
                      <a:r>
                        <a:rPr lang="zh-CN" altLang="en-US" sz="2000" b="1" dirty="0">
                          <a:solidFill>
                            <a:schemeClr val="accent1"/>
                          </a:solidFill>
                          <a:latin typeface="华文楷体" panose="02010600040101010101" pitchFamily="2" charset="-122"/>
                          <a:ea typeface="华文楷体" panose="02010600040101010101" pitchFamily="2" charset="-122"/>
                          <a:hlinkClick r:id="rId5">
                            <a:extLst>
                              <a:ext uri="{A12FA001-AC4F-418D-AE19-62706E023703}">
                                <ahyp:hlinkClr xmlns="" xmlns:ahyp="http://schemas.microsoft.com/office/drawing/2018/hyperlinkcolor" val="tx"/>
                              </a:ext>
                            </a:extLst>
                          </a:hlinkClick>
                        </a:rPr>
                        <a:t>https://www.simapps.com/v/29865.html</a:t>
                      </a:r>
                      <a:endParaRPr lang="zh-CN" altLang="en-US" sz="2000" b="1" dirty="0">
                        <a:solidFill>
                          <a:schemeClr val="accent1"/>
                        </a:solidFill>
                        <a:latin typeface="华文楷体" panose="02010600040101010101" pitchFamily="2" charset="-122"/>
                        <a:ea typeface="华文楷体" panose="02010600040101010101" pitchFamily="2" charset="-122"/>
                      </a:endParaRPr>
                    </a:p>
                  </a:txBody>
                  <a:tcPr anchor="ctr"/>
                </a:tc>
                <a:extLst>
                  <a:ext uri="{0D108BD9-81ED-4DB2-BD59-A6C34878D82A}">
                    <a16:rowId xmlns="" xmlns:a16="http://schemas.microsoft.com/office/drawing/2014/main" val="4230738264"/>
                  </a:ext>
                </a:extLst>
              </a:tr>
              <a:tr h="482400">
                <a:tc>
                  <a:txBody>
                    <a:bodyPr/>
                    <a:lstStyle/>
                    <a:p>
                      <a:r>
                        <a:rPr lang="en-US" altLang="zh-CN" sz="2000" b="1" dirty="0" smtClean="0">
                          <a:latin typeface="华文楷体" panose="02010600040101010101" pitchFamily="2" charset="-122"/>
                          <a:ea typeface="华文楷体" panose="02010600040101010101" pitchFamily="2" charset="-122"/>
                        </a:rPr>
                        <a:t>3</a:t>
                      </a:r>
                      <a:endParaRPr lang="zh-CN" altLang="en-US" sz="2000" b="1" dirty="0">
                        <a:latin typeface="华文楷体" panose="02010600040101010101" pitchFamily="2" charset="-122"/>
                        <a:ea typeface="华文楷体" panose="02010600040101010101" pitchFamily="2" charset="-122"/>
                      </a:endParaRPr>
                    </a:p>
                  </a:txBody>
                  <a:tcPr anchor="ctr"/>
                </a:tc>
                <a:tc>
                  <a:txBody>
                    <a:bodyPr/>
                    <a:lstStyle/>
                    <a:p>
                      <a:r>
                        <a:rPr lang="zh-CN" altLang="en-US" sz="2000" b="1" dirty="0">
                          <a:solidFill>
                            <a:schemeClr val="tx1"/>
                          </a:solidFill>
                          <a:latin typeface="华文楷体" panose="02010600040101010101" pitchFamily="2" charset="-122"/>
                          <a:ea typeface="华文楷体" panose="02010600040101010101" pitchFamily="2" charset="-122"/>
                        </a:rPr>
                        <a:t>APP上传指南</a:t>
                      </a:r>
                    </a:p>
                  </a:txBody>
                  <a:tcPr anchor="ctr"/>
                </a:tc>
                <a:tc>
                  <a:txBody>
                    <a:bodyPr/>
                    <a:lstStyle/>
                    <a:p>
                      <a:r>
                        <a:rPr lang="zh-CN" altLang="en-US" sz="2000" b="1" dirty="0">
                          <a:solidFill>
                            <a:schemeClr val="accent1"/>
                          </a:solidFill>
                          <a:latin typeface="华文楷体" panose="02010600040101010101" pitchFamily="2" charset="-122"/>
                          <a:ea typeface="华文楷体" panose="02010600040101010101" pitchFamily="2" charset="-122"/>
                          <a:hlinkClick r:id="rId6">
                            <a:extLst>
                              <a:ext uri="{A12FA001-AC4F-418D-AE19-62706E023703}">
                                <ahyp:hlinkClr xmlns="" xmlns:ahyp="http://schemas.microsoft.com/office/drawing/2018/hyperlinkcolor" val="tx"/>
                              </a:ext>
                            </a:extLst>
                          </a:hlinkClick>
                        </a:rPr>
                        <a:t>https://www.simapps.com/v/29863.html</a:t>
                      </a:r>
                      <a:endParaRPr lang="zh-CN" altLang="en-US" sz="2000" b="1" dirty="0">
                        <a:solidFill>
                          <a:schemeClr val="accent1"/>
                        </a:solidFill>
                        <a:latin typeface="华文楷体" panose="02010600040101010101" pitchFamily="2" charset="-122"/>
                        <a:ea typeface="华文楷体" panose="02010600040101010101" pitchFamily="2" charset="-122"/>
                      </a:endParaRPr>
                    </a:p>
                  </a:txBody>
                  <a:tcPr anchor="ctr"/>
                </a:tc>
                <a:extLst>
                  <a:ext uri="{0D108BD9-81ED-4DB2-BD59-A6C34878D82A}">
                    <a16:rowId xmlns="" xmlns:a16="http://schemas.microsoft.com/office/drawing/2014/main" val="584032638"/>
                  </a:ext>
                </a:extLst>
              </a:tr>
              <a:tr h="482400">
                <a:tc>
                  <a:txBody>
                    <a:bodyPr/>
                    <a:lstStyle/>
                    <a:p>
                      <a:r>
                        <a:rPr lang="en-US" altLang="zh-CN" sz="2000" b="1" dirty="0" smtClean="0">
                          <a:latin typeface="华文楷体" panose="02010600040101010101" pitchFamily="2" charset="-122"/>
                          <a:ea typeface="华文楷体" panose="02010600040101010101" pitchFamily="2" charset="-122"/>
                        </a:rPr>
                        <a:t>4</a:t>
                      </a:r>
                      <a:endParaRPr lang="zh-CN" altLang="en-US" sz="2000" b="1" dirty="0">
                        <a:latin typeface="华文楷体" panose="02010600040101010101" pitchFamily="2" charset="-122"/>
                        <a:ea typeface="华文楷体" panose="02010600040101010101" pitchFamily="2" charset="-122"/>
                      </a:endParaRPr>
                    </a:p>
                  </a:txBody>
                  <a:tcPr anchor="ctr"/>
                </a:tc>
                <a:tc>
                  <a:txBody>
                    <a:bodyPr/>
                    <a:lstStyle/>
                    <a:p>
                      <a:pPr marL="0" algn="l" defTabSz="914400" rtl="0" eaLnBrk="1" latinLnBrk="0" hangingPunct="1"/>
                      <a:r>
                        <a:rPr lang="zh-CN" altLang="en-US" sz="2000" b="1" kern="1200" dirty="0">
                          <a:solidFill>
                            <a:schemeClr val="tx1"/>
                          </a:solidFill>
                          <a:latin typeface="华文楷体" panose="02010600040101010101" pitchFamily="2" charset="-122"/>
                          <a:ea typeface="华文楷体" panose="02010600040101010101" pitchFamily="2" charset="-122"/>
                          <a:cs typeface="+mn-cs"/>
                        </a:rPr>
                        <a:t>在线视频学习中心</a:t>
                      </a:r>
                    </a:p>
                  </a:txBody>
                  <a:tcPr anchor="ctr"/>
                </a:tc>
                <a:tc>
                  <a:txBody>
                    <a:bodyPr/>
                    <a:lstStyle/>
                    <a:p>
                      <a:r>
                        <a:rPr lang="zh-CN" altLang="en-US" sz="2000" b="1" dirty="0">
                          <a:solidFill>
                            <a:schemeClr val="accent1"/>
                          </a:solidFill>
                          <a:latin typeface="华文楷体" panose="02010600040101010101" pitchFamily="2" charset="-122"/>
                          <a:ea typeface="华文楷体" panose="02010600040101010101" pitchFamily="2" charset="-122"/>
                          <a:hlinkClick r:id="rId7">
                            <a:extLst>
                              <a:ext uri="{A12FA001-AC4F-418D-AE19-62706E023703}">
                                <ahyp:hlinkClr xmlns="" xmlns:ahyp="http://schemas.microsoft.com/office/drawing/2018/hyperlinkcolor" val="tx"/>
                              </a:ext>
                            </a:extLst>
                          </a:hlinkClick>
                        </a:rPr>
                        <a:t>https://www.simapps.com/l/268.html</a:t>
                      </a:r>
                      <a:r>
                        <a:rPr lang="zh-CN" altLang="en-US" sz="2000" b="1" dirty="0">
                          <a:solidFill>
                            <a:schemeClr val="accent1"/>
                          </a:solidFill>
                          <a:latin typeface="华文楷体" panose="02010600040101010101" pitchFamily="2" charset="-122"/>
                          <a:ea typeface="华文楷体" panose="02010600040101010101" pitchFamily="2" charset="-122"/>
                        </a:rPr>
                        <a:t> </a:t>
                      </a:r>
                    </a:p>
                  </a:txBody>
                  <a:tcPr anchor="ctr"/>
                </a:tc>
                <a:extLst>
                  <a:ext uri="{0D108BD9-81ED-4DB2-BD59-A6C34878D82A}">
                    <a16:rowId xmlns="" xmlns:a16="http://schemas.microsoft.com/office/drawing/2014/main" val="3951208147"/>
                  </a:ext>
                </a:extLst>
              </a:tr>
              <a:tr h="482400">
                <a:tc>
                  <a:txBody>
                    <a:bodyPr/>
                    <a:lstStyle/>
                    <a:p>
                      <a:r>
                        <a:rPr lang="en-US" altLang="zh-CN" sz="2000" b="1" dirty="0" smtClean="0">
                          <a:latin typeface="华文楷体" panose="02010600040101010101" pitchFamily="2" charset="-122"/>
                          <a:ea typeface="华文楷体" panose="02010600040101010101" pitchFamily="2" charset="-122"/>
                        </a:rPr>
                        <a:t>5</a:t>
                      </a:r>
                      <a:endParaRPr lang="zh-CN" altLang="en-US" sz="2000" b="1" dirty="0">
                        <a:latin typeface="华文楷体" panose="02010600040101010101" pitchFamily="2" charset="-122"/>
                        <a:ea typeface="华文楷体" panose="02010600040101010101" pitchFamily="2" charset="-122"/>
                      </a:endParaRPr>
                    </a:p>
                  </a:txBody>
                  <a:tcPr anchor="ctr"/>
                </a:tc>
                <a:tc>
                  <a:txBody>
                    <a:bodyPr/>
                    <a:lstStyle/>
                    <a:p>
                      <a:r>
                        <a:rPr lang="en-US" altLang="zh-CN" sz="2000" b="1" dirty="0">
                          <a:solidFill>
                            <a:schemeClr val="tx1"/>
                          </a:solidFill>
                          <a:latin typeface="华文楷体" panose="02010600040101010101" pitchFamily="2" charset="-122"/>
                          <a:ea typeface="华文楷体" panose="02010600040101010101" pitchFamily="2" charset="-122"/>
                        </a:rPr>
                        <a:t>2022·Simdroid</a:t>
                      </a:r>
                      <a:r>
                        <a:rPr lang="zh-CN" altLang="en-US" sz="2000" b="1" dirty="0">
                          <a:solidFill>
                            <a:schemeClr val="tx1"/>
                          </a:solidFill>
                          <a:latin typeface="华文楷体" panose="02010600040101010101" pitchFamily="2" charset="-122"/>
                          <a:ea typeface="华文楷体" panose="02010600040101010101" pitchFamily="2" charset="-122"/>
                        </a:rPr>
                        <a:t>系列课程</a:t>
                      </a:r>
                    </a:p>
                  </a:txBody>
                  <a:tcPr anchor="ctr"/>
                </a:tc>
                <a:tc>
                  <a:txBody>
                    <a:bodyPr/>
                    <a:lstStyle/>
                    <a:p>
                      <a:r>
                        <a:rPr lang="en-US" altLang="zh-CN" sz="2000" b="1" dirty="0">
                          <a:solidFill>
                            <a:schemeClr val="accent1"/>
                          </a:solidFill>
                          <a:latin typeface="华文楷体" panose="02010600040101010101" pitchFamily="2" charset="-122"/>
                          <a:ea typeface="华文楷体" panose="02010600040101010101" pitchFamily="2" charset="-122"/>
                          <a:hlinkClick r:id="rId8"/>
                        </a:rPr>
                        <a:t>https://kyk.xet.tech/s/3vvN6T</a:t>
                      </a:r>
                      <a:endParaRPr lang="en-US" altLang="zh-CN" sz="2000" b="1" dirty="0">
                        <a:solidFill>
                          <a:schemeClr val="accent1"/>
                        </a:solidFill>
                        <a:latin typeface="华文楷体" panose="02010600040101010101" pitchFamily="2" charset="-122"/>
                        <a:ea typeface="华文楷体" panose="02010600040101010101" pitchFamily="2" charset="-122"/>
                      </a:endParaRPr>
                    </a:p>
                  </a:txBody>
                  <a:tcPr anchor="ctr"/>
                </a:tc>
                <a:extLst>
                  <a:ext uri="{0D108BD9-81ED-4DB2-BD59-A6C34878D82A}">
                    <a16:rowId xmlns="" xmlns:a16="http://schemas.microsoft.com/office/drawing/2014/main" val="3771250514"/>
                  </a:ext>
                </a:extLst>
              </a:tr>
              <a:tr h="480451">
                <a:tc>
                  <a:txBody>
                    <a:bodyPr/>
                    <a:lstStyle/>
                    <a:p>
                      <a:r>
                        <a:rPr lang="en-US" altLang="zh-CN" sz="2000" b="1" dirty="0" smtClean="0">
                          <a:latin typeface="华文楷体" panose="02010600040101010101" pitchFamily="2" charset="-122"/>
                          <a:ea typeface="华文楷体" panose="02010600040101010101" pitchFamily="2" charset="-122"/>
                        </a:rPr>
                        <a:t>6</a:t>
                      </a:r>
                      <a:endParaRPr lang="zh-CN" altLang="en-US" sz="2000" b="1" dirty="0">
                        <a:latin typeface="华文楷体" panose="02010600040101010101" pitchFamily="2" charset="-122"/>
                        <a:ea typeface="华文楷体" panose="02010600040101010101" pitchFamily="2" charset="-122"/>
                      </a:endParaRPr>
                    </a:p>
                  </a:txBody>
                  <a:tcPr anchor="ctr"/>
                </a:tc>
                <a:tc>
                  <a:txBody>
                    <a:bodyPr/>
                    <a:lstStyle/>
                    <a:p>
                      <a:r>
                        <a:rPr lang="zh-CN" altLang="en-US" sz="2000" b="1" dirty="0">
                          <a:solidFill>
                            <a:schemeClr val="tx1"/>
                          </a:solidFill>
                          <a:latin typeface="华文楷体" panose="02010600040101010101" pitchFamily="2" charset="-122"/>
                          <a:ea typeface="华文楷体" panose="02010600040101010101" pitchFamily="2" charset="-122"/>
                        </a:rPr>
                        <a:t>每周五案例操作直播</a:t>
                      </a:r>
                    </a:p>
                  </a:txBody>
                  <a:tcPr anchor="ctr"/>
                </a:tc>
                <a:tc>
                  <a:txBody>
                    <a:bodyPr/>
                    <a:lstStyle/>
                    <a:p>
                      <a:r>
                        <a:rPr lang="en-US" altLang="zh-CN" sz="2000" b="1" dirty="0">
                          <a:solidFill>
                            <a:schemeClr val="accent1"/>
                          </a:solidFill>
                          <a:latin typeface="华文楷体" panose="02010600040101010101" pitchFamily="2" charset="-122"/>
                          <a:ea typeface="华文楷体" panose="02010600040101010101" pitchFamily="2" charset="-122"/>
                          <a:hlinkClick r:id="rId9">
                            <a:extLst>
                              <a:ext uri="{A12FA001-AC4F-418D-AE19-62706E023703}">
                                <ahyp:hlinkClr xmlns="" xmlns:ahyp="http://schemas.microsoft.com/office/drawing/2018/hyperlinkcolor" val="tx"/>
                              </a:ext>
                            </a:extLst>
                          </a:hlinkClick>
                        </a:rPr>
                        <a:t>h</a:t>
                      </a:r>
                      <a:r>
                        <a:rPr lang="zh-CN" altLang="en-US" sz="2000" b="1" dirty="0">
                          <a:solidFill>
                            <a:schemeClr val="accent1"/>
                          </a:solidFill>
                          <a:latin typeface="华文楷体" panose="02010600040101010101" pitchFamily="2" charset="-122"/>
                          <a:ea typeface="华文楷体" panose="02010600040101010101" pitchFamily="2" charset="-122"/>
                          <a:hlinkClick r:id="rId9">
                            <a:extLst>
                              <a:ext uri="{A12FA001-AC4F-418D-AE19-62706E023703}">
                                <ahyp:hlinkClr xmlns="" xmlns:ahyp="http://schemas.microsoft.com/office/drawing/2018/hyperlinkcolor" val="tx"/>
                              </a:ext>
                            </a:extLst>
                          </a:hlinkClick>
                        </a:rPr>
                        <a:t>tt</a:t>
                      </a:r>
                      <a:r>
                        <a:rPr lang="en-US" altLang="zh-CN" sz="2000" b="1" dirty="0">
                          <a:solidFill>
                            <a:schemeClr val="accent1"/>
                          </a:solidFill>
                          <a:latin typeface="华文楷体" panose="02010600040101010101" pitchFamily="2" charset="-122"/>
                          <a:ea typeface="华文楷体" panose="02010600040101010101" pitchFamily="2" charset="-122"/>
                          <a:hlinkClick r:id="rId9">
                            <a:extLst>
                              <a:ext uri="{A12FA001-AC4F-418D-AE19-62706E023703}">
                                <ahyp:hlinkClr xmlns="" xmlns:ahyp="http://schemas.microsoft.com/office/drawing/2018/hyperlinkcolor" val="tx"/>
                              </a:ext>
                            </a:extLst>
                          </a:hlinkClick>
                        </a:rPr>
                        <a:t>ps://live.bilibili.com/25772427</a:t>
                      </a:r>
                      <a:endParaRPr lang="zh-CN" altLang="en-US" sz="2000" b="1" dirty="0">
                        <a:solidFill>
                          <a:schemeClr val="accent1"/>
                        </a:solidFill>
                        <a:latin typeface="华文楷体" panose="02010600040101010101" pitchFamily="2" charset="-122"/>
                        <a:ea typeface="华文楷体" panose="02010600040101010101" pitchFamily="2" charset="-122"/>
                      </a:endParaRPr>
                    </a:p>
                  </a:txBody>
                  <a:tcPr anchor="ctr"/>
                </a:tc>
                <a:extLst>
                  <a:ext uri="{0D108BD9-81ED-4DB2-BD59-A6C34878D82A}">
                    <a16:rowId xmlns="" xmlns:a16="http://schemas.microsoft.com/office/drawing/2014/main" val="2381911671"/>
                  </a:ext>
                </a:extLst>
              </a:tr>
              <a:tr h="482400">
                <a:tc>
                  <a:txBody>
                    <a:bodyPr/>
                    <a:lstStyle/>
                    <a:p>
                      <a:pPr algn="just">
                        <a:spcAft>
                          <a:spcPts val="0"/>
                        </a:spcAft>
                      </a:pPr>
                      <a:r>
                        <a:rPr lang="en-US" altLang="zh-CN" sz="2000" b="1" kern="100" dirty="0" smtClean="0">
                          <a:effectLst/>
                          <a:latin typeface="华文楷体" panose="02010600040101010101" pitchFamily="2" charset="-122"/>
                          <a:ea typeface="华文楷体" panose="02010600040101010101" pitchFamily="2" charset="-122"/>
                          <a:cs typeface="Times New Roman" panose="02020603050405020304" pitchFamily="18" charset="0"/>
                        </a:rPr>
                        <a:t>7</a:t>
                      </a:r>
                      <a:endParaRPr lang="zh-CN" sz="2000" b="1"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anchor="ctr"/>
                </a:tc>
                <a:tc>
                  <a:txBody>
                    <a:bodyPr/>
                    <a:lstStyle/>
                    <a:p>
                      <a:pPr algn="just">
                        <a:spcAft>
                          <a:spcPts val="0"/>
                        </a:spcAft>
                      </a:pPr>
                      <a:r>
                        <a:rPr lang="zh-CN" sz="2000" b="1" kern="100" dirty="0">
                          <a:effectLst/>
                          <a:latin typeface="华文楷体" panose="02010600040101010101" pitchFamily="2" charset="-122"/>
                          <a:ea typeface="华文楷体" panose="02010600040101010101" pitchFamily="2" charset="-122"/>
                          <a:cs typeface="Times New Roman" panose="02020603050405020304" pitchFamily="18" charset="0"/>
                        </a:rPr>
                        <a:t>仿真互动</a:t>
                      </a:r>
                    </a:p>
                  </a:txBody>
                  <a:tcPr anchor="ctr"/>
                </a:tc>
                <a:tc>
                  <a:txBody>
                    <a:bodyPr/>
                    <a:lstStyle/>
                    <a:p>
                      <a:pPr algn="just">
                        <a:spcAft>
                          <a:spcPts val="0"/>
                        </a:spcAft>
                      </a:pPr>
                      <a:r>
                        <a:rPr lang="en-US" sz="2000" b="1" u="sng" kern="100" dirty="0">
                          <a:solidFill>
                            <a:schemeClr val="accent1"/>
                          </a:solidFill>
                          <a:effectLst/>
                          <a:latin typeface="华文楷体" panose="02010600040101010101" pitchFamily="2" charset="-122"/>
                          <a:ea typeface="华文楷体" panose="02010600040101010101" pitchFamily="2" charset="-122"/>
                          <a:cs typeface="Times New Roman" panose="02020603050405020304" pitchFamily="18" charset="0"/>
                          <a:hlinkClick r:id="rId10"/>
                        </a:rPr>
                        <a:t>https://www.simwe.com</a:t>
                      </a:r>
                      <a:endParaRPr lang="zh-CN" sz="2000" b="1" kern="100" dirty="0">
                        <a:solidFill>
                          <a:schemeClr val="accent1"/>
                        </a:solidFill>
                        <a:effectLst/>
                        <a:latin typeface="华文楷体" panose="02010600040101010101" pitchFamily="2" charset="-122"/>
                        <a:ea typeface="华文楷体" panose="02010600040101010101" pitchFamily="2" charset="-122"/>
                        <a:cs typeface="Times New Roman" panose="02020603050405020304" pitchFamily="18" charset="0"/>
                      </a:endParaRPr>
                    </a:p>
                  </a:txBody>
                  <a:tcPr anchor="ctr"/>
                </a:tc>
                <a:extLst>
                  <a:ext uri="{0D108BD9-81ED-4DB2-BD59-A6C34878D82A}">
                    <a16:rowId xmlns="" xmlns:a16="http://schemas.microsoft.com/office/drawing/2014/main" val="3549017490"/>
                  </a:ext>
                </a:extLst>
              </a:tr>
              <a:tr h="482400">
                <a:tc>
                  <a:txBody>
                    <a:bodyPr/>
                    <a:lstStyle/>
                    <a:p>
                      <a:r>
                        <a:rPr lang="en-US" altLang="zh-CN" sz="2000" b="1" dirty="0" smtClean="0">
                          <a:latin typeface="华文楷体" panose="02010600040101010101" pitchFamily="2" charset="-122"/>
                          <a:ea typeface="华文楷体" panose="02010600040101010101" pitchFamily="2" charset="-122"/>
                        </a:rPr>
                        <a:t>8</a:t>
                      </a:r>
                      <a:endParaRPr lang="zh-CN" altLang="en-US" sz="2000" b="1" dirty="0">
                        <a:latin typeface="华文楷体" panose="02010600040101010101" pitchFamily="2" charset="-122"/>
                        <a:ea typeface="华文楷体" panose="02010600040101010101" pitchFamily="2" charset="-122"/>
                      </a:endParaRPr>
                    </a:p>
                  </a:txBody>
                  <a:tcPr anchor="ctr"/>
                </a:tc>
                <a:tc>
                  <a:txBody>
                    <a:bodyPr/>
                    <a:lstStyle/>
                    <a:p>
                      <a:pPr marL="0" algn="just" defTabSz="914400" rtl="0" eaLnBrk="1" latinLnBrk="0" hangingPunct="1">
                        <a:spcAft>
                          <a:spcPts val="0"/>
                        </a:spcAft>
                      </a:pPr>
                      <a:r>
                        <a:rPr lang="en-US" altLang="zh-CN" sz="2000" b="1" kern="100" dirty="0">
                          <a:solidFill>
                            <a:schemeClr val="dk1"/>
                          </a:solidFill>
                          <a:effectLst/>
                          <a:latin typeface="华文楷体" panose="02010600040101010101" pitchFamily="2" charset="-122"/>
                          <a:ea typeface="华文楷体" panose="02010600040101010101" pitchFamily="2" charset="-122"/>
                          <a:cs typeface="Times New Roman" panose="02020603050405020304" pitchFamily="18" charset="0"/>
                        </a:rPr>
                        <a:t>QQ</a:t>
                      </a:r>
                      <a:r>
                        <a:rPr lang="zh-CN" altLang="en-US" sz="2000" b="1" kern="100" dirty="0">
                          <a:solidFill>
                            <a:schemeClr val="dk1"/>
                          </a:solidFill>
                          <a:effectLst/>
                          <a:latin typeface="华文楷体" panose="02010600040101010101" pitchFamily="2" charset="-122"/>
                          <a:ea typeface="华文楷体" panose="02010600040101010101" pitchFamily="2" charset="-122"/>
                          <a:cs typeface="Times New Roman" panose="02020603050405020304" pitchFamily="18" charset="0"/>
                        </a:rPr>
                        <a:t>答疑群</a:t>
                      </a:r>
                    </a:p>
                  </a:txBody>
                  <a:tcPr anchor="ctr"/>
                </a:tc>
                <a:tc>
                  <a:txBody>
                    <a:bodyPr/>
                    <a:lstStyle/>
                    <a:p>
                      <a:r>
                        <a:rPr lang="en-US" altLang="zh-CN" sz="2000" b="1" dirty="0">
                          <a:solidFill>
                            <a:schemeClr val="accent1"/>
                          </a:solidFill>
                          <a:latin typeface="华文楷体" panose="02010600040101010101" pitchFamily="2" charset="-122"/>
                          <a:ea typeface="华文楷体" panose="02010600040101010101" pitchFamily="2" charset="-122"/>
                        </a:rPr>
                        <a:t>497398478</a:t>
                      </a:r>
                      <a:endParaRPr lang="zh-CN" altLang="en-US" sz="2000" b="1" dirty="0">
                        <a:solidFill>
                          <a:schemeClr val="accent1"/>
                        </a:solidFill>
                        <a:latin typeface="华文楷体" panose="02010600040101010101" pitchFamily="2" charset="-122"/>
                        <a:ea typeface="华文楷体" panose="02010600040101010101" pitchFamily="2" charset="-122"/>
                      </a:endParaRPr>
                    </a:p>
                  </a:txBody>
                  <a:tcPr anchor="ctr"/>
                </a:tc>
                <a:extLst>
                  <a:ext uri="{0D108BD9-81ED-4DB2-BD59-A6C34878D82A}">
                    <a16:rowId xmlns="" xmlns:a16="http://schemas.microsoft.com/office/drawing/2014/main" val="2202018185"/>
                  </a:ext>
                </a:extLst>
              </a:tr>
            </a:tbl>
          </a:graphicData>
        </a:graphic>
      </p:graphicFrame>
      <p:pic>
        <p:nvPicPr>
          <p:cNvPr id="6" name="图片 1">
            <a:extLst>
              <a:ext uri="{FF2B5EF4-FFF2-40B4-BE49-F238E27FC236}">
                <a16:creationId xmlns="" xmlns:a16="http://schemas.microsoft.com/office/drawing/2014/main" id="{C9AE215A-2A75-D762-2EEE-3E542A4CD6A5}"/>
              </a:ext>
            </a:extLst>
          </p:cNvPr>
          <p:cNvPicPr>
            <a:picLocks noChangeAspect="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44317" y="36999"/>
            <a:ext cx="950811"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0104728"/>
      </p:ext>
    </p:extLst>
  </p:cSld>
  <p:clrMapOvr>
    <a:masterClrMapping/>
  </p:clrMapOvr>
  <p:transition spd="med">
    <p:fade thruBlk="1"/>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占位符 11">
            <a:extLst>
              <a:ext uri="{FF2B5EF4-FFF2-40B4-BE49-F238E27FC236}">
                <a16:creationId xmlns="" xmlns:a16="http://schemas.microsoft.com/office/drawing/2014/main" id="{3E9F137B-308A-8377-BA82-C06B3C745C3D}"/>
              </a:ext>
            </a:extLst>
          </p:cNvPr>
          <p:cNvPicPr>
            <a:picLocks noChangeAspect="1"/>
          </p:cNvPicPr>
          <p:nvPr/>
        </p:nvPicPr>
        <p:blipFill>
          <a:blip r:embed="rId3">
            <a:extLst>
              <a:ext uri="{28A0092B-C50C-407E-A947-70E740481C1C}">
                <a14:useLocalDpi xmlns:a14="http://schemas.microsoft.com/office/drawing/2010/main" val="0"/>
              </a:ext>
            </a:extLst>
          </a:blip>
          <a:srcRect l="14657" r="14657"/>
          <a:stretch>
            <a:fillRect/>
          </a:stretch>
        </p:blipFill>
        <p:spPr>
          <a:xfrm>
            <a:off x="127002" y="130993"/>
            <a:ext cx="1846618" cy="1934336"/>
          </a:xfrm>
          <a:custGeom>
            <a:avLst/>
            <a:gdLst>
              <a:gd name="connsiteX0" fmla="*/ 0 w 5279257"/>
              <a:gd name="connsiteY0" fmla="*/ 0 h 5530032"/>
              <a:gd name="connsiteX1" fmla="*/ 3641372 w 5279257"/>
              <a:gd name="connsiteY1" fmla="*/ 0 h 5530032"/>
              <a:gd name="connsiteX2" fmla="*/ 5010556 w 5279257"/>
              <a:gd name="connsiteY2" fmla="*/ 1369184 h 5530032"/>
              <a:gd name="connsiteX3" fmla="*/ 5010556 w 5279257"/>
              <a:gd name="connsiteY3" fmla="*/ 2666592 h 5530032"/>
              <a:gd name="connsiteX4" fmla="*/ 2415817 w 5279257"/>
              <a:gd name="connsiteY4" fmla="*/ 5261331 h 5530032"/>
              <a:gd name="connsiteX5" fmla="*/ 1118409 w 5279257"/>
              <a:gd name="connsiteY5" fmla="*/ 5261331 h 5530032"/>
              <a:gd name="connsiteX6" fmla="*/ 1 w 5279257"/>
              <a:gd name="connsiteY6" fmla="*/ 4142923 h 5530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257" h="5530032">
                <a:moveTo>
                  <a:pt x="0" y="0"/>
                </a:moveTo>
                <a:lnTo>
                  <a:pt x="3641372" y="0"/>
                </a:lnTo>
                <a:lnTo>
                  <a:pt x="5010556" y="1369184"/>
                </a:lnTo>
                <a:cubicBezTo>
                  <a:pt x="5368825" y="1727453"/>
                  <a:pt x="5368825" y="2308323"/>
                  <a:pt x="5010556" y="2666592"/>
                </a:cubicBezTo>
                <a:lnTo>
                  <a:pt x="2415817" y="5261331"/>
                </a:lnTo>
                <a:cubicBezTo>
                  <a:pt x="2057548" y="5619600"/>
                  <a:pt x="1476678" y="5619600"/>
                  <a:pt x="1118409" y="5261331"/>
                </a:cubicBezTo>
                <a:lnTo>
                  <a:pt x="1" y="4142923"/>
                </a:lnTo>
                <a:close/>
              </a:path>
            </a:pathLst>
          </a:custGeom>
          <a:ln w="152400">
            <a:solidFill>
              <a:srgbClr val="A2C9EC"/>
            </a:solidFill>
          </a:ln>
        </p:spPr>
      </p:pic>
      <p:sp>
        <p:nvSpPr>
          <p:cNvPr id="8" name="任意多边形: 形状 23">
            <a:extLst>
              <a:ext uri="{FF2B5EF4-FFF2-40B4-BE49-F238E27FC236}">
                <a16:creationId xmlns="" xmlns:a16="http://schemas.microsoft.com/office/drawing/2014/main" id="{D750F93B-D576-CB7D-0D75-81173D22D98D}"/>
              </a:ext>
            </a:extLst>
          </p:cNvPr>
          <p:cNvSpPr/>
          <p:nvPr/>
        </p:nvSpPr>
        <p:spPr>
          <a:xfrm rot="2700000">
            <a:off x="4555314" y="-1471484"/>
            <a:ext cx="2995405" cy="3015142"/>
          </a:xfrm>
          <a:custGeom>
            <a:avLst/>
            <a:gdLst>
              <a:gd name="connsiteX0" fmla="*/ 0 w 4362601"/>
              <a:gd name="connsiteY0" fmla="*/ 1367196 h 4382338"/>
              <a:gd name="connsiteX1" fmla="*/ 1367196 w 4362601"/>
              <a:gd name="connsiteY1" fmla="*/ 0 h 4382338"/>
              <a:gd name="connsiteX2" fmla="*/ 2995405 w 4362601"/>
              <a:gd name="connsiteY2" fmla="*/ 0 h 4382338"/>
              <a:gd name="connsiteX3" fmla="*/ 4362601 w 4362601"/>
              <a:gd name="connsiteY3" fmla="*/ 1367196 h 4382338"/>
              <a:gd name="connsiteX4" fmla="*/ 4362601 w 4362601"/>
              <a:gd name="connsiteY4" fmla="*/ 3015142 h 4382338"/>
              <a:gd name="connsiteX5" fmla="*/ 2995405 w 4362601"/>
              <a:gd name="connsiteY5" fmla="*/ 4382338 h 4382338"/>
              <a:gd name="connsiteX6" fmla="*/ 1367196 w 4362601"/>
              <a:gd name="connsiteY6" fmla="*/ 4382338 h 4382338"/>
              <a:gd name="connsiteX7" fmla="*/ 0 w 4362601"/>
              <a:gd name="connsiteY7" fmla="*/ 3015142 h 4382338"/>
              <a:gd name="connsiteX8" fmla="*/ 0 w 4362601"/>
              <a:gd name="connsiteY8" fmla="*/ 1367196 h 4382338"/>
              <a:gd name="connsiteX0-1" fmla="*/ 0 w 4362601"/>
              <a:gd name="connsiteY0-2" fmla="*/ 1367196 h 4382338"/>
              <a:gd name="connsiteX1-3" fmla="*/ 1367196 w 4362601"/>
              <a:gd name="connsiteY1-4" fmla="*/ 0 h 4382338"/>
              <a:gd name="connsiteX2-5" fmla="*/ 2995405 w 4362601"/>
              <a:gd name="connsiteY2-6" fmla="*/ 0 h 4382338"/>
              <a:gd name="connsiteX3-7" fmla="*/ 4362601 w 4362601"/>
              <a:gd name="connsiteY3-8" fmla="*/ 1367196 h 4382338"/>
              <a:gd name="connsiteX4-9" fmla="*/ 4362601 w 4362601"/>
              <a:gd name="connsiteY4-10" fmla="*/ 3015142 h 4382338"/>
              <a:gd name="connsiteX5-11" fmla="*/ 2995405 w 4362601"/>
              <a:gd name="connsiteY5-12" fmla="*/ 4382338 h 4382338"/>
              <a:gd name="connsiteX6-13" fmla="*/ 1367196 w 4362601"/>
              <a:gd name="connsiteY6-14" fmla="*/ 4382338 h 4382338"/>
              <a:gd name="connsiteX7-15" fmla="*/ 0 w 4362601"/>
              <a:gd name="connsiteY7-16" fmla="*/ 1367196 h 4382338"/>
              <a:gd name="connsiteX0-17" fmla="*/ 203526 w 3198931"/>
              <a:gd name="connsiteY0-18" fmla="*/ 4382338 h 4382338"/>
              <a:gd name="connsiteX1-19" fmla="*/ 203526 w 3198931"/>
              <a:gd name="connsiteY1-20" fmla="*/ 0 h 4382338"/>
              <a:gd name="connsiteX2-21" fmla="*/ 1831735 w 3198931"/>
              <a:gd name="connsiteY2-22" fmla="*/ 0 h 4382338"/>
              <a:gd name="connsiteX3-23" fmla="*/ 3198931 w 3198931"/>
              <a:gd name="connsiteY3-24" fmla="*/ 1367196 h 4382338"/>
              <a:gd name="connsiteX4-25" fmla="*/ 3198931 w 3198931"/>
              <a:gd name="connsiteY4-26" fmla="*/ 3015142 h 4382338"/>
              <a:gd name="connsiteX5-27" fmla="*/ 1831735 w 3198931"/>
              <a:gd name="connsiteY5-28" fmla="*/ 4382338 h 4382338"/>
              <a:gd name="connsiteX6-29" fmla="*/ 203526 w 3198931"/>
              <a:gd name="connsiteY6-30" fmla="*/ 4382338 h 4382338"/>
              <a:gd name="connsiteX0-31" fmla="*/ 0 w 2995405"/>
              <a:gd name="connsiteY0-32" fmla="*/ 4382338 h 4382338"/>
              <a:gd name="connsiteX1-33" fmla="*/ 1628209 w 2995405"/>
              <a:gd name="connsiteY1-34" fmla="*/ 0 h 4382338"/>
              <a:gd name="connsiteX2-35" fmla="*/ 2995405 w 2995405"/>
              <a:gd name="connsiteY2-36" fmla="*/ 1367196 h 4382338"/>
              <a:gd name="connsiteX3-37" fmla="*/ 2995405 w 2995405"/>
              <a:gd name="connsiteY3-38" fmla="*/ 3015142 h 4382338"/>
              <a:gd name="connsiteX4-39" fmla="*/ 1628209 w 2995405"/>
              <a:gd name="connsiteY4-40" fmla="*/ 4382338 h 4382338"/>
              <a:gd name="connsiteX5-41" fmla="*/ 0 w 2995405"/>
              <a:gd name="connsiteY5-42" fmla="*/ 4382338 h 4382338"/>
              <a:gd name="connsiteX0-43" fmla="*/ 0 w 2995405"/>
              <a:gd name="connsiteY0-44" fmla="*/ 3015142 h 3015142"/>
              <a:gd name="connsiteX1-45" fmla="*/ 2995405 w 2995405"/>
              <a:gd name="connsiteY1-46" fmla="*/ 0 h 3015142"/>
              <a:gd name="connsiteX2-47" fmla="*/ 2995405 w 2995405"/>
              <a:gd name="connsiteY2-48" fmla="*/ 1647946 h 3015142"/>
              <a:gd name="connsiteX3-49" fmla="*/ 1628209 w 2995405"/>
              <a:gd name="connsiteY3-50" fmla="*/ 3015142 h 3015142"/>
              <a:gd name="connsiteX4-51" fmla="*/ 0 w 2995405"/>
              <a:gd name="connsiteY4-52" fmla="*/ 3015142 h 3015142"/>
              <a:gd name="connsiteX0-53" fmla="*/ 0 w 2995405"/>
              <a:gd name="connsiteY0-54" fmla="*/ 3015142 h 3015142"/>
              <a:gd name="connsiteX1-55" fmla="*/ 2995405 w 2995405"/>
              <a:gd name="connsiteY1-56" fmla="*/ 0 h 3015142"/>
              <a:gd name="connsiteX2-57" fmla="*/ 2995405 w 2995405"/>
              <a:gd name="connsiteY2-58" fmla="*/ 1647946 h 3015142"/>
              <a:gd name="connsiteX3-59" fmla="*/ 1628209 w 2995405"/>
              <a:gd name="connsiteY3-60" fmla="*/ 3015142 h 3015142"/>
              <a:gd name="connsiteX4-61" fmla="*/ 0 w 2995405"/>
              <a:gd name="connsiteY4-62" fmla="*/ 3015142 h 301514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995405" h="3015142">
                <a:moveTo>
                  <a:pt x="0" y="3015142"/>
                </a:moveTo>
                <a:lnTo>
                  <a:pt x="2995405" y="0"/>
                </a:lnTo>
                <a:lnTo>
                  <a:pt x="2995405" y="1647946"/>
                </a:lnTo>
                <a:cubicBezTo>
                  <a:pt x="2995405" y="2403028"/>
                  <a:pt x="2383291" y="3015142"/>
                  <a:pt x="1628209" y="3015142"/>
                </a:cubicBezTo>
                <a:lnTo>
                  <a:pt x="0" y="3015142"/>
                </a:lnTo>
                <a:close/>
              </a:path>
            </a:pathLst>
          </a:custGeom>
          <a:solidFill>
            <a:srgbClr val="2D84D3"/>
          </a:solidFill>
          <a:ln w="152400">
            <a:solidFill>
              <a:srgbClr val="A2C9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pic>
        <p:nvPicPr>
          <p:cNvPr id="9" name="图片 1">
            <a:extLst>
              <a:ext uri="{FF2B5EF4-FFF2-40B4-BE49-F238E27FC236}">
                <a16:creationId xmlns="" xmlns:a16="http://schemas.microsoft.com/office/drawing/2014/main" id="{0937FB72-1CFC-BAB4-5718-ABE035D6528D}"/>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63448" y="130993"/>
            <a:ext cx="950811"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 xmlns:a16="http://schemas.microsoft.com/office/drawing/2014/main" id="{94434688-0D56-D8FE-96C5-4F9C1504FF46}"/>
              </a:ext>
            </a:extLst>
          </p:cNvPr>
          <p:cNvSpPr/>
          <p:nvPr/>
        </p:nvSpPr>
        <p:spPr>
          <a:xfrm>
            <a:off x="3694963" y="293804"/>
            <a:ext cx="4575406" cy="646331"/>
          </a:xfrm>
          <a:prstGeom prst="rect">
            <a:avLst/>
          </a:prstGeom>
          <a:noFill/>
        </p:spPr>
        <p:txBody>
          <a:bodyPr wrap="square" lIns="91440" tIns="45720" rIns="91440" bIns="45720">
            <a:spAutoFit/>
          </a:bodyPr>
          <a:lstStyle/>
          <a:p>
            <a:pPr algn="ctr"/>
            <a:r>
              <a:rPr lang="zh-CN" altLang="en-US" sz="3600" b="1" cap="none" spc="0" dirty="0">
                <a:ln w="0"/>
                <a:solidFill>
                  <a:schemeClr val="bg1"/>
                </a:solidFill>
                <a:effectLst>
                  <a:outerShdw blurRad="38100" dist="25400" dir="5400000" algn="ctr" rotWithShape="0">
                    <a:srgbClr val="6E747A">
                      <a:alpha val="43000"/>
                    </a:srgbClr>
                  </a:outerShdw>
                </a:effectLst>
              </a:rPr>
              <a:t>实验原理</a:t>
            </a:r>
          </a:p>
        </p:txBody>
      </p:sp>
      <p:sp>
        <p:nvSpPr>
          <p:cNvPr id="10" name="文本框 3"/>
          <p:cNvSpPr txBox="1">
            <a:spLocks noChangeArrowheads="1"/>
          </p:cNvSpPr>
          <p:nvPr/>
        </p:nvSpPr>
        <p:spPr bwMode="auto">
          <a:xfrm>
            <a:off x="1715437" y="1130037"/>
            <a:ext cx="812400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en-US" altLang="zh-CN" sz="3200"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Simdroid</a:t>
            </a:r>
            <a:r>
              <a:rPr lang="zh-CN" altLang="en-US" sz="3200"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仿真</a:t>
            </a:r>
            <a:r>
              <a:rPr kumimoji="0" lang="zh-CN" altLang="en-US" sz="3200"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流程</a:t>
            </a:r>
            <a:endParaRPr kumimoji="0" lang="zh-CN" altLang="en-US" sz="3200" b="1" dirty="0">
              <a:solidFill>
                <a:srgbClr val="253061"/>
              </a:solidFill>
              <a:latin typeface="黑体" panose="02010609060101010101" pitchFamily="49" charset="-122"/>
              <a:ea typeface="黑体" panose="02010609060101010101" pitchFamily="49" charset="-122"/>
              <a:cs typeface="Times New Roman" panose="02020603050405020304" pitchFamily="18" charset="0"/>
            </a:endParaRPr>
          </a:p>
        </p:txBody>
      </p:sp>
      <p:graphicFrame>
        <p:nvGraphicFramePr>
          <p:cNvPr id="2" name="图示 1"/>
          <p:cNvGraphicFramePr/>
          <p:nvPr>
            <p:extLst>
              <p:ext uri="{D42A27DB-BD31-4B8C-83A1-F6EECF244321}">
                <p14:modId xmlns:p14="http://schemas.microsoft.com/office/powerpoint/2010/main" val="1082784506"/>
              </p:ext>
            </p:extLst>
          </p:nvPr>
        </p:nvGraphicFramePr>
        <p:xfrm>
          <a:off x="1578063" y="1833761"/>
          <a:ext cx="9222615" cy="468411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09490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1">
            <a:extLst>
              <a:ext uri="{FF2B5EF4-FFF2-40B4-BE49-F238E27FC236}">
                <a16:creationId xmlns="" xmlns:a16="http://schemas.microsoft.com/office/drawing/2014/main" id="{C3CEC2E7-8973-8877-8D17-18A65BCEAAD3}"/>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36411" y="5479548"/>
            <a:ext cx="950811"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占位符 11">
            <a:extLst>
              <a:ext uri="{FF2B5EF4-FFF2-40B4-BE49-F238E27FC236}">
                <a16:creationId xmlns="" xmlns:a16="http://schemas.microsoft.com/office/drawing/2014/main" id="{C2D18D4A-B46E-A8CD-CBF5-D4DD5EFFE170}"/>
              </a:ext>
            </a:extLst>
          </p:cNvPr>
          <p:cNvPicPr>
            <a:picLocks noChangeAspect="1"/>
          </p:cNvPicPr>
          <p:nvPr/>
        </p:nvPicPr>
        <p:blipFill>
          <a:blip r:embed="rId4" cstate="print">
            <a:extLst>
              <a:ext uri="{28A0092B-C50C-407E-A947-70E740481C1C}">
                <a14:useLocalDpi xmlns:a14="http://schemas.microsoft.com/office/drawing/2010/main" val="0"/>
              </a:ext>
            </a:extLst>
          </a:blip>
          <a:srcRect l="14657" r="14657"/>
          <a:stretch>
            <a:fillRect/>
          </a:stretch>
        </p:blipFill>
        <p:spPr>
          <a:xfrm>
            <a:off x="133727" y="148465"/>
            <a:ext cx="1377439" cy="1442870"/>
          </a:xfrm>
          <a:custGeom>
            <a:avLst/>
            <a:gdLst>
              <a:gd name="connsiteX0" fmla="*/ 0 w 5279257"/>
              <a:gd name="connsiteY0" fmla="*/ 0 h 5530032"/>
              <a:gd name="connsiteX1" fmla="*/ 3641372 w 5279257"/>
              <a:gd name="connsiteY1" fmla="*/ 0 h 5530032"/>
              <a:gd name="connsiteX2" fmla="*/ 5010556 w 5279257"/>
              <a:gd name="connsiteY2" fmla="*/ 1369184 h 5530032"/>
              <a:gd name="connsiteX3" fmla="*/ 5010556 w 5279257"/>
              <a:gd name="connsiteY3" fmla="*/ 2666592 h 5530032"/>
              <a:gd name="connsiteX4" fmla="*/ 2415817 w 5279257"/>
              <a:gd name="connsiteY4" fmla="*/ 5261331 h 5530032"/>
              <a:gd name="connsiteX5" fmla="*/ 1118409 w 5279257"/>
              <a:gd name="connsiteY5" fmla="*/ 5261331 h 5530032"/>
              <a:gd name="connsiteX6" fmla="*/ 1 w 5279257"/>
              <a:gd name="connsiteY6" fmla="*/ 4142923 h 5530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257" h="5530032">
                <a:moveTo>
                  <a:pt x="0" y="0"/>
                </a:moveTo>
                <a:lnTo>
                  <a:pt x="3641372" y="0"/>
                </a:lnTo>
                <a:lnTo>
                  <a:pt x="5010556" y="1369184"/>
                </a:lnTo>
                <a:cubicBezTo>
                  <a:pt x="5368825" y="1727453"/>
                  <a:pt x="5368825" y="2308323"/>
                  <a:pt x="5010556" y="2666592"/>
                </a:cubicBezTo>
                <a:lnTo>
                  <a:pt x="2415817" y="5261331"/>
                </a:lnTo>
                <a:cubicBezTo>
                  <a:pt x="2057548" y="5619600"/>
                  <a:pt x="1476678" y="5619600"/>
                  <a:pt x="1118409" y="5261331"/>
                </a:cubicBezTo>
                <a:lnTo>
                  <a:pt x="1" y="4142923"/>
                </a:lnTo>
                <a:close/>
              </a:path>
            </a:pathLst>
          </a:custGeom>
          <a:ln w="152400">
            <a:solidFill>
              <a:srgbClr val="A2C9EC"/>
            </a:solidFill>
          </a:ln>
        </p:spPr>
      </p:pic>
      <p:sp>
        <p:nvSpPr>
          <p:cNvPr id="2" name="文本框 3">
            <a:extLst>
              <a:ext uri="{FF2B5EF4-FFF2-40B4-BE49-F238E27FC236}">
                <a16:creationId xmlns="" xmlns:a16="http://schemas.microsoft.com/office/drawing/2014/main" id="{E7F91063-EBC3-10A6-BD83-DCF48D09605B}"/>
              </a:ext>
            </a:extLst>
          </p:cNvPr>
          <p:cNvSpPr txBox="1">
            <a:spLocks noChangeArrowheads="1"/>
          </p:cNvSpPr>
          <p:nvPr/>
        </p:nvSpPr>
        <p:spPr bwMode="auto">
          <a:xfrm>
            <a:off x="1812153" y="577513"/>
            <a:ext cx="812400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en-US" altLang="zh-CN" sz="3200" b="1" dirty="0" err="1">
                <a:solidFill>
                  <a:srgbClr val="C00000"/>
                </a:solidFill>
                <a:latin typeface="黑体" panose="02010609060101010101" pitchFamily="49" charset="-122"/>
                <a:ea typeface="黑体" panose="02010609060101010101" pitchFamily="49" charset="-122"/>
                <a:cs typeface="Times New Roman" panose="02020603050405020304" pitchFamily="18" charset="0"/>
              </a:rPr>
              <a:t>Simdroid</a:t>
            </a:r>
            <a:r>
              <a:rPr lang="zh-CN" altLang="en-US" sz="32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结构分析类型</a:t>
            </a:r>
            <a:endParaRPr kumimoji="0" lang="zh-CN" altLang="en-US" sz="3200" b="1" dirty="0">
              <a:solidFill>
                <a:srgbClr val="253061"/>
              </a:solidFill>
              <a:latin typeface="黑体" panose="02010609060101010101" pitchFamily="49" charset="-122"/>
              <a:ea typeface="黑体" panose="02010609060101010101" pitchFamily="49" charset="-122"/>
              <a:cs typeface="Times New Roman" panose="02020603050405020304" pitchFamily="18" charset="0"/>
            </a:endParaRPr>
          </a:p>
        </p:txBody>
      </p:sp>
      <p:graphicFrame>
        <p:nvGraphicFramePr>
          <p:cNvPr id="4" name="图示 3"/>
          <p:cNvGraphicFramePr/>
          <p:nvPr>
            <p:extLst>
              <p:ext uri="{D42A27DB-BD31-4B8C-83A1-F6EECF244321}">
                <p14:modId xmlns:p14="http://schemas.microsoft.com/office/powerpoint/2010/main" val="3256349158"/>
              </p:ext>
            </p:extLst>
          </p:nvPr>
        </p:nvGraphicFramePr>
        <p:xfrm>
          <a:off x="1511166" y="710004"/>
          <a:ext cx="9773606" cy="278623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6" name="图片 5"/>
          <p:cNvPicPr>
            <a:picLocks noChangeAspect="1"/>
          </p:cNvPicPr>
          <p:nvPr/>
        </p:nvPicPr>
        <p:blipFill>
          <a:blip r:embed="rId10"/>
          <a:stretch>
            <a:fillRect/>
          </a:stretch>
        </p:blipFill>
        <p:spPr>
          <a:xfrm>
            <a:off x="1812153" y="2814585"/>
            <a:ext cx="4643478" cy="3600000"/>
          </a:xfrm>
          <a:prstGeom prst="rect">
            <a:avLst/>
          </a:prstGeom>
        </p:spPr>
      </p:pic>
      <p:sp>
        <p:nvSpPr>
          <p:cNvPr id="11" name="圆角矩形 10"/>
          <p:cNvSpPr/>
          <p:nvPr/>
        </p:nvSpPr>
        <p:spPr>
          <a:xfrm>
            <a:off x="4927002" y="4118219"/>
            <a:ext cx="1539387" cy="322730"/>
          </a:xfrm>
          <a:prstGeom prst="roundRect">
            <a:avLst/>
          </a:prstGeom>
          <a:noFill/>
          <a:ln w="381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5" name="直接箭头连接符 4"/>
          <p:cNvCxnSpPr>
            <a:stCxn id="11" idx="3"/>
            <a:endCxn id="7" idx="1"/>
          </p:cNvCxnSpPr>
          <p:nvPr/>
        </p:nvCxnSpPr>
        <p:spPr>
          <a:xfrm>
            <a:off x="6466389" y="4279584"/>
            <a:ext cx="590628" cy="0"/>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sp>
        <p:nvSpPr>
          <p:cNvPr id="7" name="文本框 6"/>
          <p:cNvSpPr txBox="1"/>
          <p:nvPr/>
        </p:nvSpPr>
        <p:spPr>
          <a:xfrm>
            <a:off x="7057017" y="4079529"/>
            <a:ext cx="1032734" cy="400110"/>
          </a:xfrm>
          <a:prstGeom prst="rect">
            <a:avLst/>
          </a:prstGeom>
          <a:noFill/>
        </p:spPr>
        <p:txBody>
          <a:bodyPr wrap="square" rtlCol="0">
            <a:spAutoFit/>
          </a:bodyPr>
          <a:lstStyle/>
          <a:p>
            <a:pPr algn="ctr"/>
            <a:r>
              <a:rPr lang="zh-CN" altLang="en-US" sz="2000" b="1" dirty="0">
                <a:solidFill>
                  <a:schemeClr val="accent2"/>
                </a:solidFill>
                <a:latin typeface="黑体" panose="02010609060101010101" pitchFamily="49" charset="-122"/>
                <a:ea typeface="黑体" panose="02010609060101010101" pitchFamily="49" charset="-122"/>
              </a:rPr>
              <a:t>不含时</a:t>
            </a:r>
          </a:p>
        </p:txBody>
      </p:sp>
      <p:cxnSp>
        <p:nvCxnSpPr>
          <p:cNvPr id="14" name="直接箭头连接符 13"/>
          <p:cNvCxnSpPr/>
          <p:nvPr/>
        </p:nvCxnSpPr>
        <p:spPr>
          <a:xfrm>
            <a:off x="6455631" y="5893239"/>
            <a:ext cx="590628" cy="0"/>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sp>
        <p:nvSpPr>
          <p:cNvPr id="15" name="文本框 14"/>
          <p:cNvSpPr txBox="1"/>
          <p:nvPr/>
        </p:nvSpPr>
        <p:spPr>
          <a:xfrm>
            <a:off x="7046259" y="5693184"/>
            <a:ext cx="1032734" cy="400110"/>
          </a:xfrm>
          <a:prstGeom prst="rect">
            <a:avLst/>
          </a:prstGeom>
          <a:noFill/>
        </p:spPr>
        <p:txBody>
          <a:bodyPr wrap="square" rtlCol="0">
            <a:spAutoFit/>
          </a:bodyPr>
          <a:lstStyle/>
          <a:p>
            <a:pPr algn="ctr"/>
            <a:r>
              <a:rPr lang="zh-CN" altLang="en-US" sz="2000" b="1" dirty="0">
                <a:solidFill>
                  <a:schemeClr val="accent2"/>
                </a:solidFill>
                <a:latin typeface="黑体" panose="02010609060101010101" pitchFamily="49" charset="-122"/>
                <a:ea typeface="黑体" panose="02010609060101010101" pitchFamily="49" charset="-122"/>
              </a:rPr>
              <a:t>含时</a:t>
            </a:r>
          </a:p>
        </p:txBody>
      </p:sp>
    </p:spTree>
    <p:extLst>
      <p:ext uri="{BB962C8B-B14F-4D97-AF65-F5344CB8AC3E}">
        <p14:creationId xmlns:p14="http://schemas.microsoft.com/office/powerpoint/2010/main" val="457337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1">
            <a:extLst>
              <a:ext uri="{FF2B5EF4-FFF2-40B4-BE49-F238E27FC236}">
                <a16:creationId xmlns="" xmlns:a16="http://schemas.microsoft.com/office/drawing/2014/main" id="{C3CEC2E7-8973-8877-8D17-18A65BCEAAD3}"/>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36411" y="5479548"/>
            <a:ext cx="950811"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占位符 11">
            <a:extLst>
              <a:ext uri="{FF2B5EF4-FFF2-40B4-BE49-F238E27FC236}">
                <a16:creationId xmlns="" xmlns:a16="http://schemas.microsoft.com/office/drawing/2014/main" id="{C2D18D4A-B46E-A8CD-CBF5-D4DD5EFFE170}"/>
              </a:ext>
            </a:extLst>
          </p:cNvPr>
          <p:cNvPicPr>
            <a:picLocks noChangeAspect="1"/>
          </p:cNvPicPr>
          <p:nvPr/>
        </p:nvPicPr>
        <p:blipFill>
          <a:blip r:embed="rId4" cstate="print">
            <a:extLst>
              <a:ext uri="{28A0092B-C50C-407E-A947-70E740481C1C}">
                <a14:useLocalDpi xmlns:a14="http://schemas.microsoft.com/office/drawing/2010/main" val="0"/>
              </a:ext>
            </a:extLst>
          </a:blip>
          <a:srcRect l="14657" r="14657"/>
          <a:stretch>
            <a:fillRect/>
          </a:stretch>
        </p:blipFill>
        <p:spPr>
          <a:xfrm>
            <a:off x="133727" y="148465"/>
            <a:ext cx="1377439" cy="1442870"/>
          </a:xfrm>
          <a:custGeom>
            <a:avLst/>
            <a:gdLst>
              <a:gd name="connsiteX0" fmla="*/ 0 w 5279257"/>
              <a:gd name="connsiteY0" fmla="*/ 0 h 5530032"/>
              <a:gd name="connsiteX1" fmla="*/ 3641372 w 5279257"/>
              <a:gd name="connsiteY1" fmla="*/ 0 h 5530032"/>
              <a:gd name="connsiteX2" fmla="*/ 5010556 w 5279257"/>
              <a:gd name="connsiteY2" fmla="*/ 1369184 h 5530032"/>
              <a:gd name="connsiteX3" fmla="*/ 5010556 w 5279257"/>
              <a:gd name="connsiteY3" fmla="*/ 2666592 h 5530032"/>
              <a:gd name="connsiteX4" fmla="*/ 2415817 w 5279257"/>
              <a:gd name="connsiteY4" fmla="*/ 5261331 h 5530032"/>
              <a:gd name="connsiteX5" fmla="*/ 1118409 w 5279257"/>
              <a:gd name="connsiteY5" fmla="*/ 5261331 h 5530032"/>
              <a:gd name="connsiteX6" fmla="*/ 1 w 5279257"/>
              <a:gd name="connsiteY6" fmla="*/ 4142923 h 5530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257" h="5530032">
                <a:moveTo>
                  <a:pt x="0" y="0"/>
                </a:moveTo>
                <a:lnTo>
                  <a:pt x="3641372" y="0"/>
                </a:lnTo>
                <a:lnTo>
                  <a:pt x="5010556" y="1369184"/>
                </a:lnTo>
                <a:cubicBezTo>
                  <a:pt x="5368825" y="1727453"/>
                  <a:pt x="5368825" y="2308323"/>
                  <a:pt x="5010556" y="2666592"/>
                </a:cubicBezTo>
                <a:lnTo>
                  <a:pt x="2415817" y="5261331"/>
                </a:lnTo>
                <a:cubicBezTo>
                  <a:pt x="2057548" y="5619600"/>
                  <a:pt x="1476678" y="5619600"/>
                  <a:pt x="1118409" y="5261331"/>
                </a:cubicBezTo>
                <a:lnTo>
                  <a:pt x="1" y="4142923"/>
                </a:lnTo>
                <a:close/>
              </a:path>
            </a:pathLst>
          </a:custGeom>
          <a:ln w="152400">
            <a:solidFill>
              <a:srgbClr val="A2C9EC"/>
            </a:solidFill>
          </a:ln>
        </p:spPr>
      </p:pic>
      <p:sp>
        <p:nvSpPr>
          <p:cNvPr id="2" name="文本框 3">
            <a:extLst>
              <a:ext uri="{FF2B5EF4-FFF2-40B4-BE49-F238E27FC236}">
                <a16:creationId xmlns="" xmlns:a16="http://schemas.microsoft.com/office/drawing/2014/main" id="{E7F91063-EBC3-10A6-BD83-DCF48D09605B}"/>
              </a:ext>
            </a:extLst>
          </p:cNvPr>
          <p:cNvSpPr txBox="1">
            <a:spLocks noChangeArrowheads="1"/>
          </p:cNvSpPr>
          <p:nvPr/>
        </p:nvSpPr>
        <p:spPr bwMode="auto">
          <a:xfrm>
            <a:off x="1812153" y="577513"/>
            <a:ext cx="812400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en-US" altLang="zh-CN" sz="3200" b="1" dirty="0" err="1">
                <a:solidFill>
                  <a:srgbClr val="C00000"/>
                </a:solidFill>
                <a:latin typeface="黑体" panose="02010609060101010101" pitchFamily="49" charset="-122"/>
                <a:ea typeface="黑体" panose="02010609060101010101" pitchFamily="49" charset="-122"/>
                <a:cs typeface="Times New Roman" panose="02020603050405020304" pitchFamily="18" charset="0"/>
              </a:rPr>
              <a:t>Simdroid</a:t>
            </a:r>
            <a:r>
              <a:rPr lang="zh-CN" altLang="en-US" sz="32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仿真</a:t>
            </a:r>
            <a:r>
              <a:rPr lang="en-US" altLang="zh-CN" sz="32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APP</a:t>
            </a:r>
            <a:r>
              <a:rPr lang="zh-CN" altLang="en-US" sz="32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封装要求</a:t>
            </a:r>
            <a:endParaRPr kumimoji="0" lang="zh-CN" altLang="en-US" sz="3200" b="1" dirty="0">
              <a:solidFill>
                <a:srgbClr val="253061"/>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3" name="文本框 2">
            <a:extLst>
              <a:ext uri="{FF2B5EF4-FFF2-40B4-BE49-F238E27FC236}">
                <a16:creationId xmlns="" xmlns:a16="http://schemas.microsoft.com/office/drawing/2014/main" id="{E1B46451-0258-45F2-8C33-4D88FBC24E09}"/>
              </a:ext>
            </a:extLst>
          </p:cNvPr>
          <p:cNvSpPr txBox="1"/>
          <p:nvPr/>
        </p:nvSpPr>
        <p:spPr>
          <a:xfrm>
            <a:off x="570035" y="1406697"/>
            <a:ext cx="11051929" cy="4807085"/>
          </a:xfrm>
          <a:prstGeom prst="rect">
            <a:avLst/>
          </a:prstGeom>
          <a:noFill/>
        </p:spPr>
        <p:txBody>
          <a:bodyPr wrap="square" rtlCol="0">
            <a:spAutoFit/>
          </a:bodyPr>
          <a:lstStyle/>
          <a:p>
            <a:pPr algn="l">
              <a:lnSpc>
                <a:spcPct val="150000"/>
              </a:lnSpc>
              <a:spcAft>
                <a:spcPts val="1800"/>
              </a:spcAft>
            </a:pPr>
            <a:r>
              <a:rPr lang="zh-CN" altLang="en-US" sz="2400" b="1" dirty="0">
                <a:solidFill>
                  <a:prstClr val="black"/>
                </a:solidFill>
                <a:latin typeface="楷体" panose="02010609060101010101" pitchFamily="49" charset="-122"/>
                <a:ea typeface="楷体" panose="02010609060101010101" pitchFamily="49" charset="-122"/>
              </a:rPr>
              <a:t>（</a:t>
            </a:r>
            <a:r>
              <a:rPr lang="en-US" altLang="zh-CN" sz="2400" b="1" dirty="0">
                <a:solidFill>
                  <a:prstClr val="black"/>
                </a:solidFill>
                <a:latin typeface="楷体" panose="02010609060101010101" pitchFamily="49" charset="-122"/>
                <a:ea typeface="楷体" panose="02010609060101010101" pitchFamily="49" charset="-122"/>
              </a:rPr>
              <a:t>1</a:t>
            </a:r>
            <a:r>
              <a:rPr lang="zh-CN" altLang="en-US" sz="2400" b="1" dirty="0">
                <a:solidFill>
                  <a:prstClr val="black"/>
                </a:solidFill>
                <a:latin typeface="楷体" panose="02010609060101010101" pitchFamily="49" charset="-122"/>
                <a:ea typeface="楷体" panose="02010609060101010101" pitchFamily="49" charset="-122"/>
              </a:rPr>
              <a:t>） </a:t>
            </a:r>
            <a:r>
              <a:rPr lang="en-US" altLang="zh-CN" sz="2400" b="1" dirty="0">
                <a:solidFill>
                  <a:prstClr val="black"/>
                </a:solidFill>
                <a:latin typeface="楷体" panose="02010609060101010101" pitchFamily="49" charset="-122"/>
                <a:ea typeface="楷体" panose="02010609060101010101" pitchFamily="49" charset="-122"/>
              </a:rPr>
              <a:t>APP </a:t>
            </a:r>
            <a:r>
              <a:rPr lang="zh-CN" altLang="en-US" sz="2400" b="1" dirty="0">
                <a:solidFill>
                  <a:prstClr val="black"/>
                </a:solidFill>
                <a:latin typeface="楷体" panose="02010609060101010101" pitchFamily="49" charset="-122"/>
                <a:ea typeface="楷体" panose="02010609060101010101" pitchFamily="49" charset="-122"/>
              </a:rPr>
              <a:t>界面整齐，至少要包含</a:t>
            </a:r>
            <a:r>
              <a:rPr lang="zh-CN" altLang="en-US" sz="2400" b="1" dirty="0">
                <a:solidFill>
                  <a:srgbClr val="FF0000"/>
                </a:solidFill>
                <a:latin typeface="楷体" panose="02010609060101010101" pitchFamily="49" charset="-122"/>
                <a:ea typeface="楷体" panose="02010609060101010101" pitchFamily="49" charset="-122"/>
              </a:rPr>
              <a:t>三个按钮</a:t>
            </a:r>
            <a:r>
              <a:rPr lang="zh-CN" altLang="en-US" sz="2400" b="1" dirty="0">
                <a:solidFill>
                  <a:prstClr val="black"/>
                </a:solidFill>
                <a:latin typeface="楷体" panose="02010609060101010101" pitchFamily="49" charset="-122"/>
                <a:ea typeface="楷体" panose="02010609060101010101" pitchFamily="49" charset="-122"/>
              </a:rPr>
              <a:t>：</a:t>
            </a:r>
            <a:r>
              <a:rPr lang="zh-CN" altLang="en-US" sz="2400" b="1" dirty="0">
                <a:solidFill>
                  <a:prstClr val="black"/>
                </a:solidFill>
                <a:highlight>
                  <a:srgbClr val="FFFF00"/>
                </a:highlight>
                <a:latin typeface="楷体" panose="02010609060101010101" pitchFamily="49" charset="-122"/>
                <a:ea typeface="楷体" panose="02010609060101010101" pitchFamily="49" charset="-122"/>
              </a:rPr>
              <a:t>几何、网格、计算</a:t>
            </a:r>
            <a:r>
              <a:rPr lang="zh-CN" altLang="en-US" sz="2400" b="1" dirty="0">
                <a:solidFill>
                  <a:prstClr val="black"/>
                </a:solidFill>
                <a:latin typeface="楷体" panose="02010609060101010101" pitchFamily="49" charset="-122"/>
                <a:ea typeface="楷体" panose="02010609060101010101" pitchFamily="49" charset="-122"/>
              </a:rPr>
              <a:t>，以及</a:t>
            </a:r>
            <a:r>
              <a:rPr lang="zh-CN" altLang="en-US" sz="2400" b="1" dirty="0">
                <a:solidFill>
                  <a:srgbClr val="FF0000"/>
                </a:solidFill>
                <a:latin typeface="楷体" panose="02010609060101010101" pitchFamily="49" charset="-122"/>
                <a:ea typeface="楷体" panose="02010609060101010101" pitchFamily="49" charset="-122"/>
              </a:rPr>
              <a:t>三个结果显示窗口</a:t>
            </a:r>
            <a:r>
              <a:rPr lang="zh-CN" altLang="en-US" sz="2400" b="1" dirty="0">
                <a:solidFill>
                  <a:prstClr val="black"/>
                </a:solidFill>
                <a:latin typeface="楷体" panose="02010609060101010101" pitchFamily="49" charset="-122"/>
                <a:ea typeface="楷体" panose="02010609060101010101" pitchFamily="49" charset="-122"/>
              </a:rPr>
              <a:t>：</a:t>
            </a:r>
            <a:r>
              <a:rPr lang="zh-CN" altLang="en-US" sz="2400" b="1" dirty="0">
                <a:solidFill>
                  <a:prstClr val="black"/>
                </a:solidFill>
                <a:highlight>
                  <a:srgbClr val="FFFF00"/>
                </a:highlight>
                <a:latin typeface="楷体" panose="02010609060101010101" pitchFamily="49" charset="-122"/>
                <a:ea typeface="楷体" panose="02010609060101010101" pitchFamily="49" charset="-122"/>
              </a:rPr>
              <a:t>几何、网格、计算云图</a:t>
            </a:r>
            <a:r>
              <a:rPr lang="zh-CN" altLang="en-US" sz="2400" b="1" dirty="0">
                <a:solidFill>
                  <a:prstClr val="black"/>
                </a:solidFill>
                <a:latin typeface="楷体" panose="02010609060101010101" pitchFamily="49" charset="-122"/>
                <a:ea typeface="楷体" panose="02010609060101010101" pitchFamily="49" charset="-122"/>
              </a:rPr>
              <a:t>；</a:t>
            </a:r>
          </a:p>
          <a:p>
            <a:pPr algn="l">
              <a:lnSpc>
                <a:spcPct val="150000"/>
              </a:lnSpc>
              <a:spcAft>
                <a:spcPts val="1800"/>
              </a:spcAft>
            </a:pPr>
            <a:r>
              <a:rPr lang="zh-CN" altLang="en-US" sz="2400" b="1" dirty="0">
                <a:solidFill>
                  <a:prstClr val="black"/>
                </a:solidFill>
                <a:latin typeface="楷体" panose="02010609060101010101" pitchFamily="49" charset="-122"/>
                <a:ea typeface="楷体" panose="02010609060101010101" pitchFamily="49" charset="-122"/>
              </a:rPr>
              <a:t>（</a:t>
            </a:r>
            <a:r>
              <a:rPr lang="en-US" altLang="zh-CN" sz="2400" b="1" dirty="0">
                <a:solidFill>
                  <a:prstClr val="black"/>
                </a:solidFill>
                <a:latin typeface="楷体" panose="02010609060101010101" pitchFamily="49" charset="-122"/>
                <a:ea typeface="楷体" panose="02010609060101010101" pitchFamily="49" charset="-122"/>
              </a:rPr>
              <a:t>2</a:t>
            </a:r>
            <a:r>
              <a:rPr lang="zh-CN" altLang="en-US" sz="2400" b="1" dirty="0">
                <a:solidFill>
                  <a:prstClr val="black"/>
                </a:solidFill>
                <a:latin typeface="楷体" panose="02010609060101010101" pitchFamily="49" charset="-122"/>
                <a:ea typeface="楷体" panose="02010609060101010101" pitchFamily="49" charset="-122"/>
              </a:rPr>
              <a:t>）各项参数设计合理，各物理量参数须附带对应的单位；</a:t>
            </a:r>
          </a:p>
          <a:p>
            <a:pPr algn="l">
              <a:lnSpc>
                <a:spcPct val="150000"/>
              </a:lnSpc>
              <a:spcAft>
                <a:spcPts val="1800"/>
              </a:spcAft>
            </a:pPr>
            <a:r>
              <a:rPr lang="zh-CN" altLang="en-US" sz="2400" b="1" dirty="0">
                <a:solidFill>
                  <a:prstClr val="black"/>
                </a:solidFill>
                <a:latin typeface="楷体" panose="02010609060101010101" pitchFamily="49" charset="-122"/>
                <a:ea typeface="楷体" panose="02010609060101010101" pitchFamily="49" charset="-122"/>
              </a:rPr>
              <a:t>（</a:t>
            </a:r>
            <a:r>
              <a:rPr lang="en-US" altLang="zh-CN" sz="2400" b="1" dirty="0">
                <a:solidFill>
                  <a:prstClr val="black"/>
                </a:solidFill>
                <a:latin typeface="楷体" panose="02010609060101010101" pitchFamily="49" charset="-122"/>
                <a:ea typeface="楷体" panose="02010609060101010101" pitchFamily="49" charset="-122"/>
              </a:rPr>
              <a:t>3</a:t>
            </a:r>
            <a:r>
              <a:rPr lang="zh-CN" altLang="en-US" sz="2400" b="1" dirty="0">
                <a:solidFill>
                  <a:prstClr val="black"/>
                </a:solidFill>
                <a:latin typeface="楷体" panose="02010609060101010101" pitchFamily="49" charset="-122"/>
                <a:ea typeface="楷体" panose="02010609060101010101" pitchFamily="49" charset="-122"/>
              </a:rPr>
              <a:t>）各字段值大小的上、下限区间设置合理；</a:t>
            </a:r>
          </a:p>
          <a:p>
            <a:pPr algn="l">
              <a:lnSpc>
                <a:spcPct val="150000"/>
              </a:lnSpc>
              <a:spcAft>
                <a:spcPts val="1800"/>
              </a:spcAft>
            </a:pPr>
            <a:r>
              <a:rPr lang="zh-CN" altLang="en-US" sz="2400" b="1" dirty="0">
                <a:solidFill>
                  <a:prstClr val="black"/>
                </a:solidFill>
                <a:latin typeface="楷体" panose="02010609060101010101" pitchFamily="49" charset="-122"/>
                <a:ea typeface="楷体" panose="02010609060101010101" pitchFamily="49" charset="-122"/>
              </a:rPr>
              <a:t>（</a:t>
            </a:r>
            <a:r>
              <a:rPr lang="en-US" altLang="zh-CN" sz="2400" b="1" dirty="0">
                <a:solidFill>
                  <a:prstClr val="black"/>
                </a:solidFill>
                <a:latin typeface="楷体" panose="02010609060101010101" pitchFamily="49" charset="-122"/>
                <a:ea typeface="楷体" panose="02010609060101010101" pitchFamily="49" charset="-122"/>
              </a:rPr>
              <a:t>4</a:t>
            </a:r>
            <a:r>
              <a:rPr lang="zh-CN" altLang="en-US" sz="2400" b="1" dirty="0">
                <a:solidFill>
                  <a:prstClr val="black"/>
                </a:solidFill>
                <a:latin typeface="楷体" panose="02010609060101010101" pitchFamily="49" charset="-122"/>
                <a:ea typeface="楷体" panose="02010609060101010101" pitchFamily="49" charset="-122"/>
              </a:rPr>
              <a:t>） </a:t>
            </a:r>
            <a:r>
              <a:rPr lang="en-US" altLang="zh-CN" sz="2400" b="1" dirty="0">
                <a:solidFill>
                  <a:prstClr val="black"/>
                </a:solidFill>
                <a:latin typeface="楷体" panose="02010609060101010101" pitchFamily="49" charset="-122"/>
                <a:ea typeface="楷体" panose="02010609060101010101" pitchFamily="49" charset="-122"/>
              </a:rPr>
              <a:t>APP </a:t>
            </a:r>
            <a:r>
              <a:rPr lang="zh-CN" altLang="en-US" sz="2400" b="1" dirty="0">
                <a:solidFill>
                  <a:prstClr val="black"/>
                </a:solidFill>
                <a:latin typeface="楷体" panose="02010609060101010101" pitchFamily="49" charset="-122"/>
                <a:ea typeface="楷体" panose="02010609060101010101" pitchFamily="49" charset="-122"/>
              </a:rPr>
              <a:t>图标：实物图或计算云图；</a:t>
            </a:r>
          </a:p>
          <a:p>
            <a:pPr algn="l">
              <a:lnSpc>
                <a:spcPct val="150000"/>
              </a:lnSpc>
              <a:spcAft>
                <a:spcPts val="1800"/>
              </a:spcAft>
            </a:pPr>
            <a:r>
              <a:rPr lang="zh-CN" altLang="en-US" sz="2400" b="1" dirty="0">
                <a:solidFill>
                  <a:prstClr val="black"/>
                </a:solidFill>
                <a:latin typeface="楷体" panose="02010609060101010101" pitchFamily="49" charset="-122"/>
                <a:ea typeface="楷体" panose="02010609060101010101" pitchFamily="49" charset="-122"/>
              </a:rPr>
              <a:t>（</a:t>
            </a:r>
            <a:r>
              <a:rPr lang="en-US" altLang="zh-CN" sz="2400" b="1" dirty="0">
                <a:solidFill>
                  <a:prstClr val="black"/>
                </a:solidFill>
                <a:latin typeface="楷体" panose="02010609060101010101" pitchFamily="49" charset="-122"/>
                <a:ea typeface="楷体" panose="02010609060101010101" pitchFamily="49" charset="-122"/>
              </a:rPr>
              <a:t>5</a:t>
            </a:r>
            <a:r>
              <a:rPr lang="zh-CN" altLang="en-US" sz="2400" b="1" dirty="0">
                <a:solidFill>
                  <a:prstClr val="black"/>
                </a:solidFill>
                <a:latin typeface="楷体" panose="02010609060101010101" pitchFamily="49" charset="-122"/>
                <a:ea typeface="楷体" panose="02010609060101010101" pitchFamily="49" charset="-122"/>
              </a:rPr>
              <a:t>） </a:t>
            </a:r>
            <a:r>
              <a:rPr lang="en-US" altLang="zh-CN" sz="2400" b="1" dirty="0">
                <a:solidFill>
                  <a:prstClr val="black"/>
                </a:solidFill>
                <a:latin typeface="楷体" panose="02010609060101010101" pitchFamily="49" charset="-122"/>
                <a:ea typeface="楷体" panose="02010609060101010101" pitchFamily="49" charset="-122"/>
              </a:rPr>
              <a:t>APP </a:t>
            </a:r>
            <a:r>
              <a:rPr lang="zh-CN" altLang="en-US" sz="2400" b="1" dirty="0">
                <a:solidFill>
                  <a:srgbClr val="FF0000"/>
                </a:solidFill>
                <a:latin typeface="楷体" panose="02010609060101010101" pitchFamily="49" charset="-122"/>
                <a:ea typeface="楷体" panose="02010609060101010101" pitchFamily="49" charset="-122"/>
              </a:rPr>
              <a:t>命名</a:t>
            </a:r>
            <a:r>
              <a:rPr lang="zh-CN" altLang="en-US" sz="2400" b="1" dirty="0">
                <a:solidFill>
                  <a:prstClr val="black"/>
                </a:solidFill>
                <a:latin typeface="楷体" panose="02010609060101010101" pitchFamily="49" charset="-122"/>
                <a:ea typeface="楷体" panose="02010609060101010101" pitchFamily="49" charset="-122"/>
              </a:rPr>
              <a:t>：</a:t>
            </a:r>
            <a:r>
              <a:rPr lang="zh-CN" altLang="en-US" sz="2400" b="1" dirty="0">
                <a:solidFill>
                  <a:prstClr val="black"/>
                </a:solidFill>
                <a:highlight>
                  <a:srgbClr val="FFFF00"/>
                </a:highlight>
                <a:latin typeface="楷体" panose="02010609060101010101" pitchFamily="49" charset="-122"/>
                <a:ea typeface="楷体" panose="02010609060101010101" pitchFamily="49" charset="-122"/>
              </a:rPr>
              <a:t>“仿真分析对象名称</a:t>
            </a:r>
            <a:r>
              <a:rPr lang="en-US" altLang="zh-CN" sz="2400" b="1" dirty="0">
                <a:solidFill>
                  <a:prstClr val="black"/>
                </a:solidFill>
                <a:highlight>
                  <a:srgbClr val="FFFF00"/>
                </a:highlight>
                <a:latin typeface="楷体" panose="02010609060101010101" pitchFamily="49" charset="-122"/>
                <a:ea typeface="楷体" panose="02010609060101010101" pitchFamily="49" charset="-122"/>
              </a:rPr>
              <a:t>+</a:t>
            </a:r>
            <a:r>
              <a:rPr lang="zh-CN" altLang="en-US" sz="2400" b="1" dirty="0">
                <a:solidFill>
                  <a:prstClr val="black"/>
                </a:solidFill>
                <a:highlight>
                  <a:srgbClr val="FFFF00"/>
                </a:highlight>
                <a:latin typeface="楷体" panose="02010609060101010101" pitchFamily="49" charset="-122"/>
                <a:ea typeface="楷体" panose="02010609060101010101" pitchFamily="49" charset="-122"/>
              </a:rPr>
              <a:t>分析类型”</a:t>
            </a:r>
            <a:r>
              <a:rPr lang="zh-CN" altLang="en-US" sz="2400" b="1" dirty="0">
                <a:solidFill>
                  <a:prstClr val="black"/>
                </a:solidFill>
                <a:latin typeface="楷体" panose="02010609060101010101" pitchFamily="49" charset="-122"/>
                <a:ea typeface="楷体" panose="02010609060101010101" pitchFamily="49" charset="-122"/>
              </a:rPr>
              <a:t>，如：平板热应力分析、</a:t>
            </a:r>
            <a:r>
              <a:rPr lang="en-US" altLang="zh-CN" sz="2400" b="1" dirty="0">
                <a:solidFill>
                  <a:prstClr val="black"/>
                </a:solidFill>
                <a:latin typeface="楷体" panose="02010609060101010101" pitchFamily="49" charset="-122"/>
                <a:ea typeface="楷体" panose="02010609060101010101" pitchFamily="49" charset="-122"/>
              </a:rPr>
              <a:t>T</a:t>
            </a:r>
            <a:r>
              <a:rPr lang="zh-CN" altLang="en-US" sz="2400" b="1" dirty="0">
                <a:solidFill>
                  <a:prstClr val="black"/>
                </a:solidFill>
                <a:latin typeface="楷体" panose="02010609060101010101" pitchFamily="49" charset="-122"/>
                <a:ea typeface="楷体" panose="02010609060101010101" pitchFamily="49" charset="-122"/>
              </a:rPr>
              <a:t>型梁强度分析。</a:t>
            </a:r>
          </a:p>
        </p:txBody>
      </p:sp>
    </p:spTree>
    <p:extLst>
      <p:ext uri="{BB962C8B-B14F-4D97-AF65-F5344CB8AC3E}">
        <p14:creationId xmlns:p14="http://schemas.microsoft.com/office/powerpoint/2010/main" val="11728996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1">
            <a:extLst>
              <a:ext uri="{FF2B5EF4-FFF2-40B4-BE49-F238E27FC236}">
                <a16:creationId xmlns="" xmlns:a16="http://schemas.microsoft.com/office/drawing/2014/main" id="{C3CEC2E7-8973-8877-8D17-18A65BCEAAD3}"/>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36411" y="5479548"/>
            <a:ext cx="950811"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占位符 11">
            <a:extLst>
              <a:ext uri="{FF2B5EF4-FFF2-40B4-BE49-F238E27FC236}">
                <a16:creationId xmlns="" xmlns:a16="http://schemas.microsoft.com/office/drawing/2014/main" id="{C2D18D4A-B46E-A8CD-CBF5-D4DD5EFFE170}"/>
              </a:ext>
            </a:extLst>
          </p:cNvPr>
          <p:cNvPicPr>
            <a:picLocks noChangeAspect="1"/>
          </p:cNvPicPr>
          <p:nvPr/>
        </p:nvPicPr>
        <p:blipFill>
          <a:blip r:embed="rId4" cstate="print">
            <a:extLst>
              <a:ext uri="{28A0092B-C50C-407E-A947-70E740481C1C}">
                <a14:useLocalDpi xmlns:a14="http://schemas.microsoft.com/office/drawing/2010/main" val="0"/>
              </a:ext>
            </a:extLst>
          </a:blip>
          <a:srcRect l="14657" r="14657"/>
          <a:stretch>
            <a:fillRect/>
          </a:stretch>
        </p:blipFill>
        <p:spPr>
          <a:xfrm>
            <a:off x="133727" y="148465"/>
            <a:ext cx="1377439" cy="1442870"/>
          </a:xfrm>
          <a:custGeom>
            <a:avLst/>
            <a:gdLst>
              <a:gd name="connsiteX0" fmla="*/ 0 w 5279257"/>
              <a:gd name="connsiteY0" fmla="*/ 0 h 5530032"/>
              <a:gd name="connsiteX1" fmla="*/ 3641372 w 5279257"/>
              <a:gd name="connsiteY1" fmla="*/ 0 h 5530032"/>
              <a:gd name="connsiteX2" fmla="*/ 5010556 w 5279257"/>
              <a:gd name="connsiteY2" fmla="*/ 1369184 h 5530032"/>
              <a:gd name="connsiteX3" fmla="*/ 5010556 w 5279257"/>
              <a:gd name="connsiteY3" fmla="*/ 2666592 h 5530032"/>
              <a:gd name="connsiteX4" fmla="*/ 2415817 w 5279257"/>
              <a:gd name="connsiteY4" fmla="*/ 5261331 h 5530032"/>
              <a:gd name="connsiteX5" fmla="*/ 1118409 w 5279257"/>
              <a:gd name="connsiteY5" fmla="*/ 5261331 h 5530032"/>
              <a:gd name="connsiteX6" fmla="*/ 1 w 5279257"/>
              <a:gd name="connsiteY6" fmla="*/ 4142923 h 5530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257" h="5530032">
                <a:moveTo>
                  <a:pt x="0" y="0"/>
                </a:moveTo>
                <a:lnTo>
                  <a:pt x="3641372" y="0"/>
                </a:lnTo>
                <a:lnTo>
                  <a:pt x="5010556" y="1369184"/>
                </a:lnTo>
                <a:cubicBezTo>
                  <a:pt x="5368825" y="1727453"/>
                  <a:pt x="5368825" y="2308323"/>
                  <a:pt x="5010556" y="2666592"/>
                </a:cubicBezTo>
                <a:lnTo>
                  <a:pt x="2415817" y="5261331"/>
                </a:lnTo>
                <a:cubicBezTo>
                  <a:pt x="2057548" y="5619600"/>
                  <a:pt x="1476678" y="5619600"/>
                  <a:pt x="1118409" y="5261331"/>
                </a:cubicBezTo>
                <a:lnTo>
                  <a:pt x="1" y="4142923"/>
                </a:lnTo>
                <a:close/>
              </a:path>
            </a:pathLst>
          </a:custGeom>
          <a:ln w="152400">
            <a:solidFill>
              <a:srgbClr val="A2C9EC"/>
            </a:solidFill>
          </a:ln>
        </p:spPr>
      </p:pic>
      <p:pic>
        <p:nvPicPr>
          <p:cNvPr id="4" name="图片 3">
            <a:extLst>
              <a:ext uri="{FF2B5EF4-FFF2-40B4-BE49-F238E27FC236}">
                <a16:creationId xmlns="" xmlns:a16="http://schemas.microsoft.com/office/drawing/2014/main" id="{869C1D41-5840-35F3-C3EE-24F00E8C67C0}"/>
              </a:ext>
            </a:extLst>
          </p:cNvPr>
          <p:cNvPicPr>
            <a:picLocks noChangeAspect="1"/>
          </p:cNvPicPr>
          <p:nvPr/>
        </p:nvPicPr>
        <p:blipFill>
          <a:blip r:embed="rId5"/>
          <a:stretch>
            <a:fillRect/>
          </a:stretch>
        </p:blipFill>
        <p:spPr>
          <a:xfrm>
            <a:off x="1651915" y="729000"/>
            <a:ext cx="8888170" cy="5400000"/>
          </a:xfrm>
          <a:prstGeom prst="rect">
            <a:avLst/>
          </a:prstGeom>
        </p:spPr>
      </p:pic>
    </p:spTree>
    <p:extLst>
      <p:ext uri="{BB962C8B-B14F-4D97-AF65-F5344CB8AC3E}">
        <p14:creationId xmlns:p14="http://schemas.microsoft.com/office/powerpoint/2010/main" val="225465871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3">
            <a:extLst>
              <a:ext uri="{FF2B5EF4-FFF2-40B4-BE49-F238E27FC236}">
                <a16:creationId xmlns="" xmlns:a16="http://schemas.microsoft.com/office/drawing/2014/main" id="{AC05E3DD-C1B4-CEAB-970F-458C037B9D3E}"/>
              </a:ext>
            </a:extLst>
          </p:cNvPr>
          <p:cNvSpPr txBox="1">
            <a:spLocks noChangeArrowheads="1"/>
          </p:cNvSpPr>
          <p:nvPr/>
        </p:nvSpPr>
        <p:spPr bwMode="auto">
          <a:xfrm>
            <a:off x="568131" y="254977"/>
            <a:ext cx="812400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en-US" altLang="zh-CN" sz="3200" b="1" dirty="0" err="1">
                <a:solidFill>
                  <a:srgbClr val="C00000"/>
                </a:solidFill>
                <a:latin typeface="黑体" panose="02010609060101010101" pitchFamily="49" charset="-122"/>
                <a:ea typeface="黑体" panose="02010609060101010101" pitchFamily="49" charset="-122"/>
                <a:cs typeface="Times New Roman" panose="02020603050405020304" pitchFamily="18" charset="0"/>
              </a:rPr>
              <a:t>Simdroid</a:t>
            </a:r>
            <a:r>
              <a:rPr lang="zh-CN" altLang="en-US" sz="32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仿真</a:t>
            </a:r>
            <a:r>
              <a:rPr lang="en-US" altLang="zh-CN" sz="32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APP</a:t>
            </a:r>
            <a:r>
              <a:rPr lang="zh-CN" altLang="en-US" sz="32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上传</a:t>
            </a:r>
            <a:endParaRPr kumimoji="0" lang="zh-CN" altLang="en-US" sz="3200" b="1" dirty="0">
              <a:solidFill>
                <a:srgbClr val="253061"/>
              </a:solidFill>
              <a:latin typeface="黑体" panose="02010609060101010101" pitchFamily="49" charset="-122"/>
              <a:ea typeface="黑体" panose="02010609060101010101" pitchFamily="49" charset="-122"/>
              <a:cs typeface="Times New Roman" panose="02020603050405020304" pitchFamily="18" charset="0"/>
            </a:endParaRPr>
          </a:p>
        </p:txBody>
      </p:sp>
      <p:pic>
        <p:nvPicPr>
          <p:cNvPr id="5" name="图片 4">
            <a:extLst>
              <a:ext uri="{FF2B5EF4-FFF2-40B4-BE49-F238E27FC236}">
                <a16:creationId xmlns="" xmlns:a16="http://schemas.microsoft.com/office/drawing/2014/main" id="{B92A319F-8B67-8DBA-E193-18F951B3E267}"/>
              </a:ext>
            </a:extLst>
          </p:cNvPr>
          <p:cNvPicPr>
            <a:picLocks noChangeAspect="1"/>
          </p:cNvPicPr>
          <p:nvPr/>
        </p:nvPicPr>
        <p:blipFill>
          <a:blip r:embed="rId3"/>
          <a:stretch>
            <a:fillRect/>
          </a:stretch>
        </p:blipFill>
        <p:spPr>
          <a:xfrm>
            <a:off x="568131" y="843023"/>
            <a:ext cx="11055737" cy="5760000"/>
          </a:xfrm>
          <a:prstGeom prst="rect">
            <a:avLst/>
          </a:prstGeom>
        </p:spPr>
      </p:pic>
      <p:pic>
        <p:nvPicPr>
          <p:cNvPr id="10" name="图片 1">
            <a:extLst>
              <a:ext uri="{FF2B5EF4-FFF2-40B4-BE49-F238E27FC236}">
                <a16:creationId xmlns="" xmlns:a16="http://schemas.microsoft.com/office/drawing/2014/main" id="{C3CEC2E7-8973-8877-8D17-18A65BCEAAD3}"/>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36411" y="5479548"/>
            <a:ext cx="950811"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402561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 xmlns:a16="http://schemas.microsoft.com/office/drawing/2014/main" id="{ACBFDB62-8964-B805-F8FB-A904047A8950}"/>
              </a:ext>
            </a:extLst>
          </p:cNvPr>
          <p:cNvPicPr>
            <a:picLocks noChangeAspect="1"/>
          </p:cNvPicPr>
          <p:nvPr/>
        </p:nvPicPr>
        <p:blipFill>
          <a:blip r:embed="rId3"/>
          <a:stretch>
            <a:fillRect/>
          </a:stretch>
        </p:blipFill>
        <p:spPr>
          <a:xfrm>
            <a:off x="204778" y="549000"/>
            <a:ext cx="11797895" cy="5760000"/>
          </a:xfrm>
          <a:prstGeom prst="rect">
            <a:avLst/>
          </a:prstGeom>
        </p:spPr>
      </p:pic>
      <p:pic>
        <p:nvPicPr>
          <p:cNvPr id="10" name="图片 1">
            <a:extLst>
              <a:ext uri="{FF2B5EF4-FFF2-40B4-BE49-F238E27FC236}">
                <a16:creationId xmlns="" xmlns:a16="http://schemas.microsoft.com/office/drawing/2014/main" id="{C3CEC2E7-8973-8877-8D17-18A65BCEAAD3}"/>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36411" y="5479548"/>
            <a:ext cx="950811"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4723705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 xmlns:a16="http://schemas.microsoft.com/office/drawing/2014/main" id="{BAC18410-6131-3931-B5DA-D490DA6EA1BF}"/>
              </a:ext>
            </a:extLst>
          </p:cNvPr>
          <p:cNvPicPr>
            <a:picLocks noChangeAspect="1"/>
          </p:cNvPicPr>
          <p:nvPr/>
        </p:nvPicPr>
        <p:blipFill>
          <a:blip r:embed="rId3"/>
          <a:stretch>
            <a:fillRect/>
          </a:stretch>
        </p:blipFill>
        <p:spPr>
          <a:xfrm>
            <a:off x="798736" y="369000"/>
            <a:ext cx="10594528" cy="6120000"/>
          </a:xfrm>
          <a:prstGeom prst="rect">
            <a:avLst/>
          </a:prstGeom>
        </p:spPr>
      </p:pic>
      <p:pic>
        <p:nvPicPr>
          <p:cNvPr id="10" name="图片 1">
            <a:extLst>
              <a:ext uri="{FF2B5EF4-FFF2-40B4-BE49-F238E27FC236}">
                <a16:creationId xmlns="" xmlns:a16="http://schemas.microsoft.com/office/drawing/2014/main" id="{C3CEC2E7-8973-8877-8D17-18A65BCEAAD3}"/>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36411" y="5479548"/>
            <a:ext cx="950811"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5204204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 xmlns:a16="http://schemas.microsoft.com/office/drawing/2014/main" id="{57F155E8-ECED-69C8-8D8C-9490E0FE409B}"/>
              </a:ext>
            </a:extLst>
          </p:cNvPr>
          <p:cNvPicPr>
            <a:picLocks noChangeAspect="1"/>
          </p:cNvPicPr>
          <p:nvPr/>
        </p:nvPicPr>
        <p:blipFill>
          <a:blip r:embed="rId3"/>
          <a:stretch>
            <a:fillRect/>
          </a:stretch>
        </p:blipFill>
        <p:spPr>
          <a:xfrm>
            <a:off x="498362" y="549000"/>
            <a:ext cx="11195275" cy="5760000"/>
          </a:xfrm>
          <a:prstGeom prst="rect">
            <a:avLst/>
          </a:prstGeom>
        </p:spPr>
      </p:pic>
      <p:pic>
        <p:nvPicPr>
          <p:cNvPr id="10" name="图片 1">
            <a:extLst>
              <a:ext uri="{FF2B5EF4-FFF2-40B4-BE49-F238E27FC236}">
                <a16:creationId xmlns="" xmlns:a16="http://schemas.microsoft.com/office/drawing/2014/main" id="{C3CEC2E7-8973-8877-8D17-18A65BCEAAD3}"/>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36411" y="5479548"/>
            <a:ext cx="950811"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84051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占位符 11">
            <a:extLst>
              <a:ext uri="{FF2B5EF4-FFF2-40B4-BE49-F238E27FC236}">
                <a16:creationId xmlns="" xmlns:a16="http://schemas.microsoft.com/office/drawing/2014/main" id="{3E9F137B-308A-8377-BA82-C06B3C745C3D}"/>
              </a:ext>
            </a:extLst>
          </p:cNvPr>
          <p:cNvPicPr>
            <a:picLocks noChangeAspect="1"/>
          </p:cNvPicPr>
          <p:nvPr/>
        </p:nvPicPr>
        <p:blipFill>
          <a:blip r:embed="rId3">
            <a:extLst>
              <a:ext uri="{28A0092B-C50C-407E-A947-70E740481C1C}">
                <a14:useLocalDpi xmlns:a14="http://schemas.microsoft.com/office/drawing/2010/main" val="0"/>
              </a:ext>
            </a:extLst>
          </a:blip>
          <a:srcRect l="14657" r="14657"/>
          <a:stretch>
            <a:fillRect/>
          </a:stretch>
        </p:blipFill>
        <p:spPr>
          <a:xfrm>
            <a:off x="127002" y="130993"/>
            <a:ext cx="1846618" cy="1934336"/>
          </a:xfrm>
          <a:custGeom>
            <a:avLst/>
            <a:gdLst>
              <a:gd name="connsiteX0" fmla="*/ 0 w 5279257"/>
              <a:gd name="connsiteY0" fmla="*/ 0 h 5530032"/>
              <a:gd name="connsiteX1" fmla="*/ 3641372 w 5279257"/>
              <a:gd name="connsiteY1" fmla="*/ 0 h 5530032"/>
              <a:gd name="connsiteX2" fmla="*/ 5010556 w 5279257"/>
              <a:gd name="connsiteY2" fmla="*/ 1369184 h 5530032"/>
              <a:gd name="connsiteX3" fmla="*/ 5010556 w 5279257"/>
              <a:gd name="connsiteY3" fmla="*/ 2666592 h 5530032"/>
              <a:gd name="connsiteX4" fmla="*/ 2415817 w 5279257"/>
              <a:gd name="connsiteY4" fmla="*/ 5261331 h 5530032"/>
              <a:gd name="connsiteX5" fmla="*/ 1118409 w 5279257"/>
              <a:gd name="connsiteY5" fmla="*/ 5261331 h 5530032"/>
              <a:gd name="connsiteX6" fmla="*/ 1 w 5279257"/>
              <a:gd name="connsiteY6" fmla="*/ 4142923 h 5530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257" h="5530032">
                <a:moveTo>
                  <a:pt x="0" y="0"/>
                </a:moveTo>
                <a:lnTo>
                  <a:pt x="3641372" y="0"/>
                </a:lnTo>
                <a:lnTo>
                  <a:pt x="5010556" y="1369184"/>
                </a:lnTo>
                <a:cubicBezTo>
                  <a:pt x="5368825" y="1727453"/>
                  <a:pt x="5368825" y="2308323"/>
                  <a:pt x="5010556" y="2666592"/>
                </a:cubicBezTo>
                <a:lnTo>
                  <a:pt x="2415817" y="5261331"/>
                </a:lnTo>
                <a:cubicBezTo>
                  <a:pt x="2057548" y="5619600"/>
                  <a:pt x="1476678" y="5619600"/>
                  <a:pt x="1118409" y="5261331"/>
                </a:cubicBezTo>
                <a:lnTo>
                  <a:pt x="1" y="4142923"/>
                </a:lnTo>
                <a:close/>
              </a:path>
            </a:pathLst>
          </a:custGeom>
          <a:ln w="152400">
            <a:solidFill>
              <a:srgbClr val="A2C9EC"/>
            </a:solidFill>
          </a:ln>
        </p:spPr>
      </p:pic>
      <p:sp>
        <p:nvSpPr>
          <p:cNvPr id="8" name="任意多边形: 形状 23">
            <a:extLst>
              <a:ext uri="{FF2B5EF4-FFF2-40B4-BE49-F238E27FC236}">
                <a16:creationId xmlns="" xmlns:a16="http://schemas.microsoft.com/office/drawing/2014/main" id="{D750F93B-D576-CB7D-0D75-81173D22D98D}"/>
              </a:ext>
            </a:extLst>
          </p:cNvPr>
          <p:cNvSpPr/>
          <p:nvPr/>
        </p:nvSpPr>
        <p:spPr>
          <a:xfrm rot="2700000">
            <a:off x="4555314" y="-1471484"/>
            <a:ext cx="2995405" cy="3015142"/>
          </a:xfrm>
          <a:custGeom>
            <a:avLst/>
            <a:gdLst>
              <a:gd name="connsiteX0" fmla="*/ 0 w 4362601"/>
              <a:gd name="connsiteY0" fmla="*/ 1367196 h 4382338"/>
              <a:gd name="connsiteX1" fmla="*/ 1367196 w 4362601"/>
              <a:gd name="connsiteY1" fmla="*/ 0 h 4382338"/>
              <a:gd name="connsiteX2" fmla="*/ 2995405 w 4362601"/>
              <a:gd name="connsiteY2" fmla="*/ 0 h 4382338"/>
              <a:gd name="connsiteX3" fmla="*/ 4362601 w 4362601"/>
              <a:gd name="connsiteY3" fmla="*/ 1367196 h 4382338"/>
              <a:gd name="connsiteX4" fmla="*/ 4362601 w 4362601"/>
              <a:gd name="connsiteY4" fmla="*/ 3015142 h 4382338"/>
              <a:gd name="connsiteX5" fmla="*/ 2995405 w 4362601"/>
              <a:gd name="connsiteY5" fmla="*/ 4382338 h 4382338"/>
              <a:gd name="connsiteX6" fmla="*/ 1367196 w 4362601"/>
              <a:gd name="connsiteY6" fmla="*/ 4382338 h 4382338"/>
              <a:gd name="connsiteX7" fmla="*/ 0 w 4362601"/>
              <a:gd name="connsiteY7" fmla="*/ 3015142 h 4382338"/>
              <a:gd name="connsiteX8" fmla="*/ 0 w 4362601"/>
              <a:gd name="connsiteY8" fmla="*/ 1367196 h 4382338"/>
              <a:gd name="connsiteX0-1" fmla="*/ 0 w 4362601"/>
              <a:gd name="connsiteY0-2" fmla="*/ 1367196 h 4382338"/>
              <a:gd name="connsiteX1-3" fmla="*/ 1367196 w 4362601"/>
              <a:gd name="connsiteY1-4" fmla="*/ 0 h 4382338"/>
              <a:gd name="connsiteX2-5" fmla="*/ 2995405 w 4362601"/>
              <a:gd name="connsiteY2-6" fmla="*/ 0 h 4382338"/>
              <a:gd name="connsiteX3-7" fmla="*/ 4362601 w 4362601"/>
              <a:gd name="connsiteY3-8" fmla="*/ 1367196 h 4382338"/>
              <a:gd name="connsiteX4-9" fmla="*/ 4362601 w 4362601"/>
              <a:gd name="connsiteY4-10" fmla="*/ 3015142 h 4382338"/>
              <a:gd name="connsiteX5-11" fmla="*/ 2995405 w 4362601"/>
              <a:gd name="connsiteY5-12" fmla="*/ 4382338 h 4382338"/>
              <a:gd name="connsiteX6-13" fmla="*/ 1367196 w 4362601"/>
              <a:gd name="connsiteY6-14" fmla="*/ 4382338 h 4382338"/>
              <a:gd name="connsiteX7-15" fmla="*/ 0 w 4362601"/>
              <a:gd name="connsiteY7-16" fmla="*/ 1367196 h 4382338"/>
              <a:gd name="connsiteX0-17" fmla="*/ 203526 w 3198931"/>
              <a:gd name="connsiteY0-18" fmla="*/ 4382338 h 4382338"/>
              <a:gd name="connsiteX1-19" fmla="*/ 203526 w 3198931"/>
              <a:gd name="connsiteY1-20" fmla="*/ 0 h 4382338"/>
              <a:gd name="connsiteX2-21" fmla="*/ 1831735 w 3198931"/>
              <a:gd name="connsiteY2-22" fmla="*/ 0 h 4382338"/>
              <a:gd name="connsiteX3-23" fmla="*/ 3198931 w 3198931"/>
              <a:gd name="connsiteY3-24" fmla="*/ 1367196 h 4382338"/>
              <a:gd name="connsiteX4-25" fmla="*/ 3198931 w 3198931"/>
              <a:gd name="connsiteY4-26" fmla="*/ 3015142 h 4382338"/>
              <a:gd name="connsiteX5-27" fmla="*/ 1831735 w 3198931"/>
              <a:gd name="connsiteY5-28" fmla="*/ 4382338 h 4382338"/>
              <a:gd name="connsiteX6-29" fmla="*/ 203526 w 3198931"/>
              <a:gd name="connsiteY6-30" fmla="*/ 4382338 h 4382338"/>
              <a:gd name="connsiteX0-31" fmla="*/ 0 w 2995405"/>
              <a:gd name="connsiteY0-32" fmla="*/ 4382338 h 4382338"/>
              <a:gd name="connsiteX1-33" fmla="*/ 1628209 w 2995405"/>
              <a:gd name="connsiteY1-34" fmla="*/ 0 h 4382338"/>
              <a:gd name="connsiteX2-35" fmla="*/ 2995405 w 2995405"/>
              <a:gd name="connsiteY2-36" fmla="*/ 1367196 h 4382338"/>
              <a:gd name="connsiteX3-37" fmla="*/ 2995405 w 2995405"/>
              <a:gd name="connsiteY3-38" fmla="*/ 3015142 h 4382338"/>
              <a:gd name="connsiteX4-39" fmla="*/ 1628209 w 2995405"/>
              <a:gd name="connsiteY4-40" fmla="*/ 4382338 h 4382338"/>
              <a:gd name="connsiteX5-41" fmla="*/ 0 w 2995405"/>
              <a:gd name="connsiteY5-42" fmla="*/ 4382338 h 4382338"/>
              <a:gd name="connsiteX0-43" fmla="*/ 0 w 2995405"/>
              <a:gd name="connsiteY0-44" fmla="*/ 3015142 h 3015142"/>
              <a:gd name="connsiteX1-45" fmla="*/ 2995405 w 2995405"/>
              <a:gd name="connsiteY1-46" fmla="*/ 0 h 3015142"/>
              <a:gd name="connsiteX2-47" fmla="*/ 2995405 w 2995405"/>
              <a:gd name="connsiteY2-48" fmla="*/ 1647946 h 3015142"/>
              <a:gd name="connsiteX3-49" fmla="*/ 1628209 w 2995405"/>
              <a:gd name="connsiteY3-50" fmla="*/ 3015142 h 3015142"/>
              <a:gd name="connsiteX4-51" fmla="*/ 0 w 2995405"/>
              <a:gd name="connsiteY4-52" fmla="*/ 3015142 h 3015142"/>
              <a:gd name="connsiteX0-53" fmla="*/ 0 w 2995405"/>
              <a:gd name="connsiteY0-54" fmla="*/ 3015142 h 3015142"/>
              <a:gd name="connsiteX1-55" fmla="*/ 2995405 w 2995405"/>
              <a:gd name="connsiteY1-56" fmla="*/ 0 h 3015142"/>
              <a:gd name="connsiteX2-57" fmla="*/ 2995405 w 2995405"/>
              <a:gd name="connsiteY2-58" fmla="*/ 1647946 h 3015142"/>
              <a:gd name="connsiteX3-59" fmla="*/ 1628209 w 2995405"/>
              <a:gd name="connsiteY3-60" fmla="*/ 3015142 h 3015142"/>
              <a:gd name="connsiteX4-61" fmla="*/ 0 w 2995405"/>
              <a:gd name="connsiteY4-62" fmla="*/ 3015142 h 301514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995405" h="3015142">
                <a:moveTo>
                  <a:pt x="0" y="3015142"/>
                </a:moveTo>
                <a:lnTo>
                  <a:pt x="2995405" y="0"/>
                </a:lnTo>
                <a:lnTo>
                  <a:pt x="2995405" y="1647946"/>
                </a:lnTo>
                <a:cubicBezTo>
                  <a:pt x="2995405" y="2403028"/>
                  <a:pt x="2383291" y="3015142"/>
                  <a:pt x="1628209" y="3015142"/>
                </a:cubicBezTo>
                <a:lnTo>
                  <a:pt x="0" y="3015142"/>
                </a:lnTo>
                <a:close/>
              </a:path>
            </a:pathLst>
          </a:custGeom>
          <a:solidFill>
            <a:srgbClr val="2D84D3"/>
          </a:solidFill>
          <a:ln w="152400">
            <a:solidFill>
              <a:srgbClr val="A2C9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pic>
        <p:nvPicPr>
          <p:cNvPr id="9" name="图片 1">
            <a:extLst>
              <a:ext uri="{FF2B5EF4-FFF2-40B4-BE49-F238E27FC236}">
                <a16:creationId xmlns="" xmlns:a16="http://schemas.microsoft.com/office/drawing/2014/main" id="{0937FB72-1CFC-BAB4-5718-ABE035D6528D}"/>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63448" y="130993"/>
            <a:ext cx="950811"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 xmlns:a16="http://schemas.microsoft.com/office/drawing/2014/main" id="{94434688-0D56-D8FE-96C5-4F9C1504FF46}"/>
              </a:ext>
            </a:extLst>
          </p:cNvPr>
          <p:cNvSpPr/>
          <p:nvPr/>
        </p:nvSpPr>
        <p:spPr>
          <a:xfrm>
            <a:off x="3694963" y="293804"/>
            <a:ext cx="4575406" cy="646331"/>
          </a:xfrm>
          <a:prstGeom prst="rect">
            <a:avLst/>
          </a:prstGeom>
          <a:noFill/>
        </p:spPr>
        <p:txBody>
          <a:bodyPr wrap="square" lIns="91440" tIns="45720" rIns="91440" bIns="45720">
            <a:spAutoFit/>
          </a:bodyPr>
          <a:lstStyle/>
          <a:p>
            <a:pPr algn="ctr"/>
            <a:r>
              <a:rPr lang="zh-CN" altLang="en-US" sz="3600" b="1" cap="none" spc="0" dirty="0">
                <a:ln w="0"/>
                <a:solidFill>
                  <a:schemeClr val="bg1"/>
                </a:solidFill>
                <a:effectLst>
                  <a:outerShdw blurRad="38100" dist="25400" dir="5400000" algn="ctr" rotWithShape="0">
                    <a:srgbClr val="6E747A">
                      <a:alpha val="43000"/>
                    </a:srgbClr>
                  </a:outerShdw>
                </a:effectLst>
              </a:rPr>
              <a:t>实验内容</a:t>
            </a:r>
          </a:p>
        </p:txBody>
      </p:sp>
      <p:sp>
        <p:nvSpPr>
          <p:cNvPr id="10" name="文本框 3"/>
          <p:cNvSpPr txBox="1">
            <a:spLocks noChangeArrowheads="1"/>
          </p:cNvSpPr>
          <p:nvPr/>
        </p:nvSpPr>
        <p:spPr bwMode="auto">
          <a:xfrm>
            <a:off x="1049721" y="1597127"/>
            <a:ext cx="10006590" cy="4755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kumimoji="0" lang="en-US" altLang="zh-CN"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1.</a:t>
            </a:r>
            <a:r>
              <a:rPr lang="zh-CN" altLang="en-US"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根据指导，学习</a:t>
            </a:r>
            <a:r>
              <a:rPr kumimoji="0" lang="zh-CN" altLang="en-US"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完成</a:t>
            </a:r>
            <a:r>
              <a:rPr kumimoji="0" lang="en-US" altLang="zh-CN"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1</a:t>
            </a:r>
            <a:r>
              <a:rPr kumimoji="0" lang="zh-CN" altLang="en-US"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个仿真</a:t>
            </a:r>
            <a:r>
              <a:rPr kumimoji="0" lang="en-US" altLang="zh-CN"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APP</a:t>
            </a:r>
          </a:p>
          <a:p>
            <a:pPr>
              <a:lnSpc>
                <a:spcPct val="100000"/>
              </a:lnSpc>
              <a:spcBef>
                <a:spcPct val="0"/>
              </a:spcBef>
              <a:buFontTx/>
              <a:buNone/>
            </a:pPr>
            <a:endParaRPr kumimoji="0" lang="en-US" altLang="zh-CN" sz="2400" b="1" dirty="0">
              <a:solidFill>
                <a:srgbClr val="253061"/>
              </a:solidFill>
              <a:latin typeface="黑体" panose="02010609060101010101" pitchFamily="49" charset="-122"/>
              <a:ea typeface="黑体" panose="02010609060101010101" pitchFamily="49" charset="-122"/>
              <a:cs typeface="Times New Roman" panose="02020603050405020304" pitchFamily="18" charset="0"/>
            </a:endParaRPr>
          </a:p>
          <a:p>
            <a:pPr>
              <a:lnSpc>
                <a:spcPct val="100000"/>
              </a:lnSpc>
              <a:spcBef>
                <a:spcPct val="0"/>
              </a:spcBef>
              <a:buNone/>
            </a:pPr>
            <a:r>
              <a:rPr lang="en-US" altLang="zh-CN"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2.</a:t>
            </a:r>
            <a:r>
              <a:rPr lang="zh-CN" altLang="en-US"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自选方向，或</a:t>
            </a:r>
            <a:r>
              <a:rPr lang="zh-CN" altLang="en-US" b="1" dirty="0" smtClean="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根据</a:t>
            </a:r>
            <a:r>
              <a:rPr lang="zh-CN" altLang="en-US"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建议</a:t>
            </a:r>
            <a:r>
              <a:rPr lang="zh-CN" altLang="en-US" b="1" dirty="0" smtClean="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题目</a:t>
            </a:r>
            <a:r>
              <a:rPr lang="zh-CN" altLang="en-US"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完成</a:t>
            </a:r>
            <a:r>
              <a:rPr lang="en-US" altLang="zh-CN"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1</a:t>
            </a:r>
            <a:r>
              <a:rPr lang="zh-CN" altLang="en-US"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个仿真</a:t>
            </a:r>
            <a:r>
              <a:rPr lang="en-US" altLang="zh-CN"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APP</a:t>
            </a:r>
          </a:p>
          <a:p>
            <a:pPr>
              <a:lnSpc>
                <a:spcPct val="100000"/>
              </a:lnSpc>
              <a:spcBef>
                <a:spcPct val="0"/>
              </a:spcBef>
              <a:buFontTx/>
              <a:buNone/>
            </a:pPr>
            <a:r>
              <a:rPr kumimoji="0" lang="zh-CN" altLang="zh-CN" sz="2400" b="1" dirty="0">
                <a:solidFill>
                  <a:srgbClr val="253061"/>
                </a:solidFill>
                <a:latin typeface="黑体" panose="02010609060101010101" pitchFamily="49" charset="-122"/>
                <a:ea typeface="黑体" panose="02010609060101010101" pitchFamily="49" charset="-122"/>
                <a:cs typeface="Times New Roman" panose="02020603050405020304" pitchFamily="18" charset="0"/>
              </a:rPr>
              <a:t>可选方向：结构、流体、电磁</a:t>
            </a:r>
            <a:r>
              <a:rPr kumimoji="0" lang="zh-CN" altLang="en-US" sz="2400" b="1" dirty="0">
                <a:solidFill>
                  <a:srgbClr val="253061"/>
                </a:solidFill>
                <a:latin typeface="黑体" panose="02010609060101010101" pitchFamily="49" charset="-122"/>
                <a:ea typeface="黑体" panose="02010609060101010101" pitchFamily="49" charset="-122"/>
                <a:cs typeface="Times New Roman" panose="02020603050405020304" pitchFamily="18" charset="0"/>
              </a:rPr>
              <a:t>、热</a:t>
            </a:r>
            <a:endParaRPr kumimoji="0" lang="en-US" altLang="zh-CN" sz="2400" b="1" dirty="0">
              <a:solidFill>
                <a:srgbClr val="253061"/>
              </a:solidFill>
              <a:latin typeface="黑体" panose="02010609060101010101" pitchFamily="49" charset="-122"/>
              <a:ea typeface="黑体" panose="02010609060101010101" pitchFamily="49" charset="-122"/>
              <a:cs typeface="Times New Roman" panose="02020603050405020304" pitchFamily="18" charset="0"/>
            </a:endParaRPr>
          </a:p>
          <a:p>
            <a:pPr>
              <a:lnSpc>
                <a:spcPct val="100000"/>
              </a:lnSpc>
              <a:spcBef>
                <a:spcPct val="0"/>
              </a:spcBef>
              <a:buFontTx/>
              <a:buNone/>
            </a:pPr>
            <a:endParaRPr lang="en-US" altLang="zh-CN" sz="2400" b="1" dirty="0">
              <a:solidFill>
                <a:srgbClr val="253061"/>
              </a:solidFill>
              <a:latin typeface="黑体" panose="02010609060101010101" pitchFamily="49" charset="-122"/>
              <a:ea typeface="黑体" panose="02010609060101010101" pitchFamily="49" charset="-122"/>
              <a:cs typeface="Times New Roman" panose="02020603050405020304" pitchFamily="18" charset="0"/>
            </a:endParaRPr>
          </a:p>
          <a:p>
            <a:pPr>
              <a:lnSpc>
                <a:spcPct val="100000"/>
              </a:lnSpc>
              <a:spcBef>
                <a:spcPct val="0"/>
              </a:spcBef>
              <a:buNone/>
            </a:pPr>
            <a:r>
              <a:rPr lang="en-US" altLang="zh-CN"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3.</a:t>
            </a:r>
            <a:r>
              <a:rPr lang="zh-CN" altLang="en-US"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提交实验报告</a:t>
            </a:r>
            <a:r>
              <a:rPr lang="en-US" altLang="zh-CN"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1</a:t>
            </a:r>
            <a:r>
              <a:rPr lang="zh-CN" altLang="en-US"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篇</a:t>
            </a:r>
          </a:p>
          <a:p>
            <a:pPr>
              <a:lnSpc>
                <a:spcPct val="100000"/>
              </a:lnSpc>
              <a:spcBef>
                <a:spcPct val="0"/>
              </a:spcBef>
              <a:spcAft>
                <a:spcPts val="600"/>
              </a:spcAft>
              <a:buFontTx/>
              <a:buNone/>
            </a:pPr>
            <a:r>
              <a:rPr lang="zh-CN" altLang="en-US" sz="2400" b="1" dirty="0">
                <a:solidFill>
                  <a:srgbClr val="253061"/>
                </a:solidFill>
                <a:latin typeface="黑体" panose="02010609060101010101" pitchFamily="49" charset="-122"/>
                <a:ea typeface="黑体" panose="02010609060101010101" pitchFamily="49" charset="-122"/>
                <a:cs typeface="Times New Roman" panose="02020603050405020304" pitchFamily="18" charset="0"/>
              </a:rPr>
              <a:t>包括</a:t>
            </a:r>
            <a:r>
              <a:rPr lang="zh-CN" altLang="en-US" sz="2400" b="1" dirty="0" smtClean="0">
                <a:solidFill>
                  <a:srgbClr val="253061"/>
                </a:solidFill>
                <a:latin typeface="黑体" panose="02010609060101010101" pitchFamily="49" charset="-122"/>
                <a:ea typeface="黑体" panose="02010609060101010101" pitchFamily="49" charset="-122"/>
                <a:cs typeface="Times New Roman" panose="02020603050405020304" pitchFamily="18" charset="0"/>
              </a:rPr>
              <a:t>：预习报告（实验</a:t>
            </a:r>
            <a:r>
              <a:rPr lang="zh-CN" altLang="en-US" sz="2400" b="1" dirty="0">
                <a:solidFill>
                  <a:srgbClr val="253061"/>
                </a:solidFill>
                <a:latin typeface="黑体" panose="02010609060101010101" pitchFamily="49" charset="-122"/>
                <a:ea typeface="黑体" panose="02010609060101010101" pitchFamily="49" charset="-122"/>
                <a:cs typeface="Times New Roman" panose="02020603050405020304" pitchFamily="18" charset="0"/>
              </a:rPr>
              <a:t>名称</a:t>
            </a:r>
            <a:r>
              <a:rPr lang="zh-CN" altLang="en-US" sz="2400" b="1" dirty="0" smtClean="0">
                <a:solidFill>
                  <a:srgbClr val="253061"/>
                </a:solidFill>
                <a:latin typeface="黑体" panose="02010609060101010101" pitchFamily="49" charset="-122"/>
                <a:ea typeface="黑体" panose="02010609060101010101" pitchFamily="49" charset="-122"/>
                <a:cs typeface="Times New Roman" panose="02020603050405020304" pitchFamily="18" charset="0"/>
              </a:rPr>
              <a:t>、实验目的、实验原理）、实验</a:t>
            </a:r>
            <a:r>
              <a:rPr lang="zh-CN" altLang="en-US" sz="2400" b="1" dirty="0">
                <a:solidFill>
                  <a:srgbClr val="253061"/>
                </a:solidFill>
                <a:latin typeface="黑体" panose="02010609060101010101" pitchFamily="49" charset="-122"/>
                <a:ea typeface="黑体" panose="02010609060101010101" pitchFamily="49" charset="-122"/>
                <a:cs typeface="Times New Roman" panose="02020603050405020304" pitchFamily="18" charset="0"/>
              </a:rPr>
              <a:t>数据、仿真结果、</a:t>
            </a:r>
            <a:r>
              <a:rPr lang="en-US" altLang="zh-CN" sz="2400" b="1" dirty="0">
                <a:solidFill>
                  <a:srgbClr val="253061"/>
                </a:solidFill>
                <a:latin typeface="黑体" panose="02010609060101010101" pitchFamily="49" charset="-122"/>
                <a:ea typeface="黑体" panose="02010609060101010101" pitchFamily="49" charset="-122"/>
                <a:cs typeface="Times New Roman" panose="02020603050405020304" pitchFamily="18" charset="0"/>
              </a:rPr>
              <a:t>APP</a:t>
            </a:r>
            <a:r>
              <a:rPr lang="zh-CN" altLang="en-US" sz="2400" b="1" dirty="0">
                <a:solidFill>
                  <a:srgbClr val="253061"/>
                </a:solidFill>
                <a:latin typeface="黑体" panose="02010609060101010101" pitchFamily="49" charset="-122"/>
                <a:ea typeface="黑体" panose="02010609060101010101" pitchFamily="49" charset="-122"/>
                <a:cs typeface="Times New Roman" panose="02020603050405020304" pitchFamily="18" charset="0"/>
              </a:rPr>
              <a:t>上传审核通过截图和分析讨论</a:t>
            </a:r>
            <a:r>
              <a:rPr lang="zh-CN" altLang="en-US" sz="2400" b="1" dirty="0" smtClean="0">
                <a:solidFill>
                  <a:srgbClr val="253061"/>
                </a:solidFill>
                <a:latin typeface="黑体" panose="02010609060101010101" pitchFamily="49" charset="-122"/>
                <a:ea typeface="黑体" panose="02010609060101010101" pitchFamily="49" charset="-122"/>
                <a:cs typeface="Times New Roman" panose="02020603050405020304" pitchFamily="18" charset="0"/>
              </a:rPr>
              <a:t>等</a:t>
            </a:r>
            <a:endParaRPr lang="en-US" altLang="zh-CN" sz="2400" b="1" dirty="0">
              <a:solidFill>
                <a:srgbClr val="253061"/>
              </a:solidFill>
              <a:latin typeface="黑体" panose="02010609060101010101" pitchFamily="49" charset="-122"/>
              <a:ea typeface="黑体" panose="02010609060101010101" pitchFamily="49" charset="-122"/>
              <a:cs typeface="Times New Roman" panose="02020603050405020304" pitchFamily="18" charset="0"/>
            </a:endParaRPr>
          </a:p>
          <a:p>
            <a:pPr algn="ctr">
              <a:lnSpc>
                <a:spcPct val="100000"/>
              </a:lnSpc>
              <a:spcBef>
                <a:spcPct val="0"/>
              </a:spcBef>
              <a:spcAft>
                <a:spcPts val="600"/>
              </a:spcAft>
              <a:buFontTx/>
              <a:buNone/>
            </a:pPr>
            <a:r>
              <a:rPr lang="en-US" altLang="zh-CN" b="1" dirty="0">
                <a:solidFill>
                  <a:srgbClr val="C00000"/>
                </a:solidFill>
                <a:highlight>
                  <a:srgbClr val="FFFF00"/>
                </a:highlight>
                <a:latin typeface="黑体" panose="02010609060101010101" pitchFamily="49" charset="-122"/>
                <a:ea typeface="黑体" panose="02010609060101010101" pitchFamily="49" charset="-122"/>
                <a:cs typeface="Times New Roman" panose="02020603050405020304" pitchFamily="18" charset="0"/>
              </a:rPr>
              <a:t>word</a:t>
            </a:r>
            <a:r>
              <a:rPr lang="zh-CN" altLang="en-US" b="1" dirty="0">
                <a:solidFill>
                  <a:srgbClr val="C00000"/>
                </a:solidFill>
                <a:highlight>
                  <a:srgbClr val="FFFF00"/>
                </a:highlight>
                <a:latin typeface="黑体" panose="02010609060101010101" pitchFamily="49" charset="-122"/>
                <a:ea typeface="黑体" panose="02010609060101010101" pitchFamily="49" charset="-122"/>
                <a:cs typeface="Times New Roman" panose="02020603050405020304" pitchFamily="18" charset="0"/>
              </a:rPr>
              <a:t>或</a:t>
            </a:r>
            <a:r>
              <a:rPr lang="en-US" altLang="zh-CN" b="1" dirty="0">
                <a:solidFill>
                  <a:srgbClr val="C00000"/>
                </a:solidFill>
                <a:highlight>
                  <a:srgbClr val="FFFF00"/>
                </a:highlight>
                <a:latin typeface="黑体" panose="02010609060101010101" pitchFamily="49" charset="-122"/>
                <a:ea typeface="黑体" panose="02010609060101010101" pitchFamily="49" charset="-122"/>
                <a:cs typeface="Times New Roman" panose="02020603050405020304" pitchFamily="18" charset="0"/>
              </a:rPr>
              <a:t>pdf</a:t>
            </a:r>
            <a:r>
              <a:rPr lang="zh-CN" altLang="en-US" b="1" dirty="0">
                <a:solidFill>
                  <a:srgbClr val="C00000"/>
                </a:solidFill>
                <a:highlight>
                  <a:srgbClr val="FFFF00"/>
                </a:highlight>
                <a:latin typeface="黑体" panose="02010609060101010101" pitchFamily="49" charset="-122"/>
                <a:ea typeface="黑体" panose="02010609060101010101" pitchFamily="49" charset="-122"/>
                <a:cs typeface="Times New Roman" panose="02020603050405020304" pitchFamily="18" charset="0"/>
              </a:rPr>
              <a:t>电子版报告上传至</a:t>
            </a:r>
            <a:r>
              <a:rPr lang="en-US" altLang="zh-CN" b="1" dirty="0" err="1">
                <a:solidFill>
                  <a:srgbClr val="C00000"/>
                </a:solidFill>
                <a:highlight>
                  <a:srgbClr val="FFFF00"/>
                </a:highlight>
                <a:latin typeface="黑体" panose="02010609060101010101" pitchFamily="49" charset="-122"/>
                <a:ea typeface="黑体" panose="02010609060101010101" pitchFamily="49" charset="-122"/>
                <a:cs typeface="Times New Roman" panose="02020603050405020304" pitchFamily="18" charset="0"/>
              </a:rPr>
              <a:t>phylab</a:t>
            </a:r>
            <a:r>
              <a:rPr lang="zh-CN" altLang="en-US" b="1" dirty="0">
                <a:solidFill>
                  <a:srgbClr val="C00000"/>
                </a:solidFill>
                <a:highlight>
                  <a:srgbClr val="FFFF00"/>
                </a:highlight>
                <a:latin typeface="黑体" panose="02010609060101010101" pitchFamily="49" charset="-122"/>
                <a:ea typeface="黑体" panose="02010609060101010101" pitchFamily="49" charset="-122"/>
                <a:cs typeface="Times New Roman" panose="02020603050405020304" pitchFamily="18" charset="0"/>
              </a:rPr>
              <a:t>平台</a:t>
            </a:r>
            <a:endParaRPr lang="en-US" altLang="zh-CN" b="1" dirty="0">
              <a:solidFill>
                <a:srgbClr val="C00000"/>
              </a:solidFill>
              <a:highlight>
                <a:srgbClr val="FFFF00"/>
              </a:highlight>
              <a:latin typeface="黑体" panose="02010609060101010101" pitchFamily="49" charset="-122"/>
              <a:ea typeface="黑体" panose="02010609060101010101" pitchFamily="49" charset="-122"/>
              <a:cs typeface="Times New Roman" panose="02020603050405020304" pitchFamily="18" charset="0"/>
            </a:endParaRPr>
          </a:p>
          <a:p>
            <a:pPr algn="ctr">
              <a:lnSpc>
                <a:spcPct val="100000"/>
              </a:lnSpc>
              <a:spcBef>
                <a:spcPct val="0"/>
              </a:spcBef>
              <a:spcAft>
                <a:spcPts val="600"/>
              </a:spcAft>
              <a:buFontTx/>
              <a:buNone/>
            </a:pPr>
            <a:r>
              <a:rPr lang="zh-CN" altLang="en-US" sz="2400" b="1" dirty="0" smtClean="0">
                <a:solidFill>
                  <a:srgbClr val="002060"/>
                </a:solidFill>
                <a:latin typeface="黑体" panose="02010609060101010101" pitchFamily="49" charset="-122"/>
                <a:ea typeface="黑体" panose="02010609060101010101" pitchFamily="49" charset="-122"/>
                <a:cs typeface="Times New Roman" panose="02020603050405020304" pitchFamily="18" charset="0"/>
              </a:rPr>
              <a:t>如</a:t>
            </a:r>
            <a:r>
              <a:rPr lang="zh-CN" altLang="en-US" sz="2400" b="1" dirty="0">
                <a:solidFill>
                  <a:srgbClr val="002060"/>
                </a:solidFill>
                <a:latin typeface="黑体" panose="02010609060101010101" pitchFamily="49" charset="-122"/>
                <a:ea typeface="黑体" panose="02010609060101010101" pitchFamily="49" charset="-122"/>
                <a:cs typeface="Times New Roman" panose="02020603050405020304" pitchFamily="18" charset="0"/>
              </a:rPr>
              <a:t>课前能自行完成</a:t>
            </a:r>
            <a:r>
              <a:rPr lang="en-US" altLang="zh-CN" sz="2400" b="1" dirty="0">
                <a:solidFill>
                  <a:srgbClr val="002060"/>
                </a:solidFill>
                <a:latin typeface="黑体" panose="02010609060101010101" pitchFamily="49" charset="-122"/>
                <a:ea typeface="黑体" panose="02010609060101010101" pitchFamily="49" charset="-122"/>
                <a:cs typeface="Times New Roman" panose="02020603050405020304" pitchFamily="18" charset="0"/>
              </a:rPr>
              <a:t>2</a:t>
            </a:r>
            <a:r>
              <a:rPr lang="zh-CN" altLang="en-US" sz="2400" b="1" dirty="0">
                <a:solidFill>
                  <a:srgbClr val="002060"/>
                </a:solidFill>
                <a:latin typeface="黑体" panose="02010609060101010101" pitchFamily="49" charset="-122"/>
                <a:ea typeface="黑体" panose="02010609060101010101" pitchFamily="49" charset="-122"/>
                <a:cs typeface="Times New Roman" panose="02020603050405020304" pitchFamily="18" charset="0"/>
              </a:rPr>
              <a:t>个仿真</a:t>
            </a:r>
            <a:r>
              <a:rPr lang="en-US" altLang="zh-CN" sz="2400" b="1" dirty="0">
                <a:solidFill>
                  <a:srgbClr val="002060"/>
                </a:solidFill>
                <a:latin typeface="黑体" panose="02010609060101010101" pitchFamily="49" charset="-122"/>
                <a:ea typeface="黑体" panose="02010609060101010101" pitchFamily="49" charset="-122"/>
                <a:cs typeface="Times New Roman" panose="02020603050405020304" pitchFamily="18" charset="0"/>
              </a:rPr>
              <a:t>APP</a:t>
            </a:r>
            <a:r>
              <a:rPr lang="zh-CN" altLang="en-US" sz="2400" b="1" dirty="0">
                <a:solidFill>
                  <a:srgbClr val="002060"/>
                </a:solidFill>
                <a:latin typeface="黑体" panose="02010609060101010101" pitchFamily="49" charset="-122"/>
                <a:ea typeface="黑体" panose="02010609060101010101" pitchFamily="49" charset="-122"/>
                <a:cs typeface="Times New Roman" panose="02020603050405020304" pitchFamily="18" charset="0"/>
              </a:rPr>
              <a:t>上传并</a:t>
            </a:r>
            <a:r>
              <a:rPr lang="zh-CN" altLang="en-US"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提交实验报告</a:t>
            </a:r>
            <a:r>
              <a:rPr lang="zh-CN" altLang="en-US" sz="2400" b="1" dirty="0">
                <a:solidFill>
                  <a:srgbClr val="002060"/>
                </a:solidFill>
                <a:latin typeface="黑体" panose="02010609060101010101" pitchFamily="49" charset="-122"/>
                <a:ea typeface="黑体" panose="02010609060101010101" pitchFamily="49" charset="-122"/>
                <a:cs typeface="Times New Roman" panose="02020603050405020304" pitchFamily="18" charset="0"/>
              </a:rPr>
              <a:t>可不参与线下课程</a:t>
            </a:r>
            <a:endParaRPr lang="en-US" altLang="zh-CN" sz="2400" b="1" dirty="0">
              <a:solidFill>
                <a:srgbClr val="002060"/>
              </a:solidFill>
              <a:latin typeface="黑体" panose="02010609060101010101" pitchFamily="49" charset="-122"/>
              <a:ea typeface="黑体" panose="02010609060101010101" pitchFamily="49" charset="-122"/>
              <a:cs typeface="Times New Roman" panose="02020603050405020304" pitchFamily="18" charset="0"/>
            </a:endParaRPr>
          </a:p>
          <a:p>
            <a:pPr algn="ctr">
              <a:lnSpc>
                <a:spcPct val="100000"/>
              </a:lnSpc>
              <a:spcBef>
                <a:spcPct val="0"/>
              </a:spcBef>
              <a:spcAft>
                <a:spcPts val="600"/>
              </a:spcAft>
              <a:buFontTx/>
              <a:buNone/>
            </a:pPr>
            <a:r>
              <a:rPr lang="zh-CN" altLang="en-US" b="1" dirty="0">
                <a:solidFill>
                  <a:srgbClr val="C00000"/>
                </a:solidFill>
                <a:highlight>
                  <a:srgbClr val="FFFF00"/>
                </a:highlight>
                <a:latin typeface="黑体" panose="02010609060101010101" pitchFamily="49" charset="-122"/>
                <a:ea typeface="黑体" panose="02010609060101010101" pitchFamily="49" charset="-122"/>
                <a:cs typeface="Times New Roman" panose="02020603050405020304" pitchFamily="18" charset="0"/>
              </a:rPr>
              <a:t>注：本课程需要同学们自带电脑</a:t>
            </a:r>
          </a:p>
        </p:txBody>
      </p:sp>
      <p:pic>
        <p:nvPicPr>
          <p:cNvPr id="2" name="图片 1">
            <a:extLst>
              <a:ext uri="{FF2B5EF4-FFF2-40B4-BE49-F238E27FC236}">
                <a16:creationId xmlns="" xmlns:a16="http://schemas.microsoft.com/office/drawing/2014/main" id="{DDD9E3F2-F0D6-FBDE-E830-49372FDD3316}"/>
              </a:ext>
            </a:extLst>
          </p:cNvPr>
          <p:cNvPicPr>
            <a:picLocks noChangeAspect="1"/>
          </p:cNvPicPr>
          <p:nvPr/>
        </p:nvPicPr>
        <p:blipFill>
          <a:blip r:embed="rId5"/>
          <a:stretch>
            <a:fillRect/>
          </a:stretch>
        </p:blipFill>
        <p:spPr>
          <a:xfrm>
            <a:off x="8722826" y="453455"/>
            <a:ext cx="2292217" cy="2898980"/>
          </a:xfrm>
          <a:prstGeom prst="rect">
            <a:avLst/>
          </a:prstGeom>
        </p:spPr>
      </p:pic>
      <p:sp>
        <p:nvSpPr>
          <p:cNvPr id="3" name="文本框 2">
            <a:extLst>
              <a:ext uri="{FF2B5EF4-FFF2-40B4-BE49-F238E27FC236}">
                <a16:creationId xmlns="" xmlns:a16="http://schemas.microsoft.com/office/drawing/2014/main" id="{9A4D4744-6DF5-4778-59D5-3825FB8A72C3}"/>
              </a:ext>
            </a:extLst>
          </p:cNvPr>
          <p:cNvSpPr txBox="1"/>
          <p:nvPr/>
        </p:nvSpPr>
        <p:spPr>
          <a:xfrm>
            <a:off x="8722826" y="3352435"/>
            <a:ext cx="2292217" cy="584775"/>
          </a:xfrm>
          <a:prstGeom prst="rect">
            <a:avLst/>
          </a:prstGeom>
          <a:noFill/>
        </p:spPr>
        <p:txBody>
          <a:bodyPr wrap="square" rtlCol="0" anchor="ctr">
            <a:spAutoFit/>
          </a:bodyPr>
          <a:lstStyle/>
          <a:p>
            <a:pPr algn="ctr"/>
            <a:r>
              <a:rPr lang="zh-CN" altLang="en-US" sz="1600" dirty="0">
                <a:solidFill>
                  <a:prstClr val="black"/>
                </a:solidFill>
                <a:latin typeface="黑体" panose="02010609060101010101" pitchFamily="49" charset="-122"/>
                <a:ea typeface="黑体" panose="02010609060101010101" pitchFamily="49" charset="-122"/>
              </a:rPr>
              <a:t>运动器材天梯受力分析</a:t>
            </a:r>
            <a:endParaRPr lang="en-US" altLang="zh-CN" sz="1600" dirty="0">
              <a:solidFill>
                <a:prstClr val="black"/>
              </a:solidFill>
              <a:latin typeface="黑体" panose="02010609060101010101" pitchFamily="49" charset="-122"/>
              <a:ea typeface="黑体" panose="02010609060101010101" pitchFamily="49" charset="-122"/>
            </a:endParaRPr>
          </a:p>
          <a:p>
            <a:pPr algn="ctr"/>
            <a:r>
              <a:rPr lang="zh-CN" altLang="en-US" sz="1600" dirty="0">
                <a:solidFill>
                  <a:prstClr val="black"/>
                </a:solidFill>
                <a:latin typeface="黑体" panose="02010609060101010101" pitchFamily="49" charset="-122"/>
                <a:ea typeface="黑体" panose="02010609060101010101" pitchFamily="49" charset="-122"/>
              </a:rPr>
              <a:t>（王欣玥</a:t>
            </a:r>
            <a:r>
              <a:rPr lang="en-US" altLang="zh-CN" sz="1600" dirty="0">
                <a:solidFill>
                  <a:prstClr val="black"/>
                </a:solidFill>
                <a:latin typeface="黑体" panose="02010609060101010101" pitchFamily="49" charset="-122"/>
                <a:ea typeface="黑体" panose="02010609060101010101" pitchFamily="49" charset="-122"/>
              </a:rPr>
              <a:t>2253300</a:t>
            </a:r>
            <a:r>
              <a:rPr lang="zh-CN" altLang="en-US" sz="1600" dirty="0">
                <a:solidFill>
                  <a:prstClr val="black"/>
                </a:solidFill>
                <a:latin typeface="黑体" panose="02010609060101010101" pitchFamily="49" charset="-122"/>
                <a:ea typeface="黑体" panose="02010609060101010101" pitchFamily="49" charset="-122"/>
              </a:rPr>
              <a:t>）</a:t>
            </a:r>
          </a:p>
        </p:txBody>
      </p:sp>
    </p:spTree>
    <p:extLst>
      <p:ext uri="{BB962C8B-B14F-4D97-AF65-F5344CB8AC3E}">
        <p14:creationId xmlns:p14="http://schemas.microsoft.com/office/powerpoint/2010/main" val="217454241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703599" y="148465"/>
            <a:ext cx="7728493" cy="584775"/>
          </a:xfrm>
          <a:prstGeom prst="rect">
            <a:avLst/>
          </a:prstGeom>
        </p:spPr>
        <p:txBody>
          <a:bodyPr wrap="square">
            <a:spAutoFit/>
          </a:bodyPr>
          <a:lstStyle/>
          <a:p>
            <a:r>
              <a:rPr lang="en-US" altLang="zh-CN" sz="3200" b="1" dirty="0" smtClean="0">
                <a:solidFill>
                  <a:srgbClr val="0070C0"/>
                </a:solidFill>
                <a:latin typeface="黑体" panose="02010609060101010101" pitchFamily="49" charset="-122"/>
                <a:ea typeface="黑体" panose="02010609060101010101" pitchFamily="49" charset="-122"/>
              </a:rPr>
              <a:t>1.</a:t>
            </a:r>
            <a:r>
              <a:rPr lang="zh-CN" altLang="en-US" sz="3200" b="1" dirty="0" smtClean="0">
                <a:solidFill>
                  <a:srgbClr val="0070C0"/>
                </a:solidFill>
                <a:latin typeface="黑体" panose="02010609060101010101" pitchFamily="49" charset="-122"/>
                <a:ea typeface="黑体" panose="02010609060101010101" pitchFamily="49" charset="-122"/>
              </a:rPr>
              <a:t>铁</a:t>
            </a:r>
            <a:r>
              <a:rPr lang="zh-CN" altLang="en-US" sz="3200" b="1" dirty="0">
                <a:solidFill>
                  <a:srgbClr val="0070C0"/>
                </a:solidFill>
                <a:latin typeface="黑体" panose="02010609060101010101" pitchFamily="49" charset="-122"/>
                <a:ea typeface="黑体" panose="02010609060101010101" pitchFamily="49" charset="-122"/>
              </a:rPr>
              <a:t>钉模型的线性静力分析：</a:t>
            </a:r>
            <a:endParaRPr lang="zh-CN" altLang="en-US" sz="3200" b="1" i="0" dirty="0">
              <a:solidFill>
                <a:srgbClr val="0070C0"/>
              </a:solidFill>
              <a:effectLst/>
              <a:latin typeface="黑体" panose="02010609060101010101" pitchFamily="49" charset="-122"/>
              <a:ea typeface="黑体" panose="02010609060101010101" pitchFamily="49" charset="-122"/>
            </a:endParaRPr>
          </a:p>
        </p:txBody>
      </p:sp>
      <p:pic>
        <p:nvPicPr>
          <p:cNvPr id="14" name="图片占位符 11"/>
          <p:cNvPicPr>
            <a:picLocks noGrp="1" noChangeAspect="1"/>
          </p:cNvPicPr>
          <p:nvPr>
            <p:ph type="pic" sz="quarter" idx="10"/>
          </p:nvPr>
        </p:nvPicPr>
        <p:blipFill>
          <a:blip r:embed="rId3" cstate="print">
            <a:extLst>
              <a:ext uri="{28A0092B-C50C-407E-A947-70E740481C1C}">
                <a14:useLocalDpi xmlns:a14="http://schemas.microsoft.com/office/drawing/2010/main" val="0"/>
              </a:ext>
            </a:extLst>
          </a:blip>
          <a:srcRect l="14657" r="14657"/>
          <a:stretch>
            <a:fillRect/>
          </a:stretch>
        </p:blipFill>
        <p:spPr>
          <a:xfrm>
            <a:off x="133727" y="148465"/>
            <a:ext cx="1377439" cy="1442870"/>
          </a:xfrm>
          <a:ln w="152400">
            <a:solidFill>
              <a:srgbClr val="A2C9EC"/>
            </a:solidFill>
          </a:ln>
        </p:spPr>
      </p:pic>
      <p:pic>
        <p:nvPicPr>
          <p:cNvPr id="15" name="图片 1">
            <a:extLst>
              <a:ext uri="{FF2B5EF4-FFF2-40B4-BE49-F238E27FC236}">
                <a16:creationId xmlns="" xmlns:a16="http://schemas.microsoft.com/office/drawing/2014/main" id="{D461EA3D-9905-91BC-BF91-E9BB0D4BEB9F}"/>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75290" y="5716951"/>
            <a:ext cx="950811"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图片 3"/>
          <p:cNvPicPr>
            <a:picLocks noChangeAspect="1" noChangeArrowheads="1"/>
          </p:cNvPicPr>
          <p:nvPr/>
        </p:nvPicPr>
        <p:blipFill>
          <a:blip r:embed="rId5">
            <a:extLst>
              <a:ext uri="{28A0092B-C50C-407E-A947-70E740481C1C}">
                <a14:useLocalDpi xmlns:a14="http://schemas.microsoft.com/office/drawing/2010/main" val="0"/>
              </a:ext>
            </a:extLst>
          </a:blip>
          <a:srcRect l="5064" r="2954"/>
          <a:stretch>
            <a:fillRect/>
          </a:stretch>
        </p:blipFill>
        <p:spPr bwMode="auto">
          <a:xfrm>
            <a:off x="1511166" y="1005939"/>
            <a:ext cx="2160000" cy="2160000"/>
          </a:xfrm>
          <a:prstGeom prst="rect">
            <a:avLst/>
          </a:prstGeom>
          <a:noFill/>
          <a:extLst>
            <a:ext uri="{909E8E84-426E-40DD-AFC4-6F175D3DCCD1}">
              <a14:hiddenFill xmlns:a14="http://schemas.microsoft.com/office/drawing/2010/main">
                <a:solidFill>
                  <a:srgbClr val="FFFFFF"/>
                </a:solidFill>
              </a14:hiddenFill>
            </a:ext>
          </a:extLst>
        </p:spPr>
      </p:pic>
      <p:pic>
        <p:nvPicPr>
          <p:cNvPr id="1025" name="图片 4"/>
          <p:cNvPicPr>
            <a:picLocks noChangeAspect="1" noChangeArrowheads="1"/>
          </p:cNvPicPr>
          <p:nvPr/>
        </p:nvPicPr>
        <p:blipFill>
          <a:blip r:embed="rId6">
            <a:extLst>
              <a:ext uri="{28A0092B-C50C-407E-A947-70E740481C1C}">
                <a14:useLocalDpi xmlns:a14="http://schemas.microsoft.com/office/drawing/2010/main" val="0"/>
              </a:ext>
            </a:extLst>
          </a:blip>
          <a:srcRect t="1947"/>
          <a:stretch>
            <a:fillRect/>
          </a:stretch>
        </p:blipFill>
        <p:spPr bwMode="auto">
          <a:xfrm>
            <a:off x="3839043" y="1005939"/>
            <a:ext cx="2167953" cy="2160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p:cNvSpPr>
            <a:spLocks noChangeArrowheads="1"/>
          </p:cNvSpPr>
          <p:nvPr/>
        </p:nvSpPr>
        <p:spPr bwMode="auto">
          <a:xfrm>
            <a:off x="0" y="26209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  </a:t>
            </a:r>
            <a:endParaRPr kumimoji="0" lang="en-US" altLang="zh-CN" sz="1800" b="0" i="0" u="none" strike="noStrike" cap="none" normalizeH="0" baseline="0" smtClean="0">
              <a:ln>
                <a:noFill/>
              </a:ln>
              <a:solidFill>
                <a:schemeClr val="tx1"/>
              </a:solidFill>
              <a:effectLst/>
              <a:latin typeface="Arial" panose="020B0604020202020204" pitchFamily="34" charset="0"/>
            </a:endParaRPr>
          </a:p>
        </p:txBody>
      </p:sp>
      <p:sp>
        <p:nvSpPr>
          <p:cNvPr id="9" name="文本框 8"/>
          <p:cNvSpPr txBox="1"/>
          <p:nvPr/>
        </p:nvSpPr>
        <p:spPr>
          <a:xfrm>
            <a:off x="1737056" y="3314404"/>
            <a:ext cx="1708220" cy="338554"/>
          </a:xfrm>
          <a:prstGeom prst="rect">
            <a:avLst/>
          </a:prstGeom>
          <a:noFill/>
        </p:spPr>
        <p:txBody>
          <a:bodyPr wrap="square" rtlCol="0">
            <a:spAutoFit/>
          </a:bodyPr>
          <a:lstStyle/>
          <a:p>
            <a:pPr algn="ctr"/>
            <a:r>
              <a:rPr lang="zh-CN" altLang="en-US" sz="1600" dirty="0">
                <a:solidFill>
                  <a:prstClr val="black"/>
                </a:solidFill>
                <a:latin typeface="黑体" panose="02010609060101010101" pitchFamily="49" charset="-122"/>
                <a:ea typeface="黑体" panose="02010609060101010101" pitchFamily="49" charset="-122"/>
              </a:rPr>
              <a:t>铁钉几何模型图</a:t>
            </a:r>
          </a:p>
        </p:txBody>
      </p:sp>
      <p:sp>
        <p:nvSpPr>
          <p:cNvPr id="16" name="文本框 15"/>
          <p:cNvSpPr txBox="1"/>
          <p:nvPr/>
        </p:nvSpPr>
        <p:spPr>
          <a:xfrm>
            <a:off x="4068909" y="3314404"/>
            <a:ext cx="1708220" cy="338554"/>
          </a:xfrm>
          <a:prstGeom prst="rect">
            <a:avLst/>
          </a:prstGeom>
          <a:noFill/>
        </p:spPr>
        <p:txBody>
          <a:bodyPr wrap="square" rtlCol="0">
            <a:spAutoFit/>
          </a:bodyPr>
          <a:lstStyle/>
          <a:p>
            <a:pPr algn="ctr"/>
            <a:r>
              <a:rPr lang="zh-CN" altLang="en-US" sz="1600" dirty="0">
                <a:solidFill>
                  <a:prstClr val="black"/>
                </a:solidFill>
                <a:latin typeface="黑体" panose="02010609060101010101" pitchFamily="49" charset="-122"/>
                <a:ea typeface="黑体" panose="02010609060101010101" pitchFamily="49" charset="-122"/>
              </a:rPr>
              <a:t>铁钉网格剖分图</a:t>
            </a:r>
          </a:p>
        </p:txBody>
      </p:sp>
      <p:pic>
        <p:nvPicPr>
          <p:cNvPr id="103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74873" y="2234404"/>
            <a:ext cx="2594219" cy="2160000"/>
          </a:xfrm>
          <a:prstGeom prst="rect">
            <a:avLst/>
          </a:prstGeom>
          <a:noFill/>
          <a:extLst>
            <a:ext uri="{909E8E84-426E-40DD-AFC4-6F175D3DCCD1}">
              <a14:hiddenFill xmlns:a14="http://schemas.microsoft.com/office/drawing/2010/main">
                <a:solidFill>
                  <a:srgbClr val="FFFFFF"/>
                </a:solidFill>
              </a14:hiddenFill>
            </a:ext>
          </a:extLst>
        </p:spPr>
      </p:pic>
      <p:pic>
        <p:nvPicPr>
          <p:cNvPr id="1029" name="图片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36970" y="2234404"/>
            <a:ext cx="2632253" cy="21600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7"/>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8"/>
          <p:cNvSpPr>
            <a:spLocks noChangeArrowheads="1"/>
          </p:cNvSpPr>
          <p:nvPr/>
        </p:nvSpPr>
        <p:spPr bwMode="auto">
          <a:xfrm>
            <a:off x="0" y="47847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9" name="文本框 18"/>
          <p:cNvSpPr txBox="1"/>
          <p:nvPr/>
        </p:nvSpPr>
        <p:spPr>
          <a:xfrm>
            <a:off x="6617872" y="4538459"/>
            <a:ext cx="1708220" cy="338554"/>
          </a:xfrm>
          <a:prstGeom prst="rect">
            <a:avLst/>
          </a:prstGeom>
          <a:noFill/>
        </p:spPr>
        <p:txBody>
          <a:bodyPr wrap="square" rtlCol="0">
            <a:spAutoFit/>
          </a:bodyPr>
          <a:lstStyle/>
          <a:p>
            <a:pPr algn="ctr"/>
            <a:r>
              <a:rPr lang="zh-CN" altLang="en-US" sz="1600" dirty="0">
                <a:solidFill>
                  <a:prstClr val="black"/>
                </a:solidFill>
                <a:latin typeface="黑体" panose="02010609060101010101" pitchFamily="49" charset="-122"/>
                <a:ea typeface="黑体" panose="02010609060101010101" pitchFamily="49" charset="-122"/>
              </a:rPr>
              <a:t>铁钉的位移云图</a:t>
            </a:r>
          </a:p>
        </p:txBody>
      </p:sp>
      <p:sp>
        <p:nvSpPr>
          <p:cNvPr id="20" name="文本框 19"/>
          <p:cNvSpPr txBox="1"/>
          <p:nvPr/>
        </p:nvSpPr>
        <p:spPr>
          <a:xfrm>
            <a:off x="9398986" y="4532681"/>
            <a:ext cx="1708220" cy="338554"/>
          </a:xfrm>
          <a:prstGeom prst="rect">
            <a:avLst/>
          </a:prstGeom>
          <a:noFill/>
        </p:spPr>
        <p:txBody>
          <a:bodyPr wrap="square" rtlCol="0">
            <a:spAutoFit/>
          </a:bodyPr>
          <a:lstStyle/>
          <a:p>
            <a:pPr algn="ctr"/>
            <a:r>
              <a:rPr lang="zh-CN" altLang="en-US" sz="1600" dirty="0">
                <a:solidFill>
                  <a:prstClr val="black"/>
                </a:solidFill>
                <a:latin typeface="黑体" panose="02010609060101010101" pitchFamily="49" charset="-122"/>
                <a:ea typeface="黑体" panose="02010609060101010101" pitchFamily="49" charset="-122"/>
              </a:rPr>
              <a:t>铁钉的应力云图</a:t>
            </a:r>
          </a:p>
        </p:txBody>
      </p:sp>
      <p:pic>
        <p:nvPicPr>
          <p:cNvPr id="22" name="图片 21"/>
          <p:cNvPicPr/>
          <p:nvPr/>
        </p:nvPicPr>
        <p:blipFill>
          <a:blip r:embed="rId9"/>
          <a:stretch>
            <a:fillRect/>
          </a:stretch>
        </p:blipFill>
        <p:spPr>
          <a:xfrm>
            <a:off x="1797754" y="3714678"/>
            <a:ext cx="3882857" cy="2878454"/>
          </a:xfrm>
          <a:prstGeom prst="rect">
            <a:avLst/>
          </a:prstGeom>
        </p:spPr>
      </p:pic>
      <p:sp>
        <p:nvSpPr>
          <p:cNvPr id="23" name="文本框 22"/>
          <p:cNvSpPr txBox="1"/>
          <p:nvPr/>
        </p:nvSpPr>
        <p:spPr>
          <a:xfrm>
            <a:off x="5680611" y="6254578"/>
            <a:ext cx="2433643" cy="338554"/>
          </a:xfrm>
          <a:prstGeom prst="rect">
            <a:avLst/>
          </a:prstGeom>
          <a:noFill/>
        </p:spPr>
        <p:txBody>
          <a:bodyPr wrap="square" rtlCol="0">
            <a:spAutoFit/>
          </a:bodyPr>
          <a:lstStyle/>
          <a:p>
            <a:pPr algn="just"/>
            <a:r>
              <a:rPr lang="zh-CN" altLang="en-US" sz="1600" dirty="0">
                <a:solidFill>
                  <a:prstClr val="black"/>
                </a:solidFill>
                <a:latin typeface="黑体" panose="02010609060101010101" pitchFamily="49" charset="-122"/>
                <a:ea typeface="黑体" panose="02010609060101010101" pitchFamily="49" charset="-122"/>
              </a:rPr>
              <a:t>铁钉的静力分析</a:t>
            </a:r>
            <a:r>
              <a:rPr lang="en-US" altLang="zh-CN" sz="1600" dirty="0">
                <a:solidFill>
                  <a:prstClr val="black"/>
                </a:solidFill>
                <a:latin typeface="黑体" panose="02010609060101010101" pitchFamily="49" charset="-122"/>
                <a:ea typeface="黑体" panose="02010609060101010101" pitchFamily="49" charset="-122"/>
              </a:rPr>
              <a:t>APP</a:t>
            </a:r>
            <a:endParaRPr lang="zh-CN" altLang="en-US" sz="1600" dirty="0">
              <a:solidFill>
                <a:prstClr val="black"/>
              </a:solidFill>
              <a:latin typeface="黑体" panose="02010609060101010101" pitchFamily="49" charset="-122"/>
              <a:ea typeface="黑体" panose="02010609060101010101" pitchFamily="49" charset="-122"/>
            </a:endParaRPr>
          </a:p>
        </p:txBody>
      </p:sp>
      <p:sp>
        <p:nvSpPr>
          <p:cNvPr id="4" name="圆角右箭头 3"/>
          <p:cNvSpPr/>
          <p:nvPr/>
        </p:nvSpPr>
        <p:spPr>
          <a:xfrm rot="5400000">
            <a:off x="6184921" y="1267713"/>
            <a:ext cx="798683" cy="818780"/>
          </a:xfrm>
          <a:prstGeom prst="bentArrow">
            <a:avLst>
              <a:gd name="adj1" fmla="val 12733"/>
              <a:gd name="adj2" fmla="val 19338"/>
              <a:gd name="adj3" fmla="val 27516"/>
              <a:gd name="adj4" fmla="val 487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圆角右箭头 20"/>
          <p:cNvSpPr/>
          <p:nvPr/>
        </p:nvSpPr>
        <p:spPr>
          <a:xfrm rot="10800000">
            <a:off x="5819189" y="4867192"/>
            <a:ext cx="798683" cy="818780"/>
          </a:xfrm>
          <a:prstGeom prst="bentArrow">
            <a:avLst>
              <a:gd name="adj1" fmla="val 12733"/>
              <a:gd name="adj2" fmla="val 19338"/>
              <a:gd name="adj3" fmla="val 27516"/>
              <a:gd name="adj4" fmla="val 487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 name="文本框 23"/>
          <p:cNvSpPr txBox="1"/>
          <p:nvPr/>
        </p:nvSpPr>
        <p:spPr>
          <a:xfrm>
            <a:off x="6766489" y="1115164"/>
            <a:ext cx="790080" cy="400110"/>
          </a:xfrm>
          <a:prstGeom prst="rect">
            <a:avLst/>
          </a:prstGeom>
          <a:noFill/>
        </p:spPr>
        <p:txBody>
          <a:bodyPr wrap="square" rtlCol="0">
            <a:spAutoFit/>
          </a:bodyPr>
          <a:lstStyle/>
          <a:p>
            <a:pPr algn="ctr"/>
            <a:r>
              <a:rPr lang="zh-CN" altLang="en-US" sz="2000" dirty="0" smtClean="0">
                <a:solidFill>
                  <a:srgbClr val="002060"/>
                </a:solidFill>
                <a:latin typeface="黑体" panose="02010609060101010101" pitchFamily="49" charset="-122"/>
                <a:ea typeface="黑体" panose="02010609060101010101" pitchFamily="49" charset="-122"/>
              </a:rPr>
              <a:t>求解</a:t>
            </a:r>
            <a:endParaRPr lang="zh-CN" altLang="en-US" sz="2000" dirty="0">
              <a:solidFill>
                <a:srgbClr val="002060"/>
              </a:solidFill>
              <a:latin typeface="黑体" panose="02010609060101010101" pitchFamily="49" charset="-122"/>
              <a:ea typeface="黑体" panose="02010609060101010101" pitchFamily="49" charset="-122"/>
            </a:endParaRPr>
          </a:p>
        </p:txBody>
      </p:sp>
      <p:sp>
        <p:nvSpPr>
          <p:cNvPr id="25" name="文本框 24"/>
          <p:cNvSpPr txBox="1"/>
          <p:nvPr/>
        </p:nvSpPr>
        <p:spPr>
          <a:xfrm>
            <a:off x="546163" y="2764004"/>
            <a:ext cx="965003" cy="400110"/>
          </a:xfrm>
          <a:prstGeom prst="rect">
            <a:avLst/>
          </a:prstGeom>
          <a:noFill/>
        </p:spPr>
        <p:txBody>
          <a:bodyPr wrap="square" rtlCol="0">
            <a:spAutoFit/>
          </a:bodyPr>
          <a:lstStyle/>
          <a:p>
            <a:pPr algn="ctr"/>
            <a:r>
              <a:rPr lang="zh-CN" altLang="en-US" sz="2000" dirty="0">
                <a:solidFill>
                  <a:srgbClr val="002060"/>
                </a:solidFill>
                <a:latin typeface="黑体" panose="02010609060101010101" pitchFamily="49" charset="-122"/>
                <a:ea typeface="黑体" panose="02010609060101010101" pitchFamily="49" charset="-122"/>
              </a:rPr>
              <a:t>前处理</a:t>
            </a:r>
          </a:p>
        </p:txBody>
      </p:sp>
      <p:sp>
        <p:nvSpPr>
          <p:cNvPr id="26" name="文本框 25"/>
          <p:cNvSpPr txBox="1"/>
          <p:nvPr/>
        </p:nvSpPr>
        <p:spPr>
          <a:xfrm>
            <a:off x="10604220" y="1809168"/>
            <a:ext cx="965003" cy="400110"/>
          </a:xfrm>
          <a:prstGeom prst="rect">
            <a:avLst/>
          </a:prstGeom>
          <a:noFill/>
        </p:spPr>
        <p:txBody>
          <a:bodyPr wrap="square" rtlCol="0">
            <a:spAutoFit/>
          </a:bodyPr>
          <a:lstStyle/>
          <a:p>
            <a:pPr algn="ctr"/>
            <a:r>
              <a:rPr lang="zh-CN" altLang="en-US" sz="2000" dirty="0" smtClean="0">
                <a:solidFill>
                  <a:srgbClr val="002060"/>
                </a:solidFill>
                <a:latin typeface="黑体" panose="02010609060101010101" pitchFamily="49" charset="-122"/>
                <a:ea typeface="黑体" panose="02010609060101010101" pitchFamily="49" charset="-122"/>
              </a:rPr>
              <a:t>后处理</a:t>
            </a:r>
            <a:endParaRPr lang="zh-CN" altLang="en-US" sz="2000" dirty="0">
              <a:solidFill>
                <a:srgbClr val="002060"/>
              </a:solidFill>
              <a:latin typeface="黑体" panose="02010609060101010101" pitchFamily="49" charset="-122"/>
              <a:ea typeface="黑体" panose="02010609060101010101" pitchFamily="49" charset="-122"/>
            </a:endParaRPr>
          </a:p>
        </p:txBody>
      </p:sp>
      <p:sp>
        <p:nvSpPr>
          <p:cNvPr id="27" name="文本框 26"/>
          <p:cNvSpPr txBox="1"/>
          <p:nvPr/>
        </p:nvSpPr>
        <p:spPr>
          <a:xfrm>
            <a:off x="5680611" y="5695513"/>
            <a:ext cx="1085878" cy="400110"/>
          </a:xfrm>
          <a:prstGeom prst="rect">
            <a:avLst/>
          </a:prstGeom>
          <a:noFill/>
        </p:spPr>
        <p:txBody>
          <a:bodyPr wrap="square" rtlCol="0">
            <a:spAutoFit/>
          </a:bodyPr>
          <a:lstStyle/>
          <a:p>
            <a:pPr algn="ctr"/>
            <a:r>
              <a:rPr lang="zh-CN" altLang="en-US" sz="2000" dirty="0" smtClean="0">
                <a:solidFill>
                  <a:srgbClr val="002060"/>
                </a:solidFill>
                <a:latin typeface="黑体" panose="02010609060101010101" pitchFamily="49" charset="-122"/>
                <a:ea typeface="黑体" panose="02010609060101010101" pitchFamily="49" charset="-122"/>
              </a:rPr>
              <a:t>封装</a:t>
            </a:r>
            <a:r>
              <a:rPr lang="en-US" altLang="zh-CN" sz="2000" dirty="0" smtClean="0">
                <a:solidFill>
                  <a:srgbClr val="002060"/>
                </a:solidFill>
                <a:latin typeface="黑体" panose="02010609060101010101" pitchFamily="49" charset="-122"/>
                <a:ea typeface="黑体" panose="02010609060101010101" pitchFamily="49" charset="-122"/>
              </a:rPr>
              <a:t>APP</a:t>
            </a:r>
            <a:endParaRPr lang="zh-CN" altLang="en-US" sz="2000" dirty="0">
              <a:solidFill>
                <a:srgbClr val="00206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244015838"/>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3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6" grpId="0"/>
      <p:bldP spid="19" grpId="0"/>
      <p:bldP spid="20" grpId="0"/>
      <p:bldP spid="23" grpId="0"/>
      <p:bldP spid="4" grpId="0" animBg="1"/>
      <p:bldP spid="21" grpId="0" animBg="1"/>
      <p:bldP spid="24" grpId="0"/>
      <p:bldP spid="25" grpId="0"/>
      <p:bldP spid="26" grpId="0"/>
      <p:bldP spid="2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683503" y="148465"/>
            <a:ext cx="7728493" cy="584775"/>
          </a:xfrm>
          <a:prstGeom prst="rect">
            <a:avLst/>
          </a:prstGeom>
        </p:spPr>
        <p:txBody>
          <a:bodyPr wrap="square">
            <a:spAutoFit/>
          </a:bodyPr>
          <a:lstStyle/>
          <a:p>
            <a:r>
              <a:rPr lang="en-US" altLang="zh-CN" sz="3200" b="1" dirty="0" smtClean="0">
                <a:solidFill>
                  <a:srgbClr val="0070C0"/>
                </a:solidFill>
                <a:latin typeface="黑体" panose="02010609060101010101" pitchFamily="49" charset="-122"/>
                <a:ea typeface="黑体" panose="02010609060101010101" pitchFamily="49" charset="-122"/>
              </a:rPr>
              <a:t>2.</a:t>
            </a:r>
            <a:r>
              <a:rPr lang="zh-CN" altLang="en-US" sz="3200" b="1" dirty="0" smtClean="0">
                <a:solidFill>
                  <a:srgbClr val="0070C0"/>
                </a:solidFill>
                <a:latin typeface="黑体" panose="02010609060101010101" pitchFamily="49" charset="-122"/>
                <a:ea typeface="黑体" panose="02010609060101010101" pitchFamily="49" charset="-122"/>
              </a:rPr>
              <a:t>自主</a:t>
            </a:r>
            <a:r>
              <a:rPr lang="zh-CN" altLang="en-US" sz="3200" b="1" dirty="0">
                <a:solidFill>
                  <a:srgbClr val="0070C0"/>
                </a:solidFill>
                <a:latin typeface="黑体" panose="02010609060101010101" pitchFamily="49" charset="-122"/>
                <a:ea typeface="黑体" panose="02010609060101010101" pitchFamily="49" charset="-122"/>
              </a:rPr>
              <a:t>开发仿真</a:t>
            </a:r>
            <a:r>
              <a:rPr lang="en-US" altLang="zh-CN" sz="3200" b="1" dirty="0">
                <a:solidFill>
                  <a:srgbClr val="0070C0"/>
                </a:solidFill>
                <a:latin typeface="黑体" panose="02010609060101010101" pitchFamily="49" charset="-122"/>
                <a:ea typeface="黑体" panose="02010609060101010101" pitchFamily="49" charset="-122"/>
              </a:rPr>
              <a:t>APP</a:t>
            </a:r>
            <a:r>
              <a:rPr lang="zh-CN" altLang="en-US" sz="3200" b="1" dirty="0" smtClean="0">
                <a:solidFill>
                  <a:srgbClr val="0070C0"/>
                </a:solidFill>
                <a:latin typeface="黑体" panose="02010609060101010101" pitchFamily="49" charset="-122"/>
                <a:ea typeface="黑体" panose="02010609060101010101" pitchFamily="49" charset="-122"/>
              </a:rPr>
              <a:t>学生</a:t>
            </a:r>
            <a:r>
              <a:rPr lang="zh-CN" altLang="en-US" sz="3200" b="1" dirty="0">
                <a:solidFill>
                  <a:srgbClr val="0070C0"/>
                </a:solidFill>
                <a:latin typeface="黑体" panose="02010609060101010101" pitchFamily="49" charset="-122"/>
                <a:ea typeface="黑体" panose="02010609060101010101" pitchFamily="49" charset="-122"/>
              </a:rPr>
              <a:t>案例：</a:t>
            </a:r>
            <a:endParaRPr lang="zh-CN" altLang="en-US" sz="3200" b="1" i="0" dirty="0">
              <a:solidFill>
                <a:srgbClr val="0070C0"/>
              </a:solidFill>
              <a:effectLst/>
              <a:latin typeface="黑体" panose="02010609060101010101" pitchFamily="49" charset="-122"/>
              <a:ea typeface="黑体" panose="02010609060101010101" pitchFamily="49" charset="-122"/>
            </a:endParaRPr>
          </a:p>
        </p:txBody>
      </p:sp>
      <p:pic>
        <p:nvPicPr>
          <p:cNvPr id="14" name="图片占位符 11"/>
          <p:cNvPicPr>
            <a:picLocks noGrp="1" noChangeAspect="1"/>
          </p:cNvPicPr>
          <p:nvPr>
            <p:ph type="pic" sz="quarter" idx="10"/>
          </p:nvPr>
        </p:nvPicPr>
        <p:blipFill>
          <a:blip r:embed="rId3" cstate="print">
            <a:extLst>
              <a:ext uri="{28A0092B-C50C-407E-A947-70E740481C1C}">
                <a14:useLocalDpi xmlns:a14="http://schemas.microsoft.com/office/drawing/2010/main" val="0"/>
              </a:ext>
            </a:extLst>
          </a:blip>
          <a:srcRect l="14657" r="14657"/>
          <a:stretch>
            <a:fillRect/>
          </a:stretch>
        </p:blipFill>
        <p:spPr>
          <a:xfrm>
            <a:off x="133727" y="148465"/>
            <a:ext cx="1377439" cy="1442870"/>
          </a:xfrm>
          <a:ln w="152400">
            <a:solidFill>
              <a:srgbClr val="A2C9EC"/>
            </a:solidFill>
          </a:ln>
        </p:spPr>
      </p:pic>
      <p:pic>
        <p:nvPicPr>
          <p:cNvPr id="15" name="图片 1">
            <a:extLst>
              <a:ext uri="{FF2B5EF4-FFF2-40B4-BE49-F238E27FC236}">
                <a16:creationId xmlns="" xmlns:a16="http://schemas.microsoft.com/office/drawing/2014/main" id="{D461EA3D-9905-91BC-BF91-E9BB0D4BEB9F}"/>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75290" y="5716951"/>
            <a:ext cx="950811"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a:extLst>
              <a:ext uri="{FF2B5EF4-FFF2-40B4-BE49-F238E27FC236}">
                <a16:creationId xmlns="" xmlns:a16="http://schemas.microsoft.com/office/drawing/2014/main" id="{72207ABC-19D2-AA02-5F7F-FC785F866C00}"/>
              </a:ext>
            </a:extLst>
          </p:cNvPr>
          <p:cNvPicPr>
            <a:picLocks noChangeAspect="1"/>
          </p:cNvPicPr>
          <p:nvPr/>
        </p:nvPicPr>
        <p:blipFill>
          <a:blip r:embed="rId5"/>
          <a:stretch>
            <a:fillRect/>
          </a:stretch>
        </p:blipFill>
        <p:spPr>
          <a:xfrm>
            <a:off x="5812867" y="733240"/>
            <a:ext cx="5918934" cy="2880000"/>
          </a:xfrm>
          <a:prstGeom prst="rect">
            <a:avLst/>
          </a:prstGeom>
        </p:spPr>
      </p:pic>
      <p:pic>
        <p:nvPicPr>
          <p:cNvPr id="3" name="图片 2">
            <a:extLst>
              <a:ext uri="{FF2B5EF4-FFF2-40B4-BE49-F238E27FC236}">
                <a16:creationId xmlns="" xmlns:a16="http://schemas.microsoft.com/office/drawing/2014/main" id="{41CBAEBB-C0CA-BF4C-CE28-902E7DB98D9C}"/>
              </a:ext>
            </a:extLst>
          </p:cNvPr>
          <p:cNvPicPr>
            <a:picLocks noChangeAspect="1"/>
          </p:cNvPicPr>
          <p:nvPr/>
        </p:nvPicPr>
        <p:blipFill>
          <a:blip r:embed="rId6"/>
          <a:stretch>
            <a:fillRect/>
          </a:stretch>
        </p:blipFill>
        <p:spPr>
          <a:xfrm>
            <a:off x="530975" y="1782215"/>
            <a:ext cx="5016774" cy="2880000"/>
          </a:xfrm>
          <a:prstGeom prst="rect">
            <a:avLst/>
          </a:prstGeom>
        </p:spPr>
      </p:pic>
      <p:sp>
        <p:nvSpPr>
          <p:cNvPr id="4" name="文本框 3">
            <a:extLst>
              <a:ext uri="{FF2B5EF4-FFF2-40B4-BE49-F238E27FC236}">
                <a16:creationId xmlns="" xmlns:a16="http://schemas.microsoft.com/office/drawing/2014/main" id="{7CE392F1-A757-2C4D-874D-C905B0C0C649}"/>
              </a:ext>
            </a:extLst>
          </p:cNvPr>
          <p:cNvSpPr txBox="1"/>
          <p:nvPr/>
        </p:nvSpPr>
        <p:spPr>
          <a:xfrm>
            <a:off x="731067" y="4681717"/>
            <a:ext cx="4616590" cy="338554"/>
          </a:xfrm>
          <a:prstGeom prst="rect">
            <a:avLst/>
          </a:prstGeom>
          <a:noFill/>
        </p:spPr>
        <p:txBody>
          <a:bodyPr wrap="square" rtlCol="0" anchor="ctr">
            <a:spAutoFit/>
          </a:bodyPr>
          <a:lstStyle/>
          <a:p>
            <a:pPr algn="ctr"/>
            <a:r>
              <a:rPr lang="zh-CN" altLang="en-US" sz="1600" dirty="0">
                <a:solidFill>
                  <a:prstClr val="black"/>
                </a:solidFill>
                <a:latin typeface="黑体" panose="02010609060101010101" pitchFamily="49" charset="-122"/>
                <a:ea typeface="黑体" panose="02010609060101010101" pitchFamily="49" charset="-122"/>
              </a:rPr>
              <a:t>工字形截面梁结构分析（侯季彤</a:t>
            </a:r>
            <a:r>
              <a:rPr lang="en-US" altLang="zh-CN" sz="1600" dirty="0">
                <a:solidFill>
                  <a:prstClr val="black"/>
                </a:solidFill>
                <a:latin typeface="黑体" panose="02010609060101010101" pitchFamily="49" charset="-122"/>
                <a:ea typeface="黑体" panose="02010609060101010101" pitchFamily="49" charset="-122"/>
              </a:rPr>
              <a:t>2253167</a:t>
            </a:r>
            <a:r>
              <a:rPr lang="zh-CN" altLang="en-US" sz="1600" dirty="0">
                <a:solidFill>
                  <a:prstClr val="black"/>
                </a:solidFill>
                <a:latin typeface="黑体" panose="02010609060101010101" pitchFamily="49" charset="-122"/>
                <a:ea typeface="黑体" panose="02010609060101010101" pitchFamily="49" charset="-122"/>
              </a:rPr>
              <a:t>）</a:t>
            </a:r>
          </a:p>
        </p:txBody>
      </p:sp>
      <p:sp>
        <p:nvSpPr>
          <p:cNvPr id="7" name="文本框 6">
            <a:extLst>
              <a:ext uri="{FF2B5EF4-FFF2-40B4-BE49-F238E27FC236}">
                <a16:creationId xmlns="" xmlns:a16="http://schemas.microsoft.com/office/drawing/2014/main" id="{1082D949-27C8-6EFE-DF6D-24A4F3A751AB}"/>
              </a:ext>
            </a:extLst>
          </p:cNvPr>
          <p:cNvSpPr txBox="1"/>
          <p:nvPr/>
        </p:nvSpPr>
        <p:spPr>
          <a:xfrm>
            <a:off x="5812867" y="3643049"/>
            <a:ext cx="5918934" cy="338554"/>
          </a:xfrm>
          <a:prstGeom prst="rect">
            <a:avLst/>
          </a:prstGeom>
          <a:noFill/>
        </p:spPr>
        <p:txBody>
          <a:bodyPr wrap="square" rtlCol="0" anchor="ctr">
            <a:spAutoFit/>
          </a:bodyPr>
          <a:lstStyle/>
          <a:p>
            <a:pPr algn="ctr"/>
            <a:r>
              <a:rPr lang="zh-CN" altLang="en-US" sz="1600" dirty="0">
                <a:solidFill>
                  <a:prstClr val="black"/>
                </a:solidFill>
                <a:latin typeface="黑体" panose="02010609060101010101" pitchFamily="49" charset="-122"/>
                <a:ea typeface="黑体" panose="02010609060101010101" pitchFamily="49" charset="-122"/>
              </a:rPr>
              <a:t>封头型式对压力容器应力影响的</a:t>
            </a:r>
            <a:r>
              <a:rPr lang="zh-CN" altLang="en-US" sz="1600" dirty="0" smtClean="0">
                <a:solidFill>
                  <a:prstClr val="black"/>
                </a:solidFill>
                <a:latin typeface="黑体" panose="02010609060101010101" pitchFamily="49" charset="-122"/>
                <a:ea typeface="黑体" panose="02010609060101010101" pitchFamily="49" charset="-122"/>
              </a:rPr>
              <a:t>有限元分析（</a:t>
            </a:r>
            <a:r>
              <a:rPr lang="zh-CN" altLang="en-US" sz="1600" dirty="0">
                <a:solidFill>
                  <a:prstClr val="black"/>
                </a:solidFill>
                <a:latin typeface="黑体" panose="02010609060101010101" pitchFamily="49" charset="-122"/>
                <a:ea typeface="黑体" panose="02010609060101010101" pitchFamily="49" charset="-122"/>
              </a:rPr>
              <a:t>姚雨萱</a:t>
            </a:r>
            <a:r>
              <a:rPr lang="en-US" altLang="zh-CN" sz="1600" dirty="0">
                <a:solidFill>
                  <a:prstClr val="black"/>
                </a:solidFill>
                <a:latin typeface="黑体" panose="02010609060101010101" pitchFamily="49" charset="-122"/>
                <a:ea typeface="黑体" panose="02010609060101010101" pitchFamily="49" charset="-122"/>
              </a:rPr>
              <a:t>2251251</a:t>
            </a:r>
            <a:r>
              <a:rPr lang="zh-CN" altLang="en-US" sz="1600" dirty="0">
                <a:solidFill>
                  <a:prstClr val="black"/>
                </a:solidFill>
                <a:latin typeface="黑体" panose="02010609060101010101" pitchFamily="49" charset="-122"/>
                <a:ea typeface="黑体" panose="02010609060101010101" pitchFamily="49" charset="-122"/>
              </a:rPr>
              <a:t>）</a:t>
            </a:r>
          </a:p>
        </p:txBody>
      </p:sp>
      <p:pic>
        <p:nvPicPr>
          <p:cNvPr id="9" name="图片 8"/>
          <p:cNvPicPr/>
          <p:nvPr/>
        </p:nvPicPr>
        <p:blipFill>
          <a:blip r:embed="rId7" cstate="print">
            <a:extLst>
              <a:ext uri="{28A0092B-C50C-407E-A947-70E740481C1C}">
                <a14:useLocalDpi xmlns:a14="http://schemas.microsoft.com/office/drawing/2010/main" val="0"/>
              </a:ext>
            </a:extLst>
          </a:blip>
          <a:stretch>
            <a:fillRect/>
          </a:stretch>
        </p:blipFill>
        <p:spPr>
          <a:xfrm>
            <a:off x="5207290" y="4178588"/>
            <a:ext cx="5868000" cy="2340000"/>
          </a:xfrm>
          <a:prstGeom prst="rect">
            <a:avLst/>
          </a:prstGeom>
        </p:spPr>
      </p:pic>
      <p:sp>
        <p:nvSpPr>
          <p:cNvPr id="10" name="文本框 9">
            <a:extLst>
              <a:ext uri="{FF2B5EF4-FFF2-40B4-BE49-F238E27FC236}">
                <a16:creationId xmlns="" xmlns:a16="http://schemas.microsoft.com/office/drawing/2014/main" id="{7CE392F1-A757-2C4D-874D-C905B0C0C649}"/>
              </a:ext>
            </a:extLst>
          </p:cNvPr>
          <p:cNvSpPr txBox="1"/>
          <p:nvPr/>
        </p:nvSpPr>
        <p:spPr>
          <a:xfrm>
            <a:off x="1065124" y="6180034"/>
            <a:ext cx="4142165" cy="338554"/>
          </a:xfrm>
          <a:prstGeom prst="rect">
            <a:avLst/>
          </a:prstGeom>
          <a:noFill/>
        </p:spPr>
        <p:txBody>
          <a:bodyPr wrap="square" rtlCol="0" anchor="ctr">
            <a:spAutoFit/>
          </a:bodyPr>
          <a:lstStyle/>
          <a:p>
            <a:pPr algn="ctr"/>
            <a:r>
              <a:rPr lang="zh-CN" altLang="en-US" sz="1600" dirty="0">
                <a:solidFill>
                  <a:prstClr val="black"/>
                </a:solidFill>
                <a:latin typeface="黑体" panose="02010609060101010101" pitchFamily="49" charset="-122"/>
                <a:ea typeface="黑体" panose="02010609060101010101" pitchFamily="49" charset="-122"/>
              </a:rPr>
              <a:t>铁链铁环的线性静力分析仿真结果（张宇轩）</a:t>
            </a:r>
          </a:p>
        </p:txBody>
      </p:sp>
    </p:spTree>
    <p:extLst>
      <p:ext uri="{BB962C8B-B14F-4D97-AF65-F5344CB8AC3E}">
        <p14:creationId xmlns:p14="http://schemas.microsoft.com/office/powerpoint/2010/main" val="4110779309"/>
      </p:ext>
    </p:extLst>
  </p:cSld>
  <p:clrMapOvr>
    <a:masterClrMapping/>
  </p:clrMapOvr>
  <p:transition spd="med">
    <p:fade thruBlk="1"/>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 xmlns:a16="http://schemas.microsoft.com/office/drawing/2014/main" id="{A28904D3-519D-C08C-1AF3-47E52467B00B}"/>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9856" y="107179"/>
            <a:ext cx="950811"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p:nvPr/>
        </p:nvSpPr>
        <p:spPr>
          <a:xfrm>
            <a:off x="0" y="2458112"/>
            <a:ext cx="12192000" cy="1015663"/>
          </a:xfrm>
          <a:prstGeom prst="rect">
            <a:avLst/>
          </a:prstGeom>
          <a:noFill/>
        </p:spPr>
        <p:txBody>
          <a:bodyPr wrap="square" rtlCol="0">
            <a:spAutoFit/>
          </a:bodyPr>
          <a:lstStyle/>
          <a:p>
            <a:pPr algn="ctr"/>
            <a:r>
              <a:rPr lang="zh-CN" altLang="en-US" sz="6000" b="1" dirty="0">
                <a:solidFill>
                  <a:srgbClr val="C00000"/>
                </a:solidFill>
                <a:latin typeface="华文新魏" panose="02010800040101010101" pitchFamily="2" charset="-122"/>
                <a:ea typeface="华文新魏" panose="02010800040101010101" pitchFamily="2" charset="-122"/>
              </a:rPr>
              <a:t>非常感谢！</a:t>
            </a:r>
          </a:p>
        </p:txBody>
      </p:sp>
    </p:spTree>
    <p:extLst>
      <p:ext uri="{BB962C8B-B14F-4D97-AF65-F5344CB8AC3E}">
        <p14:creationId xmlns:p14="http://schemas.microsoft.com/office/powerpoint/2010/main" val="3657303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lnSpc>
            <a:spcPct val="200000"/>
          </a:lnSpc>
          <a:defRPr sz="2800" b="1" dirty="0">
            <a:solidFill>
              <a:prstClr val="black"/>
            </a:solidFill>
            <a:latin typeface="华文楷体" panose="02010600040101010101" pitchFamily="2" charset="-122"/>
            <a:ea typeface="华文楷体" panose="02010600040101010101" pitchFamily="2"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5193</TotalTime>
  <Words>1173</Words>
  <Application>Microsoft Office PowerPoint</Application>
  <PresentationFormat>宽屏</PresentationFormat>
  <Paragraphs>127</Paragraphs>
  <Slides>21</Slides>
  <Notes>20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21</vt:i4>
      </vt:variant>
    </vt:vector>
  </HeadingPairs>
  <TitlesOfParts>
    <vt:vector size="36" baseType="lpstr">
      <vt:lpstr>等线</vt:lpstr>
      <vt:lpstr>等线 Light</vt:lpstr>
      <vt:lpstr>仿宋</vt:lpstr>
      <vt:lpstr>黑体</vt:lpstr>
      <vt:lpstr>华文楷体</vt:lpstr>
      <vt:lpstr>华文新魏</vt:lpstr>
      <vt:lpstr>楷体</vt:lpstr>
      <vt:lpstr>隶书</vt:lpstr>
      <vt:lpstr>宋体</vt:lpstr>
      <vt:lpstr>微软雅黑</vt:lpstr>
      <vt:lpstr>Arial</vt:lpstr>
      <vt:lpstr>Calibri</vt:lpstr>
      <vt:lpstr>Times New Roman</vt:lpstr>
      <vt:lpstr>Wingdings</vt:lpstr>
      <vt:lpstr>Office 主题​​</vt:lpstr>
      <vt:lpstr>自选实验 Simdroid物理仿真软件设计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自选实验 Simdroid物理仿真软件设计</dc:title>
  <dc:creator>Emily Jiang</dc:creator>
  <cp:lastModifiedBy>Microsoft 帐户</cp:lastModifiedBy>
  <cp:revision>216</cp:revision>
  <dcterms:created xsi:type="dcterms:W3CDTF">2021-09-07T04:53:16Z</dcterms:created>
  <dcterms:modified xsi:type="dcterms:W3CDTF">2024-05-06T08:12:47Z</dcterms:modified>
</cp:coreProperties>
</file>