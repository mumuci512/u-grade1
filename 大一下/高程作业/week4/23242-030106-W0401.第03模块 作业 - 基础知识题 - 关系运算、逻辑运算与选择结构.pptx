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6" r:id="rId5"/>
    <p:sldId id="1237" r:id="rId6"/>
    <p:sldId id="1230" r:id="rId7"/>
    <p:sldId id="492" r:id="rId8"/>
    <p:sldId id="1238" r:id="rId9"/>
    <p:sldId id="1251" r:id="rId10"/>
    <p:sldId id="1240" r:id="rId11"/>
    <p:sldId id="1241" r:id="rId12"/>
    <p:sldId id="1252" r:id="rId13"/>
    <p:sldId id="1242" r:id="rId14"/>
    <p:sldId id="1243" r:id="rId15"/>
    <p:sldId id="1245" r:id="rId16"/>
    <p:sldId id="1246" r:id="rId17"/>
    <p:sldId id="1247" r:id="rId18"/>
    <p:sldId id="1253" r:id="rId19"/>
    <p:sldId id="1248" r:id="rId20"/>
    <p:sldId id="1249" r:id="rId21"/>
    <p:sldId id="1277" r:id="rId22"/>
    <p:sldId id="1254" r:id="rId23"/>
    <p:sldId id="1250" r:id="rId24"/>
    <p:sldId id="1255" r:id="rId25"/>
    <p:sldId id="1256" r:id="rId26"/>
    <p:sldId id="1257" r:id="rId27"/>
    <p:sldId id="1259" r:id="rId28"/>
    <p:sldId id="1258" r:id="rId29"/>
    <p:sldId id="1260" r:id="rId30"/>
    <p:sldId id="1261" r:id="rId31"/>
    <p:sldId id="1262" r:id="rId32"/>
    <p:sldId id="1263" r:id="rId33"/>
    <p:sldId id="1200" r:id="rId34"/>
    <p:sldId id="1264" r:id="rId35"/>
    <p:sldId id="1266" r:id="rId36"/>
    <p:sldId id="1265" r:id="rId37"/>
    <p:sldId id="1268" r:id="rId38"/>
    <p:sldId id="1269" r:id="rId39"/>
    <p:sldId id="1270" r:id="rId40"/>
    <p:sldId id="1271" r:id="rId41"/>
    <p:sldId id="1272" r:id="rId42"/>
    <p:sldId id="1273" r:id="rId43"/>
    <p:sldId id="1274" r:id="rId44"/>
    <p:sldId id="1275" r:id="rId45"/>
    <p:sldId id="1267" r:id="rId46"/>
  </p:sldIdLst>
  <p:sldSz cx="12192000" cy="6858000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80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663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1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9" Type="http://schemas.openxmlformats.org/officeDocument/2006/relationships/notesSlide" Target="../notesSlides/notesSlide9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71.png"/><Relationship Id="rId26" Type="http://schemas.openxmlformats.org/officeDocument/2006/relationships/image" Target="../media/image70.png"/><Relationship Id="rId25" Type="http://schemas.openxmlformats.org/officeDocument/2006/relationships/image" Target="../media/image69.png"/><Relationship Id="rId24" Type="http://schemas.openxmlformats.org/officeDocument/2006/relationships/image" Target="../media/image68.png"/><Relationship Id="rId23" Type="http://schemas.openxmlformats.org/officeDocument/2006/relationships/image" Target="../media/image67.png"/><Relationship Id="rId22" Type="http://schemas.openxmlformats.org/officeDocument/2006/relationships/image" Target="../media/image66.png"/><Relationship Id="rId21" Type="http://schemas.openxmlformats.org/officeDocument/2006/relationships/image" Target="../media/image65.png"/><Relationship Id="rId20" Type="http://schemas.openxmlformats.org/officeDocument/2006/relationships/image" Target="../media/image64.png"/><Relationship Id="rId2" Type="http://schemas.openxmlformats.org/officeDocument/2006/relationships/image" Target="../media/image46.png"/><Relationship Id="rId19" Type="http://schemas.openxmlformats.org/officeDocument/2006/relationships/image" Target="../media/image63.png"/><Relationship Id="rId18" Type="http://schemas.openxmlformats.org/officeDocument/2006/relationships/image" Target="../media/image62.png"/><Relationship Id="rId17" Type="http://schemas.openxmlformats.org/officeDocument/2006/relationships/image" Target="../media/image61.png"/><Relationship Id="rId16" Type="http://schemas.openxmlformats.org/officeDocument/2006/relationships/image" Target="../media/image60.png"/><Relationship Id="rId15" Type="http://schemas.openxmlformats.org/officeDocument/2006/relationships/image" Target="../media/image59.png"/><Relationship Id="rId14" Type="http://schemas.openxmlformats.org/officeDocument/2006/relationships/image" Target="../media/image58.png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28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b=2, c=3, 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下为什么会有三个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？说说你的理解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型只有两个取值：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，若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型参与了</a:t>
            </a:r>
            <a:r>
              <a:rPr kumimoji="1" lang="en-US" altLang="zh-CN" sz="1600" b="1" dirty="0">
                <a:latin typeface="+mn-ea"/>
              </a:rPr>
              <a:t>&lt;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等比较，则很可能会出现永真或永假的情况，比如一个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型与</a:t>
            </a:r>
            <a:r>
              <a:rPr kumimoji="1" lang="en-US" altLang="zh-CN" sz="1600" b="1" dirty="0">
                <a:latin typeface="+mn-ea"/>
              </a:rPr>
              <a:t>50</a:t>
            </a:r>
            <a:r>
              <a:rPr kumimoji="1" lang="zh-CN" altLang="en-US" sz="1600" b="1" dirty="0">
                <a:latin typeface="+mn-ea"/>
              </a:rPr>
              <a:t>比，无论取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还是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都比</a:t>
            </a:r>
            <a:r>
              <a:rPr kumimoji="1" lang="en-US" altLang="zh-CN" sz="1600" b="1" dirty="0">
                <a:latin typeface="+mn-ea"/>
              </a:rPr>
              <a:t>50</a:t>
            </a:r>
            <a:r>
              <a:rPr kumimoji="1" lang="zh-CN" altLang="en-US" sz="1600" b="1" dirty="0">
                <a:latin typeface="+mn-ea"/>
              </a:rPr>
              <a:t>小，没有意义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7800" y="1670685"/>
            <a:ext cx="3105785" cy="1232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30" y="3017520"/>
            <a:ext cx="5920105" cy="822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a=3, b=2, c=1, 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a&gt;b&gt;c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这个式子，按人的常规理解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(3&gt;2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且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2&gt;1)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是正确的，为什么结果是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？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号优先级最低，先计算后面的式子，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&gt;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左结合，先计算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3&gt;2,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该表达式为真，值为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，因此再计算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1&gt;1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，该表达式为假，值为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，最后将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赋值给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a&lt;b&lt;c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(3&lt;2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2&lt;1)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=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号优先级最低，先计算后面的式子，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&lt;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左结合，先计算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3&lt;2,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该表达式为假，值为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，因此再计算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0&lt;1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，该表达式为真，值为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，最后将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赋值给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d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b&gt;a&lt;c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(2&gt;3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3&lt;1)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=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号优先级最低，先计算后面的式子，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&gt;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&lt;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优先级相同，左结合，先计算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2&gt;3,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该表达式为假，值为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，因此再计算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0&lt;1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，该表达式为真，值为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，最后将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赋值给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d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文字简单说明即可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3855" y="1712595"/>
            <a:ext cx="4152900" cy="1600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205" y="3312795"/>
            <a:ext cx="5248275" cy="7219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f1 = 100.25;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(f1 - 100.25)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==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fabs(f1-100.25)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f2 = 1.2;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(f2 - 1.2)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==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fabs(f2-1.2)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04337" y="1323975"/>
            <a:ext cx="5435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VS+Dev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下的运行结果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、删除第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#include&lt;</a:t>
            </a:r>
            <a:r>
              <a:rPr kumimoji="1" lang="en-US" altLang="zh-CN" sz="1600" b="1" dirty="0" err="1">
                <a:latin typeface="+mn-ea"/>
              </a:rPr>
              <a:t>cmath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后，再次贴</a:t>
            </a:r>
            <a:r>
              <a:rPr kumimoji="1" lang="en-US" altLang="zh-CN" sz="1600" b="1" dirty="0" err="1">
                <a:latin typeface="+mn-ea"/>
              </a:rPr>
              <a:t>VS+Dev</a:t>
            </a:r>
            <a:r>
              <a:rPr kumimoji="1" lang="zh-CN" altLang="en-US" sz="1600" b="1" dirty="0">
                <a:latin typeface="+mn-ea"/>
              </a:rPr>
              <a:t>的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、由本例得出的结论，实数进行相等比较时的通用方法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 ___</a:t>
            </a:r>
            <a:r>
              <a:rPr kumimoji="1" lang="zh-CN" altLang="en-US" sz="1600" b="1" dirty="0">
                <a:latin typeface="+mn-ea"/>
              </a:rPr>
              <a:t>计算两数相减的绝对值，当绝对值小于某个值时认为两数相等</a:t>
            </a:r>
            <a:r>
              <a:rPr kumimoji="1" lang="en-US" altLang="zh-CN" sz="1600" b="1" dirty="0">
                <a:latin typeface="+mn-ea"/>
              </a:rPr>
              <a:t>______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485" y="1589405"/>
            <a:ext cx="2499995" cy="1482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845" y="3010535"/>
            <a:ext cx="5064760" cy="2952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272780" y="1737360"/>
            <a:ext cx="1699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Dev</a:t>
            </a:r>
            <a:r>
              <a:rPr lang="zh-CN" altLang="en-US"/>
              <a:t>同</a:t>
            </a:r>
            <a:r>
              <a:rPr lang="en-US" altLang="zh-CN"/>
              <a:t>VS</a:t>
            </a:r>
            <a:r>
              <a:rPr lang="zh-CN" altLang="en-US"/>
              <a:t>，但无错误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275" y="3787775"/>
            <a:ext cx="2530475" cy="14649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420" y="5289550"/>
            <a:ext cx="5875020" cy="2749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585" y="4930140"/>
            <a:ext cx="6464935" cy="322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可不加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double d1=123.456789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double d2=123.456789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(d1==d2)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fabs(d1-d2)&lt;1e-6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fabs(d1-d2)&lt;1e-7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float f1=123.456789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float f2=123.456789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(f1==f2)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fabs(f1-f2)&lt;1e-6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fabs(f1-f2)&lt;1e-7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、观察</a:t>
            </a:r>
            <a:r>
              <a:rPr kumimoji="1" lang="en-US" altLang="zh-CN" sz="1600" b="1" dirty="0">
                <a:latin typeface="+mn-ea"/>
              </a:rPr>
              <a:t>fabs(**)&lt;1e-6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fabs(**)&lt;1e-7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下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的表现，哪个相同？哪个不同？为什么？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下相同，在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下不相同，因为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的精度只有</a:t>
            </a:r>
            <a:r>
              <a:rPr kumimoji="1" lang="en-US" altLang="zh-CN" sz="1600" b="1" dirty="0">
                <a:latin typeface="+mn-ea"/>
              </a:rPr>
              <a:t>6~7</a:t>
            </a:r>
            <a:r>
              <a:rPr kumimoji="1" lang="zh-CN" altLang="en-US" sz="1600" b="1" dirty="0">
                <a:latin typeface="+mn-ea"/>
              </a:rPr>
              <a:t>位，两个数字比较时有效数字第七位以后的不同可能比较不出来；而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型的精度是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到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位，</a:t>
            </a:r>
            <a:r>
              <a:rPr kumimoji="1" lang="en-US" altLang="zh-CN" sz="1600" b="1" dirty="0">
                <a:latin typeface="+mn-ea"/>
              </a:rPr>
              <a:t>d1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d2</a:t>
            </a:r>
            <a:r>
              <a:rPr kumimoji="1" lang="zh-CN" altLang="en-US" sz="1600" b="1" dirty="0">
                <a:latin typeface="+mn-ea"/>
              </a:rPr>
              <a:t>的整数部分有三位，精度可以到达小数部分第</a:t>
            </a:r>
            <a:r>
              <a:rPr kumimoji="1" lang="en-US" altLang="zh-CN" sz="1600" b="1" dirty="0">
                <a:latin typeface="+mn-ea"/>
              </a:rPr>
              <a:t>12-13</a:t>
            </a:r>
            <a:r>
              <a:rPr kumimoji="1" lang="zh-CN" altLang="en-US" sz="1600" b="1" dirty="0">
                <a:latin typeface="+mn-ea"/>
              </a:rPr>
              <a:t>位，因此可以比较出两数在小数部分后六位是一样的，第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位开始不一样</a:t>
            </a:r>
            <a:endParaRPr kumimoji="1" lang="zh-CN" altLang="en-US" sz="1600" b="1" baseline="300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6815" y="1620520"/>
            <a:ext cx="3356610" cy="20116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175" y="3556635"/>
            <a:ext cx="5379720" cy="490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true 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"true"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false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"false"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 </a:t>
            </a:r>
            <a:r>
              <a:rPr kumimoji="1" lang="en-US" altLang="zh-CN" sz="1600" b="1" dirty="0">
                <a:latin typeface="+mn-ea"/>
              </a:rPr>
              <a:t>true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"true" </a:t>
            </a:r>
            <a:r>
              <a:rPr kumimoji="1" lang="zh-CN" altLang="en-US" sz="1600" b="1" dirty="0">
                <a:latin typeface="+mn-ea"/>
              </a:rPr>
              <a:t>的区别（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"false"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zh-CN" sz="1600" b="1" dirty="0">
                <a:latin typeface="+mn-ea"/>
              </a:rPr>
              <a:t>逻辑常量</a:t>
            </a:r>
            <a:r>
              <a:rPr kumimoji="1" lang="zh-CN" altLang="en-US" sz="1600" b="1" dirty="0">
                <a:latin typeface="+mn-ea"/>
              </a:rPr>
              <a:t>，取值时是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“true”</a:t>
            </a:r>
            <a:r>
              <a:rPr kumimoji="1" lang="zh-CN" altLang="en-US" sz="1600" b="1" dirty="0">
                <a:latin typeface="+mn-ea"/>
              </a:rPr>
              <a:t>则是一个字符串，</a:t>
            </a:r>
            <a:r>
              <a:rPr kumimoji="1" lang="en-US" altLang="zh-CN" sz="1600" b="1" dirty="0">
                <a:latin typeface="+mn-ea"/>
                <a:sym typeface="+mn-ea"/>
              </a:rPr>
              <a:t>false</a:t>
            </a:r>
            <a:r>
              <a:rPr kumimoji="1" lang="zh-CN" altLang="en-US" sz="1600" b="1" dirty="0"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latin typeface="+mn-ea"/>
                <a:sym typeface="+mn-ea"/>
              </a:rPr>
              <a:t>"false"</a:t>
            </a:r>
            <a:r>
              <a:rPr kumimoji="1" lang="zh-CN" altLang="en-US" sz="1600" b="1" dirty="0">
                <a:latin typeface="+mn-ea"/>
                <a:sym typeface="+mn-ea"/>
              </a:rPr>
              <a:t>同理</a:t>
            </a:r>
            <a:endParaRPr kumimoji="1" lang="zh-CN" altLang="en-US" sz="1600" b="1" dirty="0">
              <a:latin typeface="+mn-ea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、进阶思考：目前直接输出逻辑常量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，在屏幕上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输出的输出是</a:t>
            </a:r>
            <a:r>
              <a:rPr kumimoji="1" lang="en-US" altLang="zh-CN" sz="1600" b="1" dirty="0">
                <a:latin typeface="+mn-ea"/>
              </a:rPr>
              <a:t>1/0</a:t>
            </a:r>
            <a:r>
              <a:rPr kumimoji="1" lang="zh-CN" altLang="en-US" sz="1600" b="1" dirty="0">
                <a:latin typeface="+mn-ea"/>
              </a:rPr>
              <a:t>，如果想输出为</a:t>
            </a:r>
            <a:r>
              <a:rPr kumimoji="1" lang="en-US" altLang="zh-CN" sz="1600" b="1" dirty="0">
                <a:latin typeface="+mn-ea"/>
              </a:rPr>
              <a:t>true/false</a:t>
            </a:r>
            <a:r>
              <a:rPr kumimoji="1" lang="zh-CN" altLang="en-US" sz="1600" b="1" dirty="0">
                <a:latin typeface="+mn-ea"/>
              </a:rPr>
              <a:t>，应该怎么做？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、不允许用分支语句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条件运算符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zh-CN" altLang="en-US" sz="1600" b="1" dirty="0">
                <a:latin typeface="+mn-ea"/>
              </a:rPr>
              <a:t>、提示：去网上查一个前导格式控制符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课件无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使用setiosflags(ios::boolalpha)（需要#include &lt;iomanip&gt;）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460" y="817245"/>
            <a:ext cx="3165475" cy="1768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815" y="4904105"/>
            <a:ext cx="5563870" cy="1953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k1 = true;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(true)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k1 &lt;&lt; ' ' &lt;&lt; int(k1)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k2 = false;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(false)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k2 &lt;&lt; ' ' &lt;&lt; int(k2)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变量在内存中占用</a:t>
            </a:r>
            <a:r>
              <a:rPr kumimoji="1" lang="en-US" altLang="zh-CN" sz="1600" b="1" dirty="0">
                <a:latin typeface="+mn-ea"/>
              </a:rPr>
              <a:t>__1__</a:t>
            </a:r>
            <a:r>
              <a:rPr kumimoji="1" lang="zh-CN" altLang="en-US" sz="1600" b="1" dirty="0">
                <a:latin typeface="+mn-ea"/>
              </a:rPr>
              <a:t>字节，值是</a:t>
            </a:r>
            <a:r>
              <a:rPr kumimoji="1" lang="en-US" altLang="zh-CN" sz="1600" b="1" dirty="0">
                <a:latin typeface="+mn-ea"/>
              </a:rPr>
              <a:t>__1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0___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总结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变量在输出时的规则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（限制：在无</a:t>
            </a:r>
            <a:r>
              <a:rPr kumimoji="1" lang="en-US" altLang="zh-CN" sz="1600" b="1" dirty="0">
                <a:latin typeface="+mn-ea"/>
              </a:rPr>
              <a:t>3.A</a:t>
            </a:r>
            <a:r>
              <a:rPr kumimoji="1" lang="zh-CN" altLang="en-US" sz="1600" b="1" dirty="0">
                <a:latin typeface="+mn-ea"/>
              </a:rPr>
              <a:t>的前导格式控制符的前提下）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输出时按整型处理，若为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则输出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，为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则输出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5255" y="713105"/>
            <a:ext cx="341122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bool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int(k)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，输出是：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型变量在输入时的规则：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只能输入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，若输入的不是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，则会返回不可信值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3875" y="743585"/>
            <a:ext cx="3668395" cy="1122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75" y="1808480"/>
            <a:ext cx="2882900" cy="9944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910" y="2715895"/>
            <a:ext cx="3248025" cy="10185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210" y="3734435"/>
            <a:ext cx="3604895" cy="9899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825" y="4643755"/>
            <a:ext cx="3252470" cy="873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bool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k='A';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k=0;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k=256;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c = 256;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(int)c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</a:t>
            </a:r>
            <a:r>
              <a:rPr kumimoji="1" lang="en-US" altLang="zh-CN" sz="1600" b="1" dirty="0">
                <a:latin typeface="+mn-ea"/>
              </a:rPr>
              <a:t>waring</a:t>
            </a:r>
            <a:r>
              <a:rPr kumimoji="1" lang="zh-CN" altLang="en-US" sz="1600" b="1" dirty="0">
                <a:latin typeface="+mn-ea"/>
              </a:rPr>
              <a:t>的意思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将</a:t>
            </a:r>
            <a:r>
              <a:rPr kumimoji="1" lang="en-US" altLang="zh-CN" sz="1200" b="1" dirty="0">
                <a:latin typeface="+mn-ea"/>
              </a:rPr>
              <a:t>’A’</a:t>
            </a:r>
            <a:r>
              <a:rPr kumimoji="1" lang="zh-CN" altLang="en-US" sz="1200" b="1" dirty="0">
                <a:latin typeface="+mn-ea"/>
              </a:rPr>
              <a:t>赋值给</a:t>
            </a:r>
            <a:r>
              <a:rPr kumimoji="1" lang="en-US" altLang="zh-CN" sz="1200" b="1" dirty="0">
                <a:latin typeface="+mn-ea"/>
              </a:rPr>
              <a:t>k</a:t>
            </a:r>
            <a:r>
              <a:rPr kumimoji="1" lang="zh-CN" altLang="en-US" sz="1200" b="1" dirty="0">
                <a:latin typeface="+mn-ea"/>
              </a:rPr>
              <a:t>时发生了从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到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的截断；将</a:t>
            </a:r>
            <a:r>
              <a:rPr kumimoji="1" lang="en-US" altLang="zh-CN" sz="1200" b="1" dirty="0">
                <a:latin typeface="+mn-ea"/>
              </a:rPr>
              <a:t>256</a:t>
            </a:r>
            <a:r>
              <a:rPr kumimoji="1" lang="zh-CN" altLang="en-US" sz="1200" b="1" dirty="0">
                <a:latin typeface="+mn-ea"/>
              </a:rPr>
              <a:t>这个默认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型数赋值给</a:t>
            </a:r>
            <a:r>
              <a:rPr kumimoji="1" lang="en-US" altLang="zh-CN" sz="1200" b="1" dirty="0">
                <a:latin typeface="+mn-ea"/>
              </a:rPr>
              <a:t>k</a:t>
            </a:r>
            <a:r>
              <a:rPr kumimoji="1" lang="zh-CN" altLang="en-US" sz="1200" b="1" dirty="0">
                <a:latin typeface="+mn-ea"/>
              </a:rPr>
              <a:t>时发生了从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到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截断；在将</a:t>
            </a:r>
            <a:r>
              <a:rPr kumimoji="1" lang="en-US" altLang="zh-CN" sz="1200" b="1" dirty="0">
                <a:latin typeface="+mn-ea"/>
              </a:rPr>
              <a:t>256</a:t>
            </a:r>
            <a:r>
              <a:rPr kumimoji="1" lang="zh-CN" altLang="en-US" sz="1200" b="1" dirty="0">
                <a:latin typeface="+mn-ea"/>
              </a:rPr>
              <a:t>这个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型数赋值给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型的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时发生了从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到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截断，在这个给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初始化的过程中截断了</a:t>
            </a:r>
            <a:r>
              <a:rPr kumimoji="1" lang="en-US" altLang="zh-CN" sz="1200" b="1" dirty="0">
                <a:latin typeface="+mn-ea"/>
              </a:rPr>
              <a:t>256</a:t>
            </a:r>
            <a:r>
              <a:rPr kumimoji="1" lang="zh-CN" altLang="en-US" sz="1200" b="1" dirty="0">
                <a:latin typeface="+mn-ea"/>
              </a:rPr>
              <a:t>这个常量的值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k='A'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字节赋值给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字节，为什么还有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的取值只能是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或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，将不是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或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的数赋给它，哪怕同样都是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字节，也会发生数据丢失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k=256</a:t>
            </a:r>
            <a:r>
              <a:rPr kumimoji="1" lang="zh-CN" altLang="en-US" sz="1600" b="1" dirty="0">
                <a:latin typeface="+mn-ea"/>
              </a:rPr>
              <a:t>如果按整型的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字节赋给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应该是多少？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现在实际是多少？为什么？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应该是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，实际是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，因为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bool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赋值时不是按照多字节赋值给少字节的截断规则，而是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非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为真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为假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”256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非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0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因此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bool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的值是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1</a:t>
            </a:r>
            <a:endParaRPr kumimoji="1" lang="en-US" altLang="zh-CN" sz="1200" b="1" dirty="0">
              <a:solidFill>
                <a:schemeClr val="tx1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、为什么不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c</a:t>
            </a:r>
            <a:r>
              <a:rPr kumimoji="1" lang="zh-CN" altLang="en-US" sz="1600" b="1" dirty="0">
                <a:latin typeface="+mn-ea"/>
              </a:rPr>
              <a:t>，而是 </a:t>
            </a:r>
            <a:r>
              <a:rPr kumimoji="1" lang="en-US" altLang="zh-CN" sz="1600" b="1" dirty="0">
                <a:latin typeface="+mn-ea"/>
              </a:rPr>
              <a:t>(int)c ?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将默认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型的</a:t>
            </a:r>
            <a:r>
              <a:rPr kumimoji="1" lang="en-US" altLang="zh-CN" sz="1200" b="1" dirty="0">
                <a:latin typeface="+mn-ea"/>
              </a:rPr>
              <a:t>256</a:t>
            </a:r>
            <a:r>
              <a:rPr kumimoji="1" lang="zh-CN" altLang="en-US" sz="1200" b="1" dirty="0">
                <a:latin typeface="+mn-ea"/>
              </a:rPr>
              <a:t>赋值给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型的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，按照多字节赋少字节的规则，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的值会是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，在</a:t>
            </a:r>
            <a:r>
              <a:rPr kumimoji="1" lang="en-US" altLang="zh-CN" sz="1200" b="1" dirty="0">
                <a:latin typeface="+mn-ea"/>
              </a:rPr>
              <a:t>ASCII</a:t>
            </a:r>
            <a:r>
              <a:rPr kumimoji="1" lang="zh-CN" altLang="en-US" sz="1200" b="1" dirty="0">
                <a:latin typeface="+mn-ea"/>
              </a:rPr>
              <a:t>码中对应</a:t>
            </a:r>
            <a:r>
              <a:rPr kumimoji="1" lang="en-US" altLang="zh-CN" sz="1200" b="1" dirty="0">
                <a:latin typeface="+mn-ea"/>
              </a:rPr>
              <a:t>NUL</a:t>
            </a:r>
            <a:r>
              <a:rPr kumimoji="1" lang="zh-CN" altLang="en-US" sz="1200" b="1" dirty="0">
                <a:latin typeface="+mn-ea"/>
              </a:rPr>
              <a:t>，若直接输出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则看不到输出，因此将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强制转换成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，就可以看到输出</a:t>
            </a:r>
            <a:r>
              <a:rPr kumimoji="1" lang="en-US" altLang="zh-CN" sz="1200" b="1" dirty="0">
                <a:latin typeface="+mn-ea"/>
              </a:rPr>
              <a:t>c</a:t>
            </a:r>
            <a:r>
              <a:rPr kumimoji="1" lang="zh-CN" altLang="en-US" sz="1200" b="1" dirty="0">
                <a:latin typeface="+mn-ea"/>
              </a:rPr>
              <a:t>的值</a:t>
            </a:r>
            <a:r>
              <a:rPr kumimoji="1" lang="en-US" altLang="zh-CN" sz="1200" b="1" dirty="0">
                <a:latin typeface="+mn-ea"/>
              </a:rPr>
              <a:t>0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为真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为假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这句话如何解释？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一个数据赋给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型时，这个数据本来的值非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被赋值真，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的值为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，这个数据本来的值为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被赋假，</a:t>
            </a:r>
            <a:r>
              <a:rPr kumimoji="1" lang="en-US" altLang="zh-CN" sz="1200" b="1" dirty="0">
                <a:latin typeface="+mn-ea"/>
              </a:rPr>
              <a:t>bool</a:t>
            </a:r>
            <a:r>
              <a:rPr kumimoji="1" lang="zh-CN" altLang="en-US" sz="1200" b="1" dirty="0">
                <a:latin typeface="+mn-ea"/>
              </a:rPr>
              <a:t>的值为</a:t>
            </a:r>
            <a:r>
              <a:rPr kumimoji="1" lang="en-US" altLang="zh-CN" sz="1200" b="1" dirty="0">
                <a:latin typeface="+mn-ea"/>
              </a:rPr>
              <a:t>0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860" y="495300"/>
            <a:ext cx="3461385" cy="1568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295" y="1134745"/>
            <a:ext cx="4716780" cy="9290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bool f=true;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 a=10;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a=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a+f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参与表达式计算时，当做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整型值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参与运算</a:t>
            </a:r>
            <a:r>
              <a:rPr kumimoji="1" lang="en-US" altLang="zh-CN" sz="1600" b="1" dirty="0">
                <a:latin typeface="+mn-ea"/>
              </a:rPr>
              <a:t>_______________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580" y="1677670"/>
            <a:ext cx="4333875" cy="1019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完成下列两个表格的填写（</a:t>
            </a:r>
            <a:r>
              <a:rPr lang="en-US" altLang="zh-CN" sz="1600" b="1" dirty="0">
                <a:latin typeface="+mn-ea"/>
              </a:rPr>
              <a:t>a/b</a:t>
            </a:r>
            <a:r>
              <a:rPr lang="zh-CN" altLang="en-US" sz="1600" b="1" dirty="0">
                <a:latin typeface="+mn-ea"/>
              </a:rPr>
              <a:t>是两个逻辑值，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填写的内容不要用黑色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0420" y="1455811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30420" y="3758189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zh-CN" sz="1600" b="1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a=1, b=2, c=3, d=4, m=1, n=1;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(m=a&gt;b)&amp;&amp;(n=c&gt;d);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(m=a&gt;b)&amp;&amp;(n=c&gt;d)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的求值过程（标出步骤顺序）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a&gt;b	-&gt;0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m=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1-&gt;0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由于短路运算，式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则整个式子必为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，因此不再求解接下来的式子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、短路运算的意思是：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仅当必须执行下一个逻辑运算符才能求出解时，才整型该运算符，否则不执行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__________________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220" y="1148080"/>
            <a:ext cx="410527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41607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752870" y="1323975"/>
            <a:ext cx="608658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有以下逗号表达式，其表达式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是逻辑表达式，表达式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按需构造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  5&gt;3 &amp;&amp; 2 || 8&lt;4 - !0,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***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、构造一个测试程序，在不改变该表达式目前求值顺序的情况下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（允许插入新的运算，但目前这几个运算符的顺序不要变）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证明两点：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8&lt;4 - !0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存在短路运算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***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不存在短路运算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、用栈方式画包含短路运算的表达式，则从分析到短路运算符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进栈开始（本例中为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||</a:t>
            </a:r>
            <a:r>
              <a:rPr kumimoji="1" lang="zh-CN" altLang="en-US" sz="1600" b="1" dirty="0">
                <a:latin typeface="+mn-ea"/>
              </a:rPr>
              <a:t>）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忽略</a:t>
            </a:r>
            <a:r>
              <a:rPr kumimoji="1" lang="en-US" altLang="zh-CN" sz="1600" b="1" dirty="0">
                <a:latin typeface="+mn-ea"/>
              </a:rPr>
              <a:t>__&lt; - !__</a:t>
            </a:r>
            <a:r>
              <a:rPr kumimoji="1" lang="zh-CN" altLang="en-US" sz="1600" b="1" dirty="0">
                <a:latin typeface="+mn-ea"/>
              </a:rPr>
              <a:t>运算符。（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所有 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优先级</a:t>
            </a:r>
            <a:r>
              <a:rPr kumimoji="1" lang="en-US" altLang="zh-CN" sz="1600" b="1" dirty="0">
                <a:latin typeface="+mn-ea"/>
              </a:rPr>
              <a:t>/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||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优先级高的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3660" y="1285875"/>
            <a:ext cx="4932045" cy="2506345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6447769" y="5188836"/>
            <a:ext cx="2686685" cy="1235075"/>
            <a:chOff x="1351510" y="4708829"/>
            <a:chExt cx="2686685" cy="1235075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直接连接符 5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矩形 12"/>
            <p:cNvSpPr/>
            <p:nvPr/>
          </p:nvSpPr>
          <p:spPr>
            <a:xfrm>
              <a:off x="3262416" y="5093308"/>
              <a:ext cx="581317" cy="5993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600" b="1" dirty="0">
                  <a:latin typeface="+mn-ea"/>
                </a:rPr>
                <a:t>||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421022" y="5202793"/>
              <a:ext cx="1054883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69978" y="3856354"/>
            <a:ext cx="2686685" cy="1235075"/>
            <a:chOff x="1351510" y="4708829"/>
            <a:chExt cx="2686685" cy="1235075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直接连接符 25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连接符 29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矩形 30"/>
            <p:cNvSpPr/>
            <p:nvPr/>
          </p:nvSpPr>
          <p:spPr>
            <a:xfrm>
              <a:off x="3262416" y="5093309"/>
              <a:ext cx="441325" cy="5207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625961" y="5202793"/>
              <a:ext cx="3158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en-US" altLang="zh-CN" dirty="0"/>
            </a:p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382515" y="5188902"/>
            <a:ext cx="2686685" cy="1235075"/>
            <a:chOff x="1351510" y="4708829"/>
            <a:chExt cx="2686685" cy="1235075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直接连接符 43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直接连接符 44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直接连接符 45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直接连接符 46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直接连接符 47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矩形 48"/>
            <p:cNvSpPr/>
            <p:nvPr/>
          </p:nvSpPr>
          <p:spPr>
            <a:xfrm>
              <a:off x="3262416" y="5093308"/>
              <a:ext cx="581317" cy="5993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&amp;&amp;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625961" y="5202793"/>
              <a:ext cx="84994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2</a:t>
              </a:r>
              <a:endParaRPr lang="en-US" altLang="zh-CN" sz="1600" dirty="0"/>
            </a:p>
            <a:p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72287" y="5360034"/>
            <a:ext cx="2686685" cy="1235075"/>
            <a:chOff x="1351510" y="4708829"/>
            <a:chExt cx="2686685" cy="1235075"/>
          </a:xfrm>
        </p:grpSpPr>
        <p:cxnSp>
          <p:nvCxnSpPr>
            <p:cNvPr id="52" name="直接连接符 51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直接连接符 52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直接连接符 53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直接连接符 54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直接连接符 55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直接连接符 56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" name="矩形 57"/>
            <p:cNvSpPr/>
            <p:nvPr/>
          </p:nvSpPr>
          <p:spPr>
            <a:xfrm>
              <a:off x="3262416" y="5093308"/>
              <a:ext cx="581317" cy="5993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&amp;&amp;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940921" y="5200888"/>
              <a:ext cx="849944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406240" y="5249455"/>
            <a:ext cx="2686685" cy="1235075"/>
            <a:chOff x="1351510" y="4708829"/>
            <a:chExt cx="2686685" cy="1235075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1357860" y="4725974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直接连接符 61"/>
            <p:cNvCxnSpPr/>
            <p:nvPr/>
          </p:nvCxnSpPr>
          <p:spPr>
            <a:xfrm>
              <a:off x="1351510" y="5926759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直接连接符 62"/>
            <p:cNvCxnSpPr/>
            <p:nvPr/>
          </p:nvCxnSpPr>
          <p:spPr>
            <a:xfrm flipV="1">
              <a:off x="2518005" y="4708829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8" name="直接连接符 2047"/>
            <p:cNvCxnSpPr/>
            <p:nvPr/>
          </p:nvCxnSpPr>
          <p:spPr>
            <a:xfrm>
              <a:off x="2872335" y="4743119"/>
              <a:ext cx="0" cy="11950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" name="直接连接符 2048"/>
            <p:cNvCxnSpPr/>
            <p:nvPr/>
          </p:nvCxnSpPr>
          <p:spPr>
            <a:xfrm>
              <a:off x="2865985" y="5943904"/>
              <a:ext cx="117221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1" name="直接连接符 2050"/>
            <p:cNvCxnSpPr/>
            <p:nvPr/>
          </p:nvCxnSpPr>
          <p:spPr>
            <a:xfrm flipV="1">
              <a:off x="4032480" y="4725974"/>
              <a:ext cx="0" cy="1212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2" name="矩形 2051"/>
            <p:cNvSpPr/>
            <p:nvPr/>
          </p:nvSpPr>
          <p:spPr>
            <a:xfrm>
              <a:off x="3262416" y="5093308"/>
              <a:ext cx="581317" cy="5993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" name="文本框 2052"/>
            <p:cNvSpPr txBox="1"/>
            <p:nvPr/>
          </p:nvSpPr>
          <p:spPr>
            <a:xfrm>
              <a:off x="1625961" y="5202793"/>
              <a:ext cx="849944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</p:grpSp>
      <p:sp>
        <p:nvSpPr>
          <p:cNvPr id="2054" name="箭头: 下 2053"/>
          <p:cNvSpPr/>
          <p:nvPr/>
        </p:nvSpPr>
        <p:spPr bwMode="auto">
          <a:xfrm>
            <a:off x="1344602" y="5113654"/>
            <a:ext cx="349331" cy="16446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5" name="箭头: 右 2054"/>
          <p:cNvSpPr/>
          <p:nvPr/>
        </p:nvSpPr>
        <p:spPr bwMode="auto">
          <a:xfrm>
            <a:off x="2952796" y="5682615"/>
            <a:ext cx="367304" cy="17913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6" name="箭头: 右 2055"/>
          <p:cNvSpPr/>
          <p:nvPr/>
        </p:nvSpPr>
        <p:spPr bwMode="auto">
          <a:xfrm>
            <a:off x="6136292" y="5633706"/>
            <a:ext cx="244694" cy="21873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箭头: 右 2055"/>
          <p:cNvSpPr/>
          <p:nvPr/>
        </p:nvSpPr>
        <p:spPr bwMode="auto">
          <a:xfrm>
            <a:off x="9168417" y="5682601"/>
            <a:ext cx="244694" cy="21873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输入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74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、画出程序对应的流程框图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325" y="827093"/>
            <a:ext cx="3396437" cy="16501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325" y="2644833"/>
            <a:ext cx="3123996" cy="1284229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 bwMode="auto">
          <a:xfrm>
            <a:off x="4952290" y="3353264"/>
            <a:ext cx="0" cy="3993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3" name="矩形 12"/>
          <p:cNvSpPr/>
          <p:nvPr/>
        </p:nvSpPr>
        <p:spPr bwMode="auto">
          <a:xfrm>
            <a:off x="4208158" y="3752617"/>
            <a:ext cx="1519795" cy="32161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kumimoji="1"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" name="直接箭头连接符 14"/>
          <p:cNvCxnSpPr>
            <a:stCxn id="13" idx="2"/>
          </p:cNvCxnSpPr>
          <p:nvPr/>
        </p:nvCxnSpPr>
        <p:spPr bwMode="auto">
          <a:xfrm flipH="1">
            <a:off x="4964903" y="4074233"/>
            <a:ext cx="3153" cy="3153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6" name="菱形 15"/>
          <p:cNvSpPr/>
          <p:nvPr/>
        </p:nvSpPr>
        <p:spPr bwMode="auto">
          <a:xfrm>
            <a:off x="4327978" y="4379332"/>
            <a:ext cx="1255394" cy="534700"/>
          </a:xfrm>
          <a:prstGeom prst="diamon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&lt;60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8" name="连接符: 肘形 17"/>
          <p:cNvCxnSpPr>
            <a:stCxn id="16" idx="3"/>
          </p:cNvCxnSpPr>
          <p:nvPr/>
        </p:nvCxnSpPr>
        <p:spPr bwMode="auto">
          <a:xfrm flipH="1">
            <a:off x="5580219" y="4646682"/>
            <a:ext cx="3153" cy="764232"/>
          </a:xfrm>
          <a:prstGeom prst="bentConnector4">
            <a:avLst>
              <a:gd name="adj1" fmla="val -7250238"/>
              <a:gd name="adj2" fmla="val 10049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3" name="直接箭头连接符 22"/>
          <p:cNvCxnSpPr/>
          <p:nvPr/>
        </p:nvCxnSpPr>
        <p:spPr bwMode="auto">
          <a:xfrm flipH="1">
            <a:off x="4953573" y="4920337"/>
            <a:ext cx="3153" cy="3153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4" name="矩形 23"/>
          <p:cNvSpPr/>
          <p:nvPr/>
        </p:nvSpPr>
        <p:spPr bwMode="auto">
          <a:xfrm>
            <a:off x="4402730" y="5210347"/>
            <a:ext cx="1177489" cy="32161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不及格</a:t>
            </a:r>
            <a:endParaRPr kumimoji="1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034271" y="4914032"/>
            <a:ext cx="17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endParaRPr lang="en-US" altLang="zh-CN" dirty="0"/>
          </a:p>
        </p:txBody>
      </p:sp>
      <p:sp>
        <p:nvSpPr>
          <p:cNvPr id="26" name="文本框 25"/>
          <p:cNvSpPr txBox="1"/>
          <p:nvPr/>
        </p:nvSpPr>
        <p:spPr>
          <a:xfrm>
            <a:off x="5727953" y="4477831"/>
            <a:ext cx="26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 bwMode="auto">
          <a:xfrm>
            <a:off x="4920759" y="5498983"/>
            <a:ext cx="0" cy="3993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8" name="矩形 27"/>
          <p:cNvSpPr/>
          <p:nvPr/>
        </p:nvSpPr>
        <p:spPr bwMode="auto">
          <a:xfrm>
            <a:off x="4153137" y="5914639"/>
            <a:ext cx="1519795" cy="32161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程序结束</a:t>
            </a:r>
            <a:endParaRPr kumimoji="1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 bwMode="auto">
          <a:xfrm>
            <a:off x="4920759" y="6236255"/>
            <a:ext cx="0" cy="3993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74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、画出程序对应的流程框图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、程序标注</a:t>
            </a:r>
            <a:r>
              <a:rPr kumimoji="1" lang="en-US" altLang="zh-CN" sz="1600" b="1" dirty="0">
                <a:latin typeface="+mn-ea"/>
              </a:rPr>
              <a:t>“</a:t>
            </a:r>
            <a:r>
              <a:rPr kumimoji="1" lang="zh-CN" altLang="en-US" sz="1600" b="1" dirty="0">
                <a:latin typeface="+mn-ea"/>
              </a:rPr>
              <a:t>未缩进</a:t>
            </a:r>
            <a:r>
              <a:rPr kumimoji="1" lang="en-US" altLang="zh-CN" sz="1600" b="1" dirty="0">
                <a:latin typeface="+mn-ea"/>
              </a:rPr>
              <a:t>”</a:t>
            </a:r>
            <a:r>
              <a:rPr kumimoji="1" lang="zh-CN" altLang="en-US" sz="1600" b="1" dirty="0">
                <a:latin typeface="+mn-ea"/>
              </a:rPr>
              <a:t>的行，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应该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（应该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不应该）缩进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710" y="682452"/>
            <a:ext cx="3434550" cy="1524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88" y="2207172"/>
            <a:ext cx="3131677" cy="991579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 bwMode="auto">
          <a:xfrm>
            <a:off x="5001005" y="3510919"/>
            <a:ext cx="0" cy="3993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9" name="矩形 8"/>
          <p:cNvSpPr/>
          <p:nvPr/>
        </p:nvSpPr>
        <p:spPr bwMode="auto">
          <a:xfrm>
            <a:off x="4256873" y="3910272"/>
            <a:ext cx="1519795" cy="32161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kumimoji="1"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>
            <a:stCxn id="9" idx="2"/>
          </p:cNvCxnSpPr>
          <p:nvPr/>
        </p:nvCxnSpPr>
        <p:spPr bwMode="auto">
          <a:xfrm flipH="1">
            <a:off x="5013618" y="4231888"/>
            <a:ext cx="3153" cy="3153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1" name="菱形 10"/>
          <p:cNvSpPr/>
          <p:nvPr/>
        </p:nvSpPr>
        <p:spPr bwMode="auto">
          <a:xfrm>
            <a:off x="4376693" y="4536987"/>
            <a:ext cx="1255394" cy="534700"/>
          </a:xfrm>
          <a:prstGeom prst="diamon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&lt;60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 flipH="1">
            <a:off x="5002288" y="5077992"/>
            <a:ext cx="3153" cy="3153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4" name="矩形 13"/>
          <p:cNvSpPr/>
          <p:nvPr/>
        </p:nvSpPr>
        <p:spPr bwMode="auto">
          <a:xfrm>
            <a:off x="4451445" y="5368002"/>
            <a:ext cx="1177489" cy="32161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不及格</a:t>
            </a:r>
            <a:endParaRPr kumimoji="1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2986" y="5071687"/>
            <a:ext cx="17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endParaRPr lang="en-US" altLang="zh-CN" dirty="0"/>
          </a:p>
        </p:txBody>
      </p:sp>
      <p:sp>
        <p:nvSpPr>
          <p:cNvPr id="16" name="文本框 15"/>
          <p:cNvSpPr txBox="1"/>
          <p:nvPr/>
        </p:nvSpPr>
        <p:spPr>
          <a:xfrm>
            <a:off x="5776668" y="4635486"/>
            <a:ext cx="26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 bwMode="auto">
          <a:xfrm>
            <a:off x="4969474" y="5656638"/>
            <a:ext cx="0" cy="3993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8" name="矩形 17"/>
          <p:cNvSpPr/>
          <p:nvPr/>
        </p:nvSpPr>
        <p:spPr bwMode="auto">
          <a:xfrm>
            <a:off x="4201852" y="6072294"/>
            <a:ext cx="1519795" cy="32161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程序结束</a:t>
            </a:r>
            <a:endParaRPr kumimoji="1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4969474" y="6393910"/>
            <a:ext cx="0" cy="3993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8" name="连接符: 肘形 27"/>
          <p:cNvCxnSpPr>
            <a:stCxn id="11" idx="3"/>
          </p:cNvCxnSpPr>
          <p:nvPr/>
        </p:nvCxnSpPr>
        <p:spPr bwMode="auto">
          <a:xfrm flipH="1">
            <a:off x="4976873" y="4804337"/>
            <a:ext cx="655214" cy="1839033"/>
          </a:xfrm>
          <a:prstGeom prst="bentConnector4">
            <a:avLst>
              <a:gd name="adj1" fmla="val -34889"/>
              <a:gd name="adj2" fmla="val 10013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&lt;60;)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贴编译错误并给出解释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不应该在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（）中加分号，分号代表着语句的结束，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（）中应当是一个表达式而非语句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0496" y="1698621"/>
            <a:ext cx="8181418" cy="10019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请输入成绩</a:t>
            </a:r>
            <a:r>
              <a:rPr lang="en-US" altLang="zh-CN" sz="1200" b="1" dirty="0">
                <a:latin typeface="+mn-ea"/>
              </a:rPr>
              <a:t>[0-100]"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&gt;=90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&lt;=100)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优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&gt;=80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&lt;90)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&gt;=70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&lt;80)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中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&gt;=60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&lt;70)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&lt;60)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不及格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输入错误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zh-CN" sz="1200" b="1" dirty="0">
                <a:latin typeface="+mn-ea"/>
              </a:rPr>
              <a:t>程序结束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、给出程序的流程框图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注意字体的清晰可辨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&lt;=89</a:t>
            </a:r>
            <a:r>
              <a:rPr kumimoji="1" lang="zh-CN" altLang="en-US" sz="1600" b="1" dirty="0">
                <a:latin typeface="+mn-ea"/>
              </a:rPr>
              <a:t>？哪个更好？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若规定输入的数字都是整数，则可以，若有小数则不行。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更好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&lt;=90</a:t>
            </a:r>
            <a:r>
              <a:rPr kumimoji="1" lang="zh-CN" altLang="en-US" sz="1600" b="1" dirty="0">
                <a:latin typeface="+mn-ea"/>
              </a:rPr>
              <a:t>？运行是否正确？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可以改，运行正确，但是改了以后逻辑上并不好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301766" y="3492060"/>
            <a:ext cx="536027" cy="24962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69" name="组合 2068"/>
          <p:cNvGrpSpPr/>
          <p:nvPr/>
        </p:nvGrpSpPr>
        <p:grpSpPr>
          <a:xfrm>
            <a:off x="2771198" y="1089337"/>
            <a:ext cx="7318734" cy="4094366"/>
            <a:chOff x="2771197" y="1089336"/>
            <a:chExt cx="8699793" cy="4390757"/>
          </a:xfrm>
        </p:grpSpPr>
        <p:cxnSp>
          <p:nvCxnSpPr>
            <p:cNvPr id="5" name="直接箭头连接符 4"/>
            <p:cNvCxnSpPr/>
            <p:nvPr/>
          </p:nvCxnSpPr>
          <p:spPr bwMode="auto">
            <a:xfrm>
              <a:off x="4038928" y="1089336"/>
              <a:ext cx="0" cy="3993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6" name="矩形 5"/>
            <p:cNvSpPr/>
            <p:nvPr/>
          </p:nvSpPr>
          <p:spPr bwMode="auto">
            <a:xfrm>
              <a:off x="3294796" y="1488689"/>
              <a:ext cx="1519795" cy="32161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输入</a:t>
              </a:r>
              <a:r>
                <a:rPr kumimoji="1" lang="en-US" altLang="zh-CN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" name="直接箭头连接符 6"/>
            <p:cNvCxnSpPr>
              <a:stCxn id="6" idx="2"/>
            </p:cNvCxnSpPr>
            <p:nvPr/>
          </p:nvCxnSpPr>
          <p:spPr bwMode="auto">
            <a:xfrm flipH="1">
              <a:off x="4051541" y="1810305"/>
              <a:ext cx="3153" cy="3153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" name="菱形 7"/>
            <p:cNvSpPr/>
            <p:nvPr/>
          </p:nvSpPr>
          <p:spPr bwMode="auto">
            <a:xfrm>
              <a:off x="2771197" y="2115404"/>
              <a:ext cx="2610769" cy="534700"/>
            </a:xfrm>
            <a:prstGeom prst="diamond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100" b="1" dirty="0" err="1">
                  <a:latin typeface="+mn-ea"/>
                </a:rPr>
                <a:t>i</a:t>
              </a:r>
              <a:r>
                <a:rPr lang="en-US" altLang="zh-CN" sz="1100" b="1" dirty="0">
                  <a:latin typeface="+mn-ea"/>
                </a:rPr>
                <a:t>&gt;=90 &amp;&amp; </a:t>
              </a:r>
              <a:r>
                <a:rPr lang="en-US" altLang="zh-CN" sz="1100" b="1" dirty="0" err="1">
                  <a:latin typeface="+mn-ea"/>
                </a:rPr>
                <a:t>i</a:t>
              </a:r>
              <a:r>
                <a:rPr lang="en-US" altLang="zh-CN" sz="1100" b="1" dirty="0">
                  <a:latin typeface="+mn-ea"/>
                </a:rPr>
                <a:t>&lt;=100</a:t>
              </a:r>
              <a:endParaRPr kumimoji="1" lang="zh-CN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 bwMode="auto">
            <a:xfrm flipH="1">
              <a:off x="4040211" y="2656409"/>
              <a:ext cx="3153" cy="3153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0" name="矩形 9"/>
            <p:cNvSpPr/>
            <p:nvPr/>
          </p:nvSpPr>
          <p:spPr bwMode="auto">
            <a:xfrm>
              <a:off x="3489368" y="2946419"/>
              <a:ext cx="1177489" cy="32161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优</a:t>
              </a:r>
              <a:endPara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120909" y="2650104"/>
              <a:ext cx="172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en-US" altLang="zh-CN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421222" y="1978420"/>
              <a:ext cx="267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N</a:t>
              </a:r>
              <a:endParaRPr lang="zh-CN" altLang="en-US" dirty="0"/>
            </a:p>
          </p:txBody>
        </p:sp>
        <p:cxnSp>
          <p:nvCxnSpPr>
            <p:cNvPr id="15" name="直接箭头连接符 14"/>
            <p:cNvCxnSpPr>
              <a:stCxn id="10" idx="2"/>
            </p:cNvCxnSpPr>
            <p:nvPr/>
          </p:nvCxnSpPr>
          <p:spPr bwMode="auto">
            <a:xfrm flipH="1">
              <a:off x="4059265" y="3268036"/>
              <a:ext cx="18848" cy="22120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6" name="连接符: 肘形 15"/>
            <p:cNvCxnSpPr>
              <a:stCxn id="8" idx="3"/>
            </p:cNvCxnSpPr>
            <p:nvPr/>
          </p:nvCxnSpPr>
          <p:spPr bwMode="auto">
            <a:xfrm>
              <a:off x="5381966" y="2382754"/>
              <a:ext cx="389482" cy="267350"/>
            </a:xfrm>
            <a:prstGeom prst="bentConnector3">
              <a:avLst>
                <a:gd name="adj1" fmla="val 9695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1" name="菱形 20"/>
            <p:cNvSpPr/>
            <p:nvPr/>
          </p:nvSpPr>
          <p:spPr bwMode="auto">
            <a:xfrm>
              <a:off x="4925470" y="2650114"/>
              <a:ext cx="1725532" cy="618319"/>
            </a:xfrm>
            <a:prstGeom prst="diamond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100" b="1">
                  <a:latin typeface="+mn-ea"/>
                </a:rPr>
                <a:t>i&gt;=80 &amp;&amp; i&lt;90</a:t>
              </a:r>
              <a:endParaRPr kumimoji="1" lang="zh-CN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8" name="直接箭头连接符 27"/>
            <p:cNvCxnSpPr>
              <a:stCxn id="21" idx="2"/>
            </p:cNvCxnSpPr>
            <p:nvPr/>
          </p:nvCxnSpPr>
          <p:spPr bwMode="auto">
            <a:xfrm>
              <a:off x="5788176" y="3268375"/>
              <a:ext cx="11322" cy="2090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9" name="矩形 28"/>
            <p:cNvSpPr/>
            <p:nvPr/>
          </p:nvSpPr>
          <p:spPr bwMode="auto">
            <a:xfrm>
              <a:off x="5248521" y="3452154"/>
              <a:ext cx="1177489" cy="32161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良</a:t>
              </a:r>
              <a:endPara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880062" y="3155839"/>
              <a:ext cx="172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en-US" altLang="zh-CN" dirty="0"/>
            </a:p>
          </p:txBody>
        </p:sp>
        <p:cxnSp>
          <p:nvCxnSpPr>
            <p:cNvPr id="32" name="连接符: 肘形 31"/>
            <p:cNvCxnSpPr>
              <a:stCxn id="29" idx="2"/>
            </p:cNvCxnSpPr>
            <p:nvPr/>
          </p:nvCxnSpPr>
          <p:spPr bwMode="auto">
            <a:xfrm rot="5400000">
              <a:off x="4190431" y="3663075"/>
              <a:ext cx="1536141" cy="1757531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33" name="连接符: 肘形 32"/>
            <p:cNvCxnSpPr>
              <a:stCxn id="21" idx="3"/>
              <a:endCxn id="34" idx="0"/>
            </p:cNvCxnSpPr>
            <p:nvPr/>
          </p:nvCxnSpPr>
          <p:spPr bwMode="auto">
            <a:xfrm>
              <a:off x="6650932" y="2958939"/>
              <a:ext cx="610654" cy="9125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46" name="组合 45"/>
            <p:cNvGrpSpPr/>
            <p:nvPr/>
          </p:nvGrpSpPr>
          <p:grpSpPr>
            <a:xfrm>
              <a:off x="4079738" y="2621287"/>
              <a:ext cx="4207089" cy="2688624"/>
              <a:chOff x="5865255" y="3396950"/>
              <a:chExt cx="3818819" cy="3609485"/>
            </a:xfrm>
          </p:grpSpPr>
          <p:sp>
            <p:nvSpPr>
              <p:cNvPr id="34" name="菱形 33"/>
              <p:cNvSpPr/>
              <p:nvPr/>
            </p:nvSpPr>
            <p:spPr bwMode="auto">
              <a:xfrm>
                <a:off x="7821415" y="3972368"/>
                <a:ext cx="1862659" cy="827351"/>
              </a:xfrm>
              <a:prstGeom prst="diamond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50" b="1" dirty="0" err="1">
                    <a:latin typeface="+mn-ea"/>
                  </a:rPr>
                  <a:t>i</a:t>
                </a:r>
                <a:r>
                  <a:rPr lang="en-US" altLang="zh-CN" sz="1050" b="1" dirty="0">
                    <a:latin typeface="+mn-ea"/>
                  </a:rPr>
                  <a:t>&gt;=70 &amp;&amp; </a:t>
                </a:r>
                <a:r>
                  <a:rPr lang="en-US" altLang="zh-CN" sz="1050" b="1" dirty="0" err="1">
                    <a:latin typeface="+mn-ea"/>
                  </a:rPr>
                  <a:t>i</a:t>
                </a:r>
                <a:r>
                  <a:rPr lang="en-US" altLang="zh-CN" sz="1050" b="1" dirty="0">
                    <a:latin typeface="+mn-ea"/>
                  </a:rPr>
                  <a:t>&lt;80</a:t>
                </a:r>
                <a:endParaRPr kumimoji="1" lang="zh-CN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5" name="直接箭头连接符 34"/>
              <p:cNvCxnSpPr/>
              <p:nvPr/>
            </p:nvCxnSpPr>
            <p:spPr bwMode="auto">
              <a:xfrm flipH="1">
                <a:off x="8738210" y="4788267"/>
                <a:ext cx="3153" cy="3153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36" name="矩形 35"/>
              <p:cNvSpPr/>
              <p:nvPr/>
            </p:nvSpPr>
            <p:spPr bwMode="auto">
              <a:xfrm>
                <a:off x="8187367" y="5078278"/>
                <a:ext cx="1177489" cy="321617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中</a:t>
                </a:r>
                <a:endPara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8818907" y="4781962"/>
                <a:ext cx="172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Y</a:t>
                </a:r>
                <a:endParaRPr lang="en-US" altLang="zh-CN" dirty="0"/>
              </a:p>
            </p:txBody>
          </p:sp>
          <p:cxnSp>
            <p:nvCxnSpPr>
              <p:cNvPr id="38" name="连接符: 肘形 37"/>
              <p:cNvCxnSpPr>
                <a:stCxn id="36" idx="2"/>
              </p:cNvCxnSpPr>
              <p:nvPr/>
            </p:nvCxnSpPr>
            <p:spPr bwMode="auto">
              <a:xfrm rot="5400000">
                <a:off x="6517413" y="4747736"/>
                <a:ext cx="1606541" cy="2910858"/>
              </a:xfrm>
              <a:prstGeom prst="bentConnector2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45" name="文本框 44"/>
              <p:cNvSpPr txBox="1"/>
              <p:nvPr/>
            </p:nvSpPr>
            <p:spPr>
              <a:xfrm>
                <a:off x="8374081" y="3396950"/>
                <a:ext cx="267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N</a:t>
                </a:r>
                <a:endParaRPr lang="zh-CN" altLang="en-US" dirty="0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4120913" y="2946419"/>
              <a:ext cx="5769321" cy="2363495"/>
              <a:chOff x="4447201" y="3396950"/>
              <a:chExt cx="5236873" cy="3172999"/>
            </a:xfrm>
          </p:grpSpPr>
          <p:sp>
            <p:nvSpPr>
              <p:cNvPr id="61" name="菱形 60"/>
              <p:cNvSpPr/>
              <p:nvPr/>
            </p:nvSpPr>
            <p:spPr bwMode="auto">
              <a:xfrm>
                <a:off x="7821415" y="3972368"/>
                <a:ext cx="1862659" cy="827351"/>
              </a:xfrm>
              <a:prstGeom prst="diamond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50" b="1" dirty="0" err="1">
                    <a:latin typeface="+mn-ea"/>
                  </a:rPr>
                  <a:t>i</a:t>
                </a:r>
                <a:r>
                  <a:rPr lang="en-US" altLang="zh-CN" sz="1050" b="1" dirty="0">
                    <a:latin typeface="+mn-ea"/>
                  </a:rPr>
                  <a:t>&gt;=60 &amp;&amp; </a:t>
                </a:r>
                <a:r>
                  <a:rPr lang="en-US" altLang="zh-CN" sz="1050" b="1" dirty="0" err="1">
                    <a:latin typeface="+mn-ea"/>
                  </a:rPr>
                  <a:t>i</a:t>
                </a:r>
                <a:r>
                  <a:rPr lang="en-US" altLang="zh-CN" sz="1050" b="1" dirty="0">
                    <a:latin typeface="+mn-ea"/>
                  </a:rPr>
                  <a:t>&lt;70</a:t>
                </a:r>
                <a:endParaRPr kumimoji="1" lang="zh-CN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2" name="直接箭头连接符 61"/>
              <p:cNvCxnSpPr/>
              <p:nvPr/>
            </p:nvCxnSpPr>
            <p:spPr bwMode="auto">
              <a:xfrm flipH="1">
                <a:off x="8738210" y="4788267"/>
                <a:ext cx="3153" cy="3153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63" name="矩形 62"/>
              <p:cNvSpPr/>
              <p:nvPr/>
            </p:nvSpPr>
            <p:spPr bwMode="auto">
              <a:xfrm>
                <a:off x="8187367" y="5078278"/>
                <a:ext cx="1218770" cy="497631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及格</a:t>
                </a:r>
                <a:endPara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" name="文本框 2047"/>
              <p:cNvSpPr txBox="1"/>
              <p:nvPr/>
            </p:nvSpPr>
            <p:spPr>
              <a:xfrm>
                <a:off x="8818907" y="4781962"/>
                <a:ext cx="172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Y</a:t>
                </a:r>
                <a:endParaRPr lang="en-US" altLang="zh-CN" dirty="0"/>
              </a:p>
            </p:txBody>
          </p:sp>
          <p:cxnSp>
            <p:nvCxnSpPr>
              <p:cNvPr id="2049" name="连接符: 肘形 2048"/>
              <p:cNvCxnSpPr>
                <a:stCxn id="63" idx="2"/>
              </p:cNvCxnSpPr>
              <p:nvPr/>
            </p:nvCxnSpPr>
            <p:spPr bwMode="auto">
              <a:xfrm rot="5400000">
                <a:off x="6124956" y="3898152"/>
                <a:ext cx="994042" cy="4349552"/>
              </a:xfrm>
              <a:prstGeom prst="bentConnector2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2051" name="文本框 2050"/>
              <p:cNvSpPr txBox="1"/>
              <p:nvPr/>
            </p:nvSpPr>
            <p:spPr>
              <a:xfrm>
                <a:off x="8374081" y="3396950"/>
                <a:ext cx="267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N</a:t>
                </a:r>
                <a:endParaRPr lang="zh-CN" altLang="en-US" dirty="0"/>
              </a:p>
            </p:txBody>
          </p:sp>
        </p:grpSp>
        <p:cxnSp>
          <p:nvCxnSpPr>
            <p:cNvPr id="2052" name="连接符: 肘形 2051"/>
            <p:cNvCxnSpPr/>
            <p:nvPr/>
          </p:nvCxnSpPr>
          <p:spPr bwMode="auto">
            <a:xfrm>
              <a:off x="8226043" y="3339932"/>
              <a:ext cx="609827" cy="132449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grpSp>
          <p:nvGrpSpPr>
            <p:cNvPr id="2054" name="组合 2053"/>
            <p:cNvGrpSpPr/>
            <p:nvPr/>
          </p:nvGrpSpPr>
          <p:grpSpPr>
            <a:xfrm>
              <a:off x="4059265" y="3317093"/>
              <a:ext cx="7411725" cy="2001032"/>
              <a:chOff x="2939873" y="3396950"/>
              <a:chExt cx="6744201" cy="2686392"/>
            </a:xfrm>
          </p:grpSpPr>
          <p:sp>
            <p:nvSpPr>
              <p:cNvPr id="2055" name="菱形 2054"/>
              <p:cNvSpPr/>
              <p:nvPr/>
            </p:nvSpPr>
            <p:spPr bwMode="auto">
              <a:xfrm>
                <a:off x="7821415" y="3972368"/>
                <a:ext cx="1862659" cy="827351"/>
              </a:xfrm>
              <a:prstGeom prst="diamond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200" b="1" dirty="0" err="1">
                    <a:latin typeface="+mn-ea"/>
                  </a:rPr>
                  <a:t>i</a:t>
                </a:r>
                <a:r>
                  <a:rPr lang="en-US" altLang="zh-CN" sz="1200" b="1" dirty="0">
                    <a:latin typeface="+mn-ea"/>
                  </a:rPr>
                  <a:t>&gt;=0 &amp;&amp; </a:t>
                </a:r>
                <a:r>
                  <a:rPr lang="en-US" altLang="zh-CN" sz="1200" b="1" dirty="0" err="1">
                    <a:latin typeface="+mn-ea"/>
                  </a:rPr>
                  <a:t>i</a:t>
                </a:r>
                <a:r>
                  <a:rPr lang="en-US" altLang="zh-CN" sz="1200" b="1" dirty="0">
                    <a:latin typeface="+mn-ea"/>
                  </a:rPr>
                  <a:t>&lt;60</a:t>
                </a:r>
                <a:endParaRPr kumimoji="1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056" name="直接箭头连接符 2055"/>
              <p:cNvCxnSpPr/>
              <p:nvPr/>
            </p:nvCxnSpPr>
            <p:spPr bwMode="auto">
              <a:xfrm flipH="1">
                <a:off x="8738210" y="4788267"/>
                <a:ext cx="3153" cy="31531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2057" name="矩形 2056"/>
              <p:cNvSpPr/>
              <p:nvPr/>
            </p:nvSpPr>
            <p:spPr bwMode="auto">
              <a:xfrm>
                <a:off x="8187367" y="5078279"/>
                <a:ext cx="1221760" cy="464866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不及格</a:t>
                </a:r>
                <a:endPara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文本框 2057"/>
              <p:cNvSpPr txBox="1"/>
              <p:nvPr/>
            </p:nvSpPr>
            <p:spPr>
              <a:xfrm>
                <a:off x="8818907" y="4781962"/>
                <a:ext cx="172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Y</a:t>
                </a:r>
                <a:endParaRPr lang="en-US" altLang="zh-CN" dirty="0"/>
              </a:p>
            </p:txBody>
          </p:sp>
          <p:cxnSp>
            <p:nvCxnSpPr>
              <p:cNvPr id="2059" name="连接符: 肘形 2058"/>
              <p:cNvCxnSpPr>
                <a:stCxn id="2057" idx="2"/>
              </p:cNvCxnSpPr>
              <p:nvPr/>
            </p:nvCxnSpPr>
            <p:spPr bwMode="auto">
              <a:xfrm rot="5400000">
                <a:off x="5598961" y="2884056"/>
                <a:ext cx="540198" cy="5858374"/>
              </a:xfrm>
              <a:prstGeom prst="bentConnector2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</p:spPr>
          </p:cxnSp>
          <p:sp>
            <p:nvSpPr>
              <p:cNvPr id="2060" name="文本框 2059"/>
              <p:cNvSpPr txBox="1"/>
              <p:nvPr/>
            </p:nvSpPr>
            <p:spPr>
              <a:xfrm>
                <a:off x="8374081" y="3396950"/>
                <a:ext cx="267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N</a:t>
                </a:r>
                <a:endParaRPr lang="zh-CN" altLang="en-US" dirty="0"/>
              </a:p>
            </p:txBody>
          </p:sp>
        </p:grpSp>
        <p:cxnSp>
          <p:nvCxnSpPr>
            <p:cNvPr id="2061" name="连接符: 肘形 2060"/>
            <p:cNvCxnSpPr/>
            <p:nvPr/>
          </p:nvCxnSpPr>
          <p:spPr bwMode="auto">
            <a:xfrm>
              <a:off x="9828544" y="3667243"/>
              <a:ext cx="609827" cy="132449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cxnSp>
        <p:nvCxnSpPr>
          <p:cNvPr id="2072" name="连接符: 肘形 2071"/>
          <p:cNvCxnSpPr>
            <a:endCxn id="2073" idx="0"/>
          </p:cNvCxnSpPr>
          <p:nvPr/>
        </p:nvCxnSpPr>
        <p:spPr bwMode="auto">
          <a:xfrm>
            <a:off x="9988941" y="3835217"/>
            <a:ext cx="581833" cy="47356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073" name="矩形 2072"/>
          <p:cNvSpPr/>
          <p:nvPr/>
        </p:nvSpPr>
        <p:spPr bwMode="auto">
          <a:xfrm>
            <a:off x="9998480" y="4308786"/>
            <a:ext cx="1144588" cy="31366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>
                <a:latin typeface="+mn-ea"/>
              </a:rPr>
              <a:t>输入错误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078" name="连接符: 肘形 2077"/>
          <p:cNvCxnSpPr/>
          <p:nvPr/>
        </p:nvCxnSpPr>
        <p:spPr bwMode="auto">
          <a:xfrm rot="5400000">
            <a:off x="7654980" y="2136971"/>
            <a:ext cx="375219" cy="541617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080" name="文本框 2079"/>
          <p:cNvSpPr txBox="1"/>
          <p:nvPr/>
        </p:nvSpPr>
        <p:spPr>
          <a:xfrm>
            <a:off x="10068763" y="3461362"/>
            <a:ext cx="247260" cy="25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2081" name="矩形 2080"/>
          <p:cNvSpPr/>
          <p:nvPr/>
        </p:nvSpPr>
        <p:spPr bwMode="auto">
          <a:xfrm>
            <a:off x="3317046" y="5172294"/>
            <a:ext cx="1266285" cy="32431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程序结束</a:t>
            </a:r>
            <a:endParaRPr kumimoji="1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一个有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行代码的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_5__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_2__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__4_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_9__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__8_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总结：给出大括号配对的基本准则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自下而上，忽略</a:t>
            </a:r>
            <a:r>
              <a:rPr kumimoji="1" lang="en-US" altLang="zh-CN" sz="1600" b="1" dirty="0">
                <a:latin typeface="+mn-ea"/>
              </a:rPr>
              <a:t>{</a:t>
            </a:r>
            <a:r>
              <a:rPr kumimoji="1" lang="zh-CN" altLang="en-US" sz="1600" b="1" dirty="0">
                <a:latin typeface="+mn-ea"/>
              </a:rPr>
              <a:t>，以</a:t>
            </a:r>
            <a:r>
              <a:rPr kumimoji="1" lang="en-US" altLang="zh-CN" sz="1600" b="1" dirty="0">
                <a:latin typeface="+mn-ea"/>
              </a:rPr>
              <a:t>}</a:t>
            </a:r>
            <a:r>
              <a:rPr kumimoji="1" lang="zh-CN" altLang="en-US" sz="1600" b="1" dirty="0">
                <a:latin typeface="+mn-ea"/>
              </a:rPr>
              <a:t>为准向上匹配为配对的</a:t>
            </a:r>
            <a:r>
              <a:rPr kumimoji="1" lang="en-US" altLang="zh-CN" sz="1600" b="1" dirty="0">
                <a:latin typeface="+mn-ea"/>
              </a:rPr>
              <a:t>{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        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3)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3____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D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3____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E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3)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E;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6.C</a:t>
            </a:r>
            <a:r>
              <a:rPr kumimoji="1" lang="zh-CN" altLang="en-US" sz="1600" b="1" dirty="0">
                <a:latin typeface="+mn-ea"/>
              </a:rPr>
              <a:t>的基础上，在箭头位置插入语句</a:t>
            </a:r>
            <a:r>
              <a:rPr kumimoji="1" lang="en-US" altLang="zh-CN" sz="1600" b="1" dirty="0">
                <a:latin typeface="+mn-ea"/>
              </a:rPr>
              <a:t>F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、请构造一个符合此要求的测试程序，并给出该程序的程序及编译错误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、请说明错误原因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从编译器思维看，第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行和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和第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是并列的，整个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语句到第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行以前就结束了，因此第</a:t>
            </a:r>
            <a:r>
              <a:rPr kumimoji="1" lang="en-US" altLang="zh-CN" sz="1600" b="1" dirty="0">
                <a:latin typeface="+mn-ea"/>
              </a:rPr>
              <a:t>17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else</a:t>
            </a:r>
            <a:r>
              <a:rPr kumimoji="1" lang="zh-CN" altLang="en-US" sz="1600" b="1" dirty="0">
                <a:latin typeface="+mn-ea"/>
              </a:rPr>
              <a:t>没有与之匹配的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，被判定为非法</a:t>
            </a:r>
            <a:endParaRPr kumimoji="1" lang="en-US" altLang="zh-CN" sz="1600" b="1" dirty="0">
              <a:latin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409902" y="3941380"/>
            <a:ext cx="60631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574" y="2508631"/>
            <a:ext cx="4515480" cy="3524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67" y="1323975"/>
            <a:ext cx="3620288" cy="52723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813738" y="1323976"/>
            <a:ext cx="6025712" cy="25963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4" y="1323974"/>
            <a:ext cx="1625569" cy="25963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92114" y="3920359"/>
            <a:ext cx="1625569" cy="2613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4813737" y="3916911"/>
            <a:ext cx="6025713" cy="2617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2217683" y="1330358"/>
            <a:ext cx="2596055" cy="258655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左侧代码按缩进格式排版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A;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B;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2217682" y="3916912"/>
            <a:ext cx="2596055" cy="26172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左侧代码按缩进格式排版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A;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B;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a,b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a &gt;&gt; b;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if (a&gt;b)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else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b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&gt; b ?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a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: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b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//1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(a&gt;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//2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("max=%d", 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//3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return 0;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547945" y="1323975"/>
            <a:ext cx="429150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12 34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34 12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//1 //2 //3</a:t>
            </a:r>
            <a:r>
              <a:rPr kumimoji="1" lang="zh-CN" altLang="en-US" sz="1600" b="1" dirty="0">
                <a:latin typeface="+mn-ea"/>
              </a:rPr>
              <a:t>这三种条件运算符的使用，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按你的喜欢程度排序为</a:t>
            </a:r>
            <a:r>
              <a:rPr kumimoji="1" lang="en-US" altLang="zh-CN" sz="1600" b="1" dirty="0">
                <a:latin typeface="+mn-ea"/>
              </a:rPr>
              <a:t>_231_____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339" y="569412"/>
            <a:ext cx="3157625" cy="169451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087" y="2639125"/>
            <a:ext cx="3069185" cy="15276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"Hello" : 123;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a&gt;b ?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a :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'A' : 123;    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编译正确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85793" y="1323975"/>
            <a:ext cx="49536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、给出编译报错的截图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、条件表达式使用的三句中，前两句报错，最后一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句正确，总结下条件表达式使用时的限制规则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提示：注意表达式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和表达式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的类型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第一句：“</a:t>
            </a:r>
            <a:r>
              <a:rPr kumimoji="1" lang="en-US" altLang="zh-CN" sz="1600" b="1" dirty="0">
                <a:latin typeface="+mn-ea"/>
              </a:rPr>
              <a:t>Hello</a:t>
            </a:r>
            <a:r>
              <a:rPr kumimoji="1" lang="zh-CN" altLang="en-US" sz="1600" b="1" dirty="0">
                <a:latin typeface="+mn-ea"/>
              </a:rPr>
              <a:t>”字符串和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整型之间无相互转换关系；第二句：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流方式和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函数之间也无相互转换关系；第三句：字符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和整型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之间有相互转换关系，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可以转换成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码。由此可见，表达式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和表达式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之间必须有相互转换关系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3180" y="1706602"/>
            <a:ext cx="7020905" cy="2286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14" y="1935234"/>
            <a:ext cx="11206130" cy="19734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程序的期望，是当输入的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时，分段输出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优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及格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不及格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否则输出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、程序不完全正确，找出不符合期望的两个数据区间并给出运行截图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不需要改对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10360" y="3024476"/>
            <a:ext cx="131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[101,109]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610360" y="5090605"/>
            <a:ext cx="150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[-9,-1]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758" y="4770639"/>
            <a:ext cx="3172326" cy="112566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409" y="4755140"/>
            <a:ext cx="3079677" cy="11411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969" y="2838703"/>
            <a:ext cx="3214517" cy="12035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337" y="2893479"/>
            <a:ext cx="3192557" cy="122381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const int k=5;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k+2: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8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default</a:t>
            </a:r>
            <a:r>
              <a:rPr kumimoji="1" lang="zh-CN" altLang="en-US" sz="1600" b="1" dirty="0">
                <a:latin typeface="+mn-ea"/>
              </a:rPr>
              <a:t>的位置进行了交换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写为常变量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常量形式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验证此程序与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的功能是否完全一致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（即：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中正确的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此程序中同样正确；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错误的，此程序中同样错误）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8.B____</a:t>
            </a:r>
            <a:r>
              <a:rPr kumimoji="1" lang="zh-CN" altLang="en-US" sz="1600" b="1" dirty="0">
                <a:latin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不完全一致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如果不完全一致，给出表现不一致的测试数据的运行截图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9829" y="2560906"/>
            <a:ext cx="2392341" cy="84205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507" y="2579912"/>
            <a:ext cx="2392341" cy="82305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536" y="2560907"/>
            <a:ext cx="2457758" cy="89108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606" y="2626545"/>
            <a:ext cx="2160421" cy="82544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8537" y="2576408"/>
            <a:ext cx="2248165" cy="82827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2509" y="2594921"/>
            <a:ext cx="2346813" cy="82305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8969" y="3388776"/>
            <a:ext cx="2429966" cy="82305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9366" y="3402343"/>
            <a:ext cx="2418997" cy="81010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9893" y="3456431"/>
            <a:ext cx="2197043" cy="7689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8964" y="3422115"/>
            <a:ext cx="2418997" cy="791469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2100" y="3381942"/>
            <a:ext cx="2444949" cy="85091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54892" y="3422115"/>
            <a:ext cx="2345982" cy="823053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58611" y="4211829"/>
            <a:ext cx="2327871" cy="788472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86859" y="4189347"/>
            <a:ext cx="2340214" cy="818526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67083" y="4189124"/>
            <a:ext cx="2600257" cy="86476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24366" y="4233160"/>
            <a:ext cx="2429967" cy="795262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91786" y="4200249"/>
            <a:ext cx="2315041" cy="86204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02175" y="4245168"/>
            <a:ext cx="2482747" cy="903347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1957" y="4998211"/>
            <a:ext cx="2169996" cy="740114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21169" y="5043792"/>
            <a:ext cx="2197043" cy="788013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20888" y="5070608"/>
            <a:ext cx="2216333" cy="790082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93982" y="5067146"/>
            <a:ext cx="2235992" cy="790714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70875" y="5075606"/>
            <a:ext cx="2193124" cy="775869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02175" y="5083661"/>
            <a:ext cx="2302819" cy="801682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41618" y="5857860"/>
            <a:ext cx="2761814" cy="927042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28414" y="1480079"/>
            <a:ext cx="2340214" cy="840077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09829" y="1514509"/>
            <a:ext cx="2288732" cy="78977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k=5;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k+2: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8.B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const 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int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后的表达式取值必须是常量，此处的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是变量，当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变化时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后表达式的值也会变化，报错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5282" y="2209420"/>
            <a:ext cx="4505954" cy="25721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36" y="2606443"/>
            <a:ext cx="3839111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4+2:</a:t>
            </a:r>
            <a:endParaRPr kumimoji="1" lang="en-US" altLang="zh-CN" sz="9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的基础上，多了一个</a:t>
            </a:r>
            <a:r>
              <a:rPr kumimoji="1" lang="en-US" altLang="zh-CN" sz="1600" b="1" dirty="0">
                <a:latin typeface="+mn-ea"/>
              </a:rPr>
              <a:t>case 4+2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4+2=6,</a:t>
            </a:r>
            <a:r>
              <a:rPr kumimoji="1" lang="zh-CN" altLang="en-US" sz="1600" b="1" dirty="0">
                <a:latin typeface="+mn-ea"/>
              </a:rPr>
              <a:t>上一行已经有</a:t>
            </a:r>
            <a:r>
              <a:rPr kumimoji="1" lang="en-US" altLang="zh-CN" sz="1600" b="1" dirty="0">
                <a:latin typeface="+mn-ea"/>
              </a:rPr>
              <a:t>case6</a:t>
            </a:r>
            <a:r>
              <a:rPr kumimoji="1" lang="zh-CN" altLang="en-US" sz="1600" b="1" dirty="0">
                <a:latin typeface="+mn-ea"/>
              </a:rPr>
              <a:t>，这里与上一行重复了，若输入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则计算机不知道该执行哪个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5240" y="2318437"/>
            <a:ext cx="3877216" cy="19052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float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后都应该跟整型，假如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后没有跟整型表达式，而是实数，则无法直接判断该数和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后的整型常量相等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5828" y="2387537"/>
            <a:ext cx="5849166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的基础上，删除</a:t>
            </a:r>
            <a:r>
              <a:rPr kumimoji="1" lang="en-US" altLang="zh-CN" sz="1600" b="1" dirty="0">
                <a:latin typeface="+mn-ea"/>
              </a:rPr>
              <a:t>case 8</a:t>
            </a:r>
            <a:r>
              <a:rPr kumimoji="1" lang="zh-CN" altLang="en-US" sz="1600" b="1" dirty="0">
                <a:latin typeface="+mn-ea"/>
              </a:rPr>
              <a:t>后面的</a:t>
            </a:r>
            <a:r>
              <a:rPr kumimoji="1" lang="en-US" altLang="zh-CN" sz="1600" b="1" dirty="0">
                <a:latin typeface="+mn-ea"/>
              </a:rPr>
              <a:t>break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运行结果不一致的测试数据即截图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的作用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若一个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的最后没有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，则在执行这个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的语句后会接着执行下一个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的作用是结束这个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103" y="2176217"/>
            <a:ext cx="4210638" cy="175284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score;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switch(score/10) {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9: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8: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7: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6: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5: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4: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3: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2: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1: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case 0: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default: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break; 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程序同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，将其改正确，即所有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之外的数据均给出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即可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4170" y="1614389"/>
            <a:ext cx="3434546" cy="52101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16" y="1664206"/>
            <a:ext cx="3860305" cy="142644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15" y="2987235"/>
            <a:ext cx="3860306" cy="134620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13" y="4340678"/>
            <a:ext cx="3956381" cy="131578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12" y="5615275"/>
            <a:ext cx="3481776" cy="12092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思考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92113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如果将成绩区间对应为：</a:t>
            </a:r>
            <a:r>
              <a:rPr kumimoji="1" lang="en-US" altLang="zh-CN" sz="1600" b="1" dirty="0">
                <a:latin typeface="+mn-ea"/>
              </a:rPr>
              <a:t>[84-100]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优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[68-84)  - </a:t>
            </a:r>
            <a:r>
              <a:rPr kumimoji="1" lang="zh-CN" altLang="en-US" sz="1600" b="1" dirty="0">
                <a:latin typeface="+mn-ea"/>
              </a:rPr>
              <a:t>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[55-68)</a:t>
            </a:r>
            <a:r>
              <a:rPr kumimoji="1" lang="zh-CN" altLang="en-US" sz="1600" b="1" dirty="0">
                <a:latin typeface="+mn-ea"/>
              </a:rPr>
              <a:t>  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 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[0-55)   - </a:t>
            </a:r>
            <a:r>
              <a:rPr kumimoji="1" lang="zh-CN" altLang="en-US" sz="1600" b="1" dirty="0">
                <a:latin typeface="+mn-ea"/>
              </a:rPr>
              <a:t>不及格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、用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语句完成该程序并贴图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语句，该如何实现？（如果程序太长，允许只截取能说明问题的部分即可）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可以用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（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），要写</a:t>
            </a:r>
            <a:r>
              <a:rPr kumimoji="1" lang="en-US" altLang="zh-CN" sz="1600" b="1" dirty="0">
                <a:latin typeface="+mn-ea"/>
              </a:rPr>
              <a:t>101</a:t>
            </a:r>
            <a:r>
              <a:rPr kumimoji="1" lang="zh-CN" altLang="en-US" sz="1600" b="1" dirty="0">
                <a:latin typeface="+mn-ea"/>
              </a:rPr>
              <a:t>个</a:t>
            </a:r>
            <a:r>
              <a:rPr kumimoji="1" lang="en-US" altLang="zh-CN" sz="1600" b="1" dirty="0">
                <a:latin typeface="+mn-ea"/>
              </a:rPr>
              <a:t>case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、如果学生成绩带小数点，即</a:t>
            </a:r>
            <a:r>
              <a:rPr kumimoji="1" lang="en-US" altLang="zh-CN" sz="1600" b="1" dirty="0">
                <a:latin typeface="+mn-ea"/>
              </a:rPr>
              <a:t>"xx.5"</a:t>
            </a:r>
            <a:r>
              <a:rPr kumimoji="1" lang="zh-CN" altLang="en-US" sz="1600" b="1" dirty="0">
                <a:latin typeface="+mn-ea"/>
              </a:rPr>
              <a:t>形式，能用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语句吗？能用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语句吗？请解释原因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可以用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，即上面的程序。一般来说不可以用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，但可以强制转换：首先用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区分出</a:t>
            </a:r>
            <a:r>
              <a:rPr kumimoji="1" lang="en-US" altLang="zh-CN" sz="1600" b="1" dirty="0">
                <a:latin typeface="+mn-ea"/>
              </a:rPr>
              <a:t>[0-100]</a:t>
            </a:r>
            <a:r>
              <a:rPr kumimoji="1" lang="zh-CN" altLang="en-US" sz="1600" b="1" dirty="0">
                <a:latin typeface="+mn-ea"/>
              </a:rPr>
              <a:t>的区间，再</a:t>
            </a:r>
            <a:r>
              <a:rPr kumimoji="1" lang="zh-CN" sz="1600" b="1" dirty="0">
                <a:latin typeface="+mn-ea"/>
              </a:rPr>
              <a:t>用</a:t>
            </a:r>
            <a:r>
              <a:rPr kumimoji="1" lang="en-US" altLang="zh-CN" sz="1600" b="1" dirty="0">
                <a:latin typeface="+mn-ea"/>
              </a:rPr>
              <a:t>switch(int(score)/10)</a:t>
            </a:r>
            <a:r>
              <a:rPr kumimoji="1" lang="zh-CN" altLang="en-US" sz="1600" b="1" dirty="0">
                <a:latin typeface="+mn-ea"/>
              </a:rPr>
              <a:t>，因为当该小数是正数时，强制转为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用的是去尾法；假如成绩的小数部分只可能是</a:t>
            </a:r>
            <a:r>
              <a:rPr kumimoji="1" lang="en-US" altLang="zh-CN" sz="1600" b="1" dirty="0">
                <a:latin typeface="+mn-ea"/>
              </a:rPr>
              <a:t>0.5</a:t>
            </a:r>
            <a:r>
              <a:rPr kumimoji="1" lang="zh-CN" altLang="en-US" sz="1600" b="1" dirty="0">
                <a:latin typeface="+mn-ea"/>
              </a:rPr>
              <a:t>的话，也可以将成绩乘以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变为整数，强制转换为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后再用</a:t>
            </a:r>
            <a:r>
              <a:rPr kumimoji="1" lang="en-US" altLang="zh-CN" sz="1600" b="1" dirty="0">
                <a:latin typeface="+mn-ea"/>
              </a:rPr>
              <a:t>switch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、总结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语句使用时的注意事项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①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（）中必须是表达式取值应当是整型，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后必须是表达式应当是整型常量；②不能忘记写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，否则会继续执行下一个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；③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后的数字应该是不同的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switch-case</a:t>
            </a:r>
            <a:r>
              <a:rPr kumimoji="1" lang="zh-CN" altLang="en-US" sz="1600" b="1" dirty="0">
                <a:latin typeface="+mn-ea"/>
              </a:rPr>
              <a:t>语句能完全取代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latin typeface="+mn-ea"/>
              </a:rPr>
              <a:t>不能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需要文字描述的地方，尽可能用简单的文字描述清楚即可，不需要卷字数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7326" y="30542"/>
            <a:ext cx="3691278" cy="3484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765" y="0"/>
            <a:ext cx="2416810" cy="429387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FkYTAzODc1OTI4MjVhMmUxM2FjNmFjZGNmZmI0ZTQ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18393</Words>
  <Application>WPS 演示</Application>
  <PresentationFormat>宽屏</PresentationFormat>
  <Paragraphs>1500</Paragraphs>
  <Slides>43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€</cp:lastModifiedBy>
  <cp:revision>220</cp:revision>
  <dcterms:created xsi:type="dcterms:W3CDTF">2020-08-13T13:39:00Z</dcterms:created>
  <dcterms:modified xsi:type="dcterms:W3CDTF">2024-03-25T04:47:13Z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5A35251A11E24F218698DBD76680B447_12</vt:lpwstr>
  </property>
  <property fmtid="{D5CDD505-2E9C-101B-9397-08002B2CF9AE}" pid="3" name="KSOProductBuildVer">
    <vt:lpwstr>2052-12.1.0.16412</vt:lpwstr>
  </property>
</Properties>
</file>