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1" r:id="rId2"/>
    <p:sldId id="277" r:id="rId3"/>
    <p:sldId id="279" r:id="rId4"/>
    <p:sldId id="311" r:id="rId5"/>
    <p:sldId id="313" r:id="rId6"/>
    <p:sldId id="314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95E8BF-D82D-442B-83BE-752C0B26DE0C}" v="5" dt="2024-06-16T03:03:21.0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8895E8BF-D82D-442B-83BE-752C0B26DE0C}"/>
    <pc:docChg chg="addSld delSld modSld sldOrd">
      <pc:chgData name="xi sheng" userId="b3919e0d8ca6a452" providerId="LiveId" clId="{8895E8BF-D82D-442B-83BE-752C0B26DE0C}" dt="2024-06-16T03:03:22.624" v="7"/>
      <pc:docMkLst>
        <pc:docMk/>
      </pc:docMkLst>
      <pc:sldChg chg="add ord">
        <pc:chgData name="xi sheng" userId="b3919e0d8ca6a452" providerId="LiveId" clId="{8895E8BF-D82D-442B-83BE-752C0B26DE0C}" dt="2024-06-16T03:03:22.624" v="7"/>
        <pc:sldMkLst>
          <pc:docMk/>
          <pc:sldMk cId="920813886" sldId="271"/>
        </pc:sldMkLst>
      </pc:sldChg>
      <pc:sldChg chg="add del">
        <pc:chgData name="xi sheng" userId="b3919e0d8ca6a452" providerId="LiveId" clId="{8895E8BF-D82D-442B-83BE-752C0B26DE0C}" dt="2024-06-16T01:43:24.833" v="2"/>
        <pc:sldMkLst>
          <pc:docMk/>
          <pc:sldMk cId="953606440" sldId="311"/>
        </pc:sldMkLst>
      </pc:sldChg>
      <pc:sldChg chg="add">
        <pc:chgData name="xi sheng" userId="b3919e0d8ca6a452" providerId="LiveId" clId="{8895E8BF-D82D-442B-83BE-752C0B26DE0C}" dt="2024-06-16T01:43:28.880" v="3"/>
        <pc:sldMkLst>
          <pc:docMk/>
          <pc:sldMk cId="3570498731" sldId="313"/>
        </pc:sldMkLst>
      </pc:sldChg>
      <pc:sldChg chg="add">
        <pc:chgData name="xi sheng" userId="b3919e0d8ca6a452" providerId="LiveId" clId="{8895E8BF-D82D-442B-83BE-752C0B26DE0C}" dt="2024-06-16T01:43:35.211" v="4"/>
        <pc:sldMkLst>
          <pc:docMk/>
          <pc:sldMk cId="2774963951" sldId="31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4E6A8F-00CB-4E33-8B60-299D7C3219ED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3FE73-7067-4FDF-9756-3E4A765C4E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829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4FE548-12B0-40B4-84E9-249990813E1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11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4FE548-12B0-40B4-84E9-249990813E1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615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4FE548-12B0-40B4-84E9-249990813E1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593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002268-DD36-BBEA-4881-EC3AA5B61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D1AEF0-BBC3-9D70-CA89-0AE1DB1B9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C1E44E-9FEF-EE53-5FF3-E3E982D8D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A286A-DAA5-44EA-96E3-045B0A72CD61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686EBD-2B82-63E5-5783-22C0D715A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2F02B0-2C02-C40B-B7D6-210F9E73F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8425-B909-430A-8829-1636080EB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42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BBB4F-E187-25C1-A038-8227309FD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FB0491-928B-ED05-8AD0-98C3DBE3D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E37593-BFC0-46D7-35E3-A9BEEC773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A286A-DAA5-44EA-96E3-045B0A72CD61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8372B0-4D2C-D839-6477-5F579CED7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293524-A388-416A-1738-331CF5853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8425-B909-430A-8829-1636080EB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831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22382-899A-C704-9180-7B0851713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A48B84-85D3-58CB-DA93-E6BC5C545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A26236-652D-20E2-0819-F8695C79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A286A-DAA5-44EA-96E3-045B0A72CD61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FB652E-A5CD-D7D3-770D-06BA9CE9E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8F696C-4221-A511-2B70-D0D595B9F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8425-B909-430A-8829-1636080EB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33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92173-80EC-1845-1E41-EE3D72170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55905C-DCE9-42F6-3890-AB0F284803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13F544-16BC-FECD-34F0-7DB5C02B6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7E4A51-7BC2-CCBB-E48C-6E77563F1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A286A-DAA5-44EA-96E3-045B0A72CD61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FE8865-ECF9-F18C-72C2-1B5319131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3F6E04-0A86-284F-5C32-9270EEAD7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8425-B909-430A-8829-1636080EB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574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C35A64-8016-EC65-CACE-1FE518644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7276EB-B685-BD17-1EDE-0D2767656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AF23D4-AA19-AE6E-5A80-D0F628215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7BDA98-1E43-D8B5-571E-F45A43DE0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921691C-44B9-A7E8-7F33-0AA1EF97DA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AD77B59-A7C2-A585-2024-7CB5A74AF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A286A-DAA5-44EA-96E3-045B0A72CD61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5A5F539-604E-4118-D581-CAACA8EA3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DC340AB-C2CB-44A0-E22C-35EAB35D7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8425-B909-430A-8829-1636080EB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28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40541A-9D74-E5D0-ECA3-4D4176F1C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8A6FC5-6E81-7C8D-C9F3-BF2012801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A286A-DAA5-44EA-96E3-045B0A72CD61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D120100-B872-AA5B-D2EA-31D29A2E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8D9B59-FF30-A2C4-8BF2-B8A41048B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8425-B909-430A-8829-1636080EB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337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45D2D5-B41B-1DE1-A1F8-225491F1B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A286A-DAA5-44EA-96E3-045B0A72CD61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CD25704-D37B-705F-616C-0EE864DE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80B4DC-660F-CA51-4B9B-E8D1E21F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8425-B909-430A-8829-1636080EB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653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739FE-0695-A000-5447-ED762F9BA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6F4A47-D128-CBB0-BAD4-35337B334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213D0D-2D63-7F5E-E713-A7586DF8D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5DFF81-55E4-18FB-ED17-ADD9504A1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A286A-DAA5-44EA-96E3-045B0A72CD61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D8BFDF-824D-6351-7C8B-542D017A3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A7F4AF-F6C5-F401-4EA7-56750C5B3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8425-B909-430A-8829-1636080EB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020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AE166-3678-B675-A1A9-828F0E97F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010EF78-5FCD-D157-2E94-49291C825D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51C767-1376-2B6C-48A8-91A2D446F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5B06FC-D08E-22F7-1D48-67238DF55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A286A-DAA5-44EA-96E3-045B0A72CD61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98DD70-9F3A-670E-566A-8116FE2D9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B3DC55-B94C-99A2-52D0-323B9FFDE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8425-B909-430A-8829-1636080EB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873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EFF94D-AA19-9034-C6F9-B42020AED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08D9EB-2718-C4E8-6B6C-E34E4DC47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AD778F-D624-963E-F144-D677C3D8C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A286A-DAA5-44EA-96E3-045B0A72CD61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D2070D-4EF0-EB3D-2A17-9F5EE870D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0F2CF2-D6A0-82E5-EAFD-6AF441C6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8425-B909-430A-8829-1636080EB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301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0C6B9AF-BA37-8717-E8A4-5B37758CB5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C9E8A7-B1E5-40C5-7D6C-F96CE9FD8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001B62-C7EB-9D5F-EA69-ABA008D1F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A286A-DAA5-44EA-96E3-045B0A72CD61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27C4D1-827E-5DE4-8F51-B10A40B0D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AE2719-D6F4-3A77-E5A8-931578DA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8425-B909-430A-8829-1636080EB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728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04CC8A-660D-6C13-C1A0-AB20085EF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93FF6E-40A2-6396-DCD0-239E4C008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F97D83-0795-1AAB-D18A-820EEB577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A286A-DAA5-44EA-96E3-045B0A72CD61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BC64FE-D158-42BA-FDB8-90484AC6E7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474F0D-B7AD-E37C-D895-DF71510E8D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78425-B909-430A-8829-1636080EB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915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F9A4BC-603C-A0C5-7788-058EC4C4D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3.1</a:t>
            </a:r>
            <a:r>
              <a:rPr lang="zh-CN" altLang="en-US" sz="4000" dirty="0"/>
              <a:t>跳出当前所在函数（本页涉及知识点</a:t>
            </a:r>
            <a:r>
              <a:rPr lang="en-US" altLang="zh-CN" sz="4000" dirty="0"/>
              <a:t>1.4</a:t>
            </a:r>
            <a:r>
              <a:rPr lang="zh-CN" altLang="en-US" sz="40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8D2A6A-3F48-C162-7FFE-0B8DD08C5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3.1</a:t>
            </a:r>
            <a:r>
              <a:rPr lang="zh-CN" altLang="en-US" dirty="0"/>
              <a:t>进入</a:t>
            </a:r>
            <a:r>
              <a:rPr lang="en-US" altLang="zh-CN" dirty="0"/>
              <a:t>function</a:t>
            </a:r>
            <a:r>
              <a:rPr lang="zh-CN" altLang="en-US" dirty="0"/>
              <a:t>内部，需要跳出</a:t>
            </a:r>
            <a:endParaRPr lang="en-US" altLang="zh-CN" dirty="0"/>
          </a:p>
          <a:p>
            <a:r>
              <a:rPr lang="zh-CN" altLang="en-US" dirty="0"/>
              <a:t>方法一：调试</a:t>
            </a:r>
            <a:r>
              <a:rPr lang="en-US" altLang="zh-CN" dirty="0"/>
              <a:t>-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44AB992-E161-ED24-B685-5C154CBD2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4864"/>
            <a:ext cx="12192000" cy="264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813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E0A9E4C3-626B-5856-7F13-ED255E71E4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712" r="18658" b="28769"/>
          <a:stretch/>
        </p:blipFill>
        <p:spPr>
          <a:xfrm>
            <a:off x="73707" y="2783107"/>
            <a:ext cx="3295292" cy="3100392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B75AA58-41DB-340F-7333-C838BA8CF181}"/>
              </a:ext>
            </a:extLst>
          </p:cNvPr>
          <p:cNvCxnSpPr/>
          <p:nvPr/>
        </p:nvCxnSpPr>
        <p:spPr>
          <a:xfrm flipH="1">
            <a:off x="1098600" y="2422879"/>
            <a:ext cx="637130" cy="44835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5217465-6FA0-9F19-A7D5-C167939D200A}"/>
              </a:ext>
            </a:extLst>
          </p:cNvPr>
          <p:cNvCxnSpPr/>
          <p:nvPr/>
        </p:nvCxnSpPr>
        <p:spPr>
          <a:xfrm flipH="1" flipV="1">
            <a:off x="8892925" y="4551821"/>
            <a:ext cx="914400" cy="690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6E075C54-F488-B070-5DF9-930121F41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359" y="2007078"/>
            <a:ext cx="7872935" cy="465245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25F87AC-8E8F-09C3-B1E9-CDAA883C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5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2.3</a:t>
            </a:r>
            <a:r>
              <a:rPr lang="zh-CN" altLang="en-US" sz="3200" dirty="0"/>
              <a:t>：系统类</a:t>
            </a:r>
            <a:r>
              <a:rPr lang="en-US" altLang="zh-CN" sz="3200" dirty="0"/>
              <a:t>/</a:t>
            </a:r>
            <a:r>
              <a:rPr lang="zh-CN" altLang="en-US" sz="3200" dirty="0"/>
              <a:t>函数内的逐句执行（本页涉及知识点</a:t>
            </a:r>
            <a:r>
              <a:rPr lang="en-US" altLang="zh-CN" sz="3200" dirty="0"/>
              <a:t>1.2</a:t>
            </a:r>
            <a:r>
              <a:rPr lang="zh-CN" altLang="en-US" sz="3200" dirty="0"/>
              <a:t>）</a:t>
            </a:r>
          </a:p>
        </p:txBody>
      </p:sp>
      <p:sp>
        <p:nvSpPr>
          <p:cNvPr id="28" name="内容占位符 27">
            <a:extLst>
              <a:ext uri="{FF2B5EF4-FFF2-40B4-BE49-F238E27FC236}">
                <a16:creationId xmlns:a16="http://schemas.microsoft.com/office/drawing/2014/main" id="{46FA3D7D-0058-7E1E-7B4B-218770530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453" y="1096341"/>
            <a:ext cx="9157406" cy="91073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dirty="0"/>
              <a:t>2.3-4</a:t>
            </a:r>
            <a:r>
              <a:rPr lang="zh-CN" altLang="en-US" dirty="0"/>
              <a:t>依次单击“工具”</a:t>
            </a:r>
            <a:r>
              <a:rPr lang="en-US" altLang="zh-CN" dirty="0"/>
              <a:t>-</a:t>
            </a:r>
            <a:r>
              <a:rPr lang="zh-CN" altLang="en-US" dirty="0"/>
              <a:t>“选项”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2.3-5</a:t>
            </a:r>
            <a:r>
              <a:rPr lang="zh-CN" altLang="en-US" dirty="0"/>
              <a:t>在弹出的窗口中，依次单击“调试”</a:t>
            </a:r>
            <a:r>
              <a:rPr lang="en-US" altLang="zh-CN" dirty="0"/>
              <a:t>-</a:t>
            </a:r>
            <a:r>
              <a:rPr lang="zh-CN" altLang="en-US" dirty="0"/>
              <a:t>“常规”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2.3-6</a:t>
            </a:r>
            <a:r>
              <a:rPr lang="zh-CN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勾选“启用源服务器支持”</a:t>
            </a:r>
            <a:r>
              <a:rPr lang="zh-CN" altLang="en-US" dirty="0">
                <a:solidFill>
                  <a:srgbClr val="0D0D0D"/>
                </a:solidFill>
                <a:highlight>
                  <a:srgbClr val="FFFFFF"/>
                </a:highlight>
                <a:latin typeface="ui-sans-serif"/>
              </a:rPr>
              <a:t>，在弹出的窗口中选择“是”</a:t>
            </a:r>
            <a:endParaRPr lang="zh-CN" alt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0" indent="0">
              <a:buNone/>
            </a:pPr>
            <a:endParaRPr lang="zh-CN" altLang="en-US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6A259DC2-2FD6-5443-D167-76AFE4E2D530}"/>
              </a:ext>
            </a:extLst>
          </p:cNvPr>
          <p:cNvCxnSpPr/>
          <p:nvPr/>
        </p:nvCxnSpPr>
        <p:spPr>
          <a:xfrm flipH="1">
            <a:off x="4275141" y="3213672"/>
            <a:ext cx="637130" cy="44835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2ACD8E56-EBC6-E5B2-0348-C84B2527FE83}"/>
              </a:ext>
            </a:extLst>
          </p:cNvPr>
          <p:cNvCxnSpPr/>
          <p:nvPr/>
        </p:nvCxnSpPr>
        <p:spPr>
          <a:xfrm flipH="1" flipV="1">
            <a:off x="4593706" y="3895187"/>
            <a:ext cx="914400" cy="690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5BDAB9F-C3FF-678E-6C8B-BB73A71CAA3C}"/>
              </a:ext>
            </a:extLst>
          </p:cNvPr>
          <p:cNvCxnSpPr/>
          <p:nvPr/>
        </p:nvCxnSpPr>
        <p:spPr>
          <a:xfrm flipH="1">
            <a:off x="8849126" y="4333303"/>
            <a:ext cx="1029419" cy="57940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42BB3F3-9D54-D680-5217-79C3D8D67B64}"/>
              </a:ext>
            </a:extLst>
          </p:cNvPr>
          <p:cNvCxnSpPr/>
          <p:nvPr/>
        </p:nvCxnSpPr>
        <p:spPr>
          <a:xfrm flipH="1">
            <a:off x="6774126" y="4755998"/>
            <a:ext cx="1029419" cy="57940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C9636F5-A50A-2450-DFCA-2F425B17FF66}"/>
              </a:ext>
            </a:extLst>
          </p:cNvPr>
          <p:cNvCxnSpPr/>
          <p:nvPr/>
        </p:nvCxnSpPr>
        <p:spPr>
          <a:xfrm flipH="1">
            <a:off x="2148148" y="5242046"/>
            <a:ext cx="637130" cy="44835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728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116542B-3F07-B2AD-E5C6-0735A31FD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873" y="1933660"/>
            <a:ext cx="8137403" cy="479928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25F87AC-8E8F-09C3-B1E9-CDAA883C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5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2.3</a:t>
            </a:r>
            <a:r>
              <a:rPr lang="zh-CN" altLang="en-US" sz="3200" dirty="0"/>
              <a:t>：系统类</a:t>
            </a:r>
            <a:r>
              <a:rPr lang="en-US" altLang="zh-CN" sz="3200" dirty="0"/>
              <a:t>/</a:t>
            </a:r>
            <a:r>
              <a:rPr lang="zh-CN" altLang="en-US" sz="3200" dirty="0"/>
              <a:t>函数内的逐句执行（本页涉及知识点</a:t>
            </a:r>
            <a:r>
              <a:rPr lang="en-US" altLang="zh-CN" sz="3200" dirty="0"/>
              <a:t>1.2</a:t>
            </a:r>
            <a:r>
              <a:rPr lang="zh-CN" altLang="en-US" sz="3200" dirty="0"/>
              <a:t>）</a:t>
            </a:r>
          </a:p>
        </p:txBody>
      </p:sp>
      <p:sp>
        <p:nvSpPr>
          <p:cNvPr id="28" name="内容占位符 27">
            <a:extLst>
              <a:ext uri="{FF2B5EF4-FFF2-40B4-BE49-F238E27FC236}">
                <a16:creationId xmlns:a16="http://schemas.microsoft.com/office/drawing/2014/main" id="{46FA3D7D-0058-7E1E-7B4B-218770530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453" y="1096341"/>
            <a:ext cx="9157406" cy="91073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dirty="0"/>
              <a:t>2.3-7</a:t>
            </a:r>
            <a:r>
              <a:rPr lang="zh-CN" altLang="en-US" dirty="0"/>
              <a:t>依次单击“调试”</a:t>
            </a:r>
            <a:r>
              <a:rPr lang="en-US" altLang="zh-CN" dirty="0"/>
              <a:t>-</a:t>
            </a:r>
            <a:r>
              <a:rPr lang="zh-CN" altLang="en-US" dirty="0"/>
              <a:t>“符号”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2.3-8</a:t>
            </a:r>
            <a:r>
              <a:rPr lang="zh-CN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勾选“</a:t>
            </a:r>
            <a:r>
              <a:rPr lang="en-US" altLang="zh-C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Microsoft</a:t>
            </a:r>
            <a:r>
              <a:rPr lang="zh-CN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符号服务器”</a:t>
            </a:r>
            <a:r>
              <a:rPr lang="zh-CN" altLang="en-US" dirty="0">
                <a:solidFill>
                  <a:srgbClr val="0D0D0D"/>
                </a:solidFill>
                <a:highlight>
                  <a:srgbClr val="FFFFFF"/>
                </a:highlight>
                <a:latin typeface="ui-sans-serif"/>
              </a:rPr>
              <a:t>，在弹出的窗口中选择“确定”</a:t>
            </a:r>
            <a:endParaRPr lang="en-US" altLang="zh-CN" dirty="0">
              <a:solidFill>
                <a:srgbClr val="0D0D0D"/>
              </a:solidFill>
              <a:highlight>
                <a:srgbClr val="FFFFFF"/>
              </a:highlight>
              <a:latin typeface="ui-sans-serif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D0D0D"/>
                </a:solidFill>
                <a:highlight>
                  <a:srgbClr val="FFFFFF"/>
                </a:highlight>
                <a:latin typeface="ui-sans-serif"/>
              </a:rPr>
              <a:t>2.3-9</a:t>
            </a:r>
            <a:r>
              <a:rPr lang="zh-CN" altLang="en-US" dirty="0">
                <a:solidFill>
                  <a:srgbClr val="0D0D0D"/>
                </a:solidFill>
                <a:highlight>
                  <a:srgbClr val="FFFFFF"/>
                </a:highlight>
                <a:latin typeface="ui-sans-serif"/>
              </a:rPr>
              <a:t>单击“确定”</a:t>
            </a:r>
            <a:endParaRPr lang="zh-CN" alt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0" indent="0">
              <a:buNone/>
            </a:pPr>
            <a:endParaRPr lang="zh-CN" altLang="en-US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6A259DC2-2FD6-5443-D167-76AFE4E2D530}"/>
              </a:ext>
            </a:extLst>
          </p:cNvPr>
          <p:cNvCxnSpPr/>
          <p:nvPr/>
        </p:nvCxnSpPr>
        <p:spPr>
          <a:xfrm flipH="1">
            <a:off x="2935171" y="3213672"/>
            <a:ext cx="637130" cy="44835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2ACD8E56-EBC6-E5B2-0348-C84B2527FE83}"/>
              </a:ext>
            </a:extLst>
          </p:cNvPr>
          <p:cNvCxnSpPr/>
          <p:nvPr/>
        </p:nvCxnSpPr>
        <p:spPr>
          <a:xfrm flipH="1" flipV="1">
            <a:off x="3040951" y="4355477"/>
            <a:ext cx="914400" cy="690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5BDAB9F-C3FF-678E-6C8B-BB73A71CAA3C}"/>
              </a:ext>
            </a:extLst>
          </p:cNvPr>
          <p:cNvCxnSpPr/>
          <p:nvPr/>
        </p:nvCxnSpPr>
        <p:spPr>
          <a:xfrm flipH="1">
            <a:off x="5519330" y="2409568"/>
            <a:ext cx="1029419" cy="57940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671DDAC-99CE-607E-7D44-F7CDB0A6EC45}"/>
              </a:ext>
            </a:extLst>
          </p:cNvPr>
          <p:cNvCxnSpPr/>
          <p:nvPr/>
        </p:nvCxnSpPr>
        <p:spPr>
          <a:xfrm flipV="1">
            <a:off x="7901795" y="6343291"/>
            <a:ext cx="753374" cy="26454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42BB3F3-9D54-D680-5217-79C3D8D67B64}"/>
              </a:ext>
            </a:extLst>
          </p:cNvPr>
          <p:cNvCxnSpPr/>
          <p:nvPr/>
        </p:nvCxnSpPr>
        <p:spPr>
          <a:xfrm flipH="1">
            <a:off x="8355635" y="4755998"/>
            <a:ext cx="1029419" cy="57940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628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>
            <a:extLst>
              <a:ext uri="{FF2B5EF4-FFF2-40B4-BE49-F238E27FC236}">
                <a16:creationId xmlns:a16="http://schemas.microsoft.com/office/drawing/2014/main" id="{DF2D935B-9143-1D50-4CDC-B263014AB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751" y="3038592"/>
            <a:ext cx="3948942" cy="62673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466DBED5-356F-43C0-C5F4-4FE67E569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712" y="1935730"/>
            <a:ext cx="3721020" cy="103511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E27A7EE-86BA-69AB-8092-1BE44FEF0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814" y="68262"/>
            <a:ext cx="10515600" cy="865227"/>
          </a:xfrm>
        </p:spPr>
        <p:txBody>
          <a:bodyPr/>
          <a:lstStyle/>
          <a:p>
            <a:r>
              <a:rPr lang="en-US" altLang="zh-CN" sz="4400" dirty="0"/>
              <a:t>4.1</a:t>
            </a:r>
            <a:r>
              <a:rPr lang="zh-CN" altLang="en-US" sz="4400" dirty="0"/>
              <a:t>查看变量：数据提示（本页涉及</a:t>
            </a:r>
            <a:r>
              <a:rPr lang="en-US" altLang="zh-CN" sz="4400" dirty="0"/>
              <a:t>3.2,3.3</a:t>
            </a:r>
            <a:r>
              <a:rPr lang="zh-CN" altLang="en-US" sz="4400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A4F5AB-57A6-1680-E15A-AFDEAD623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586" y="892957"/>
            <a:ext cx="10515600" cy="47301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4.1.3</a:t>
            </a:r>
            <a:r>
              <a:rPr lang="zh-CN" altLang="en-US" dirty="0"/>
              <a:t>黄色箭头在函数内，鼠标悬停在函数外的变量时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7F4F942-CF86-0D24-B896-3F5C6133F7AE}"/>
              </a:ext>
            </a:extLst>
          </p:cNvPr>
          <p:cNvSpPr txBox="1"/>
          <p:nvPr/>
        </p:nvSpPr>
        <p:spPr>
          <a:xfrm>
            <a:off x="5561275" y="5663207"/>
            <a:ext cx="5979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若无</a:t>
            </a:r>
            <a:r>
              <a:rPr lang="en-US" altLang="zh-CN" dirty="0"/>
              <a:t>\0</a:t>
            </a:r>
            <a:r>
              <a:rPr lang="zh-CN" altLang="en-US" dirty="0"/>
              <a:t>，则显示“字符串中的字符无效”；若有</a:t>
            </a:r>
            <a:r>
              <a:rPr lang="en-US" altLang="zh-CN" dirty="0"/>
              <a:t>\0</a:t>
            </a:r>
            <a:r>
              <a:rPr lang="zh-CN" altLang="en-US" dirty="0"/>
              <a:t>（无论显式隐式），则显示字符数组内的值，不显示</a:t>
            </a:r>
            <a:r>
              <a:rPr lang="en-US" altLang="zh-CN" dirty="0"/>
              <a:t>\0</a:t>
            </a:r>
            <a:r>
              <a:rPr lang="zh-CN" altLang="en-US" dirty="0"/>
              <a:t>，无“</a:t>
            </a:r>
            <a:r>
              <a:rPr lang="en-US" altLang="zh-CN" dirty="0"/>
              <a:t>…</a:t>
            </a:r>
            <a:r>
              <a:rPr lang="zh-CN" altLang="en-US" dirty="0"/>
              <a:t>”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2E76370-639C-B8E2-9201-066BAD45051E}"/>
              </a:ext>
            </a:extLst>
          </p:cNvPr>
          <p:cNvSpPr txBox="1"/>
          <p:nvPr/>
        </p:nvSpPr>
        <p:spPr>
          <a:xfrm>
            <a:off x="5521625" y="130412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4.1.3.3</a:t>
            </a:r>
            <a:r>
              <a:rPr lang="zh-CN" altLang="en-US" dirty="0"/>
              <a:t>当字符数组作为函数的实参，黄色箭头在函数内，鼠标悬停在函数外的实参数组上时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A24CD24-BA05-EC35-2659-E34FC7FFD119}"/>
              </a:ext>
            </a:extLst>
          </p:cNvPr>
          <p:cNvSpPr/>
          <p:nvPr/>
        </p:nvSpPr>
        <p:spPr>
          <a:xfrm>
            <a:off x="5506755" y="1322717"/>
            <a:ext cx="6088585" cy="546702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820146C9-BFC4-136C-DE96-54D1002190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0471" y="4781100"/>
            <a:ext cx="5802848" cy="767731"/>
          </a:xfrm>
          <a:prstGeom prst="rect">
            <a:avLst/>
          </a:prstGeom>
        </p:spPr>
      </p:pic>
      <p:sp>
        <p:nvSpPr>
          <p:cNvPr id="55" name="椭圆 54">
            <a:extLst>
              <a:ext uri="{FF2B5EF4-FFF2-40B4-BE49-F238E27FC236}">
                <a16:creationId xmlns:a16="http://schemas.microsoft.com/office/drawing/2014/main" id="{E898A7AE-CC1D-0B92-DFBC-DCCE28243ECB}"/>
              </a:ext>
            </a:extLst>
          </p:cNvPr>
          <p:cNvSpPr/>
          <p:nvPr/>
        </p:nvSpPr>
        <p:spPr>
          <a:xfrm>
            <a:off x="6709441" y="4997431"/>
            <a:ext cx="4734464" cy="61396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005B8A21-F2FE-84B3-2947-69BDDF9A5A94}"/>
              </a:ext>
            </a:extLst>
          </p:cNvPr>
          <p:cNvCxnSpPr/>
          <p:nvPr/>
        </p:nvCxnSpPr>
        <p:spPr>
          <a:xfrm flipH="1">
            <a:off x="10747860" y="5054099"/>
            <a:ext cx="237876" cy="23997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22BA9EBD-CD31-92E4-971E-C90B1AFB3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471" y="1950458"/>
            <a:ext cx="5457121" cy="1518062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EAA88D6-862B-8EB5-9824-776F229EF8C3}"/>
              </a:ext>
            </a:extLst>
          </p:cNvPr>
          <p:cNvCxnSpPr/>
          <p:nvPr/>
        </p:nvCxnSpPr>
        <p:spPr>
          <a:xfrm flipV="1">
            <a:off x="5187351" y="2823713"/>
            <a:ext cx="672860" cy="21278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78CB5DAB-E7DD-49DE-F6C0-626F14DFD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7930" y="3540193"/>
            <a:ext cx="5788911" cy="1138905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6542EB12-EC66-9E93-F184-45389D499BE8}"/>
              </a:ext>
            </a:extLst>
          </p:cNvPr>
          <p:cNvSpPr/>
          <p:nvPr/>
        </p:nvSpPr>
        <p:spPr>
          <a:xfrm>
            <a:off x="567146" y="1322718"/>
            <a:ext cx="4842043" cy="270869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EF190B5-101D-0308-00B3-756DC80E4D8C}"/>
              </a:ext>
            </a:extLst>
          </p:cNvPr>
          <p:cNvCxnSpPr>
            <a:cxnSpLocks/>
          </p:cNvCxnSpPr>
          <p:nvPr/>
        </p:nvCxnSpPr>
        <p:spPr>
          <a:xfrm flipV="1">
            <a:off x="661870" y="2514312"/>
            <a:ext cx="550879" cy="5220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E5AA430D-C938-BA04-933F-1CB7F94B69ED}"/>
              </a:ext>
            </a:extLst>
          </p:cNvPr>
          <p:cNvSpPr txBox="1"/>
          <p:nvPr/>
        </p:nvSpPr>
        <p:spPr>
          <a:xfrm>
            <a:off x="937403" y="1363249"/>
            <a:ext cx="45195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4.1.3.1</a:t>
            </a:r>
            <a:r>
              <a:rPr lang="zh-CN" altLang="en-US" dirty="0"/>
              <a:t>当简单变量作为函数的实参，黄色箭头在函数内，鼠标悬停在函数外的实参上时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074DACF5-D4A7-6C44-12AA-4273513C9C64}"/>
              </a:ext>
            </a:extLst>
          </p:cNvPr>
          <p:cNvSpPr/>
          <p:nvPr/>
        </p:nvSpPr>
        <p:spPr>
          <a:xfrm>
            <a:off x="2064377" y="3020961"/>
            <a:ext cx="2001056" cy="47419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E6E5630-983C-48BF-714A-167D2074DDCD}"/>
              </a:ext>
            </a:extLst>
          </p:cNvPr>
          <p:cNvSpPr txBox="1"/>
          <p:nvPr/>
        </p:nvSpPr>
        <p:spPr>
          <a:xfrm>
            <a:off x="1387208" y="3644064"/>
            <a:ext cx="3526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可以正常查看简单变量实参的值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63AF00C2-D732-D6F2-79D6-CF4938B10B1A}"/>
              </a:ext>
            </a:extLst>
          </p:cNvPr>
          <p:cNvCxnSpPr>
            <a:cxnSpLocks/>
          </p:cNvCxnSpPr>
          <p:nvPr/>
        </p:nvCxnSpPr>
        <p:spPr>
          <a:xfrm flipH="1">
            <a:off x="4093537" y="3258056"/>
            <a:ext cx="110513" cy="22568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B1CA0136-A56A-05FD-C197-E3590C1B62C6}"/>
              </a:ext>
            </a:extLst>
          </p:cNvPr>
          <p:cNvCxnSpPr>
            <a:cxnSpLocks/>
          </p:cNvCxnSpPr>
          <p:nvPr/>
        </p:nvCxnSpPr>
        <p:spPr>
          <a:xfrm flipH="1" flipV="1">
            <a:off x="4071332" y="2163216"/>
            <a:ext cx="143410" cy="32676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E1D8892E-28A2-2BCA-32FE-DF9F66BFE718}"/>
              </a:ext>
            </a:extLst>
          </p:cNvPr>
          <p:cNvCxnSpPr/>
          <p:nvPr/>
        </p:nvCxnSpPr>
        <p:spPr>
          <a:xfrm flipH="1" flipV="1">
            <a:off x="9139068" y="2245533"/>
            <a:ext cx="333555" cy="29904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椭圆 48">
            <a:extLst>
              <a:ext uri="{FF2B5EF4-FFF2-40B4-BE49-F238E27FC236}">
                <a16:creationId xmlns:a16="http://schemas.microsoft.com/office/drawing/2014/main" id="{B88720F5-5CF7-4372-7EBF-6798B7E85CEB}"/>
              </a:ext>
            </a:extLst>
          </p:cNvPr>
          <p:cNvSpPr/>
          <p:nvPr/>
        </p:nvSpPr>
        <p:spPr>
          <a:xfrm>
            <a:off x="6780362" y="3766681"/>
            <a:ext cx="4717413" cy="83097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B33A4F91-1F46-CD13-EB66-F953B281AF1D}"/>
              </a:ext>
            </a:extLst>
          </p:cNvPr>
          <p:cNvCxnSpPr/>
          <p:nvPr/>
        </p:nvCxnSpPr>
        <p:spPr>
          <a:xfrm flipH="1">
            <a:off x="10747860" y="3832146"/>
            <a:ext cx="328457" cy="48106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A6880AA2-6691-2DC8-30E5-498466076EE1}"/>
              </a:ext>
            </a:extLst>
          </p:cNvPr>
          <p:cNvSpPr/>
          <p:nvPr/>
        </p:nvSpPr>
        <p:spPr>
          <a:xfrm>
            <a:off x="379562" y="4031411"/>
            <a:ext cx="5139692" cy="268569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F2C4E49-38D5-952B-3FBD-56A9795E0C9E}"/>
              </a:ext>
            </a:extLst>
          </p:cNvPr>
          <p:cNvSpPr txBox="1"/>
          <p:nvPr/>
        </p:nvSpPr>
        <p:spPr>
          <a:xfrm>
            <a:off x="735159" y="4068641"/>
            <a:ext cx="43167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4.1.3.2</a:t>
            </a:r>
            <a:r>
              <a:rPr lang="zh-CN" altLang="en-US" dirty="0"/>
              <a:t>当数字数组作为函数的实参，黄色箭头在函数内，鼠标悬停在函数外的实参上时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C8A58D9-DD2A-FDF8-E3D9-4D8B9B6EF5D7}"/>
              </a:ext>
            </a:extLst>
          </p:cNvPr>
          <p:cNvSpPr txBox="1"/>
          <p:nvPr/>
        </p:nvSpPr>
        <p:spPr>
          <a:xfrm>
            <a:off x="647977" y="6107502"/>
            <a:ext cx="4688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看得到数组地址，只看得到数组的第一个值（因为向形参传递的是数组的首地址，即数组第一个值的地址）</a:t>
            </a: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BE007233-3E9F-CB80-5752-31D4AF2C7A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42" y="5613086"/>
            <a:ext cx="4717413" cy="573036"/>
          </a:xfrm>
          <a:prstGeom prst="rect">
            <a:avLst/>
          </a:prstGeom>
        </p:spPr>
      </p:pic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BF4A810F-B842-DDA8-63D2-8311BFC68FCC}"/>
              </a:ext>
            </a:extLst>
          </p:cNvPr>
          <p:cNvCxnSpPr/>
          <p:nvPr/>
        </p:nvCxnSpPr>
        <p:spPr>
          <a:xfrm flipH="1">
            <a:off x="4618156" y="5658323"/>
            <a:ext cx="367912" cy="32804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图片 73">
            <a:extLst>
              <a:ext uri="{FF2B5EF4-FFF2-40B4-BE49-F238E27FC236}">
                <a16:creationId xmlns:a16="http://schemas.microsoft.com/office/drawing/2014/main" id="{E162D7B4-5535-F24A-C70A-95F6C22B82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870" y="4665548"/>
            <a:ext cx="4195276" cy="1044337"/>
          </a:xfrm>
          <a:prstGeom prst="rect">
            <a:avLst/>
          </a:prstGeom>
        </p:spPr>
      </p:pic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278DA87F-0666-ACE5-9B63-D07FEA2B7974}"/>
              </a:ext>
            </a:extLst>
          </p:cNvPr>
          <p:cNvCxnSpPr>
            <a:endCxn id="74" idx="1"/>
          </p:cNvCxnSpPr>
          <p:nvPr/>
        </p:nvCxnSpPr>
        <p:spPr>
          <a:xfrm>
            <a:off x="442020" y="5136277"/>
            <a:ext cx="219850" cy="5144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9C746FE2-3EE3-F05D-972C-7A8C757B3898}"/>
              </a:ext>
            </a:extLst>
          </p:cNvPr>
          <p:cNvCxnSpPr/>
          <p:nvPr/>
        </p:nvCxnSpPr>
        <p:spPr>
          <a:xfrm flipH="1" flipV="1">
            <a:off x="3473570" y="4796528"/>
            <a:ext cx="591863" cy="50788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椭圆 78">
            <a:extLst>
              <a:ext uri="{FF2B5EF4-FFF2-40B4-BE49-F238E27FC236}">
                <a16:creationId xmlns:a16="http://schemas.microsoft.com/office/drawing/2014/main" id="{E6BFA35D-792E-A048-4D3B-74F7CE34B8E3}"/>
              </a:ext>
            </a:extLst>
          </p:cNvPr>
          <p:cNvSpPr/>
          <p:nvPr/>
        </p:nvSpPr>
        <p:spPr>
          <a:xfrm>
            <a:off x="1644770" y="5709885"/>
            <a:ext cx="3309942" cy="54206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606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27A7EE-86BA-69AB-8092-1BE44FEF0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814" y="68262"/>
            <a:ext cx="10515600" cy="865227"/>
          </a:xfrm>
        </p:spPr>
        <p:txBody>
          <a:bodyPr/>
          <a:lstStyle/>
          <a:p>
            <a:r>
              <a:rPr lang="en-US" altLang="zh-CN" sz="4400" dirty="0"/>
              <a:t>4.1</a:t>
            </a:r>
            <a:r>
              <a:rPr lang="zh-CN" altLang="en-US" sz="4400" dirty="0"/>
              <a:t>查看变量：数据提示（本页涉及</a:t>
            </a:r>
            <a:r>
              <a:rPr lang="en-US" altLang="zh-CN" sz="4400" dirty="0"/>
              <a:t>3.5</a:t>
            </a:r>
            <a:r>
              <a:rPr lang="zh-CN" altLang="en-US" sz="4400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A4F5AB-57A6-1680-E15A-AFDEAD623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586" y="892957"/>
            <a:ext cx="10515600" cy="473010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dirty="0"/>
              <a:t>4.1.3</a:t>
            </a:r>
            <a:r>
              <a:rPr lang="zh-CN" altLang="en-US" dirty="0"/>
              <a:t>当黄色箭头在函数内部，将鼠标悬停在函数外的实参，且形参与实参名称相同时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74F231-AAE6-C15E-116D-F524B7D7944E}"/>
              </a:ext>
            </a:extLst>
          </p:cNvPr>
          <p:cNvSpPr txBox="1"/>
          <p:nvPr/>
        </p:nvSpPr>
        <p:spPr>
          <a:xfrm>
            <a:off x="1058174" y="1431985"/>
            <a:ext cx="290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4.1.3.4</a:t>
            </a:r>
            <a:r>
              <a:rPr lang="zh-CN" altLang="en-US" dirty="0"/>
              <a:t>当二维数组为实参时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D73D396-FE70-A76D-54AC-44C513032ECA}"/>
              </a:ext>
            </a:extLst>
          </p:cNvPr>
          <p:cNvSpPr txBox="1"/>
          <p:nvPr/>
        </p:nvSpPr>
        <p:spPr>
          <a:xfrm>
            <a:off x="212785" y="1869643"/>
            <a:ext cx="5181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4.1.3.4.1</a:t>
            </a:r>
            <a:r>
              <a:rPr lang="zh-CN" altLang="en-US" dirty="0"/>
              <a:t>二维数组为形参，当黄色箭头在函数内部，将鼠标悬停在函数外的二维数组实参时，只会显示其中的第一个元素（一维数组），而且哪怕是字符数组，显示形式也是单个字符元素（</a:t>
            </a:r>
            <a:r>
              <a:rPr lang="en-US" altLang="zh-CN" dirty="0"/>
              <a:t>\0</a:t>
            </a:r>
            <a:r>
              <a:rPr lang="zh-CN" altLang="en-US" dirty="0"/>
              <a:t>也会显示），非字符串，与</a:t>
            </a:r>
            <a:r>
              <a:rPr lang="en-US" altLang="zh-CN" dirty="0"/>
              <a:t>4.1.2.3</a:t>
            </a:r>
            <a:r>
              <a:rPr lang="zh-CN" altLang="en-US" dirty="0"/>
              <a:t>不同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29A749B-FD8E-FAC6-836B-B272234B7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812" y="1758184"/>
            <a:ext cx="5376147" cy="139213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876C950-6F42-44A9-9B81-A847B5A09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813" y="3252612"/>
            <a:ext cx="4139250" cy="1688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4E16D87-9C6B-4B1E-596B-45736EED04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6812" y="3501226"/>
            <a:ext cx="4960541" cy="26988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E2AA062-A2AC-74E2-84A9-4213C383B4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6812" y="4834051"/>
            <a:ext cx="3158934" cy="1956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EACC2F76-0767-479D-E82F-9FEBC67DCC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6812" y="3911932"/>
            <a:ext cx="4665378" cy="878984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9B532EC3-E9CA-79FF-9002-A5AE6420D0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6812" y="5072786"/>
            <a:ext cx="5112652" cy="361366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9DD5F825-B99D-863B-6ECC-77E2670E3686}"/>
              </a:ext>
            </a:extLst>
          </p:cNvPr>
          <p:cNvSpPr/>
          <p:nvPr/>
        </p:nvSpPr>
        <p:spPr>
          <a:xfrm>
            <a:off x="5244860" y="1627517"/>
            <a:ext cx="5549661" cy="218535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363997-6022-C9DC-1150-1C1609C52D64}"/>
              </a:ext>
            </a:extLst>
          </p:cNvPr>
          <p:cNvSpPr/>
          <p:nvPr/>
        </p:nvSpPr>
        <p:spPr>
          <a:xfrm>
            <a:off x="5244859" y="3881201"/>
            <a:ext cx="5549661" cy="218535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498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27A7EE-86BA-69AB-8092-1BE44FEF0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814" y="68262"/>
            <a:ext cx="10515600" cy="865227"/>
          </a:xfrm>
        </p:spPr>
        <p:txBody>
          <a:bodyPr/>
          <a:lstStyle/>
          <a:p>
            <a:r>
              <a:rPr lang="en-US" altLang="zh-CN" sz="4400" dirty="0"/>
              <a:t>4.1</a:t>
            </a:r>
            <a:r>
              <a:rPr lang="zh-CN" altLang="en-US" sz="4400" dirty="0"/>
              <a:t>查看变量：数据提示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A4F5AB-57A6-1680-E15A-AFDEAD623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586" y="892957"/>
            <a:ext cx="10515600" cy="473010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dirty="0"/>
              <a:t>4.1.4</a:t>
            </a:r>
            <a:r>
              <a:rPr lang="zh-CN" altLang="en-US" dirty="0"/>
              <a:t>当黄色箭头在函数内部，将鼠标悬停在函数外的实参，且形参与实参名称不同时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248216-ABD4-1BF3-8525-47E6364BE7E5}"/>
              </a:ext>
            </a:extLst>
          </p:cNvPr>
          <p:cNvSpPr txBox="1"/>
          <p:nvPr/>
        </p:nvSpPr>
        <p:spPr>
          <a:xfrm>
            <a:off x="960408" y="1650521"/>
            <a:ext cx="752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4.1.4.1</a:t>
            </a:r>
            <a:r>
              <a:rPr lang="zh-CN" altLang="en-US" dirty="0"/>
              <a:t>若形参名是已经分配过内存的变量名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E43DB43-BD04-C66E-C1BB-06C43480C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14" y="2190662"/>
            <a:ext cx="6754168" cy="152421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73ACDAC-2999-1E27-F986-25F7B13D7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547" y="3714875"/>
            <a:ext cx="5106113" cy="3029373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2E48183-E4F0-87AC-151B-3EFBD8485CBC}"/>
              </a:ext>
            </a:extLst>
          </p:cNvPr>
          <p:cNvCxnSpPr/>
          <p:nvPr/>
        </p:nvCxnSpPr>
        <p:spPr>
          <a:xfrm flipV="1">
            <a:off x="2467155" y="3881887"/>
            <a:ext cx="1259456" cy="74762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BBD49B7-DC78-5EFB-0287-995DA4B4A4BB}"/>
              </a:ext>
            </a:extLst>
          </p:cNvPr>
          <p:cNvCxnSpPr/>
          <p:nvPr/>
        </p:nvCxnSpPr>
        <p:spPr>
          <a:xfrm flipV="1">
            <a:off x="3295291" y="6193766"/>
            <a:ext cx="1069675" cy="3968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D5E91BA-EA5D-5F69-0A7C-83E56049D1BF}"/>
              </a:ext>
            </a:extLst>
          </p:cNvPr>
          <p:cNvCxnSpPr/>
          <p:nvPr/>
        </p:nvCxnSpPr>
        <p:spPr>
          <a:xfrm flipV="1">
            <a:off x="299049" y="2829464"/>
            <a:ext cx="994913" cy="36806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7AFDCBF-10A7-B965-36EA-44DFE3C9F327}"/>
              </a:ext>
            </a:extLst>
          </p:cNvPr>
          <p:cNvCxnSpPr/>
          <p:nvPr/>
        </p:nvCxnSpPr>
        <p:spPr>
          <a:xfrm>
            <a:off x="3853132" y="2019853"/>
            <a:ext cx="598098" cy="31503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04E0756-FFCD-2683-EBC5-9FF2FF35A151}"/>
              </a:ext>
            </a:extLst>
          </p:cNvPr>
          <p:cNvSpPr txBox="1"/>
          <p:nvPr/>
        </p:nvSpPr>
        <p:spPr>
          <a:xfrm>
            <a:off x="8379124" y="3140015"/>
            <a:ext cx="3278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黄色箭头在</a:t>
            </a:r>
            <a:r>
              <a:rPr lang="en-US" altLang="zh-CN" dirty="0"/>
              <a:t>add</a:t>
            </a:r>
            <a:r>
              <a:rPr lang="zh-CN" altLang="en-US" dirty="0"/>
              <a:t>函数内，鼠标悬停在</a:t>
            </a:r>
            <a:r>
              <a:rPr lang="en-US" altLang="zh-CN" dirty="0"/>
              <a:t>main</a:t>
            </a:r>
            <a:r>
              <a:rPr lang="zh-CN" altLang="en-US" dirty="0"/>
              <a:t>中的</a:t>
            </a:r>
            <a:r>
              <a:rPr lang="en-US" altLang="zh-CN" dirty="0"/>
              <a:t>x</a:t>
            </a:r>
            <a:r>
              <a:rPr lang="zh-CN" altLang="en-US" dirty="0"/>
              <a:t>上，显示的</a:t>
            </a:r>
            <a:r>
              <a:rPr lang="en-US" altLang="zh-CN" dirty="0"/>
              <a:t>x</a:t>
            </a:r>
            <a:r>
              <a:rPr lang="zh-CN" altLang="en-US" dirty="0"/>
              <a:t>是</a:t>
            </a:r>
            <a:r>
              <a:rPr lang="en-US" altLang="zh-CN" dirty="0"/>
              <a:t>add</a:t>
            </a:r>
            <a:r>
              <a:rPr lang="zh-CN" altLang="en-US" dirty="0"/>
              <a:t>函数内的</a:t>
            </a:r>
            <a:r>
              <a:rPr lang="en-US" altLang="zh-CN" dirty="0"/>
              <a:t>x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927EC3C-0F2B-D20F-8ED3-F61800E3B793}"/>
              </a:ext>
            </a:extLst>
          </p:cNvPr>
          <p:cNvSpPr txBox="1"/>
          <p:nvPr/>
        </p:nvSpPr>
        <p:spPr>
          <a:xfrm>
            <a:off x="8689675" y="4790536"/>
            <a:ext cx="22543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鼠标悬停在一个变量上，只是看这个变量的名字背后的那个量是否可访问，与该变量在程序中的位置无关，因此同名时会发生混淆</a:t>
            </a:r>
          </a:p>
        </p:txBody>
      </p:sp>
    </p:spTree>
    <p:extLst>
      <p:ext uri="{BB962C8B-B14F-4D97-AF65-F5344CB8AC3E}">
        <p14:creationId xmlns:p14="http://schemas.microsoft.com/office/powerpoint/2010/main" val="2774963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526</Words>
  <Application>Microsoft Office PowerPoint</Application>
  <PresentationFormat>宽屏</PresentationFormat>
  <Paragraphs>31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ui-sans-serif</vt:lpstr>
      <vt:lpstr>等线</vt:lpstr>
      <vt:lpstr>等线 Light</vt:lpstr>
      <vt:lpstr>Arial</vt:lpstr>
      <vt:lpstr>Office 主题​​</vt:lpstr>
      <vt:lpstr>3.1跳出当前所在函数（本页涉及知识点1.4）</vt:lpstr>
      <vt:lpstr>2.3：系统类/函数内的逐句执行（本页涉及知识点1.2）</vt:lpstr>
      <vt:lpstr>2.3：系统类/函数内的逐句执行（本页涉及知识点1.2）</vt:lpstr>
      <vt:lpstr>4.1查看变量：数据提示（本页涉及3.2,3.3）</vt:lpstr>
      <vt:lpstr>4.1查看变量：数据提示（本页涉及3.5）</vt:lpstr>
      <vt:lpstr>4.1查看变量：数据提示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 sheng</dc:creator>
  <cp:lastModifiedBy>xi sheng</cp:lastModifiedBy>
  <cp:revision>1</cp:revision>
  <dcterms:created xsi:type="dcterms:W3CDTF">2024-06-02T13:02:51Z</dcterms:created>
  <dcterms:modified xsi:type="dcterms:W3CDTF">2024-06-16T03:03:30Z</dcterms:modified>
</cp:coreProperties>
</file>