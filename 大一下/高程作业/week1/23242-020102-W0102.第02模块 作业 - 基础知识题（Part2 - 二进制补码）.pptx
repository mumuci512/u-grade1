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12"/>
  </p:notesMasterIdLst>
  <p:sldIdLst>
    <p:sldId id="449" r:id="rId2"/>
    <p:sldId id="1237" r:id="rId3"/>
    <p:sldId id="492" r:id="rId4"/>
    <p:sldId id="517" r:id="rId5"/>
    <p:sldId id="518" r:id="rId6"/>
    <p:sldId id="521" r:id="rId7"/>
    <p:sldId id="522" r:id="rId8"/>
    <p:sldId id="523" r:id="rId9"/>
    <p:sldId id="525" r:id="rId10"/>
    <p:sldId id="527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arry" initials="L" lastIdx="1" clrIdx="0">
    <p:extLst>
      <p:ext uri="{19B8F6BF-5375-455C-9EA6-DF929625EA0E}">
        <p15:presenceInfo xmlns:p15="http://schemas.microsoft.com/office/powerpoint/2012/main" userId="Larry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58F13C-8C64-4489-ABD1-C9B07B51BA6E}" v="48" dt="2024-03-05T12:51:40.1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844" autoAdjust="0"/>
    <p:restoredTop sz="86411" autoAdjust="0"/>
  </p:normalViewPr>
  <p:slideViewPr>
    <p:cSldViewPr snapToGrid="0">
      <p:cViewPr varScale="1">
        <p:scale>
          <a:sx n="76" d="100"/>
          <a:sy n="76" d="100"/>
        </p:scale>
        <p:origin x="246" y="51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 sheng" userId="b3919e0d8ca6a452" providerId="LiveId" clId="{E858F13C-8C64-4489-ABD1-C9B07B51BA6E}"/>
    <pc:docChg chg="undo custSel modSld">
      <pc:chgData name="xi sheng" userId="b3919e0d8ca6a452" providerId="LiveId" clId="{E858F13C-8C64-4489-ABD1-C9B07B51BA6E}" dt="2024-03-05T12:56:25.273" v="1719" actId="20577"/>
      <pc:docMkLst>
        <pc:docMk/>
      </pc:docMkLst>
      <pc:sldChg chg="addSp modSp mod">
        <pc:chgData name="xi sheng" userId="b3919e0d8ca6a452" providerId="LiveId" clId="{E858F13C-8C64-4489-ABD1-C9B07B51BA6E}" dt="2024-03-05T12:25:04.799" v="402" actId="6549"/>
        <pc:sldMkLst>
          <pc:docMk/>
          <pc:sldMk cId="815054677" sldId="492"/>
        </pc:sldMkLst>
        <pc:spChg chg="add mod">
          <ac:chgData name="xi sheng" userId="b3919e0d8ca6a452" providerId="LiveId" clId="{E858F13C-8C64-4489-ABD1-C9B07B51BA6E}" dt="2024-03-05T12:25:04.799" v="402" actId="6549"/>
          <ac:spMkLst>
            <pc:docMk/>
            <pc:sldMk cId="815054677" sldId="492"/>
            <ac:spMk id="2" creationId="{3D6C5756-8944-3647-7E77-91646DF188C8}"/>
          </ac:spMkLst>
        </pc:spChg>
      </pc:sldChg>
      <pc:sldChg chg="addSp modSp mod">
        <pc:chgData name="xi sheng" userId="b3919e0d8ca6a452" providerId="LiveId" clId="{E858F13C-8C64-4489-ABD1-C9B07B51BA6E}" dt="2024-03-05T12:23:30.071" v="319" actId="20577"/>
        <pc:sldMkLst>
          <pc:docMk/>
          <pc:sldMk cId="2640726813" sldId="517"/>
        </pc:sldMkLst>
        <pc:spChg chg="add mod">
          <ac:chgData name="xi sheng" userId="b3919e0d8ca6a452" providerId="LiveId" clId="{E858F13C-8C64-4489-ABD1-C9B07B51BA6E}" dt="2024-03-05T12:23:30.071" v="319" actId="20577"/>
          <ac:spMkLst>
            <pc:docMk/>
            <pc:sldMk cId="2640726813" sldId="517"/>
            <ac:spMk id="2" creationId="{D8917DD0-F464-6F64-295F-C2A1302CA2A6}"/>
          </ac:spMkLst>
        </pc:spChg>
      </pc:sldChg>
      <pc:sldChg chg="addSp modSp mod">
        <pc:chgData name="xi sheng" userId="b3919e0d8ca6a452" providerId="LiveId" clId="{E858F13C-8C64-4489-ABD1-C9B07B51BA6E}" dt="2024-03-05T12:27:59.003" v="556" actId="20577"/>
        <pc:sldMkLst>
          <pc:docMk/>
          <pc:sldMk cId="4182464205" sldId="518"/>
        </pc:sldMkLst>
        <pc:spChg chg="add mod">
          <ac:chgData name="xi sheng" userId="b3919e0d8ca6a452" providerId="LiveId" clId="{E858F13C-8C64-4489-ABD1-C9B07B51BA6E}" dt="2024-03-05T12:27:59.003" v="556" actId="20577"/>
          <ac:spMkLst>
            <pc:docMk/>
            <pc:sldMk cId="4182464205" sldId="518"/>
            <ac:spMk id="2" creationId="{B43AEB74-E4F6-EB67-9FF9-F2716783D13F}"/>
          </ac:spMkLst>
        </pc:spChg>
      </pc:sldChg>
      <pc:sldChg chg="addSp delSp modSp mod">
        <pc:chgData name="xi sheng" userId="b3919e0d8ca6a452" providerId="LiveId" clId="{E858F13C-8C64-4489-ABD1-C9B07B51BA6E}" dt="2024-03-05T12:40:20.064" v="1096" actId="403"/>
        <pc:sldMkLst>
          <pc:docMk/>
          <pc:sldMk cId="1081260411" sldId="521"/>
        </pc:sldMkLst>
        <pc:spChg chg="add del">
          <ac:chgData name="xi sheng" userId="b3919e0d8ca6a452" providerId="LiveId" clId="{E858F13C-8C64-4489-ABD1-C9B07B51BA6E}" dt="2024-03-05T12:28:43.240" v="558" actId="22"/>
          <ac:spMkLst>
            <pc:docMk/>
            <pc:sldMk cId="1081260411" sldId="521"/>
            <ac:spMk id="4" creationId="{51CB5F1D-4E2A-B72B-6DDB-F7EFC7ACB807}"/>
          </ac:spMkLst>
        </pc:spChg>
        <pc:spChg chg="add del mod">
          <ac:chgData name="xi sheng" userId="b3919e0d8ca6a452" providerId="LiveId" clId="{E858F13C-8C64-4489-ABD1-C9B07B51BA6E}" dt="2024-03-05T12:29:48.970" v="581" actId="478"/>
          <ac:spMkLst>
            <pc:docMk/>
            <pc:sldMk cId="1081260411" sldId="521"/>
            <ac:spMk id="5" creationId="{1B86F150-65E4-F035-ED46-B700C174A175}"/>
          </ac:spMkLst>
        </pc:spChg>
        <pc:spChg chg="add mod">
          <ac:chgData name="xi sheng" userId="b3919e0d8ca6a452" providerId="LiveId" clId="{E858F13C-8C64-4489-ABD1-C9B07B51BA6E}" dt="2024-03-05T12:40:20.064" v="1096" actId="403"/>
          <ac:spMkLst>
            <pc:docMk/>
            <pc:sldMk cId="1081260411" sldId="521"/>
            <ac:spMk id="6" creationId="{65556019-49FE-0C61-226F-D9AD6FE816CA}"/>
          </ac:spMkLst>
        </pc:spChg>
      </pc:sldChg>
      <pc:sldChg chg="addSp modSp mod">
        <pc:chgData name="xi sheng" userId="b3919e0d8ca6a452" providerId="LiveId" clId="{E858F13C-8C64-4489-ABD1-C9B07B51BA6E}" dt="2024-03-05T12:41:31.543" v="1219" actId="20577"/>
        <pc:sldMkLst>
          <pc:docMk/>
          <pc:sldMk cId="1000134686" sldId="522"/>
        </pc:sldMkLst>
        <pc:spChg chg="add mod">
          <ac:chgData name="xi sheng" userId="b3919e0d8ca6a452" providerId="LiveId" clId="{E858F13C-8C64-4489-ABD1-C9B07B51BA6E}" dt="2024-03-05T12:41:31.543" v="1219" actId="20577"/>
          <ac:spMkLst>
            <pc:docMk/>
            <pc:sldMk cId="1000134686" sldId="522"/>
            <ac:spMk id="2" creationId="{3FDA3AE9-E404-5BA4-683B-42D0DBD25408}"/>
          </ac:spMkLst>
        </pc:spChg>
      </pc:sldChg>
      <pc:sldChg chg="addSp modSp mod">
        <pc:chgData name="xi sheng" userId="b3919e0d8ca6a452" providerId="LiveId" clId="{E858F13C-8C64-4489-ABD1-C9B07B51BA6E}" dt="2024-03-05T12:47:32.204" v="1435" actId="20577"/>
        <pc:sldMkLst>
          <pc:docMk/>
          <pc:sldMk cId="1068525886" sldId="523"/>
        </pc:sldMkLst>
        <pc:spChg chg="add mod">
          <ac:chgData name="xi sheng" userId="b3919e0d8ca6a452" providerId="LiveId" clId="{E858F13C-8C64-4489-ABD1-C9B07B51BA6E}" dt="2024-03-05T12:47:32.204" v="1435" actId="20577"/>
          <ac:spMkLst>
            <pc:docMk/>
            <pc:sldMk cId="1068525886" sldId="523"/>
            <ac:spMk id="2" creationId="{2D347781-F75B-D7B1-B3EC-56DF7B9F41B8}"/>
          </ac:spMkLst>
        </pc:spChg>
      </pc:sldChg>
      <pc:sldChg chg="addSp modSp mod">
        <pc:chgData name="xi sheng" userId="b3919e0d8ca6a452" providerId="LiveId" clId="{E858F13C-8C64-4489-ABD1-C9B07B51BA6E}" dt="2024-03-05T12:50:26.923" v="1586" actId="20577"/>
        <pc:sldMkLst>
          <pc:docMk/>
          <pc:sldMk cId="559849629" sldId="525"/>
        </pc:sldMkLst>
        <pc:spChg chg="add mod">
          <ac:chgData name="xi sheng" userId="b3919e0d8ca6a452" providerId="LiveId" clId="{E858F13C-8C64-4489-ABD1-C9B07B51BA6E}" dt="2024-03-05T12:50:26.923" v="1586" actId="20577"/>
          <ac:spMkLst>
            <pc:docMk/>
            <pc:sldMk cId="559849629" sldId="525"/>
            <ac:spMk id="2" creationId="{79B8CEF2-0D32-E70F-5808-B4CEEB5BE4F4}"/>
          </ac:spMkLst>
        </pc:spChg>
      </pc:sldChg>
      <pc:sldChg chg="addSp modSp mod">
        <pc:chgData name="xi sheng" userId="b3919e0d8ca6a452" providerId="LiveId" clId="{E858F13C-8C64-4489-ABD1-C9B07B51BA6E}" dt="2024-03-05T12:56:25.273" v="1719" actId="20577"/>
        <pc:sldMkLst>
          <pc:docMk/>
          <pc:sldMk cId="306459059" sldId="527"/>
        </pc:sldMkLst>
        <pc:spChg chg="add mod">
          <ac:chgData name="xi sheng" userId="b3919e0d8ca6a452" providerId="LiveId" clId="{E858F13C-8C64-4489-ABD1-C9B07B51BA6E}" dt="2024-03-05T12:56:25.273" v="1719" actId="20577"/>
          <ac:spMkLst>
            <pc:docMk/>
            <pc:sldMk cId="306459059" sldId="527"/>
            <ac:spMk id="2" creationId="{A8283C76-F3EF-5776-3EB6-09086A1D15D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  <a:t>2024/3/5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2755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49300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115B22-8194-4FC8-9614-86C592EEABA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6460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5F2CA6-A39B-48F7-84D1-AF91BD07D67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8223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C41597-7941-4461-A03D-7D307C3317F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7330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7E5104-8735-46A8-9820-8BD5C44B645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9038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BB04D0-EC69-4E34-9026-1132273F6FE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59773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34D7FE-E00D-4DCA-A0A7-A306174DC0C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73834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E46EFE-F103-4F45-8883-0DE6C66B1B8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8583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75AF18-52E2-4048-A908-642605843CB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51156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2A61F9-4BE0-4887-A67C-4D288CA5699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02731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7B2B09-852B-4EAA-A08A-0953A9F6334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4775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1CDC42-DFEF-458F-BD1B-2EFAEEF6801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00059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FF534AEE-0681-4001-91D8-DF8F111160F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D90EEA7F-39F9-4B97-AF58-835331598C9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9806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§2.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要求：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、完成本文档中所有的题目并写出分析、运行结果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、无特殊说明，均使用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编译即可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、直接在本文件上作答，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写出答案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截图（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不允许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手写、手写拍照截图）</a:t>
            </a:r>
            <a:r>
              <a:rPr lang="zh-CN" altLang="en-US" sz="1600" b="1" dirty="0">
                <a:latin typeface="+mn-ea"/>
              </a:rPr>
              <a:t>即可；填写答案时，为适应所填内容或贴图，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允许调整</a:t>
            </a:r>
            <a:r>
              <a:rPr lang="zh-CN" altLang="en-US" sz="1600" b="1" dirty="0">
                <a:latin typeface="+mn-ea"/>
              </a:rPr>
              <a:t>页面的字体大小、颜色、文本框的位置等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贴图要有效部分即可，不需要全部内容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在保证一页一题的前提下，具体页面布局可以自行发挥，简单易读即可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不允许</a:t>
            </a:r>
            <a:r>
              <a:rPr lang="zh-CN" altLang="en-US" sz="1600" b="1" dirty="0">
                <a:latin typeface="+mn-ea"/>
              </a:rPr>
              <a:t>手写在纸上，再拍照贴图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</a:t>
            </a:r>
            <a:r>
              <a:rPr lang="zh-CN" altLang="en-US" sz="1600" b="1" dirty="0">
                <a:latin typeface="+mn-ea"/>
              </a:rPr>
              <a:t>在各种软件工具上完成（不含手写），再截图贴图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、转换为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后提交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3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7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日前</a:t>
            </a:r>
            <a:r>
              <a:rPr lang="zh-CN" altLang="en-US" sz="1600" b="1" dirty="0">
                <a:latin typeface="+mn-ea"/>
              </a:rPr>
              <a:t>网上提交本次作业（在“文档作业”中提交），交作业方法见问卷调查</a:t>
            </a:r>
            <a:endParaRPr lang="en-US" altLang="zh-CN" sz="1600" b="1" dirty="0">
              <a:latin typeface="+mn-ea"/>
            </a:endParaRPr>
          </a:p>
          <a:p>
            <a:pPr algn="l"/>
            <a:endParaRPr lang="zh-CN" altLang="en-US" sz="1600" b="1" dirty="0">
              <a:latin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6CC3DF0-7942-4638-8F64-6F72A3FCDC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350" y="4200311"/>
            <a:ext cx="8303692" cy="58477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r>
              <a:rPr lang="zh-CN" altLang="zh-CN" sz="1600" b="1" dirty="0">
                <a:solidFill>
                  <a:srgbClr val="0000CC"/>
                </a:solidFill>
                <a:latin typeface="+mn-ea"/>
              </a:rPr>
              <a:t>注：因为前几周周三</a:t>
            </a:r>
            <a:r>
              <a:rPr lang="en-US" altLang="zh-CN" sz="1600" b="1" dirty="0">
                <a:solidFill>
                  <a:srgbClr val="0000CC"/>
                </a:solidFill>
                <a:latin typeface="+mn-ea"/>
              </a:rPr>
              <a:t>/</a:t>
            </a:r>
            <a:r>
              <a:rPr lang="zh-CN" altLang="zh-CN" sz="1600" b="1" dirty="0">
                <a:solidFill>
                  <a:srgbClr val="0000CC"/>
                </a:solidFill>
                <a:latin typeface="+mn-ea"/>
              </a:rPr>
              <a:t>周五均上课，因此作业为周五布置，下周四截止</a:t>
            </a:r>
            <a:endParaRPr lang="zh-CN" altLang="zh-CN" sz="1600" dirty="0">
              <a:solidFill>
                <a:srgbClr val="0000CC"/>
              </a:solidFill>
              <a:latin typeface="+mn-ea"/>
            </a:endParaRPr>
          </a:p>
          <a:p>
            <a:r>
              <a:rPr lang="en-US" altLang="zh-CN" sz="1600" b="1" dirty="0">
                <a:solidFill>
                  <a:srgbClr val="0000CC"/>
                </a:solidFill>
                <a:latin typeface="+mn-ea"/>
              </a:rPr>
              <a:t>    </a:t>
            </a:r>
            <a:r>
              <a:rPr lang="zh-CN" altLang="zh-CN" sz="1600" b="1" dirty="0">
                <a:solidFill>
                  <a:srgbClr val="0000CC"/>
                </a:solidFill>
                <a:latin typeface="+mn-ea"/>
              </a:rPr>
              <a:t>后续仅理论课上课后，作业布置及截止时间可能会调整，具体看每次作业要求</a:t>
            </a:r>
            <a:endParaRPr lang="zh-CN" altLang="zh-CN" sz="1600" dirty="0">
              <a:solidFill>
                <a:srgbClr val="0000CC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82000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§2.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贴图要求：只需要截取输出窗口中的有效部分即可，如果全部截取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截取过大，则视为无效贴图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 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例：无效贴图                                                                       例：有效贴图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F2BCB20-A7D3-4325-B240-F17B741FF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853" y="1614221"/>
            <a:ext cx="8291512" cy="489989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DC82EAA-7133-41BE-BA1F-9E1E133998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5148" y="1614221"/>
            <a:ext cx="2257143" cy="60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28297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§2.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、十进制整数转二进制补码（仿照课件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en-US" altLang="zh-CN" sz="1600" b="1" dirty="0">
                <a:latin typeface="+mn-ea"/>
              </a:rPr>
              <a:t>P.19</a:t>
            </a:r>
            <a:r>
              <a:rPr lang="zh-CN" altLang="en-US" sz="1600" b="1" dirty="0">
                <a:latin typeface="+mn-ea"/>
              </a:rPr>
              <a:t>，写出具体步骤，包括绝对值、取反、</a:t>
            </a:r>
            <a:r>
              <a:rPr lang="en-US" altLang="zh-CN" sz="1600" b="1" dirty="0">
                <a:latin typeface="+mn-ea"/>
              </a:rPr>
              <a:t>+1</a:t>
            </a:r>
            <a:r>
              <a:rPr lang="zh-CN" altLang="en-US" sz="1600" b="1" dirty="0">
                <a:latin typeface="+mn-ea"/>
              </a:rPr>
              <a:t>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sz="1600" b="1" dirty="0">
                <a:latin typeface="+mn-ea"/>
              </a:rPr>
              <a:t>格式要求：多字节时，每</a:t>
            </a:r>
            <a:r>
              <a:rPr lang="en-US" altLang="zh-CN" sz="1600" b="1" dirty="0">
                <a:latin typeface="+mn-ea"/>
              </a:rPr>
              <a:t>4/8bit</a:t>
            </a:r>
            <a:r>
              <a:rPr lang="zh-CN" altLang="en-US" sz="1600" b="1" dirty="0">
                <a:latin typeface="+mn-ea"/>
              </a:rPr>
              <a:t>中间加一个空格或</a:t>
            </a:r>
            <a:r>
              <a:rPr lang="en-US" altLang="zh-CN" sz="1600" b="1" dirty="0">
                <a:latin typeface="+mn-ea"/>
              </a:rPr>
              <a:t>-(</a:t>
            </a:r>
            <a:r>
              <a:rPr lang="zh-CN" altLang="en-US" sz="1600" b="1" dirty="0">
                <a:latin typeface="+mn-ea"/>
              </a:rPr>
              <a:t>例：</a:t>
            </a:r>
            <a:r>
              <a:rPr lang="en-US" altLang="zh-CN" sz="1600" b="1" dirty="0">
                <a:latin typeface="+mn-ea"/>
              </a:rPr>
              <a:t>"11010100-00110001" </a:t>
            </a:r>
            <a:r>
              <a:rPr lang="zh-CN" altLang="en-US" sz="1600" b="1" dirty="0">
                <a:latin typeface="+mn-ea"/>
              </a:rPr>
              <a:t>或 </a:t>
            </a:r>
            <a:r>
              <a:rPr lang="en-US" altLang="zh-CN" sz="1600" b="1" dirty="0">
                <a:latin typeface="+mn-ea"/>
              </a:rPr>
              <a:t>"1101 0100 0011 0001")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A.-108  </a:t>
            </a:r>
            <a:r>
              <a:rPr lang="zh-CN" altLang="zh-CN" sz="1600" b="1" dirty="0">
                <a:latin typeface="+mn-ea"/>
              </a:rPr>
              <a:t>（假设为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zh-CN" sz="1600" b="1" dirty="0">
                <a:latin typeface="+mn-ea"/>
              </a:rPr>
              <a:t>字节整数</a:t>
            </a:r>
            <a:r>
              <a:rPr lang="zh-CN" altLang="en-US" sz="1600" b="1" dirty="0">
                <a:latin typeface="+mn-ea"/>
              </a:rPr>
              <a:t>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其中进制互转部分，直接写答案即可，不需要竖式除法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按权展开相加，下同</a:t>
            </a:r>
            <a:r>
              <a:rPr lang="zh-CN" altLang="zh-CN" sz="1600" b="1" dirty="0">
                <a:latin typeface="+mn-ea"/>
              </a:rPr>
              <a:t>）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D6C5756-8944-3647-7E77-91646DF188C8}"/>
              </a:ext>
            </a:extLst>
          </p:cNvPr>
          <p:cNvSpPr txBox="1"/>
          <p:nvPr/>
        </p:nvSpPr>
        <p:spPr>
          <a:xfrm>
            <a:off x="807194" y="2099967"/>
            <a:ext cx="974939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数值            绝对值的二进制表示     原码            </a:t>
            </a:r>
            <a:r>
              <a:rPr lang="en-US" altLang="zh-CN" dirty="0"/>
              <a:t>	</a:t>
            </a:r>
            <a:r>
              <a:rPr lang="zh-CN" altLang="en-US" dirty="0"/>
              <a:t>补码</a:t>
            </a:r>
            <a:endParaRPr lang="en-US" altLang="zh-CN" dirty="0"/>
          </a:p>
          <a:p>
            <a:r>
              <a:rPr lang="en-US" altLang="zh-CN" dirty="0"/>
              <a:t>-108             110 1100                          0110 1100		1001 0011</a:t>
            </a:r>
          </a:p>
          <a:p>
            <a:r>
              <a:rPr lang="en-US" altLang="zh-CN" dirty="0"/>
              <a:t>					            +</a:t>
            </a:r>
            <a:r>
              <a:rPr lang="zh-CN" altLang="en-US" dirty="0"/>
              <a:t>）</a:t>
            </a:r>
            <a:r>
              <a:rPr lang="en-US" altLang="zh-CN" dirty="0"/>
              <a:t>             1</a:t>
            </a:r>
          </a:p>
          <a:p>
            <a:r>
              <a:rPr lang="en-US" altLang="zh-CN" dirty="0"/>
              <a:t>					             ——————</a:t>
            </a:r>
          </a:p>
          <a:p>
            <a:r>
              <a:rPr lang="en-US" altLang="zh-CN" dirty="0"/>
              <a:t>						1001 0100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15054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§2.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、十进制整数转二进制补码（仿照课件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en-US" altLang="zh-CN" sz="1600" b="1" dirty="0">
                <a:latin typeface="+mn-ea"/>
              </a:rPr>
              <a:t>P.19</a:t>
            </a:r>
            <a:r>
              <a:rPr lang="zh-CN" altLang="en-US" sz="1600" b="1" dirty="0">
                <a:latin typeface="+mn-ea"/>
              </a:rPr>
              <a:t>，写出具体步骤，包括绝对值、取反、</a:t>
            </a:r>
            <a:r>
              <a:rPr lang="en-US" altLang="zh-CN" sz="1600" b="1" dirty="0">
                <a:latin typeface="+mn-ea"/>
              </a:rPr>
              <a:t>+1</a:t>
            </a:r>
            <a:r>
              <a:rPr lang="zh-CN" altLang="en-US" sz="1600" b="1" dirty="0">
                <a:latin typeface="+mn-ea"/>
              </a:rPr>
              <a:t>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sz="1600" b="1" dirty="0">
                <a:latin typeface="+mn-ea"/>
              </a:rPr>
              <a:t>格式要求：多字节时，每</a:t>
            </a:r>
            <a:r>
              <a:rPr lang="en-US" altLang="zh-CN" sz="1600" b="1" dirty="0">
                <a:latin typeface="+mn-ea"/>
              </a:rPr>
              <a:t>4/8bit</a:t>
            </a:r>
            <a:r>
              <a:rPr lang="zh-CN" altLang="en-US" sz="1600" b="1" dirty="0">
                <a:latin typeface="+mn-ea"/>
              </a:rPr>
              <a:t>中间加一个空格或</a:t>
            </a:r>
            <a:r>
              <a:rPr lang="en-US" altLang="zh-CN" sz="1600" b="1" dirty="0">
                <a:latin typeface="+mn-ea"/>
              </a:rPr>
              <a:t>-(</a:t>
            </a:r>
            <a:r>
              <a:rPr lang="zh-CN" altLang="en-US" sz="1600" b="1" dirty="0">
                <a:latin typeface="+mn-ea"/>
              </a:rPr>
              <a:t>例：</a:t>
            </a:r>
            <a:r>
              <a:rPr lang="en-US" altLang="zh-CN" sz="1600" b="1" dirty="0">
                <a:latin typeface="+mn-ea"/>
              </a:rPr>
              <a:t>"11010100-00110001" </a:t>
            </a:r>
            <a:r>
              <a:rPr lang="zh-CN" altLang="en-US" sz="1600" b="1" dirty="0">
                <a:latin typeface="+mn-ea"/>
              </a:rPr>
              <a:t>或 </a:t>
            </a:r>
            <a:r>
              <a:rPr lang="en-US" altLang="zh-CN" sz="1600" b="1" dirty="0">
                <a:latin typeface="+mn-ea"/>
              </a:rPr>
              <a:t>"1101 0100 0011 0001")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B.-219  </a:t>
            </a:r>
            <a:r>
              <a:rPr lang="zh-CN" altLang="zh-CN" sz="1600" b="1" dirty="0">
                <a:latin typeface="+mn-ea"/>
              </a:rPr>
              <a:t>（假设为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zh-CN" sz="1600" b="1" dirty="0">
                <a:latin typeface="+mn-ea"/>
              </a:rPr>
              <a:t>字节整数）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8917DD0-F464-6F64-295F-C2A1302CA2A6}"/>
              </a:ext>
            </a:extLst>
          </p:cNvPr>
          <p:cNvSpPr txBox="1"/>
          <p:nvPr/>
        </p:nvSpPr>
        <p:spPr>
          <a:xfrm>
            <a:off x="807194" y="2099967"/>
            <a:ext cx="974939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数值            绝对值的二进制表示     原码            </a:t>
            </a:r>
            <a:r>
              <a:rPr lang="en-US" altLang="zh-CN" dirty="0"/>
              <a:t>		</a:t>
            </a:r>
            <a:r>
              <a:rPr lang="zh-CN" altLang="en-US" dirty="0"/>
              <a:t>补码</a:t>
            </a:r>
            <a:endParaRPr lang="en-US" altLang="zh-CN" dirty="0"/>
          </a:p>
          <a:p>
            <a:r>
              <a:rPr lang="en-US" altLang="zh-CN" dirty="0"/>
              <a:t>-219             1101 1011                        0000 0000 1101 1011		1111 1111 0010 0100</a:t>
            </a:r>
          </a:p>
          <a:p>
            <a:r>
              <a:rPr lang="en-US" altLang="zh-CN" dirty="0"/>
              <a:t>						           +</a:t>
            </a:r>
            <a:r>
              <a:rPr lang="zh-CN" altLang="en-US" dirty="0"/>
              <a:t>）</a:t>
            </a:r>
            <a:r>
              <a:rPr lang="en-US" altLang="zh-CN" dirty="0"/>
              <a:t>		1</a:t>
            </a:r>
          </a:p>
          <a:p>
            <a:r>
              <a:rPr lang="en-US" altLang="zh-CN" dirty="0"/>
              <a:t>							—————————</a:t>
            </a:r>
          </a:p>
          <a:p>
            <a:r>
              <a:rPr lang="en-US" altLang="zh-CN" dirty="0"/>
              <a:t>							1111 1111 0010 0101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40726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§2.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、十进制整数转二进制补码（仿照课件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en-US" altLang="zh-CN" sz="1600" b="1" dirty="0">
                <a:latin typeface="+mn-ea"/>
              </a:rPr>
              <a:t>P.19</a:t>
            </a:r>
            <a:r>
              <a:rPr lang="zh-CN" altLang="en-US" sz="1600" b="1" dirty="0">
                <a:latin typeface="+mn-ea"/>
              </a:rPr>
              <a:t>，写出具体步骤，包括绝对值、取反、</a:t>
            </a:r>
            <a:r>
              <a:rPr lang="en-US" altLang="zh-CN" sz="1600" b="1" dirty="0">
                <a:latin typeface="+mn-ea"/>
              </a:rPr>
              <a:t>+1</a:t>
            </a:r>
            <a:r>
              <a:rPr lang="zh-CN" altLang="en-US" sz="1600" b="1" dirty="0">
                <a:latin typeface="+mn-ea"/>
              </a:rPr>
              <a:t>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sz="1600" b="1" dirty="0">
                <a:latin typeface="+mn-ea"/>
              </a:rPr>
              <a:t>格式要求：多字节时，每</a:t>
            </a:r>
            <a:r>
              <a:rPr lang="en-US" altLang="zh-CN" sz="1600" b="1" dirty="0">
                <a:latin typeface="+mn-ea"/>
              </a:rPr>
              <a:t>4/8bit</a:t>
            </a:r>
            <a:r>
              <a:rPr lang="zh-CN" altLang="en-US" sz="1600" b="1" dirty="0">
                <a:latin typeface="+mn-ea"/>
              </a:rPr>
              <a:t>中间加一个空格或</a:t>
            </a:r>
            <a:r>
              <a:rPr lang="en-US" altLang="zh-CN" sz="1600" b="1" dirty="0">
                <a:latin typeface="+mn-ea"/>
              </a:rPr>
              <a:t>-(</a:t>
            </a:r>
            <a:r>
              <a:rPr lang="zh-CN" altLang="en-US" sz="1600" b="1" dirty="0">
                <a:latin typeface="+mn-ea"/>
              </a:rPr>
              <a:t>例：</a:t>
            </a:r>
            <a:r>
              <a:rPr lang="en-US" altLang="zh-CN" sz="1600" b="1" dirty="0">
                <a:latin typeface="+mn-ea"/>
              </a:rPr>
              <a:t>"11010100-00110001" </a:t>
            </a:r>
            <a:r>
              <a:rPr lang="zh-CN" altLang="en-US" sz="1600" b="1" dirty="0">
                <a:latin typeface="+mn-ea"/>
              </a:rPr>
              <a:t>或 </a:t>
            </a:r>
            <a:r>
              <a:rPr lang="en-US" altLang="zh-CN" sz="1600" b="1" dirty="0">
                <a:latin typeface="+mn-ea"/>
              </a:rPr>
              <a:t>"1101 0100 0011 0001")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C.-219  </a:t>
            </a:r>
            <a:r>
              <a:rPr lang="zh-CN" altLang="zh-CN" sz="1600" b="1" dirty="0">
                <a:latin typeface="+mn-ea"/>
              </a:rPr>
              <a:t>（假设为</a:t>
            </a:r>
            <a:r>
              <a:rPr lang="en-US" altLang="zh-CN" sz="1600" b="1" dirty="0">
                <a:latin typeface="+mn-ea"/>
              </a:rPr>
              <a:t>4</a:t>
            </a:r>
            <a:r>
              <a:rPr lang="zh-CN" altLang="zh-CN" sz="1600" b="1" dirty="0">
                <a:latin typeface="+mn-ea"/>
              </a:rPr>
              <a:t>字节整数）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43AEB74-E4F6-EB67-9FF9-F2716783D13F}"/>
              </a:ext>
            </a:extLst>
          </p:cNvPr>
          <p:cNvSpPr txBox="1"/>
          <p:nvPr/>
        </p:nvSpPr>
        <p:spPr>
          <a:xfrm>
            <a:off x="807194" y="2099967"/>
            <a:ext cx="974939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数值   绝对值的二进制表示     原码            </a:t>
            </a:r>
            <a:r>
              <a:rPr lang="en-US" altLang="zh-CN" sz="1400" dirty="0"/>
              <a:t>			         </a:t>
            </a:r>
            <a:r>
              <a:rPr lang="zh-CN" altLang="en-US" sz="1400" dirty="0"/>
              <a:t>补码</a:t>
            </a:r>
            <a:endParaRPr lang="en-US" altLang="zh-CN" sz="1400" dirty="0"/>
          </a:p>
          <a:p>
            <a:r>
              <a:rPr lang="en-US" altLang="zh-CN" sz="1400" dirty="0"/>
              <a:t>-219    1101 1011                        0000 0000 0000 0000 0000 0000 1101 1011	         1111 1111 1111 1111 1111 1111 0010 0100</a:t>
            </a:r>
          </a:p>
          <a:p>
            <a:r>
              <a:rPr lang="en-US" altLang="zh-CN" sz="1400" dirty="0"/>
              <a:t>						      +</a:t>
            </a:r>
            <a:r>
              <a:rPr lang="zh-CN" altLang="en-US" sz="1400" dirty="0"/>
              <a:t>）</a:t>
            </a:r>
            <a:r>
              <a:rPr lang="en-US" altLang="zh-CN" sz="1400" dirty="0"/>
              <a:t>			              1</a:t>
            </a:r>
          </a:p>
          <a:p>
            <a:r>
              <a:rPr lang="en-US" altLang="zh-CN" sz="1400" dirty="0"/>
              <a:t>						          —————————————————</a:t>
            </a:r>
          </a:p>
          <a:p>
            <a:r>
              <a:rPr lang="en-US" altLang="zh-CN" sz="1400" dirty="0"/>
              <a:t>						          1111 1111 1111 1111 1111 1111 0010 0101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182464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§2.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、十进制整数转二进制补码（仿照课件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en-US" altLang="zh-CN" sz="1600" b="1" dirty="0">
                <a:latin typeface="+mn-ea"/>
              </a:rPr>
              <a:t>P.19</a:t>
            </a:r>
            <a:r>
              <a:rPr lang="zh-CN" altLang="en-US" sz="1600" b="1" dirty="0">
                <a:latin typeface="+mn-ea"/>
              </a:rPr>
              <a:t>，写出具体步骤，包括绝对值、取反、</a:t>
            </a:r>
            <a:r>
              <a:rPr lang="en-US" altLang="zh-CN" sz="1600" b="1" dirty="0">
                <a:latin typeface="+mn-ea"/>
              </a:rPr>
              <a:t>+1</a:t>
            </a:r>
            <a:r>
              <a:rPr lang="zh-CN" altLang="en-US" sz="1600" b="1" dirty="0">
                <a:latin typeface="+mn-ea"/>
              </a:rPr>
              <a:t>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sz="1600" b="1" dirty="0">
                <a:latin typeface="+mn-ea"/>
              </a:rPr>
              <a:t>格式要求：多字节时，每</a:t>
            </a:r>
            <a:r>
              <a:rPr lang="en-US" altLang="zh-CN" sz="1600" b="1" dirty="0">
                <a:latin typeface="+mn-ea"/>
              </a:rPr>
              <a:t>4/8bit</a:t>
            </a:r>
            <a:r>
              <a:rPr lang="zh-CN" altLang="en-US" sz="1600" b="1" dirty="0">
                <a:latin typeface="+mn-ea"/>
              </a:rPr>
              <a:t>中间加一个空格或</a:t>
            </a:r>
            <a:r>
              <a:rPr lang="en-US" altLang="zh-CN" sz="1600" b="1" dirty="0">
                <a:latin typeface="+mn-ea"/>
              </a:rPr>
              <a:t>-(</a:t>
            </a:r>
            <a:r>
              <a:rPr lang="zh-CN" altLang="en-US" sz="1600" b="1" dirty="0">
                <a:latin typeface="+mn-ea"/>
              </a:rPr>
              <a:t>例：</a:t>
            </a:r>
            <a:r>
              <a:rPr lang="en-US" altLang="zh-CN" sz="1600" b="1" dirty="0">
                <a:latin typeface="+mn-ea"/>
              </a:rPr>
              <a:t>"11010100-00110001" </a:t>
            </a:r>
            <a:r>
              <a:rPr lang="zh-CN" altLang="en-US" sz="1600" b="1" dirty="0">
                <a:latin typeface="+mn-ea"/>
              </a:rPr>
              <a:t>或 </a:t>
            </a:r>
            <a:r>
              <a:rPr lang="en-US" altLang="zh-CN" sz="1600" b="1" dirty="0">
                <a:latin typeface="+mn-ea"/>
              </a:rPr>
              <a:t>"1101 0100 0011 0001")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D.</a:t>
            </a:r>
            <a:r>
              <a:rPr lang="zh-CN" altLang="en-US" sz="1600" b="1" dirty="0">
                <a:latin typeface="+mn-ea"/>
              </a:rPr>
              <a:t>本人学号逆序后取最多五位对应的</a:t>
            </a:r>
            <a:r>
              <a:rPr lang="en-US" altLang="zh-CN" sz="1600" b="1" dirty="0">
                <a:latin typeface="+mn-ea"/>
              </a:rPr>
              <a:t>int</a:t>
            </a:r>
            <a:r>
              <a:rPr lang="zh-CN" altLang="en-US" sz="1600" b="1" dirty="0">
                <a:latin typeface="+mn-ea"/>
              </a:rPr>
              <a:t>型十进制负数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（例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1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：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1234567 =&gt; -76543 / 1234050 =&gt; -50432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）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  <a:ea typeface="宋体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5556019-49FE-0C61-226F-D9AD6FE816CA}"/>
              </a:ext>
            </a:extLst>
          </p:cNvPr>
          <p:cNvSpPr txBox="1"/>
          <p:nvPr/>
        </p:nvSpPr>
        <p:spPr>
          <a:xfrm>
            <a:off x="807194" y="2099967"/>
            <a:ext cx="974939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数值       绝对值的二进制表示     原码            </a:t>
            </a:r>
            <a:r>
              <a:rPr lang="en-US" altLang="zh-CN" sz="1400" dirty="0"/>
              <a:t>			         </a:t>
            </a:r>
            <a:r>
              <a:rPr lang="zh-CN" altLang="en-US" sz="1400" dirty="0"/>
              <a:t>补码</a:t>
            </a:r>
            <a:endParaRPr lang="en-US" altLang="zh-CN" sz="1400" dirty="0"/>
          </a:p>
          <a:p>
            <a:r>
              <a:rPr lang="en-US" altLang="zh-CN" sz="1400" dirty="0"/>
              <a:t>-22205    0101 0110 1011 1101      0000 0000 0000 0000 0101 0110 1011 1101      1111 1111 1111 1111 1010 1001 0100 0010</a:t>
            </a:r>
          </a:p>
          <a:p>
            <a:r>
              <a:rPr lang="en-US" altLang="zh-CN" sz="1400" dirty="0"/>
              <a:t>						      +</a:t>
            </a:r>
            <a:r>
              <a:rPr lang="zh-CN" altLang="en-US" sz="1400" dirty="0"/>
              <a:t>）</a:t>
            </a:r>
            <a:r>
              <a:rPr lang="en-US" altLang="zh-CN" sz="1400" dirty="0"/>
              <a:t>			               1</a:t>
            </a:r>
          </a:p>
          <a:p>
            <a:r>
              <a:rPr lang="en-US" altLang="zh-CN" sz="1400" dirty="0"/>
              <a:t>						          —————————————————</a:t>
            </a:r>
          </a:p>
          <a:p>
            <a:r>
              <a:rPr lang="en-US" altLang="zh-CN" sz="1400" dirty="0"/>
              <a:t>						          1111 1111 1111 1111 1010 1001 0100 0011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081260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§2.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、二进制补码转十进制整数（只考虑有符号数，写出具体步骤，包括</a:t>
            </a:r>
            <a:r>
              <a:rPr lang="en-US" altLang="zh-CN" sz="1600" b="1" dirty="0">
                <a:latin typeface="+mn-ea"/>
              </a:rPr>
              <a:t>-1</a:t>
            </a:r>
            <a:r>
              <a:rPr lang="zh-CN" altLang="en-US" sz="1600" b="1" dirty="0">
                <a:latin typeface="+mn-ea"/>
              </a:rPr>
              <a:t>、取反、绝对值、加负号）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sz="1600" b="1" dirty="0">
                <a:latin typeface="+mn-ea"/>
              </a:rPr>
              <a:t>格式要求：多字节时，每</a:t>
            </a:r>
            <a:r>
              <a:rPr lang="en-US" altLang="zh-CN" sz="1600" b="1" dirty="0">
                <a:latin typeface="+mn-ea"/>
              </a:rPr>
              <a:t>4/8bit</a:t>
            </a:r>
            <a:r>
              <a:rPr lang="zh-CN" altLang="en-US" sz="1600" b="1" dirty="0">
                <a:latin typeface="+mn-ea"/>
              </a:rPr>
              <a:t>中间加一个空格或</a:t>
            </a:r>
            <a:r>
              <a:rPr lang="en-US" altLang="zh-CN" sz="1600" b="1" dirty="0">
                <a:latin typeface="+mn-ea"/>
              </a:rPr>
              <a:t>-(</a:t>
            </a:r>
            <a:r>
              <a:rPr lang="zh-CN" altLang="en-US" sz="1600" b="1" dirty="0">
                <a:latin typeface="+mn-ea"/>
              </a:rPr>
              <a:t>例：</a:t>
            </a:r>
            <a:r>
              <a:rPr lang="en-US" altLang="zh-CN" sz="1600" b="1" dirty="0">
                <a:latin typeface="+mn-ea"/>
              </a:rPr>
              <a:t>"11010100-00110001" </a:t>
            </a:r>
            <a:r>
              <a:rPr lang="zh-CN" altLang="en-US" sz="1600" b="1" dirty="0">
                <a:latin typeface="+mn-ea"/>
              </a:rPr>
              <a:t>或 </a:t>
            </a:r>
            <a:r>
              <a:rPr lang="en-US" altLang="zh-CN" sz="1600" b="1" dirty="0">
                <a:latin typeface="+mn-ea"/>
              </a:rPr>
              <a:t>"1101 0100 0011 0001")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A.1101 1011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FDA3AE9-E404-5BA4-683B-42D0DBD25408}"/>
              </a:ext>
            </a:extLst>
          </p:cNvPr>
          <p:cNvSpPr txBox="1"/>
          <p:nvPr/>
        </p:nvSpPr>
        <p:spPr>
          <a:xfrm>
            <a:off x="832419" y="2125192"/>
            <a:ext cx="972417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补码                                    原码                                            绝对值的二进制表示            十进制整数</a:t>
            </a:r>
            <a:endParaRPr lang="en-US" altLang="zh-CN" dirty="0"/>
          </a:p>
          <a:p>
            <a:r>
              <a:rPr lang="en-US" altLang="zh-CN" dirty="0"/>
              <a:t>    1101 1011                       0010 0101                                    10 0101                                   -37      </a:t>
            </a:r>
          </a:p>
          <a:p>
            <a:r>
              <a:rPr lang="en-US" altLang="zh-CN" dirty="0"/>
              <a:t>-</a:t>
            </a:r>
            <a:r>
              <a:rPr lang="zh-CN" altLang="en-US" dirty="0"/>
              <a:t>）  </a:t>
            </a:r>
            <a:r>
              <a:rPr lang="en-US" altLang="zh-CN" dirty="0"/>
              <a:t>           1</a:t>
            </a:r>
          </a:p>
          <a:p>
            <a:r>
              <a:rPr lang="en-US" altLang="zh-CN" dirty="0"/>
              <a:t>——————</a:t>
            </a:r>
          </a:p>
          <a:p>
            <a:r>
              <a:rPr lang="en-US" altLang="zh-CN" dirty="0"/>
              <a:t>    1101 1010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001346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§2.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、二进制补码转十进制整数（只考虑有符号数，写出具体步骤，包括</a:t>
            </a:r>
            <a:r>
              <a:rPr lang="en-US" altLang="zh-CN" sz="1600" b="1" dirty="0">
                <a:latin typeface="+mn-ea"/>
              </a:rPr>
              <a:t>-1</a:t>
            </a:r>
            <a:r>
              <a:rPr lang="zh-CN" altLang="en-US" sz="1600" b="1" dirty="0">
                <a:latin typeface="+mn-ea"/>
              </a:rPr>
              <a:t>、取反、绝对值、加负号）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sz="1600" b="1" dirty="0">
                <a:latin typeface="+mn-ea"/>
              </a:rPr>
              <a:t>格式要求：多字节时，每</a:t>
            </a:r>
            <a:r>
              <a:rPr lang="en-US" altLang="zh-CN" sz="1600" b="1" dirty="0">
                <a:latin typeface="+mn-ea"/>
              </a:rPr>
              <a:t>4/8bit</a:t>
            </a:r>
            <a:r>
              <a:rPr lang="zh-CN" altLang="en-US" sz="1600" b="1" dirty="0">
                <a:latin typeface="+mn-ea"/>
              </a:rPr>
              <a:t>中间加一个空格或</a:t>
            </a:r>
            <a:r>
              <a:rPr lang="en-US" altLang="zh-CN" sz="1600" b="1" dirty="0">
                <a:latin typeface="+mn-ea"/>
              </a:rPr>
              <a:t>-(</a:t>
            </a:r>
            <a:r>
              <a:rPr lang="zh-CN" altLang="en-US" sz="1600" b="1" dirty="0">
                <a:latin typeface="+mn-ea"/>
              </a:rPr>
              <a:t>例：</a:t>
            </a:r>
            <a:r>
              <a:rPr lang="en-US" altLang="zh-CN" sz="1600" b="1" dirty="0">
                <a:latin typeface="+mn-ea"/>
              </a:rPr>
              <a:t>"11010100-00110001" </a:t>
            </a:r>
            <a:r>
              <a:rPr lang="zh-CN" altLang="en-US" sz="1600" b="1" dirty="0">
                <a:latin typeface="+mn-ea"/>
              </a:rPr>
              <a:t>或 </a:t>
            </a:r>
            <a:r>
              <a:rPr lang="en-US" altLang="zh-CN" sz="1600" b="1" dirty="0">
                <a:latin typeface="+mn-ea"/>
              </a:rPr>
              <a:t>"1101 0100 0011 0001")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B.1101 1011 1001 0110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D347781-F75B-D7B1-B3EC-56DF7B9F41B8}"/>
              </a:ext>
            </a:extLst>
          </p:cNvPr>
          <p:cNvSpPr txBox="1"/>
          <p:nvPr/>
        </p:nvSpPr>
        <p:spPr>
          <a:xfrm>
            <a:off x="832419" y="2125192"/>
            <a:ext cx="972417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补码                                    原码                                            绝对值的二进制表示            十进制整数</a:t>
            </a:r>
            <a:endParaRPr lang="en-US" altLang="zh-CN" dirty="0"/>
          </a:p>
          <a:p>
            <a:r>
              <a:rPr lang="en-US" altLang="zh-CN" dirty="0"/>
              <a:t>    1101 1011 1001 0110     0010 0100 0110 1010                  10 0100 0110 1010                  -9322      </a:t>
            </a:r>
          </a:p>
          <a:p>
            <a:r>
              <a:rPr lang="en-US" altLang="zh-CN" dirty="0"/>
              <a:t>-</a:t>
            </a:r>
            <a:r>
              <a:rPr lang="zh-CN" altLang="en-US" dirty="0"/>
              <a:t>）  </a:t>
            </a:r>
            <a:r>
              <a:rPr lang="en-US" altLang="zh-CN" dirty="0"/>
              <a:t>                             1</a:t>
            </a:r>
          </a:p>
          <a:p>
            <a:r>
              <a:rPr lang="en-US" altLang="zh-CN" dirty="0"/>
              <a:t>——————————</a:t>
            </a:r>
          </a:p>
          <a:p>
            <a:r>
              <a:rPr lang="en-US" altLang="zh-CN" dirty="0"/>
              <a:t>    1101 1011 1001 0101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685258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§2.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、二进制补码转十进制整数（只考虑有符号数，写出具体步骤，包括</a:t>
            </a:r>
            <a:r>
              <a:rPr lang="en-US" altLang="zh-CN" sz="1600" b="1" dirty="0">
                <a:latin typeface="+mn-ea"/>
              </a:rPr>
              <a:t>-1</a:t>
            </a:r>
            <a:r>
              <a:rPr lang="zh-CN" altLang="en-US" sz="1600" b="1" dirty="0">
                <a:latin typeface="+mn-ea"/>
              </a:rPr>
              <a:t>、取反、绝对值、加负号）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sz="1600" b="1" dirty="0">
                <a:latin typeface="+mn-ea"/>
              </a:rPr>
              <a:t>格式要求：多字节时，每</a:t>
            </a:r>
            <a:r>
              <a:rPr lang="en-US" altLang="zh-CN" sz="1600" b="1" dirty="0">
                <a:latin typeface="+mn-ea"/>
              </a:rPr>
              <a:t>4/8bit</a:t>
            </a:r>
            <a:r>
              <a:rPr lang="zh-CN" altLang="en-US" sz="1600" b="1" dirty="0">
                <a:latin typeface="+mn-ea"/>
              </a:rPr>
              <a:t>中间加一个空格或</a:t>
            </a:r>
            <a:r>
              <a:rPr lang="en-US" altLang="zh-CN" sz="1600" b="1" dirty="0">
                <a:latin typeface="+mn-ea"/>
              </a:rPr>
              <a:t>-(</a:t>
            </a:r>
            <a:r>
              <a:rPr lang="zh-CN" altLang="en-US" sz="1600" b="1" dirty="0">
                <a:latin typeface="+mn-ea"/>
              </a:rPr>
              <a:t>例：</a:t>
            </a:r>
            <a:r>
              <a:rPr lang="en-US" altLang="zh-CN" sz="1600" b="1" dirty="0">
                <a:latin typeface="+mn-ea"/>
              </a:rPr>
              <a:t>"11010100-00110001" </a:t>
            </a:r>
            <a:r>
              <a:rPr lang="zh-CN" altLang="en-US" sz="1600" b="1" dirty="0">
                <a:latin typeface="+mn-ea"/>
              </a:rPr>
              <a:t>或 </a:t>
            </a:r>
            <a:r>
              <a:rPr lang="en-US" altLang="zh-CN" sz="1600" b="1" dirty="0">
                <a:latin typeface="+mn-ea"/>
              </a:rPr>
              <a:t>"1101 0100 0011 0001")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C.1101 1011 1001 0110 0101 1010 1101 0110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9B8CEF2-0D32-E70F-5808-B4CEEB5BE4F4}"/>
              </a:ext>
            </a:extLst>
          </p:cNvPr>
          <p:cNvSpPr txBox="1"/>
          <p:nvPr/>
        </p:nvSpPr>
        <p:spPr>
          <a:xfrm>
            <a:off x="832419" y="2125192"/>
            <a:ext cx="972417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补码                                                                    原码                                                                  绝对值的二进制表示                                      十进制整数</a:t>
            </a:r>
            <a:endParaRPr lang="en-US" altLang="zh-CN" sz="1200" dirty="0"/>
          </a:p>
          <a:p>
            <a:r>
              <a:rPr lang="en-US" altLang="zh-CN" sz="1200" dirty="0"/>
              <a:t> 1101 1011 1001 0110 0101 1010 1101 0110     0010 0100 0110 1001 1010 0101 0010 1010   10 0100 0110 1001 1010 0101 0010 1010       -610903338</a:t>
            </a:r>
          </a:p>
          <a:p>
            <a:r>
              <a:rPr lang="en-US" altLang="zh-CN" sz="1200" dirty="0"/>
              <a:t>-</a:t>
            </a:r>
            <a:r>
              <a:rPr lang="zh-CN" altLang="en-US" sz="1200" dirty="0"/>
              <a:t>）  </a:t>
            </a:r>
            <a:r>
              <a:rPr lang="en-US" altLang="zh-CN" sz="1200" dirty="0"/>
              <a:t>                             	                      1</a:t>
            </a:r>
          </a:p>
          <a:p>
            <a:r>
              <a:rPr lang="en-US" altLang="zh-CN" sz="1200" dirty="0"/>
              <a:t>——————————————————</a:t>
            </a:r>
          </a:p>
          <a:p>
            <a:r>
              <a:rPr lang="en-US" altLang="zh-CN" sz="1200" dirty="0"/>
              <a:t>  1101 1011 1001 0110 0101 1010 1101 0101</a:t>
            </a:r>
          </a:p>
        </p:txBody>
      </p:sp>
    </p:spTree>
    <p:extLst>
      <p:ext uri="{BB962C8B-B14F-4D97-AF65-F5344CB8AC3E}">
        <p14:creationId xmlns:p14="http://schemas.microsoft.com/office/powerpoint/2010/main" val="5598496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>
                <a:latin typeface="+mn-ea"/>
              </a:rPr>
              <a:t>§2.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、二进制补码转十进制整数（只考虑有符号数，写出具体步骤，包括</a:t>
            </a:r>
            <a:r>
              <a:rPr lang="en-US" altLang="zh-CN" sz="1600" b="1" dirty="0">
                <a:latin typeface="+mn-ea"/>
              </a:rPr>
              <a:t>-1</a:t>
            </a:r>
            <a:r>
              <a:rPr lang="zh-CN" altLang="en-US" sz="1600" b="1" dirty="0">
                <a:latin typeface="+mn-ea"/>
              </a:rPr>
              <a:t>、取反、绝对值、加负号）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sz="1600" b="1" dirty="0">
                <a:latin typeface="+mn-ea"/>
              </a:rPr>
              <a:t>格式要求：多字节时，每</a:t>
            </a:r>
            <a:r>
              <a:rPr lang="en-US" altLang="zh-CN" sz="1600" b="1" dirty="0">
                <a:latin typeface="+mn-ea"/>
              </a:rPr>
              <a:t>4/8bit</a:t>
            </a:r>
            <a:r>
              <a:rPr lang="zh-CN" altLang="en-US" sz="1600" b="1" dirty="0">
                <a:latin typeface="+mn-ea"/>
              </a:rPr>
              <a:t>中间加一个空格或</a:t>
            </a:r>
            <a:r>
              <a:rPr lang="en-US" altLang="zh-CN" sz="1600" b="1" dirty="0">
                <a:latin typeface="+mn-ea"/>
              </a:rPr>
              <a:t>-(</a:t>
            </a:r>
            <a:r>
              <a:rPr lang="zh-CN" altLang="en-US" sz="1600" b="1" dirty="0">
                <a:latin typeface="+mn-ea"/>
              </a:rPr>
              <a:t>例：</a:t>
            </a:r>
            <a:r>
              <a:rPr lang="en-US" altLang="zh-CN" sz="1600" b="1" dirty="0">
                <a:latin typeface="+mn-ea"/>
              </a:rPr>
              <a:t>"11010100-00110001" </a:t>
            </a:r>
            <a:r>
              <a:rPr lang="zh-CN" altLang="en-US" sz="1600" b="1" dirty="0">
                <a:latin typeface="+mn-ea"/>
              </a:rPr>
              <a:t>或 </a:t>
            </a:r>
            <a:r>
              <a:rPr lang="en-US" altLang="zh-CN" sz="1600" b="1" dirty="0">
                <a:latin typeface="+mn-ea"/>
              </a:rPr>
              <a:t>"1101 0100 0011 0001")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D.</a:t>
            </a:r>
            <a:r>
              <a:rPr lang="zh-CN" altLang="en-US" sz="1600" b="1" dirty="0">
                <a:latin typeface="+mn-ea"/>
              </a:rPr>
              <a:t>本人学号逆序后取最多五位对应的</a:t>
            </a:r>
            <a:r>
              <a:rPr lang="en-US" altLang="zh-CN" sz="1600" b="1" dirty="0">
                <a:latin typeface="+mn-ea"/>
              </a:rPr>
              <a:t>int</a:t>
            </a:r>
            <a:r>
              <a:rPr lang="zh-CN" altLang="en-US" sz="1600" b="1" dirty="0">
                <a:latin typeface="+mn-ea"/>
              </a:rPr>
              <a:t>型十进制负数的二进制补码形式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1.D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的结果直接当本题初始数据即可）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  <a:ea typeface="宋体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8283C76-F3EF-5776-3EB6-09086A1D15D9}"/>
              </a:ext>
            </a:extLst>
          </p:cNvPr>
          <p:cNvSpPr txBox="1"/>
          <p:nvPr/>
        </p:nvSpPr>
        <p:spPr>
          <a:xfrm>
            <a:off x="832419" y="2125192"/>
            <a:ext cx="972417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补码                                                                    原码                                                                  绝对值的二进制表示    十进制整数</a:t>
            </a:r>
            <a:endParaRPr lang="en-US" altLang="zh-CN" sz="1400" dirty="0"/>
          </a:p>
          <a:p>
            <a:r>
              <a:rPr lang="en-US" altLang="zh-CN" sz="1400" dirty="0"/>
              <a:t> 1111 1111 1111 1111 1010 1001 0100 </a:t>
            </a:r>
            <a:r>
              <a:rPr lang="en-US" altLang="zh-CN" sz="1400"/>
              <a:t>0011      0000 </a:t>
            </a:r>
            <a:r>
              <a:rPr lang="en-US" altLang="zh-CN" sz="1400" dirty="0"/>
              <a:t>0000 0000 0000 0101 0110 1011 1101    101 0110 1011 1101        -22205</a:t>
            </a:r>
          </a:p>
          <a:p>
            <a:r>
              <a:rPr lang="en-US" altLang="zh-CN" sz="1400" dirty="0"/>
              <a:t>-</a:t>
            </a:r>
            <a:r>
              <a:rPr lang="zh-CN" altLang="en-US" sz="1400" dirty="0"/>
              <a:t>）  </a:t>
            </a:r>
            <a:r>
              <a:rPr lang="en-US" altLang="zh-CN" sz="1400" dirty="0"/>
              <a:t>                             	                           1</a:t>
            </a:r>
          </a:p>
          <a:p>
            <a:r>
              <a:rPr lang="en-US" altLang="zh-CN" sz="1400" dirty="0"/>
              <a:t>——————————————————</a:t>
            </a:r>
          </a:p>
          <a:p>
            <a:r>
              <a:rPr lang="en-US" altLang="zh-CN" sz="1400" dirty="0"/>
              <a:t> 1111 1111 1111 1111 1010 1001 0100 0010</a:t>
            </a:r>
          </a:p>
        </p:txBody>
      </p:sp>
    </p:spTree>
    <p:extLst>
      <p:ext uri="{BB962C8B-B14F-4D97-AF65-F5344CB8AC3E}">
        <p14:creationId xmlns:p14="http://schemas.microsoft.com/office/powerpoint/2010/main" val="306459059"/>
      </p:ext>
    </p:extLst>
  </p:cSld>
  <p:clrMapOvr>
    <a:masterClrMapping/>
  </p:clrMapOvr>
</p:sld>
</file>

<file path=ppt/theme/theme1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947</TotalTime>
  <Words>1312</Words>
  <Application>Microsoft Office PowerPoint</Application>
  <PresentationFormat>宽屏</PresentationFormat>
  <Paragraphs>100</Paragraphs>
  <Slides>10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3" baseType="lpstr">
      <vt:lpstr>等线</vt:lpstr>
      <vt:lpstr>Times New Roman</vt:lpstr>
      <vt:lpstr>1_默认设计模板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 Y</dc:creator>
  <cp:lastModifiedBy>xi sheng</cp:lastModifiedBy>
  <cp:revision>143</cp:revision>
  <dcterms:created xsi:type="dcterms:W3CDTF">2020-08-13T13:39:53Z</dcterms:created>
  <dcterms:modified xsi:type="dcterms:W3CDTF">2024-03-05T12:56:30Z</dcterms:modified>
</cp:coreProperties>
</file>