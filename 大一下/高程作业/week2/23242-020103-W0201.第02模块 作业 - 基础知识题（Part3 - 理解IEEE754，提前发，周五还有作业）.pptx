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2"/>
  </p:notesMasterIdLst>
  <p:sldIdLst>
    <p:sldId id="449" r:id="rId2"/>
    <p:sldId id="1237" r:id="rId3"/>
    <p:sldId id="1238" r:id="rId4"/>
    <p:sldId id="850" r:id="rId5"/>
    <p:sldId id="1239" r:id="rId6"/>
    <p:sldId id="1240" r:id="rId7"/>
    <p:sldId id="1241" r:id="rId8"/>
    <p:sldId id="522" r:id="rId9"/>
    <p:sldId id="839" r:id="rId10"/>
    <p:sldId id="849" r:id="rId11"/>
    <p:sldId id="840" r:id="rId12"/>
    <p:sldId id="841" r:id="rId13"/>
    <p:sldId id="842" r:id="rId14"/>
    <p:sldId id="843" r:id="rId15"/>
    <p:sldId id="844" r:id="rId16"/>
    <p:sldId id="845" r:id="rId17"/>
    <p:sldId id="846" r:id="rId18"/>
    <p:sldId id="1243" r:id="rId19"/>
    <p:sldId id="1242" r:id="rId20"/>
    <p:sldId id="81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0D159D-73AF-4CAE-87BF-5396EC1F60CC}" v="466" dt="2024-03-14T07:46:16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6C0D159D-73AF-4CAE-87BF-5396EC1F60CC}"/>
    <pc:docChg chg="undo redo custSel addSld modSld">
      <pc:chgData name="xi sheng" userId="b3919e0d8ca6a452" providerId="LiveId" clId="{6C0D159D-73AF-4CAE-87BF-5396EC1F60CC}" dt="2024-03-14T07:46:16.303" v="2081"/>
      <pc:docMkLst>
        <pc:docMk/>
      </pc:docMkLst>
      <pc:sldChg chg="modSp mod">
        <pc:chgData name="xi sheng" userId="b3919e0d8ca6a452" providerId="LiveId" clId="{6C0D159D-73AF-4CAE-87BF-5396EC1F60CC}" dt="2024-03-11T11:58:43.437" v="148" actId="20577"/>
        <pc:sldMkLst>
          <pc:docMk/>
          <pc:sldMk cId="159514970" sldId="839"/>
        </pc:sldMkLst>
        <pc:spChg chg="mod">
          <ac:chgData name="xi sheng" userId="b3919e0d8ca6a452" providerId="LiveId" clId="{6C0D159D-73AF-4CAE-87BF-5396EC1F60CC}" dt="2024-03-11T11:58:43.437" v="148" actId="20577"/>
          <ac:spMkLst>
            <pc:docMk/>
            <pc:sldMk cId="159514970" sldId="839"/>
            <ac:spMk id="3" creationId="{F46DDED7-DA1F-4F18-ACEF-244B92560D08}"/>
          </ac:spMkLst>
        </pc:spChg>
      </pc:sldChg>
      <pc:sldChg chg="modSp mod">
        <pc:chgData name="xi sheng" userId="b3919e0d8ca6a452" providerId="LiveId" clId="{6C0D159D-73AF-4CAE-87BF-5396EC1F60CC}" dt="2024-03-11T12:03:52.789" v="192" actId="108"/>
        <pc:sldMkLst>
          <pc:docMk/>
          <pc:sldMk cId="4127046105" sldId="840"/>
        </pc:sldMkLst>
        <pc:spChg chg="mod">
          <ac:chgData name="xi sheng" userId="b3919e0d8ca6a452" providerId="LiveId" clId="{6C0D159D-73AF-4CAE-87BF-5396EC1F60CC}" dt="2024-03-11T12:03:52.789" v="192" actId="108"/>
          <ac:spMkLst>
            <pc:docMk/>
            <pc:sldMk cId="4127046105" sldId="840"/>
            <ac:spMk id="3" creationId="{F46DDED7-DA1F-4F18-ACEF-244B92560D08}"/>
          </ac:spMkLst>
        </pc:spChg>
      </pc:sldChg>
      <pc:sldChg chg="modSp mod">
        <pc:chgData name="xi sheng" userId="b3919e0d8ca6a452" providerId="LiveId" clId="{6C0D159D-73AF-4CAE-87BF-5396EC1F60CC}" dt="2024-03-11T12:04:36.168" v="199" actId="108"/>
        <pc:sldMkLst>
          <pc:docMk/>
          <pc:sldMk cId="3244531169" sldId="841"/>
        </pc:sldMkLst>
        <pc:spChg chg="mod">
          <ac:chgData name="xi sheng" userId="b3919e0d8ca6a452" providerId="LiveId" clId="{6C0D159D-73AF-4CAE-87BF-5396EC1F60CC}" dt="2024-03-11T12:04:36.168" v="199" actId="108"/>
          <ac:spMkLst>
            <pc:docMk/>
            <pc:sldMk cId="3244531169" sldId="841"/>
            <ac:spMk id="3" creationId="{F46DDED7-DA1F-4F18-ACEF-244B92560D08}"/>
          </ac:spMkLst>
        </pc:spChg>
      </pc:sldChg>
      <pc:sldChg chg="modSp mod">
        <pc:chgData name="xi sheng" userId="b3919e0d8ca6a452" providerId="LiveId" clId="{6C0D159D-73AF-4CAE-87BF-5396EC1F60CC}" dt="2024-03-11T12:33:22.349" v="279" actId="20577"/>
        <pc:sldMkLst>
          <pc:docMk/>
          <pc:sldMk cId="1472875457" sldId="842"/>
        </pc:sldMkLst>
        <pc:spChg chg="mod">
          <ac:chgData name="xi sheng" userId="b3919e0d8ca6a452" providerId="LiveId" clId="{6C0D159D-73AF-4CAE-87BF-5396EC1F60CC}" dt="2024-03-11T12:33:22.349" v="279" actId="20577"/>
          <ac:spMkLst>
            <pc:docMk/>
            <pc:sldMk cId="1472875457" sldId="842"/>
            <ac:spMk id="3" creationId="{F46DDED7-DA1F-4F18-ACEF-244B92560D08}"/>
          </ac:spMkLst>
        </pc:spChg>
      </pc:sldChg>
      <pc:sldChg chg="modSp mod">
        <pc:chgData name="xi sheng" userId="b3919e0d8ca6a452" providerId="LiveId" clId="{6C0D159D-73AF-4CAE-87BF-5396EC1F60CC}" dt="2024-03-11T12:33:58.942" v="286" actId="108"/>
        <pc:sldMkLst>
          <pc:docMk/>
          <pc:sldMk cId="2535508121" sldId="843"/>
        </pc:sldMkLst>
        <pc:spChg chg="mod">
          <ac:chgData name="xi sheng" userId="b3919e0d8ca6a452" providerId="LiveId" clId="{6C0D159D-73AF-4CAE-87BF-5396EC1F60CC}" dt="2024-03-11T12:33:58.942" v="286" actId="108"/>
          <ac:spMkLst>
            <pc:docMk/>
            <pc:sldMk cId="2535508121" sldId="843"/>
            <ac:spMk id="3" creationId="{F46DDED7-DA1F-4F18-ACEF-244B92560D08}"/>
          </ac:spMkLst>
        </pc:spChg>
      </pc:sldChg>
      <pc:sldChg chg="modSp mod">
        <pc:chgData name="xi sheng" userId="b3919e0d8ca6a452" providerId="LiveId" clId="{6C0D159D-73AF-4CAE-87BF-5396EC1F60CC}" dt="2024-03-11T12:34:28.240" v="293" actId="108"/>
        <pc:sldMkLst>
          <pc:docMk/>
          <pc:sldMk cId="2877772708" sldId="844"/>
        </pc:sldMkLst>
        <pc:spChg chg="mod">
          <ac:chgData name="xi sheng" userId="b3919e0d8ca6a452" providerId="LiveId" clId="{6C0D159D-73AF-4CAE-87BF-5396EC1F60CC}" dt="2024-03-11T12:34:28.240" v="293" actId="108"/>
          <ac:spMkLst>
            <pc:docMk/>
            <pc:sldMk cId="2877772708" sldId="844"/>
            <ac:spMk id="3" creationId="{F46DDED7-DA1F-4F18-ACEF-244B92560D08}"/>
          </ac:spMkLst>
        </pc:spChg>
      </pc:sldChg>
      <pc:sldChg chg="modSp mod">
        <pc:chgData name="xi sheng" userId="b3919e0d8ca6a452" providerId="LiveId" clId="{6C0D159D-73AF-4CAE-87BF-5396EC1F60CC}" dt="2024-03-11T12:34:51.354" v="300" actId="108"/>
        <pc:sldMkLst>
          <pc:docMk/>
          <pc:sldMk cId="629240575" sldId="845"/>
        </pc:sldMkLst>
        <pc:spChg chg="mod">
          <ac:chgData name="xi sheng" userId="b3919e0d8ca6a452" providerId="LiveId" clId="{6C0D159D-73AF-4CAE-87BF-5396EC1F60CC}" dt="2024-03-11T12:34:51.354" v="300" actId="108"/>
          <ac:spMkLst>
            <pc:docMk/>
            <pc:sldMk cId="629240575" sldId="845"/>
            <ac:spMk id="3" creationId="{F46DDED7-DA1F-4F18-ACEF-244B92560D08}"/>
          </ac:spMkLst>
        </pc:spChg>
      </pc:sldChg>
      <pc:sldChg chg="modSp mod">
        <pc:chgData name="xi sheng" userId="b3919e0d8ca6a452" providerId="LiveId" clId="{6C0D159D-73AF-4CAE-87BF-5396EC1F60CC}" dt="2024-03-14T07:07:05.162" v="1630" actId="20577"/>
        <pc:sldMkLst>
          <pc:docMk/>
          <pc:sldMk cId="3797055590" sldId="846"/>
        </pc:sldMkLst>
        <pc:spChg chg="mod">
          <ac:chgData name="xi sheng" userId="b3919e0d8ca6a452" providerId="LiveId" clId="{6C0D159D-73AF-4CAE-87BF-5396EC1F60CC}" dt="2024-03-14T07:07:05.162" v="1630" actId="20577"/>
          <ac:spMkLst>
            <pc:docMk/>
            <pc:sldMk cId="3797055590" sldId="846"/>
            <ac:spMk id="2050" creationId="{00000000-0000-0000-0000-000000000000}"/>
          </ac:spMkLst>
        </pc:spChg>
      </pc:sldChg>
      <pc:sldChg chg="modSp mod">
        <pc:chgData name="xi sheng" userId="b3919e0d8ca6a452" providerId="LiveId" clId="{6C0D159D-73AF-4CAE-87BF-5396EC1F60CC}" dt="2024-03-11T12:03:08.470" v="185" actId="108"/>
        <pc:sldMkLst>
          <pc:docMk/>
          <pc:sldMk cId="613196689" sldId="849"/>
        </pc:sldMkLst>
        <pc:spChg chg="mod">
          <ac:chgData name="xi sheng" userId="b3919e0d8ca6a452" providerId="LiveId" clId="{6C0D159D-73AF-4CAE-87BF-5396EC1F60CC}" dt="2024-03-11T12:03:08.470" v="185" actId="108"/>
          <ac:spMkLst>
            <pc:docMk/>
            <pc:sldMk cId="613196689" sldId="849"/>
            <ac:spMk id="3" creationId="{F46DDED7-DA1F-4F18-ACEF-244B92560D08}"/>
          </ac:spMkLst>
        </pc:spChg>
      </pc:sldChg>
      <pc:sldChg chg="modSp">
        <pc:chgData name="xi sheng" userId="b3919e0d8ca6a452" providerId="LiveId" clId="{6C0D159D-73AF-4CAE-87BF-5396EC1F60CC}" dt="2024-03-11T11:13:02.811" v="0" actId="20578"/>
        <pc:sldMkLst>
          <pc:docMk/>
          <pc:sldMk cId="2696803614" sldId="850"/>
        </pc:sldMkLst>
        <pc:spChg chg="mod">
          <ac:chgData name="xi sheng" userId="b3919e0d8ca6a452" providerId="LiveId" clId="{6C0D159D-73AF-4CAE-87BF-5396EC1F60CC}" dt="2024-03-11T11:13:02.811" v="0" actId="20578"/>
          <ac:spMkLst>
            <pc:docMk/>
            <pc:sldMk cId="2696803614" sldId="850"/>
            <ac:spMk id="235522" creationId="{00000000-0000-0000-0000-000000000000}"/>
          </ac:spMkLst>
        </pc:spChg>
      </pc:sldChg>
      <pc:sldChg chg="addSp modSp mod">
        <pc:chgData name="xi sheng" userId="b3919e0d8ca6a452" providerId="LiveId" clId="{6C0D159D-73AF-4CAE-87BF-5396EC1F60CC}" dt="2024-03-14T07:46:16.303" v="2081"/>
        <pc:sldMkLst>
          <pc:docMk/>
          <pc:sldMk cId="3864915644" sldId="1242"/>
        </pc:sldMkLst>
        <pc:spChg chg="mod">
          <ac:chgData name="xi sheng" userId="b3919e0d8ca6a452" providerId="LiveId" clId="{6C0D159D-73AF-4CAE-87BF-5396EC1F60CC}" dt="2024-03-13T05:30:52.567" v="1319" actId="1076"/>
          <ac:spMkLst>
            <pc:docMk/>
            <pc:sldMk cId="3864915644" sldId="1242"/>
            <ac:spMk id="5" creationId="{6F989B03-5E2B-4B9F-9D9B-73D653AC6451}"/>
          </ac:spMkLst>
        </pc:spChg>
        <pc:spChg chg="add mod">
          <ac:chgData name="xi sheng" userId="b3919e0d8ca6a452" providerId="LiveId" clId="{6C0D159D-73AF-4CAE-87BF-5396EC1F60CC}" dt="2024-03-14T07:21:42.350" v="1736" actId="767"/>
          <ac:spMkLst>
            <pc:docMk/>
            <pc:sldMk cId="3864915644" sldId="1242"/>
            <ac:spMk id="6" creationId="{47923992-B274-CA60-615E-383E5383D05B}"/>
          </ac:spMkLst>
        </pc:spChg>
        <pc:spChg chg="add mod">
          <ac:chgData name="xi sheng" userId="b3919e0d8ca6a452" providerId="LiveId" clId="{6C0D159D-73AF-4CAE-87BF-5396EC1F60CC}" dt="2024-03-14T07:46:16.303" v="2081"/>
          <ac:spMkLst>
            <pc:docMk/>
            <pc:sldMk cId="3864915644" sldId="1242"/>
            <ac:spMk id="7" creationId="{76153433-8389-F71D-B2A7-D219D4B18AFB}"/>
          </ac:spMkLst>
        </pc:spChg>
        <pc:spChg chg="mod">
          <ac:chgData name="xi sheng" userId="b3919e0d8ca6a452" providerId="LiveId" clId="{6C0D159D-73AF-4CAE-87BF-5396EC1F60CC}" dt="2024-03-14T07:21:33.678" v="1734" actId="20577"/>
          <ac:spMkLst>
            <pc:docMk/>
            <pc:sldMk cId="3864915644" sldId="1242"/>
            <ac:spMk id="2050" creationId="{00000000-0000-0000-0000-000000000000}"/>
          </ac:spMkLst>
        </pc:spChg>
        <pc:grpChg chg="mod">
          <ac:chgData name="xi sheng" userId="b3919e0d8ca6a452" providerId="LiveId" clId="{6C0D159D-73AF-4CAE-87BF-5396EC1F60CC}" dt="2024-03-13T05:30:48.513" v="1318" actId="1076"/>
          <ac:grpSpMkLst>
            <pc:docMk/>
            <pc:sldMk cId="3864915644" sldId="1242"/>
            <ac:grpSpMk id="4" creationId="{4145BA51-CE2C-4D32-A048-F6F09243AE41}"/>
          </ac:grpSpMkLst>
        </pc:grpChg>
      </pc:sldChg>
      <pc:sldChg chg="addSp modSp new mod">
        <pc:chgData name="xi sheng" userId="b3919e0d8ca6a452" providerId="LiveId" clId="{6C0D159D-73AF-4CAE-87BF-5396EC1F60CC}" dt="2024-03-14T07:21:20.550" v="1729" actId="20577"/>
        <pc:sldMkLst>
          <pc:docMk/>
          <pc:sldMk cId="988864436" sldId="1243"/>
        </pc:sldMkLst>
        <pc:spChg chg="add mod">
          <ac:chgData name="xi sheng" userId="b3919e0d8ca6a452" providerId="LiveId" clId="{6C0D159D-73AF-4CAE-87BF-5396EC1F60CC}" dt="2024-03-14T07:21:20.550" v="1729" actId="20577"/>
          <ac:spMkLst>
            <pc:docMk/>
            <pc:sldMk cId="988864436" sldId="1243"/>
            <ac:spMk id="2" creationId="{82B900CE-DADF-60ED-FF0A-56451FE0F2A5}"/>
          </ac:spMkLst>
        </pc:spChg>
        <pc:inkChg chg="add mod">
          <ac:chgData name="xi sheng" userId="b3919e0d8ca6a452" providerId="LiveId" clId="{6C0D159D-73AF-4CAE-87BF-5396EC1F60CC}" dt="2024-03-14T07:14:14.444" v="1682" actId="1076"/>
          <ac:inkMkLst>
            <pc:docMk/>
            <pc:sldMk cId="988864436" sldId="1243"/>
            <ac:inkMk id="3" creationId="{4BC3138B-2468-4519-9CB5-321CA2C1D3A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7:13:38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24575,'8'0'0,"-3"-1"0,1 1 0,0 1 0,0-1 0,10 3 0,-14-2 0,0 0 0,0-1 0,0 2 0,0-1 0,0 0 0,0 0 0,0 1 0,0-1 0,0 1 0,0-1 0,-1 1 0,1 0 0,-1 0 0,1 0 0,0 2 0,3 3 0,-1 0 0,1 0 0,1 0 0,-1-1 0,8 7 0,-9-10 0,-1 0 0,1-1 0,0 0 0,0 0 0,-1 0 0,1 0 0,1-1 0,-1 0 0,0 1 0,0-2 0,0 1 0,6 0 0,35 1 0,49-4 0,-18 0 0,138 2 0,-209 0 0,1 1 0,-1 0 0,1 0 0,-1 0 0,0 1 0,0 0 0,0 0 0,0 0 0,0 1 0,0-1 0,0 1 0,-1 0 0,6 5 0,-1-1 0,-1 1 0,0 0 0,0 1 0,0 0 0,7 13 0,-8-9 0,-1 0 0,-1 1 0,-1 0 0,0 0 0,0 0 0,-2 0 0,2 18 0,-4-46 0,0 0 0,0 0 0,1 0 0,1 0 0,0 0 0,1 0 0,1 1 0,7-20 0,-9 28 0,1 0 0,-1 0 0,1 0 0,1 0 0,-1 0 0,1 1 0,-1-1 0,1 1 0,0 0 0,1 0 0,-1 0 0,1 1 0,0 0 0,0-1 0,0 2 0,0-1 0,0 1 0,1-1 0,-1 2 0,1-1 0,-1 0 0,1 1 0,6 0 0,19-1 0,-1 1 0,31 5 0,6-1 0,-33-3 0,110 0 0,-131-2 0,1-1 0,-1 0 0,0 0 0,0-1 0,0-1 0,0 0 0,16-10 0,-15 7 0,0 2 0,1 0 0,-1 0 0,1 2 0,20-5 0,11 6-60,-31 2 141,29-4 0,-40 4-214,1 0-1,0 0 1,-1-1-1,1 0 1,-1 0 0,0 0-1,1 0 1,-1-1 0,0 0-1,4-3 1,3-5-6693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2E6EC-216D-470E-A96A-BC8CC8B96A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68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28A78-612C-405C-9C40-0619174AAB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24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67344-9CCA-4817-A165-2280803A3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88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E27D7-7FC2-48E5-AC23-EE005EF046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10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BEE40-6653-4306-94D9-CE901F87AD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88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08D2F-C807-4635-ADFC-DDA32FA08C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64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C667F2-D47F-4AFE-AD36-03B6E79727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49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831D1-1FD2-4C1F-81EF-D089EAA70A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63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96484-9390-436A-B97F-750A172083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74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5A884-3C3A-4699-8B3B-C69DDDD69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4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CE23E-6955-41AF-80A9-A97169205E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30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7E57CD3-3E80-4DCD-8FBA-A1013BE71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4A6FD2A-795C-490F-87D9-42F72FAEA4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26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43033661" TargetMode="External"/><Relationship Id="rId2" Type="http://schemas.openxmlformats.org/officeDocument/2006/relationships/hyperlink" Target="https://baike.baidu.com/item/IEEE%20754/3869922?fr=aladdi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-schmidt.net/FloatConverter/IEEE754.html" TargetMode="External"/><Relationship Id="rId5" Type="http://schemas.openxmlformats.org/officeDocument/2006/relationships/hyperlink" Target="https://blog.csdn.net/gao_zhennan/article/details/120717424" TargetMode="External"/><Relationship Id="rId4" Type="http://schemas.openxmlformats.org/officeDocument/2006/relationships/hyperlink" Target="https://www.bilibili.com/video/BV1iW411d7hd?is_story_h5=false&amp;p=4&amp;share_from=ugc&amp;share_medium=android&amp;share_plat=android&amp;share_session_id=e12b54be-6ffa-4381-9582-9d5b53c50fb3&amp;share_source=QQ&amp;share_tag=s_i&amp;timestamp=1662273598&amp;unique_k=AuouMEO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43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基础知识：用于看懂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型数据的内部存储格式的程序如下：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lang="zh-CN" altLang="en-US" sz="1600" b="1" dirty="0">
                <a:latin typeface="+mn-ea"/>
              </a:rPr>
              <a:t>除了对黄底红字的具体值进行改动外，其余部分不要做改动，也暂时不需要弄懂为什么（需要第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章的知识才能弄懂）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上例解读：单精度浮点数</a:t>
            </a:r>
            <a:r>
              <a:rPr lang="en-US" altLang="zh-CN" sz="1600" b="1" dirty="0">
                <a:latin typeface="+mn-ea"/>
              </a:rPr>
              <a:t>123.456</a:t>
            </a:r>
            <a:r>
              <a:rPr lang="zh-CN" altLang="en-US" sz="1600" b="1" dirty="0">
                <a:latin typeface="+mn-ea"/>
              </a:rPr>
              <a:t>，在内存中占四个字节，四个字节的值依次为</a:t>
            </a:r>
            <a:r>
              <a:rPr lang="en-US" altLang="zh-CN" sz="1600" b="1" dirty="0">
                <a:latin typeface="+mn-ea"/>
              </a:rPr>
              <a:t>0x42 0xf6 0xe9 0x79 (</a:t>
            </a:r>
            <a:r>
              <a:rPr lang="zh-CN" altLang="en-US" sz="1600" b="1" dirty="0">
                <a:latin typeface="+mn-ea"/>
              </a:rPr>
              <a:t>按打印顺序逆向取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转换为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则为：</a:t>
            </a:r>
            <a:r>
              <a:rPr lang="en-US" altLang="zh-CN" sz="1600" b="1" dirty="0">
                <a:latin typeface="+mn-ea"/>
              </a:rPr>
              <a:t>0100 0010 1111 0110 1110 1001 0111 1001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A35B304-FA89-4A49-8CFB-8D326989CBFC}"/>
              </a:ext>
            </a:extLst>
          </p:cNvPr>
          <p:cNvGrpSpPr/>
          <p:nvPr/>
        </p:nvGrpSpPr>
        <p:grpSpPr>
          <a:xfrm>
            <a:off x="1304641" y="1548484"/>
            <a:ext cx="6848061" cy="3319669"/>
            <a:chOff x="1304641" y="1603900"/>
            <a:chExt cx="6848061" cy="331966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211109D-61BE-4252-85B8-B1A207331B9E}"/>
                </a:ext>
              </a:extLst>
            </p:cNvPr>
            <p:cNvSpPr/>
            <p:nvPr/>
          </p:nvSpPr>
          <p:spPr bwMode="auto">
            <a:xfrm>
              <a:off x="1304641" y="1603900"/>
              <a:ext cx="6848061" cy="331966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sz="1600" b="1" dirty="0">
                  <a:latin typeface="+mn-ea"/>
                </a:rPr>
                <a:t>#include &lt;iostream&gt;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using namespace std;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int main()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{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float f = </a:t>
              </a:r>
              <a:r>
                <a:rPr lang="en-US" altLang="zh-CN"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123.456</a:t>
              </a:r>
              <a:r>
                <a:rPr lang="en-US" altLang="zh-CN" sz="1600" b="1" dirty="0">
                  <a:latin typeface="+mn-ea"/>
                </a:rPr>
                <a:t>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unsigned char* p = (unsigned char*)&amp;f;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(int)(*p)    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(int)(*(p+1))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(int)(*(p+2))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(int)(*(p+3))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return 0;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}</a:t>
              </a:r>
            </a:p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//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注：忽略本题出现的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warning</a:t>
              </a:r>
              <a:endParaRPr lang="zh-CN" altLang="zh-CN" sz="1600" dirty="0">
                <a:solidFill>
                  <a:srgbClr val="FF0000"/>
                </a:solidFill>
                <a:latin typeface="+mn-ea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AF54D70-5E30-4A70-8669-4B7BBF8E71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2764"/>
            <a:stretch/>
          </p:blipFill>
          <p:spPr>
            <a:xfrm>
              <a:off x="7305141" y="1603900"/>
              <a:ext cx="847561" cy="19619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70D4DB1-8622-4C49-92EE-A5764D2015BC}"/>
              </a:ext>
            </a:extLst>
          </p:cNvPr>
          <p:cNvGrpSpPr/>
          <p:nvPr/>
        </p:nvGrpSpPr>
        <p:grpSpPr>
          <a:xfrm>
            <a:off x="1983506" y="5376926"/>
            <a:ext cx="4114801" cy="300185"/>
            <a:chOff x="1981199" y="5934360"/>
            <a:chExt cx="4114801" cy="300185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BA5A8798-A67B-44E4-942D-0401E60F6226}"/>
                </a:ext>
              </a:extLst>
            </p:cNvPr>
            <p:cNvGrpSpPr/>
            <p:nvPr/>
          </p:nvGrpSpPr>
          <p:grpSpPr>
            <a:xfrm>
              <a:off x="1981199" y="5934361"/>
              <a:ext cx="2059708" cy="300184"/>
              <a:chOff x="1981199" y="5934361"/>
              <a:chExt cx="2059708" cy="300184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ED1292F-DA94-4A37-8D05-98E3FBF20694}"/>
                  </a:ext>
                </a:extLst>
              </p:cNvPr>
              <p:cNvSpPr/>
              <p:nvPr/>
            </p:nvSpPr>
            <p:spPr bwMode="auto">
              <a:xfrm>
                <a:off x="3011053" y="5934361"/>
                <a:ext cx="1029854" cy="300183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656C8A0D-1CE9-45E2-A610-EDBCDFDD4EFA}"/>
                  </a:ext>
                </a:extLst>
              </p:cNvPr>
              <p:cNvSpPr/>
              <p:nvPr/>
            </p:nvSpPr>
            <p:spPr bwMode="auto">
              <a:xfrm>
                <a:off x="1981199" y="5934363"/>
                <a:ext cx="1029854" cy="300182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58650A8-8F9F-4353-8C62-9C5F9F9329C4}"/>
                </a:ext>
              </a:extLst>
            </p:cNvPr>
            <p:cNvGrpSpPr/>
            <p:nvPr/>
          </p:nvGrpSpPr>
          <p:grpSpPr>
            <a:xfrm>
              <a:off x="4036292" y="5934360"/>
              <a:ext cx="2059708" cy="300184"/>
              <a:chOff x="1981199" y="5934361"/>
              <a:chExt cx="2059708" cy="300184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1E51C689-9D58-4235-B3A0-305B2E47DD87}"/>
                  </a:ext>
                </a:extLst>
              </p:cNvPr>
              <p:cNvSpPr/>
              <p:nvPr/>
            </p:nvSpPr>
            <p:spPr bwMode="auto">
              <a:xfrm>
                <a:off x="3011053" y="5934361"/>
                <a:ext cx="1029854" cy="300183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1C80FB2-E601-418C-83CD-396034F0FA2D}"/>
                  </a:ext>
                </a:extLst>
              </p:cNvPr>
              <p:cNvSpPr/>
              <p:nvPr/>
            </p:nvSpPr>
            <p:spPr bwMode="auto">
              <a:xfrm>
                <a:off x="1981199" y="5934363"/>
                <a:ext cx="1029854" cy="300182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ACA60F6-FA5E-4E53-BC8D-4749E196EF02}"/>
              </a:ext>
            </a:extLst>
          </p:cNvPr>
          <p:cNvGrpSpPr/>
          <p:nvPr/>
        </p:nvGrpSpPr>
        <p:grpSpPr>
          <a:xfrm>
            <a:off x="2140987" y="5671565"/>
            <a:ext cx="3955012" cy="606804"/>
            <a:chOff x="2138680" y="6228999"/>
            <a:chExt cx="3955012" cy="606804"/>
          </a:xfrm>
        </p:grpSpPr>
        <p:sp>
          <p:nvSpPr>
            <p:cNvPr id="11" name="右大括号 10">
              <a:extLst>
                <a:ext uri="{FF2B5EF4-FFF2-40B4-BE49-F238E27FC236}">
                  <a16:creationId xmlns:a16="http://schemas.microsoft.com/office/drawing/2014/main" id="{B81A8005-BFD6-44D1-A786-AC5EC03F473D}"/>
                </a:ext>
              </a:extLst>
            </p:cNvPr>
            <p:cNvSpPr/>
            <p:nvPr/>
          </p:nvSpPr>
          <p:spPr bwMode="auto">
            <a:xfrm rot="5400000">
              <a:off x="4496680" y="4941406"/>
              <a:ext cx="309419" cy="2884605"/>
            </a:xfrm>
            <a:prstGeom prst="rightBrac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6D72AED-E571-463F-AE28-D3A5136F4B30}"/>
                </a:ext>
              </a:extLst>
            </p:cNvPr>
            <p:cNvGrpSpPr/>
            <p:nvPr/>
          </p:nvGrpSpPr>
          <p:grpSpPr>
            <a:xfrm>
              <a:off x="2138680" y="6228999"/>
              <a:ext cx="2986141" cy="606804"/>
              <a:chOff x="2138680" y="6228999"/>
              <a:chExt cx="2986141" cy="606804"/>
            </a:xfrm>
          </p:grpSpPr>
          <p:sp>
            <p:nvSpPr>
              <p:cNvPr id="13" name="右大括号 12">
                <a:extLst>
                  <a:ext uri="{FF2B5EF4-FFF2-40B4-BE49-F238E27FC236}">
                    <a16:creationId xmlns:a16="http://schemas.microsoft.com/office/drawing/2014/main" id="{6EDDCA2D-467B-40B6-AB85-8D392AC92CD3}"/>
                  </a:ext>
                </a:extLst>
              </p:cNvPr>
              <p:cNvSpPr/>
              <p:nvPr/>
            </p:nvSpPr>
            <p:spPr bwMode="auto">
              <a:xfrm rot="5400000">
                <a:off x="2496591" y="5871088"/>
                <a:ext cx="309418" cy="1025240"/>
              </a:xfrm>
              <a:prstGeom prst="rightBrac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8CB2805-D83C-43A8-B27C-A063BFE5E3D1}"/>
                  </a:ext>
                </a:extLst>
              </p:cNvPr>
              <p:cNvSpPr/>
              <p:nvPr/>
            </p:nvSpPr>
            <p:spPr bwMode="auto">
              <a:xfrm>
                <a:off x="2183849" y="6526409"/>
                <a:ext cx="1025239" cy="29463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CN" sz="1600" b="1" dirty="0">
                    <a:solidFill>
                      <a:schemeClr val="accent2"/>
                    </a:solidFill>
                    <a:latin typeface="+mn-ea"/>
                  </a:rPr>
                  <a:t>8</a:t>
                </a:r>
                <a:r>
                  <a:rPr kumimoji="1" lang="zh-CN" altLang="en-US" sz="1600" b="1" dirty="0">
                    <a:solidFill>
                      <a:schemeClr val="accent2"/>
                    </a:solidFill>
                    <a:latin typeface="+mn-ea"/>
                  </a:rPr>
                  <a:t>位指数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B566CD0-D0A9-4785-8D90-8F272EEF3904}"/>
                  </a:ext>
                </a:extLst>
              </p:cNvPr>
              <p:cNvSpPr/>
              <p:nvPr/>
            </p:nvSpPr>
            <p:spPr bwMode="auto">
              <a:xfrm>
                <a:off x="4099582" y="6541166"/>
                <a:ext cx="1025239" cy="29463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CN" sz="1600" b="1" dirty="0">
                    <a:solidFill>
                      <a:schemeClr val="accent2"/>
                    </a:solidFill>
                    <a:latin typeface="+mn-ea"/>
                  </a:rPr>
                  <a:t>23</a:t>
                </a:r>
                <a:r>
                  <a:rPr kumimoji="1" lang="zh-CN" altLang="en-US" sz="1600" b="1" dirty="0">
                    <a:solidFill>
                      <a:schemeClr val="accent2"/>
                    </a:solidFill>
                    <a:latin typeface="+mn-ea"/>
                  </a:rPr>
                  <a:t>位尾数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+mn-ea"/>
                </a:endParaRPr>
              </a:p>
            </p:txBody>
          </p:sp>
        </p:grp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95D5A45-E243-4685-B127-7B572B2FA640}"/>
              </a:ext>
            </a:extLst>
          </p:cNvPr>
          <p:cNvCxnSpPr/>
          <p:nvPr/>
        </p:nvCxnSpPr>
        <p:spPr bwMode="auto">
          <a:xfrm flipV="1">
            <a:off x="7887854" y="1911927"/>
            <a:ext cx="0" cy="151707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047547-D88F-464F-B8C5-120F413F81E5}"/>
              </a:ext>
            </a:extLst>
          </p:cNvPr>
          <p:cNvGrpSpPr/>
          <p:nvPr/>
        </p:nvGrpSpPr>
        <p:grpSpPr>
          <a:xfrm>
            <a:off x="1061884" y="5598414"/>
            <a:ext cx="958198" cy="679955"/>
            <a:chOff x="1061884" y="5598414"/>
            <a:chExt cx="958198" cy="67995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4A6B900-CB20-481F-89FC-AA777E470158}"/>
                </a:ext>
              </a:extLst>
            </p:cNvPr>
            <p:cNvSpPr/>
            <p:nvPr/>
          </p:nvSpPr>
          <p:spPr bwMode="auto">
            <a:xfrm>
              <a:off x="1061884" y="5983732"/>
              <a:ext cx="852796" cy="29463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1600" b="1" dirty="0">
                  <a:solidFill>
                    <a:schemeClr val="accent2"/>
                  </a:solidFill>
                  <a:latin typeface="+mn-ea"/>
                </a:rPr>
                <a:t>符号位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1BC4B4C-2DD6-41BE-9A7E-888612B91643}"/>
                </a:ext>
              </a:extLst>
            </p:cNvPr>
            <p:cNvCxnSpPr>
              <a:cxnSpLocks/>
              <a:stCxn id="21" idx="0"/>
            </p:cNvCxnSpPr>
            <p:nvPr/>
          </p:nvCxnSpPr>
          <p:spPr bwMode="auto">
            <a:xfrm flipV="1">
              <a:off x="1488282" y="5598414"/>
              <a:ext cx="531800" cy="3853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9680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基础知识：用于看懂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型数据的内部存储格式的程序如下：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lang="zh-CN" altLang="en-US" sz="1600" b="1" dirty="0">
                <a:latin typeface="+mn-ea"/>
              </a:rPr>
              <a:t>除了对黄底红字的具体值进行改动外，其余部分不要做改动，也暂时不需要弄懂为什么（需要第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章的知识才能弄懂）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上例解读：双精度浮点数</a:t>
            </a:r>
            <a:r>
              <a:rPr lang="en-US" altLang="zh-CN" sz="1600" b="1" dirty="0">
                <a:latin typeface="+mn-ea"/>
              </a:rPr>
              <a:t>1.23e4</a:t>
            </a:r>
            <a:r>
              <a:rPr lang="zh-CN" altLang="en-US" sz="1600" b="1" dirty="0">
                <a:latin typeface="+mn-ea"/>
              </a:rPr>
              <a:t>，在内存中占八个字节，八个字节的值依次为</a:t>
            </a:r>
            <a:r>
              <a:rPr lang="en-US" altLang="zh-CN" sz="1600" b="1" dirty="0">
                <a:latin typeface="+mn-ea"/>
              </a:rPr>
              <a:t>0x40 0xc8 0x06 0x00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0x00(</a:t>
            </a:r>
            <a:r>
              <a:rPr lang="zh-CN" altLang="en-US" sz="1600" b="1" dirty="0">
                <a:latin typeface="+mn-ea"/>
              </a:rPr>
              <a:t>逆向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转换为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则为：</a:t>
            </a:r>
            <a:r>
              <a:rPr lang="en-US" altLang="zh-CN" sz="1600" b="1" dirty="0">
                <a:latin typeface="+mn-ea"/>
              </a:rPr>
              <a:t>0100 0000 1100 1000 0000 0100 0000 0000 0000 0000 0000 0000 0000 0000 0000 0000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14661DF-5354-4F85-A653-E231BDC102FA}"/>
              </a:ext>
            </a:extLst>
          </p:cNvPr>
          <p:cNvGrpSpPr/>
          <p:nvPr/>
        </p:nvGrpSpPr>
        <p:grpSpPr>
          <a:xfrm>
            <a:off x="1304641" y="1550793"/>
            <a:ext cx="6848061" cy="4037210"/>
            <a:chOff x="1304641" y="1596973"/>
            <a:chExt cx="6848061" cy="403721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211109D-61BE-4252-85B8-B1A207331B9E}"/>
                </a:ext>
              </a:extLst>
            </p:cNvPr>
            <p:cNvSpPr/>
            <p:nvPr/>
          </p:nvSpPr>
          <p:spPr bwMode="auto">
            <a:xfrm>
              <a:off x="1304641" y="1603901"/>
              <a:ext cx="6848061" cy="403028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sz="1600" b="1" dirty="0">
                  <a:latin typeface="+mn-ea"/>
                </a:rPr>
                <a:t>#include &lt;iostream&gt;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using namespace std;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int main()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{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double d = </a:t>
              </a:r>
              <a:r>
                <a:rPr lang="en-US" altLang="zh-CN"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1.23e4</a:t>
              </a:r>
              <a:r>
                <a:rPr lang="en-US" altLang="zh-CN" sz="1600" b="1" dirty="0">
                  <a:latin typeface="+mn-ea"/>
                </a:rPr>
                <a:t>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unsigned char* p = (unsigned char*)&amp;d;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(int)(*p)    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(int)(*(p+1))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(int)(*(p+2))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(int)(*(p+3))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(int)(*(p+4)) &lt;&lt; endl;</a:t>
              </a:r>
            </a:p>
            <a:p>
              <a:r>
                <a:rPr lang="fr-FR" altLang="zh-CN" sz="1600" b="1" dirty="0">
                  <a:latin typeface="+mn-ea"/>
                </a:rPr>
                <a:t>    cout &lt;&lt; hex &lt;&lt; (int)(*(p+5)) &lt;&lt; endl;</a:t>
              </a:r>
            </a:p>
            <a:p>
              <a:r>
                <a:rPr lang="fr-FR" altLang="zh-CN" sz="1600" b="1" dirty="0">
                  <a:latin typeface="+mn-ea"/>
                </a:rPr>
                <a:t>    cout &lt;&lt; hex &lt;&lt; (int)(*(p+6)) &lt;&lt; endl;</a:t>
              </a:r>
            </a:p>
            <a:p>
              <a:r>
                <a:rPr lang="fr-FR" altLang="zh-CN" sz="1600" b="1" dirty="0">
                  <a:latin typeface="+mn-ea"/>
                </a:rPr>
                <a:t>    cout &lt;&lt; hex &lt;&lt; (int)(*(p+7)) &lt;&lt; endl;</a:t>
              </a:r>
              <a:endParaRPr lang="en-US" altLang="zh-CN" sz="16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return 0;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}</a:t>
              </a:r>
              <a:endParaRPr lang="zh-CN" altLang="zh-CN" sz="1600" dirty="0">
                <a:latin typeface="+mn-ea"/>
              </a:endParaRP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6F705F3-327E-46A2-8B7B-61989D392B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1142"/>
            <a:stretch/>
          </p:blipFill>
          <p:spPr>
            <a:xfrm>
              <a:off x="7283036" y="1596973"/>
              <a:ext cx="869666" cy="34190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ED600B3-D41A-481A-BEB7-703B016A1F14}"/>
              </a:ext>
            </a:extLst>
          </p:cNvPr>
          <p:cNvGrpSpPr/>
          <p:nvPr/>
        </p:nvGrpSpPr>
        <p:grpSpPr>
          <a:xfrm>
            <a:off x="1981199" y="5934358"/>
            <a:ext cx="8224987" cy="757674"/>
            <a:chOff x="1981199" y="5934358"/>
            <a:chExt cx="8224987" cy="75767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115C53A-93AB-4019-80CF-E8157401490D}"/>
                </a:ext>
              </a:extLst>
            </p:cNvPr>
            <p:cNvGrpSpPr/>
            <p:nvPr/>
          </p:nvGrpSpPr>
          <p:grpSpPr>
            <a:xfrm>
              <a:off x="1981199" y="5934358"/>
              <a:ext cx="8224987" cy="300187"/>
              <a:chOff x="1981199" y="5934358"/>
              <a:chExt cx="8224987" cy="300187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D906EC6D-695E-4856-9711-18D7FA7314D2}"/>
                  </a:ext>
                </a:extLst>
              </p:cNvPr>
              <p:cNvGrpSpPr/>
              <p:nvPr/>
            </p:nvGrpSpPr>
            <p:grpSpPr>
              <a:xfrm>
                <a:off x="1981199" y="5934360"/>
                <a:ext cx="4114801" cy="300185"/>
                <a:chOff x="1981199" y="5934360"/>
                <a:chExt cx="4114801" cy="300185"/>
              </a:xfrm>
            </p:grpSpPr>
            <p:grpSp>
              <p:nvGrpSpPr>
                <p:cNvPr id="7" name="组合 6">
                  <a:extLst>
                    <a:ext uri="{FF2B5EF4-FFF2-40B4-BE49-F238E27FC236}">
                      <a16:creationId xmlns:a16="http://schemas.microsoft.com/office/drawing/2014/main" id="{4C603B7A-E048-4E9D-8CCA-09746F8D5A25}"/>
                    </a:ext>
                  </a:extLst>
                </p:cNvPr>
                <p:cNvGrpSpPr/>
                <p:nvPr/>
              </p:nvGrpSpPr>
              <p:grpSpPr>
                <a:xfrm>
                  <a:off x="1981199" y="5934361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8" name="矩形 7">
                    <a:extLst>
                      <a:ext uri="{FF2B5EF4-FFF2-40B4-BE49-F238E27FC236}">
                        <a16:creationId xmlns:a16="http://schemas.microsoft.com/office/drawing/2014/main" id="{E4C8A844-EA5D-4B4C-92F3-19E2E9A864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F4CFB1E2-1292-4042-8B6F-98AE7BFAFF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23" name="组合 22">
                  <a:extLst>
                    <a:ext uri="{FF2B5EF4-FFF2-40B4-BE49-F238E27FC236}">
                      <a16:creationId xmlns:a16="http://schemas.microsoft.com/office/drawing/2014/main" id="{15C18616-CAED-44C7-A564-B60127F17AC5}"/>
                    </a:ext>
                  </a:extLst>
                </p:cNvPr>
                <p:cNvGrpSpPr/>
                <p:nvPr/>
              </p:nvGrpSpPr>
              <p:grpSpPr>
                <a:xfrm>
                  <a:off x="4036292" y="5934360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EEA74F77-6319-4C74-A414-4611D8A7F4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5F59E42C-45F6-4F2B-861C-875AE79440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00CF2E4E-022E-4BE0-A878-BF680E3864BF}"/>
                  </a:ext>
                </a:extLst>
              </p:cNvPr>
              <p:cNvGrpSpPr/>
              <p:nvPr/>
            </p:nvGrpSpPr>
            <p:grpSpPr>
              <a:xfrm>
                <a:off x="6091385" y="5934358"/>
                <a:ext cx="4114801" cy="300185"/>
                <a:chOff x="1981199" y="5934360"/>
                <a:chExt cx="4114801" cy="300185"/>
              </a:xfrm>
            </p:grpSpPr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95FDB781-5AC7-4A10-83FC-63A4A0CB73F0}"/>
                    </a:ext>
                  </a:extLst>
                </p:cNvPr>
                <p:cNvGrpSpPr/>
                <p:nvPr/>
              </p:nvGrpSpPr>
              <p:grpSpPr>
                <a:xfrm>
                  <a:off x="1981199" y="5934361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A093B21D-5913-4475-8F5D-E43786052D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" name="矩形 32">
                    <a:extLst>
                      <a:ext uri="{FF2B5EF4-FFF2-40B4-BE49-F238E27FC236}">
                        <a16:creationId xmlns:a16="http://schemas.microsoft.com/office/drawing/2014/main" id="{B8680775-9A53-4A72-BBD9-D4D4CCCAD70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47D9BF1C-4DAA-4B98-B588-8E2C18DE20CA}"/>
                    </a:ext>
                  </a:extLst>
                </p:cNvPr>
                <p:cNvGrpSpPr/>
                <p:nvPr/>
              </p:nvGrpSpPr>
              <p:grpSpPr>
                <a:xfrm>
                  <a:off x="4036292" y="5934360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30" name="矩形 29">
                    <a:extLst>
                      <a:ext uri="{FF2B5EF4-FFF2-40B4-BE49-F238E27FC236}">
                        <a16:creationId xmlns:a16="http://schemas.microsoft.com/office/drawing/2014/main" id="{4959105D-A7AA-4C65-8B9C-3BD56B49291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1" name="矩形 30">
                    <a:extLst>
                      <a:ext uri="{FF2B5EF4-FFF2-40B4-BE49-F238E27FC236}">
                        <a16:creationId xmlns:a16="http://schemas.microsoft.com/office/drawing/2014/main" id="{73556558-EBA7-4C4E-AC0C-1AA099D18A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</p:grpSp>
          </p:grp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1CCD80BF-89F0-48FE-8834-C5698BA71C2D}"/>
                </a:ext>
              </a:extLst>
            </p:cNvPr>
            <p:cNvGrpSpPr/>
            <p:nvPr/>
          </p:nvGrpSpPr>
          <p:grpSpPr>
            <a:xfrm>
              <a:off x="2138680" y="6229000"/>
              <a:ext cx="8062889" cy="463032"/>
              <a:chOff x="2138680" y="6229000"/>
              <a:chExt cx="8062889" cy="463032"/>
            </a:xfrm>
          </p:grpSpPr>
          <p:sp>
            <p:nvSpPr>
              <p:cNvPr id="35" name="右大括号 34">
                <a:extLst>
                  <a:ext uri="{FF2B5EF4-FFF2-40B4-BE49-F238E27FC236}">
                    <a16:creationId xmlns:a16="http://schemas.microsoft.com/office/drawing/2014/main" id="{7ABBBC33-7971-4FF8-819B-F248BECB4B1A}"/>
                  </a:ext>
                </a:extLst>
              </p:cNvPr>
              <p:cNvSpPr/>
              <p:nvPr/>
            </p:nvSpPr>
            <p:spPr bwMode="auto">
              <a:xfrm rot="5400000">
                <a:off x="6737929" y="3065543"/>
                <a:ext cx="300184" cy="6627097"/>
              </a:xfrm>
              <a:prstGeom prst="rightBrac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3B3FC090-FF6D-4390-B32E-D62563C9A4A6}"/>
                  </a:ext>
                </a:extLst>
              </p:cNvPr>
              <p:cNvGrpSpPr/>
              <p:nvPr/>
            </p:nvGrpSpPr>
            <p:grpSpPr>
              <a:xfrm>
                <a:off x="2138680" y="6238235"/>
                <a:ext cx="6007798" cy="453797"/>
                <a:chOff x="2138680" y="6238235"/>
                <a:chExt cx="6007798" cy="453797"/>
              </a:xfrm>
            </p:grpSpPr>
            <p:sp>
              <p:nvSpPr>
                <p:cNvPr id="26" name="右大括号 25">
                  <a:extLst>
                    <a:ext uri="{FF2B5EF4-FFF2-40B4-BE49-F238E27FC236}">
                      <a16:creationId xmlns:a16="http://schemas.microsoft.com/office/drawing/2014/main" id="{13AD965D-5F3E-43FF-ACAF-C828F4DF7EA7}"/>
                    </a:ext>
                  </a:extLst>
                </p:cNvPr>
                <p:cNvSpPr/>
                <p:nvPr/>
              </p:nvSpPr>
              <p:spPr bwMode="auto">
                <a:xfrm rot="5400000">
                  <a:off x="2655686" y="5721229"/>
                  <a:ext cx="300182" cy="1334194"/>
                </a:xfrm>
                <a:prstGeom prst="rightBrac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zh-CN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D86C6759-6E98-4204-A1FC-22D110D8025D}"/>
                    </a:ext>
                  </a:extLst>
                </p:cNvPr>
                <p:cNvSpPr/>
                <p:nvPr/>
              </p:nvSpPr>
              <p:spPr bwMode="auto">
                <a:xfrm>
                  <a:off x="2892406" y="6397395"/>
                  <a:ext cx="1025239" cy="294637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zh-CN" sz="1600" b="1" dirty="0">
                      <a:solidFill>
                        <a:schemeClr val="accent2"/>
                      </a:solidFill>
                      <a:latin typeface="+mn-ea"/>
                    </a:rPr>
                    <a:t>11</a:t>
                  </a:r>
                  <a:r>
                    <a:rPr kumimoji="1" lang="zh-CN" altLang="en-US" sz="1600" b="1" dirty="0">
                      <a:solidFill>
                        <a:schemeClr val="accent2"/>
                      </a:solidFill>
                      <a:latin typeface="+mn-ea"/>
                    </a:rPr>
                    <a:t>位指数</a:t>
                  </a:r>
                  <a:endParaRPr kumimoji="1" lang="zh-CN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16C128D4-FD81-4F7F-9A0D-A91965A17EB2}"/>
                    </a:ext>
                  </a:extLst>
                </p:cNvPr>
                <p:cNvSpPr/>
                <p:nvPr/>
              </p:nvSpPr>
              <p:spPr bwMode="auto">
                <a:xfrm>
                  <a:off x="7121239" y="6379091"/>
                  <a:ext cx="1025239" cy="294637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zh-CN" sz="1600" b="1" dirty="0">
                      <a:solidFill>
                        <a:schemeClr val="accent2"/>
                      </a:solidFill>
                      <a:latin typeface="+mn-ea"/>
                    </a:rPr>
                    <a:t>52</a:t>
                  </a:r>
                  <a:r>
                    <a:rPr kumimoji="1" lang="zh-CN" altLang="en-US" sz="1600" b="1" dirty="0">
                      <a:solidFill>
                        <a:schemeClr val="accent2"/>
                      </a:solidFill>
                      <a:latin typeface="+mn-ea"/>
                    </a:rPr>
                    <a:t>位尾数</a:t>
                  </a:r>
                  <a:endParaRPr kumimoji="1" lang="zh-CN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+mn-ea"/>
                  </a:endParaRPr>
                </a:p>
              </p:txBody>
            </p:sp>
          </p:grpSp>
        </p:grpSp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BF65979-57D3-4315-A40B-BAD9CE5E59F4}"/>
              </a:ext>
            </a:extLst>
          </p:cNvPr>
          <p:cNvCxnSpPr>
            <a:cxnSpLocks/>
          </p:cNvCxnSpPr>
          <p:nvPr/>
        </p:nvCxnSpPr>
        <p:spPr bwMode="auto">
          <a:xfrm flipV="1">
            <a:off x="7887854" y="1911928"/>
            <a:ext cx="0" cy="29186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A87D6EE-4360-450D-B220-68453B00F4A0}"/>
              </a:ext>
            </a:extLst>
          </p:cNvPr>
          <p:cNvGrpSpPr/>
          <p:nvPr/>
        </p:nvGrpSpPr>
        <p:grpSpPr>
          <a:xfrm>
            <a:off x="987173" y="6084449"/>
            <a:ext cx="1049909" cy="589279"/>
            <a:chOff x="1061884" y="5689090"/>
            <a:chExt cx="1049909" cy="58927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D606652-63D3-4060-8646-A63E6B432CA3}"/>
                </a:ext>
              </a:extLst>
            </p:cNvPr>
            <p:cNvSpPr/>
            <p:nvPr/>
          </p:nvSpPr>
          <p:spPr bwMode="auto">
            <a:xfrm>
              <a:off x="1061884" y="5983732"/>
              <a:ext cx="852796" cy="29463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1600" b="1" dirty="0">
                  <a:solidFill>
                    <a:schemeClr val="accent2"/>
                  </a:solidFill>
                  <a:latin typeface="+mn-ea"/>
                </a:rPr>
                <a:t>符号位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28080E41-D26A-4814-9188-FE9A74F6149E}"/>
                </a:ext>
              </a:extLst>
            </p:cNvPr>
            <p:cNvCxnSpPr>
              <a:cxnSpLocks/>
              <a:stCxn id="43" idx="0"/>
            </p:cNvCxnSpPr>
            <p:nvPr/>
          </p:nvCxnSpPr>
          <p:spPr bwMode="auto">
            <a:xfrm flipV="1">
              <a:off x="1488282" y="5689090"/>
              <a:ext cx="623511" cy="2946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816187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自学内容：自行以</a:t>
            </a:r>
            <a:r>
              <a:rPr lang="en-US" altLang="zh-CN" sz="1600" b="1" dirty="0">
                <a:latin typeface="+mn-ea"/>
              </a:rPr>
              <a:t>"IEEE754" / "</a:t>
            </a:r>
            <a:r>
              <a:rPr lang="zh-CN" altLang="en-US" sz="1600" b="1" dirty="0">
                <a:latin typeface="+mn-ea"/>
              </a:rPr>
              <a:t>浮点数存储格式</a:t>
            </a:r>
            <a:r>
              <a:rPr lang="en-US" altLang="zh-CN" sz="1600" b="1" dirty="0">
                <a:latin typeface="+mn-ea"/>
              </a:rPr>
              <a:t>" / "</a:t>
            </a:r>
            <a:r>
              <a:rPr lang="zh-CN" altLang="en-US" sz="1600" b="1" dirty="0">
                <a:latin typeface="+mn-ea"/>
              </a:rPr>
              <a:t>浮点数存储原理</a:t>
            </a:r>
            <a:r>
              <a:rPr lang="en-US" altLang="zh-CN" sz="1600" b="1" dirty="0">
                <a:latin typeface="+mn-ea"/>
              </a:rPr>
              <a:t>" / "</a:t>
            </a:r>
            <a:r>
              <a:rPr lang="zh-CN" altLang="en-US" sz="1600" b="1" dirty="0">
                <a:latin typeface="+mn-ea"/>
              </a:rPr>
              <a:t>浮点数存储方式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等关键字，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在网上搜索相关文档，读懂并了解浮点数的内部存储机制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学长们推荐的网址：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https://baike.baidu.com/item/IEEE%20754/3869922?fr=aladdin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https://zhuanlan.zhihu.com/p/343033661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https://www.bilibili.com/video/BV1iW411d7hd?is_story_h5=false&amp;p=4&amp;share_from=ugc&amp;share_medium=android&amp;share_plat=android&amp;share_session_id=e12b54be-6ffa-4381-9582-9d5b53c50fb3&amp;share_source=QQ&amp;share_tag=s_i&amp;timestamp=1662273598&amp;unique_k=AuouMEO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https://blog.csdn.net/gao_zhennan/article/details/120717424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https://www.h-schmidt.net/FloatConverter/IEEE754.html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3307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76500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1" dirty="0">
                <a:latin typeface="+mn-ea"/>
              </a:rPr>
              <a:t>格式要求：多字节时，每</a:t>
            </a:r>
            <a:r>
              <a:rPr lang="en-US" altLang="zh-CN" sz="1200" b="1" dirty="0">
                <a:latin typeface="+mn-ea"/>
              </a:rPr>
              <a:t>8bit</a:t>
            </a:r>
            <a:r>
              <a:rPr lang="zh-CN" altLang="en-US" sz="1200" b="1" dirty="0">
                <a:latin typeface="+mn-ea"/>
              </a:rPr>
              <a:t>中间加一个空格或</a:t>
            </a:r>
            <a:r>
              <a:rPr lang="en-US" altLang="zh-CN" sz="1200" b="1" dirty="0">
                <a:latin typeface="+mn-ea"/>
              </a:rPr>
              <a:t>-(</a:t>
            </a:r>
            <a:r>
              <a:rPr lang="zh-CN" altLang="en-US" sz="1200" b="1" dirty="0">
                <a:latin typeface="+mn-ea"/>
              </a:rPr>
              <a:t>例：</a:t>
            </a:r>
            <a:r>
              <a:rPr lang="en-US" altLang="zh-CN" sz="1200" b="1" dirty="0">
                <a:latin typeface="+mn-ea"/>
              </a:rPr>
              <a:t>"11010100 00110001" </a:t>
            </a:r>
            <a:r>
              <a:rPr lang="zh-CN" altLang="en-US" sz="1200" b="1" dirty="0">
                <a:latin typeface="+mn-ea"/>
              </a:rPr>
              <a:t>或 </a:t>
            </a:r>
            <a:r>
              <a:rPr lang="en-US" altLang="zh-CN" sz="1200" b="1" dirty="0">
                <a:latin typeface="+mn-ea"/>
              </a:rPr>
              <a:t>"11010100-00110001")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例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100.25</a:t>
            </a:r>
          </a:p>
          <a:p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下面是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机内存储手工转十进制的的方法：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(1) </a:t>
            </a:r>
            <a:r>
              <a:rPr lang="zh-CN" altLang="en-US" sz="1200" b="1" dirty="0">
                <a:latin typeface="+mn-ea"/>
              </a:rPr>
              <a:t>得到的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的机内表示是：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100 0010 1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100 1000 1000 0000 0000 0000</a:t>
            </a:r>
            <a:r>
              <a:rPr lang="en-US" altLang="zh-CN" sz="1200" b="1" dirty="0">
                <a:latin typeface="+mn-ea"/>
              </a:rPr>
              <a:t>_    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(42 c8 80 00)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</a:t>
            </a:r>
            <a:r>
              <a:rPr lang="zh-CN" altLang="en-US" sz="1200" b="1" dirty="0">
                <a:latin typeface="+mn-ea"/>
              </a:rPr>
              <a:t> 其中：符号位是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dirty="0">
                <a:latin typeface="+mn-ea"/>
              </a:rPr>
              <a:t>_______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1000 0101</a:t>
            </a:r>
            <a:r>
              <a:rPr lang="en-US" altLang="zh-CN" sz="1200" b="1" dirty="0">
                <a:latin typeface="+mn-ea"/>
              </a:rPr>
              <a:t>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指数转换为十进制形式是</a:t>
            </a:r>
            <a:r>
              <a:rPr lang="en-US" altLang="zh-CN" sz="1200" b="1" dirty="0">
                <a:latin typeface="+mn-ea"/>
              </a:rPr>
              <a:t>___133______(32bit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zh-CN" altLang="en-US" sz="1200" b="1" dirty="0">
                <a:latin typeface="+mn-ea"/>
              </a:rPr>
              <a:t>          指数表示的十进制形式是</a:t>
            </a:r>
            <a:r>
              <a:rPr lang="en-US" altLang="zh-CN" sz="1200" b="1" dirty="0">
                <a:latin typeface="+mn-ea"/>
              </a:rPr>
              <a:t>___6________(32bit</a:t>
            </a:r>
            <a:r>
              <a:rPr lang="zh-CN" altLang="en-US" sz="1200" b="1" dirty="0">
                <a:latin typeface="+mn-ea"/>
              </a:rPr>
              <a:t>中的原始形式按</a:t>
            </a:r>
            <a:r>
              <a:rPr lang="en-US" altLang="zh-CN" sz="1200" b="1" dirty="0">
                <a:latin typeface="+mn-ea"/>
              </a:rPr>
              <a:t>IEEE754</a:t>
            </a:r>
            <a:r>
              <a:rPr lang="zh-CN" altLang="en-US" sz="1200" b="1" dirty="0">
                <a:latin typeface="+mn-ea"/>
              </a:rPr>
              <a:t>的规则转换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1000 0101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- 0111 1111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0000 0110 (0x06 = 6)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尾数是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100 1000 1000 0000 0000 0000</a:t>
            </a:r>
            <a:r>
              <a:rPr lang="en-US" altLang="zh-CN" sz="1200" b="1" dirty="0">
                <a:latin typeface="+mn-ea"/>
              </a:rPr>
              <a:t>____(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尾数转换为十进制小数形式是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0.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56640625</a:t>
            </a:r>
            <a:r>
              <a:rPr lang="en-US" altLang="zh-CN" sz="1200" b="1" dirty="0">
                <a:latin typeface="+mn-ea"/>
              </a:rPr>
              <a:t>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zh-CN" altLang="en-US" sz="1200" b="1" dirty="0">
                <a:latin typeface="+mn-ea"/>
              </a:rPr>
              <a:t>          尾数表示的十进制小数形式是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latin typeface="+mn-ea"/>
              </a:rPr>
              <a:t>1.56640625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 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加整数部分的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后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100 1000 1000 0000 0000 0000 =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-4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-8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0.5 + 0.0625 + 0.00390625 = 0.56640625 =&gt;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加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1 =&gt; 1.56640625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                                                 1.56640625 x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6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= 100.25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（此处未体现出误差）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下面是十进制手工转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机内存储的方法：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  =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110 0100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（整数部分转二进制为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7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位，最前面的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只是为了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8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位对齐，可不要）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0.25 = 01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（小数部分转二进制为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100.25 = </a:t>
            </a:r>
            <a:r>
              <a:rPr lang="en-US" altLang="zh-CN" sz="1200" b="1" strike="sngStrike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110 0100.01 = 1.1001 0001 x 2</a:t>
            </a:r>
            <a:r>
              <a:rPr lang="en-US" altLang="zh-CN" sz="1200" b="1" baseline="30000" dirty="0">
                <a:highlight>
                  <a:srgbClr val="FFFF00"/>
                </a:highlight>
                <a:latin typeface="+mn-ea"/>
              </a:rPr>
              <a:t>6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确保整数部分为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，移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6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)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符 号  位：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阶     码：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6 + 127 = 133 = 1000 0101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尾数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1)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1001 0001 =&gt; 1001 0001 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0000 0000 0000 000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（补齐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位，后面补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14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个蓝色的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                                    100 1000 1000 0000 0000 0000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（从低位开始四位一组，共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DC7AF3-39E4-4102-93B3-588E3B4773D6}"/>
              </a:ext>
            </a:extLst>
          </p:cNvPr>
          <p:cNvSpPr/>
          <p:nvPr/>
        </p:nvSpPr>
        <p:spPr bwMode="auto">
          <a:xfrm>
            <a:off x="8383497" y="1076500"/>
            <a:ext cx="3628417" cy="1163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、作业中绿底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黄底文字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截图可不填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、计算结果可借助第三方工具完成，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没必要完全手算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335E42D-ECB6-498D-A119-ACAF3E80CC86}"/>
              </a:ext>
            </a:extLst>
          </p:cNvPr>
          <p:cNvCxnSpPr/>
          <p:nvPr/>
        </p:nvCxnSpPr>
        <p:spPr bwMode="auto">
          <a:xfrm flipH="1">
            <a:off x="4442254" y="1909119"/>
            <a:ext cx="4213654" cy="20635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1538E801-1733-4725-AB03-CA8337170085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3815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76500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1" dirty="0">
                <a:latin typeface="+mn-ea"/>
              </a:rPr>
              <a:t>格式要求：多字节时，每</a:t>
            </a:r>
            <a:r>
              <a:rPr lang="en-US" altLang="zh-CN" sz="1200" b="1" dirty="0">
                <a:latin typeface="+mn-ea"/>
              </a:rPr>
              <a:t>8bit</a:t>
            </a:r>
            <a:r>
              <a:rPr lang="zh-CN" altLang="en-US" sz="1200" b="1" dirty="0">
                <a:latin typeface="+mn-ea"/>
              </a:rPr>
              <a:t>中间加一个空格或</a:t>
            </a:r>
            <a:r>
              <a:rPr lang="en-US" altLang="zh-CN" sz="1200" b="1" dirty="0">
                <a:latin typeface="+mn-ea"/>
              </a:rPr>
              <a:t>-(</a:t>
            </a:r>
            <a:r>
              <a:rPr lang="zh-CN" altLang="en-US" sz="1200" b="1" dirty="0">
                <a:latin typeface="+mn-ea"/>
              </a:rPr>
              <a:t>例：</a:t>
            </a:r>
            <a:r>
              <a:rPr lang="en-US" altLang="zh-CN" sz="1200" b="1" dirty="0">
                <a:latin typeface="+mn-ea"/>
              </a:rPr>
              <a:t>"11010100 00110001" </a:t>
            </a:r>
            <a:r>
              <a:rPr lang="zh-CN" altLang="en-US" sz="1200" b="1" dirty="0">
                <a:latin typeface="+mn-ea"/>
              </a:rPr>
              <a:t>或 </a:t>
            </a:r>
            <a:r>
              <a:rPr lang="en-US" altLang="zh-CN" sz="1200" b="1" dirty="0">
                <a:latin typeface="+mn-ea"/>
              </a:rPr>
              <a:t>"11010100-00110001")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例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1.2</a:t>
            </a:r>
          </a:p>
          <a:p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下面是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机内存储手工转十进制的的方法：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(1) </a:t>
            </a:r>
            <a:r>
              <a:rPr lang="zh-CN" altLang="en-US" sz="1200" b="1" dirty="0">
                <a:latin typeface="+mn-ea"/>
              </a:rPr>
              <a:t>得到的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的机内表示是：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011 1111 1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001 1001 1001 1001 1001 1010</a:t>
            </a:r>
            <a:r>
              <a:rPr lang="en-US" altLang="zh-CN" sz="1200" b="1" dirty="0">
                <a:latin typeface="+mn-ea"/>
              </a:rPr>
              <a:t>_    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(3f 99 99 9a)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</a:t>
            </a:r>
            <a:r>
              <a:rPr lang="zh-CN" altLang="en-US" sz="1200" b="1" dirty="0">
                <a:latin typeface="+mn-ea"/>
              </a:rPr>
              <a:t> 其中：符号位是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dirty="0">
                <a:latin typeface="+mn-ea"/>
              </a:rPr>
              <a:t>_______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0111 1111</a:t>
            </a:r>
            <a:r>
              <a:rPr lang="en-US" altLang="zh-CN" sz="1200" b="1" dirty="0">
                <a:latin typeface="+mn-ea"/>
              </a:rPr>
              <a:t>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指数转换为十进制形式是</a:t>
            </a:r>
            <a:r>
              <a:rPr lang="en-US" altLang="zh-CN" sz="1200" b="1" dirty="0">
                <a:latin typeface="+mn-ea"/>
              </a:rPr>
              <a:t>___127______(32bit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zh-CN" altLang="en-US" sz="1200" b="1" dirty="0">
                <a:latin typeface="+mn-ea"/>
              </a:rPr>
              <a:t>          指数表示的十进制形式是</a:t>
            </a:r>
            <a:r>
              <a:rPr lang="en-US" altLang="zh-CN" sz="1200" b="1" dirty="0">
                <a:latin typeface="+mn-ea"/>
              </a:rPr>
              <a:t>___0________(32bit</a:t>
            </a:r>
            <a:r>
              <a:rPr lang="zh-CN" altLang="en-US" sz="1200" b="1" dirty="0">
                <a:latin typeface="+mn-ea"/>
              </a:rPr>
              <a:t>中的原始形式按</a:t>
            </a:r>
            <a:r>
              <a:rPr lang="en-US" altLang="zh-CN" sz="1200" b="1" dirty="0">
                <a:latin typeface="+mn-ea"/>
              </a:rPr>
              <a:t>IEEE754</a:t>
            </a:r>
            <a:r>
              <a:rPr lang="zh-CN" altLang="en-US" sz="1200" b="1" dirty="0">
                <a:latin typeface="+mn-ea"/>
              </a:rPr>
              <a:t>的规则转换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0111 1111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- 0111 1111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0000 0000 (0x0 = 0)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尾数是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001 1001 1001 1001 1001 1010</a:t>
            </a:r>
            <a:r>
              <a:rPr lang="en-US" altLang="zh-CN" sz="1200" b="1" dirty="0">
                <a:latin typeface="+mn-ea"/>
              </a:rPr>
              <a:t>____(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尾数转换为十进制小数形式是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0.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2000000476837158203125</a:t>
            </a:r>
            <a:r>
              <a:rPr lang="en-US" altLang="zh-CN" sz="1200" b="1" dirty="0">
                <a:latin typeface="+mn-ea"/>
              </a:rPr>
              <a:t>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zh-CN" altLang="en-US" sz="1200" b="1" dirty="0">
                <a:latin typeface="+mn-ea"/>
              </a:rPr>
              <a:t>          尾数表示的十进制小数形式是</a:t>
            </a:r>
            <a:r>
              <a:rPr lang="en-US" altLang="zh-CN" sz="1200" b="1" dirty="0">
                <a:latin typeface="+mn-ea"/>
              </a:rPr>
              <a:t>__1</a:t>
            </a:r>
            <a:r>
              <a:rPr lang="en-US" altLang="zh-CN" sz="1200" b="1" u="sng" dirty="0">
                <a:latin typeface="+mn-ea"/>
              </a:rPr>
              <a:t>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2000000476837158203125 </a:t>
            </a:r>
            <a:r>
              <a:rPr lang="en-US" altLang="zh-CN" sz="1200" b="1" u="sng" dirty="0">
                <a:latin typeface="+mn-ea"/>
              </a:rPr>
              <a:t>  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加整数部分的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后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001 1001 1001 1001 1001 1010 =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-3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^-4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-7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-8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^-11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-12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-15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^-16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-19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-20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-22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0.125 + ... + 0.0000002384185791015625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(</a:t>
            </a:r>
            <a:r>
              <a:rPr lang="zh-CN" altLang="en-US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详见右侧蓝色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)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= 0.2000000476837158203125 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                                              =&gt;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加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1 = 1.2000000476837158203125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（此处已体现出误差）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下面是十进制手工转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机内存储的方法：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   =   1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（整数部分转二进制为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0.2 =   0011 0011 0011 0011 0011 0011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（小数部分无限循环，转为二进制的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24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=&gt; 0011 0011 0011 0011 0011 010  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（四舍五入为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位，此处体现出误差）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1.2 = 1.0011 0011 0011 0011 0011 010 = 1.0011 0011 0011 0011 0011 010 x 2</a:t>
            </a:r>
            <a:r>
              <a:rPr lang="en-US" altLang="zh-CN" sz="1200" b="1" baseline="30000" dirty="0"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确保整数部分为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，移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)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符 号  位：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阶     码：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 + 127 = 127 = 0111 1111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尾数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1)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0011 0011 0011 0011 0011 010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（共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                       001 1001 1001 1001 1001 1010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（从低位开始四位一组，共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DC7AF3-39E4-4102-93B3-588E3B4773D6}"/>
              </a:ext>
            </a:extLst>
          </p:cNvPr>
          <p:cNvSpPr/>
          <p:nvPr/>
        </p:nvSpPr>
        <p:spPr bwMode="auto">
          <a:xfrm>
            <a:off x="8383497" y="1076500"/>
            <a:ext cx="3628417" cy="1163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、作业中绿底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黄底文字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截图可不填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、计算结果可借助第三方工具完成，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没必要完全手算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335E42D-ECB6-498D-A119-ACAF3E80CC86}"/>
              </a:ext>
            </a:extLst>
          </p:cNvPr>
          <p:cNvCxnSpPr/>
          <p:nvPr/>
        </p:nvCxnSpPr>
        <p:spPr bwMode="auto">
          <a:xfrm flipH="1">
            <a:off x="4442254" y="1909119"/>
            <a:ext cx="4213654" cy="20635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1538E801-1733-4725-AB03-CA8337170085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213C3D-7418-4D6C-A794-69C23FA7987E}"/>
              </a:ext>
            </a:extLst>
          </p:cNvPr>
          <p:cNvSpPr/>
          <p:nvPr/>
        </p:nvSpPr>
        <p:spPr bwMode="auto">
          <a:xfrm>
            <a:off x="9927582" y="2583180"/>
            <a:ext cx="2084332" cy="23056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0.0078125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0.00390625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0.00048828125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0.000244140625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0.000030517578125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0.0000152587890625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0.0000019073486328125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0.00000095367431640625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0.0000002384185791015625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-------------------------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0.2000000476837158203125</a:t>
            </a:r>
            <a:endParaRPr kumimoji="1" lang="zh-CN" altLang="en-US" sz="11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0134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A.1234567.7654321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（此处设学号是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，需换成本人学号，小数为学号逆序，非本人学号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分，下同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！）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u="sng" dirty="0">
                <a:latin typeface="+mn-ea"/>
              </a:rPr>
              <a:t>0100 1010 0000 1111 0111 0010 0011 1001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____0_______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1001 0100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148</a:t>
            </a:r>
            <a:r>
              <a:rPr lang="en-US" altLang="zh-CN" sz="1600" b="1" dirty="0">
                <a:latin typeface="+mn-ea"/>
              </a:rPr>
              <a:t>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21</a:t>
            </a:r>
            <a:r>
              <a:rPr lang="en-US" altLang="zh-CN" sz="1600" b="1" dirty="0">
                <a:latin typeface="+mn-ea"/>
              </a:rPr>
              <a:t>_______(32bit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en-US" altLang="zh-CN" sz="1600" b="1" u="sng" dirty="0">
                <a:latin typeface="+mn-ea"/>
              </a:rPr>
              <a:t> 000 1111 0111 0010 0011 1001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0.12067329883575439453125 </a:t>
            </a:r>
            <a:r>
              <a:rPr lang="en-US" altLang="zh-CN" sz="1600" b="1" dirty="0">
                <a:latin typeface="+mn-ea"/>
              </a:rPr>
              <a:t>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______ 1.12067329883575439453125 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注：转换为十进制小数用附加的工具去做，自己去网上找工具也行，但要满足精度要求（下同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514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B.-7654321.1234567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pPr marL="342900" indent="-342900">
              <a:buAutoNum type="arabicParenBoth"/>
            </a:pP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1100 1010 0000 0111 1000 0111 1101 0001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_____1______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1001 0100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u="sng" dirty="0">
                <a:latin typeface="+mn-ea"/>
              </a:rPr>
              <a:t>148</a:t>
            </a:r>
            <a:r>
              <a:rPr lang="en-US" altLang="zh-CN" sz="1600" b="1" dirty="0">
                <a:latin typeface="+mn-ea"/>
              </a:rPr>
              <a:t>__________(32bit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21</a:t>
            </a:r>
            <a:r>
              <a:rPr lang="en-US" altLang="zh-CN" sz="1600" b="1" dirty="0">
                <a:latin typeface="+mn-ea"/>
              </a:rPr>
              <a:t>_________(32bit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___ 000 0111 1000 0111 1101 0001 </a:t>
            </a:r>
            <a:r>
              <a:rPr lang="en-US" altLang="zh-CN" sz="1600" b="1" dirty="0">
                <a:latin typeface="+mn-ea"/>
              </a:rPr>
              <a:t>__________(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___ 0.05883228778839111328125 </a:t>
            </a:r>
            <a:r>
              <a:rPr lang="en-US" altLang="zh-CN" sz="1600" b="1" dirty="0">
                <a:latin typeface="+mn-ea"/>
              </a:rPr>
              <a:t>___________(32bit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 1.05883228778839111328125 </a:t>
            </a:r>
            <a:r>
              <a:rPr lang="en-US" altLang="zh-CN" sz="1600" b="1" dirty="0">
                <a:latin typeface="+mn-ea"/>
              </a:rPr>
              <a:t>____________(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613196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C.0.001234567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__0011 1011 0001 1010 0000 0110 0010 1111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_____0______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0111 0110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 118 </a:t>
            </a:r>
            <a:r>
              <a:rPr lang="en-US" altLang="zh-CN" sz="1600" b="1" dirty="0">
                <a:latin typeface="+mn-ea"/>
              </a:rPr>
              <a:t>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_____-9</a:t>
            </a:r>
            <a:r>
              <a:rPr lang="en-US" altLang="zh-CN" sz="1600" b="1" dirty="0">
                <a:latin typeface="+mn-ea"/>
              </a:rPr>
              <a:t>_______(32bit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____ 001 1010 0000 0110 0010 1111 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____ 0.20331370830535888671875 </a:t>
            </a:r>
            <a:r>
              <a:rPr lang="en-US" altLang="zh-CN" sz="1600" b="1" dirty="0">
                <a:latin typeface="+mn-ea"/>
              </a:rPr>
              <a:t>__________(32bit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_____ 1.20331370830535888671875 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4127046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D.-0.007654321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____ 1011 1011 0001 0001 1000 0110 0101 1000 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____1_______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_____ 0111 0110 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 118 </a:t>
            </a:r>
            <a:r>
              <a:rPr lang="en-US" altLang="zh-CN" sz="1600" b="1" dirty="0">
                <a:latin typeface="+mn-ea"/>
              </a:rPr>
              <a:t>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u="sng" dirty="0">
                <a:latin typeface="+mn-ea"/>
              </a:rPr>
              <a:t>-9</a:t>
            </a:r>
            <a:r>
              <a:rPr lang="en-US" altLang="zh-CN" sz="1600" b="1" dirty="0">
                <a:latin typeface="+mn-ea"/>
              </a:rPr>
              <a:t>_______(32bit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_____ 001 0001 1000 0110 0101 1000 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u="sng" dirty="0">
                <a:latin typeface="+mn-ea"/>
              </a:rPr>
              <a:t> 0.13691234588623046875 </a:t>
            </a:r>
            <a:r>
              <a:rPr lang="en-US" altLang="zh-CN" sz="1600" b="1" dirty="0">
                <a:latin typeface="+mn-ea"/>
              </a:rPr>
              <a:t>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 1.13691234588623046875 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3244531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A.1234567.7654321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0100 0001 0100 0001 1110 1110 0100 0111 0001 1100 0110 1100 0011 1101 0100 0000</a:t>
            </a:r>
            <a:r>
              <a:rPr lang="en-US" altLang="zh-CN" sz="1600" b="1" dirty="0">
                <a:latin typeface="+mn-ea"/>
              </a:rPr>
              <a:t> 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____0_______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 100 0001 0100 </a:t>
            </a:r>
            <a:r>
              <a:rPr lang="en-US" altLang="zh-CN" sz="1600" b="1" dirty="0">
                <a:latin typeface="+mn-ea"/>
              </a:rPr>
              <a:t>__________(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 1044 </a:t>
            </a:r>
            <a:r>
              <a:rPr lang="en-US" altLang="zh-CN" sz="1600" b="1" dirty="0">
                <a:latin typeface="+mn-ea"/>
              </a:rPr>
              <a:t>__________(64bit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____21</a:t>
            </a:r>
            <a:r>
              <a:rPr lang="en-US" altLang="zh-CN" sz="1600" b="1" dirty="0">
                <a:latin typeface="+mn-ea"/>
              </a:rPr>
              <a:t>________(64bit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 0001 1110 1110 0100 0111 0001 1100 0110 1100 0011 1101 0100 0000 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 0.1206732855096817047524382360279560089111328125 </a:t>
            </a:r>
            <a:r>
              <a:rPr lang="en-US" altLang="zh-CN" sz="1600" b="1" dirty="0">
                <a:latin typeface="+mn-ea"/>
              </a:rPr>
              <a:t>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 1.1206732855096817047524382360279560089111328125 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147287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B.-7654321.1234567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1100 0001 0100 0000 1111 0000 1111 1010 0001 1110 0001 0101 0011 0101 0001 1011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____1_______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 100 0001 0100 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1044</a:t>
            </a:r>
            <a:r>
              <a:rPr lang="en-US" altLang="zh-CN" sz="1600" b="1" dirty="0">
                <a:latin typeface="+mn-ea"/>
              </a:rPr>
              <a:t>_________(64bit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u="sng" dirty="0">
                <a:latin typeface="+mn-ea"/>
              </a:rPr>
              <a:t>21</a:t>
            </a:r>
            <a:r>
              <a:rPr lang="en-US" altLang="zh-CN" sz="1600" b="1" dirty="0">
                <a:latin typeface="+mn-ea"/>
              </a:rPr>
              <a:t>_______(64bit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0000 1111 0000 1111 1010 0001 1110 0001 0101 0011 0101 0001 1011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0.0588322806464194325570815635728649795055389404296875</a:t>
            </a:r>
            <a:r>
              <a:rPr lang="en-US" altLang="zh-CN" sz="1600" b="1" dirty="0">
                <a:latin typeface="+mn-ea"/>
              </a:rPr>
              <a:t>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1.0588322806464194325570815635728649795055389404296875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2535508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C.0.001234567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0011 1111 0110 0011 0100 0000 1100 0101 1101 0100 0001 1011 0101 1011 1110 0010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_____0______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011 1111 0110 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1014</a:t>
            </a:r>
            <a:r>
              <a:rPr lang="en-US" altLang="zh-CN" sz="1600" b="1" dirty="0">
                <a:latin typeface="+mn-ea"/>
              </a:rPr>
              <a:t>_________(64bit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____-9_</a:t>
            </a:r>
            <a:r>
              <a:rPr lang="en-US" altLang="zh-CN" sz="1600" b="1" dirty="0">
                <a:latin typeface="+mn-ea"/>
              </a:rPr>
              <a:t>_______(64bit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0011 0100 0000 1100 0101 1101 0100 0001 1011 0101 1011 1110 0010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0.203313663999999949538732835208065807819366455078125</a:t>
            </a:r>
            <a:r>
              <a:rPr lang="en-US" altLang="zh-CN" sz="1600" b="1" dirty="0">
                <a:latin typeface="+mn-ea"/>
              </a:rPr>
              <a:t>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1.203313663999999949538732835208065807819366455078125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287777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D.-0.007654321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1011 1111 0110 0010 0011 0000 1100 1011 0000 1010 0011 1011 0010 1000 1000 0110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____1_______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 011 1111 0110 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1014</a:t>
            </a:r>
            <a:r>
              <a:rPr lang="en-US" altLang="zh-CN" sz="1600" b="1" dirty="0">
                <a:latin typeface="+mn-ea"/>
              </a:rPr>
              <a:t>_________(64bit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____-9</a:t>
            </a:r>
            <a:r>
              <a:rPr lang="en-US" altLang="zh-CN" sz="1600" b="1" dirty="0">
                <a:latin typeface="+mn-ea"/>
              </a:rPr>
              <a:t>________(64bit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0010 0011 0000 1100 1011 0000 1010 0011 1011 0010 1000 1000 0110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0.136912383999999942574277156381867825984954833984375</a:t>
            </a:r>
            <a:r>
              <a:rPr lang="en-US" altLang="zh-CN" sz="1600" b="1" dirty="0">
                <a:latin typeface="+mn-ea"/>
              </a:rPr>
              <a:t>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1.136912383999999942574277156381867825984954833984375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629240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、总结</a:t>
            </a:r>
            <a:endParaRPr lang="en-US" altLang="zh-CN" sz="1600" b="1" dirty="0">
              <a:latin typeface="+mn-ea"/>
            </a:endParaRPr>
          </a:p>
          <a:p>
            <a:pPr marL="342900" indent="-342900" algn="l" eaLnBrk="1" hangingPunct="1">
              <a:buAutoNum type="arabicParenBoth"/>
            </a:pP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是如何分段来表示一个单精度的浮点数的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给出</a:t>
            </a:r>
            <a:r>
              <a:rPr lang="en-US" altLang="zh-CN" sz="1600" b="1" dirty="0">
                <a:latin typeface="+mn-ea"/>
              </a:rPr>
              <a:t>bit</a:t>
            </a:r>
            <a:r>
              <a:rPr lang="zh-CN" altLang="en-US" sz="1600" b="1" dirty="0">
                <a:latin typeface="+mn-ea"/>
              </a:rPr>
              <a:t>位的分段解释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第一位是符号位，接下来八位表示指数，最后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位用于表示尾数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尾数的正负如何表示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尾数如何表示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指数的正负如何表示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指数如何表示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规范的尾数是一个整数部分为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的小数，尾数的小数部分由最后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位表示，正负由第一位符号位表示，因此最后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位是无符号的，实际上尾数的绝对值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zh-CN" altLang="en-US" sz="1600" b="1" dirty="0">
                <a:latin typeface="+mn-ea"/>
              </a:rPr>
              <a:t>最后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位所表示的整数部分是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的小数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；指数由第</a:t>
            </a:r>
            <a:r>
              <a:rPr lang="en-US" altLang="zh-CN" sz="1600" b="1" dirty="0">
                <a:latin typeface="+mn-ea"/>
              </a:rPr>
              <a:t>2-9</a:t>
            </a:r>
            <a:r>
              <a:rPr lang="zh-CN" altLang="en-US" sz="1600" b="1" dirty="0">
                <a:latin typeface="+mn-ea"/>
              </a:rPr>
              <a:t>位这八位数字表示，这八位数无符号，表示的一定是非负数，因为这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位表示的是实际的指数偏移后得到的数（实际指数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偏移量</a:t>
            </a:r>
            <a:r>
              <a:rPr lang="en-US" altLang="zh-CN" sz="1600" b="1" dirty="0">
                <a:latin typeface="+mn-ea"/>
              </a:rPr>
              <a:t>127</a:t>
            </a:r>
            <a:r>
              <a:rPr lang="zh-CN" altLang="en-US" sz="1600" b="1" dirty="0">
                <a:latin typeface="+mn-ea"/>
              </a:rPr>
              <a:t>），因此实际指数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zh-CN" altLang="en-US" sz="1600" b="1" dirty="0">
                <a:latin typeface="+mn-ea"/>
              </a:rPr>
              <a:t>这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位数字所表示的十进制数</a:t>
            </a:r>
            <a:r>
              <a:rPr lang="en-US" altLang="zh-CN" sz="1600" b="1" dirty="0">
                <a:latin typeface="+mn-ea"/>
              </a:rPr>
              <a:t>-127</a:t>
            </a: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为什么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型数据只有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位十进制有效数字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因为尾数的小数部分用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位二进制表示，加上整数部分有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两种，共可表示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en-US" altLang="zh-CN" sz="1600" b="1" baseline="30000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种状态，设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en-US" altLang="zh-CN" sz="1600" b="1" baseline="30000" dirty="0">
                <a:latin typeface="+mn-ea"/>
              </a:rPr>
              <a:t>24</a:t>
            </a:r>
            <a:r>
              <a:rPr lang="en-US" altLang="zh-CN" sz="1600" b="1" dirty="0">
                <a:latin typeface="+mn-ea"/>
              </a:rPr>
              <a:t>=10</a:t>
            </a:r>
            <a:r>
              <a:rPr lang="en-US" altLang="zh-CN" sz="1600" b="1" baseline="30000" dirty="0">
                <a:latin typeface="+mn-ea"/>
              </a:rPr>
              <a:t>x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x</a:t>
            </a:r>
            <a:r>
              <a:rPr lang="zh-CN" altLang="en-US" sz="1600" b="1" dirty="0">
                <a:latin typeface="+mn-ea"/>
              </a:rPr>
              <a:t>向下取整是</a:t>
            </a:r>
            <a:r>
              <a:rPr lang="en-US" altLang="zh-CN" sz="1600" b="1" dirty="0">
                <a:latin typeface="+mn-ea"/>
              </a:rPr>
              <a:t>7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为什么最大只能是</a:t>
            </a:r>
            <a:r>
              <a:rPr lang="en-US" altLang="zh-CN" sz="1600" b="1" dirty="0">
                <a:latin typeface="+mn-ea"/>
              </a:rPr>
              <a:t>3.4x10</a:t>
            </a:r>
            <a:r>
              <a:rPr lang="en-US" altLang="zh-CN" sz="1600" b="1" baseline="30000" dirty="0">
                <a:latin typeface="+mn-ea"/>
              </a:rPr>
              <a:t>38</a:t>
            </a:r>
            <a:r>
              <a:rPr lang="en-US" altLang="zh-CN" sz="1600" b="1" dirty="0">
                <a:latin typeface="+mn-ea"/>
              </a:rPr>
              <a:t> 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因为当尾数最大时，二进制表示为</a:t>
            </a:r>
            <a:r>
              <a:rPr lang="en-US" altLang="zh-CN" sz="1600" b="1" dirty="0">
                <a:latin typeface="+mn-ea"/>
              </a:rPr>
              <a:t>1.1……1</a:t>
            </a:r>
            <a:r>
              <a:rPr lang="zh-CN" altLang="en-US" sz="1600" b="1" dirty="0">
                <a:latin typeface="+mn-ea"/>
              </a:rPr>
              <a:t>（小数部分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），十进制表示为</a:t>
            </a:r>
            <a:r>
              <a:rPr lang="en-US" altLang="zh-CN" sz="1600" b="1" dirty="0">
                <a:latin typeface="+mn-ea"/>
              </a:rPr>
              <a:t>2-2</a:t>
            </a:r>
            <a:r>
              <a:rPr lang="en-US" altLang="zh-CN" sz="1600" b="1" baseline="30000" dirty="0">
                <a:latin typeface="+mn-ea"/>
              </a:rPr>
              <a:t>-23</a:t>
            </a:r>
            <a:r>
              <a:rPr lang="zh-CN" altLang="en-US" sz="1600" b="1" dirty="0">
                <a:latin typeface="+mn-ea"/>
              </a:rPr>
              <a:t>；当指数最大时，二进制表示为</a:t>
            </a:r>
            <a:r>
              <a:rPr lang="en-US" altLang="zh-CN" sz="1600" b="1" dirty="0">
                <a:latin typeface="+mn-ea"/>
              </a:rPr>
              <a:t>11111111</a:t>
            </a:r>
            <a:r>
              <a:rPr lang="zh-CN" altLang="en-US" sz="1600" b="1" dirty="0">
                <a:latin typeface="+mn-ea"/>
              </a:rPr>
              <a:t>，十进制表示为</a:t>
            </a:r>
            <a:r>
              <a:rPr lang="en-US" altLang="zh-CN" sz="1600" b="1" dirty="0">
                <a:latin typeface="+mn-ea"/>
              </a:rPr>
              <a:t>255</a:t>
            </a:r>
            <a:r>
              <a:rPr lang="zh-CN" altLang="en-US" sz="1600" b="1" dirty="0">
                <a:latin typeface="+mn-ea"/>
              </a:rPr>
              <a:t>，实际指数为</a:t>
            </a:r>
            <a:r>
              <a:rPr lang="en-US" altLang="zh-CN" sz="1600" b="1" dirty="0">
                <a:latin typeface="+mn-ea"/>
              </a:rPr>
              <a:t>128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255-127</a:t>
            </a:r>
            <a:r>
              <a:rPr lang="zh-CN" altLang="en-US" sz="1600" b="1" dirty="0">
                <a:latin typeface="+mn-ea"/>
              </a:rPr>
              <a:t>），但是指数</a:t>
            </a:r>
            <a:r>
              <a:rPr lang="en-US" altLang="zh-CN" sz="1600" b="1" dirty="0">
                <a:latin typeface="+mn-ea"/>
              </a:rPr>
              <a:t>128</a:t>
            </a:r>
            <a:r>
              <a:rPr lang="zh-CN" altLang="en-US" sz="1600" b="1" dirty="0">
                <a:latin typeface="+mn-ea"/>
              </a:rPr>
              <a:t>是用于表示无穷大的，因此指数最大是</a:t>
            </a:r>
            <a:r>
              <a:rPr lang="en-US" altLang="zh-CN" sz="1600" b="1" dirty="0">
                <a:latin typeface="+mn-ea"/>
              </a:rPr>
              <a:t>127</a:t>
            </a:r>
            <a:r>
              <a:rPr lang="zh-CN" altLang="en-US" sz="1600" b="1" dirty="0">
                <a:latin typeface="+mn-ea"/>
              </a:rPr>
              <a:t>，此时表示的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型数是最大的，为（</a:t>
            </a:r>
            <a:r>
              <a:rPr lang="en-US" altLang="zh-CN" sz="1600" b="1" dirty="0">
                <a:latin typeface="+mn-ea"/>
              </a:rPr>
              <a:t>2-2</a:t>
            </a:r>
            <a:r>
              <a:rPr lang="en-US" altLang="zh-CN" sz="1600" b="1" baseline="30000" dirty="0">
                <a:latin typeface="+mn-ea"/>
              </a:rPr>
              <a:t>-23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x2</a:t>
            </a:r>
            <a:r>
              <a:rPr lang="en-US" altLang="zh-CN" sz="1600" b="1" baseline="30000" dirty="0">
                <a:latin typeface="+mn-ea"/>
              </a:rPr>
              <a:t>127</a:t>
            </a:r>
            <a:r>
              <a:rPr lang="zh-CN" altLang="en-US" sz="1600" b="1" dirty="0">
                <a:latin typeface="+mn-ea"/>
              </a:rPr>
              <a:t>，约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en-US" altLang="zh-CN" sz="1600" b="1" baseline="30000" dirty="0">
                <a:latin typeface="+mn-ea"/>
              </a:rPr>
              <a:t>128</a:t>
            </a:r>
            <a:r>
              <a:rPr lang="zh-CN" altLang="en-US" sz="1600" b="1" dirty="0">
                <a:latin typeface="+mn-ea"/>
              </a:rPr>
              <a:t>，即约</a:t>
            </a:r>
            <a:r>
              <a:rPr lang="en-US" altLang="zh-CN" sz="1600" b="1" dirty="0">
                <a:latin typeface="+mn-ea"/>
              </a:rPr>
              <a:t>3.4x10</a:t>
            </a:r>
            <a:r>
              <a:rPr lang="en-US" altLang="zh-CN" sz="1600" b="1" baseline="30000" dirty="0">
                <a:latin typeface="+mn-ea"/>
              </a:rPr>
              <a:t>38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有些资料上说有效位数是</a:t>
            </a:r>
            <a:r>
              <a:rPr lang="en-US" altLang="zh-CN" sz="1600" b="1" dirty="0">
                <a:latin typeface="+mn-ea"/>
              </a:rPr>
              <a:t>6~7</a:t>
            </a:r>
            <a:r>
              <a:rPr lang="zh-CN" altLang="en-US" sz="1600" b="1" dirty="0">
                <a:latin typeface="+mn-ea"/>
              </a:rPr>
              <a:t>位，能找出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位</a:t>
            </a:r>
            <a:r>
              <a:rPr lang="en-US" altLang="zh-CN" sz="1600" b="1" dirty="0">
                <a:latin typeface="+mn-ea"/>
              </a:rPr>
              <a:t>/7</a:t>
            </a:r>
            <a:r>
              <a:rPr lang="zh-CN" altLang="en-US" sz="1600" b="1" dirty="0">
                <a:latin typeface="+mn-ea"/>
              </a:rPr>
              <a:t>位不同的例子吗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6</a:t>
            </a:r>
            <a:r>
              <a:rPr lang="zh-CN" altLang="en-US" sz="1600" b="1" dirty="0">
                <a:latin typeface="+mn-ea"/>
              </a:rPr>
              <a:t>位：</a:t>
            </a:r>
            <a:r>
              <a:rPr lang="en-US" altLang="zh-CN" sz="1600" b="1" dirty="0">
                <a:latin typeface="+mn-ea"/>
              </a:rPr>
              <a:t>1024.001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7</a:t>
            </a:r>
            <a:r>
              <a:rPr lang="zh-CN" altLang="en-US" sz="1600" b="1" dirty="0">
                <a:latin typeface="+mn-ea"/>
              </a:rPr>
              <a:t>位：</a:t>
            </a:r>
            <a:r>
              <a:rPr lang="en-US" altLang="zh-CN" sz="1600" b="1" dirty="0">
                <a:latin typeface="+mn-ea"/>
              </a:rPr>
              <a:t>0.5000004	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文档用自己的语言组织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篇幅不够允许加页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如果用到某些小测试程序进行说明，可以贴上小测试程序的源码及运行结果</a:t>
            </a: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为了使文档更清晰，允许将网上的部分图示资料截图后贴入</a:t>
            </a: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不允许在答案处直接贴某网址，再附上“见**”（或类似行为），否则文档作业部分直接总分</a:t>
            </a:r>
            <a:r>
              <a:rPr lang="en-US" altLang="zh-CN" sz="1600" b="1" dirty="0">
                <a:latin typeface="+mn-ea"/>
              </a:rPr>
              <a:t>-50</a:t>
            </a:r>
          </a:p>
        </p:txBody>
      </p:sp>
    </p:spTree>
    <p:extLst>
      <p:ext uri="{BB962C8B-B14F-4D97-AF65-F5344CB8AC3E}">
        <p14:creationId xmlns:p14="http://schemas.microsoft.com/office/powerpoint/2010/main" val="3797055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B900CE-DADF-60ED-FF0A-56451FE0F2A5}"/>
              </a:ext>
            </a:extLst>
          </p:cNvPr>
          <p:cNvSpPr txBox="1"/>
          <p:nvPr/>
        </p:nvSpPr>
        <p:spPr>
          <a:xfrm>
            <a:off x="1270958" y="874143"/>
            <a:ext cx="979385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/>
            <a:r>
              <a:rPr lang="en-US" altLang="zh-CN" sz="1800" b="1" dirty="0">
                <a:latin typeface="+mn-ea"/>
              </a:rPr>
              <a:t>(3) double</a:t>
            </a:r>
            <a:r>
              <a:rPr lang="zh-CN" altLang="en-US" sz="1800" b="1" dirty="0">
                <a:latin typeface="+mn-ea"/>
              </a:rPr>
              <a:t>型数据的</a:t>
            </a:r>
            <a:r>
              <a:rPr lang="en-US" altLang="zh-CN" sz="1800" b="1" dirty="0">
                <a:latin typeface="+mn-ea"/>
              </a:rPr>
              <a:t>64bit</a:t>
            </a:r>
            <a:r>
              <a:rPr lang="zh-CN" altLang="en-US" sz="1800" b="1" dirty="0">
                <a:latin typeface="+mn-ea"/>
              </a:rPr>
              <a:t>是如何分段来表示一个双精度的浮点数的</a:t>
            </a:r>
            <a:r>
              <a:rPr lang="en-US" altLang="zh-CN" sz="1800" b="1" dirty="0">
                <a:latin typeface="+mn-ea"/>
              </a:rPr>
              <a:t>? </a:t>
            </a:r>
            <a:r>
              <a:rPr lang="zh-CN" altLang="en-US" sz="1800" b="1" dirty="0">
                <a:latin typeface="+mn-ea"/>
              </a:rPr>
              <a:t>给出</a:t>
            </a:r>
            <a:r>
              <a:rPr lang="en-US" altLang="zh-CN" sz="1800" b="1" dirty="0">
                <a:latin typeface="+mn-ea"/>
              </a:rPr>
              <a:t>bit</a:t>
            </a:r>
            <a:r>
              <a:rPr lang="zh-CN" altLang="en-US" sz="1800" b="1" dirty="0">
                <a:latin typeface="+mn-ea"/>
              </a:rPr>
              <a:t>位的分段解释</a:t>
            </a:r>
            <a:endParaRPr lang="en-US" altLang="zh-CN" sz="1800" b="1" dirty="0">
              <a:latin typeface="+mn-ea"/>
            </a:endParaRPr>
          </a:p>
          <a:p>
            <a:pPr algn="l" eaLnBrk="1" hangingPunct="1"/>
            <a:r>
              <a:rPr lang="en-US" altLang="zh-CN" b="1" dirty="0">
                <a:latin typeface="+mn-ea"/>
              </a:rPr>
              <a:t>	</a:t>
            </a:r>
            <a:r>
              <a:rPr lang="zh-CN" altLang="en-US" sz="1800" b="1" dirty="0">
                <a:latin typeface="+mn-ea"/>
              </a:rPr>
              <a:t>第一位是符号位，接下来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位表示指数，最后</a:t>
            </a:r>
            <a:r>
              <a:rPr lang="en-US" altLang="zh-CN" sz="1800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位用于表示尾数</a:t>
            </a:r>
            <a:endParaRPr lang="en-US" altLang="zh-CN" sz="1800" b="1" dirty="0">
              <a:latin typeface="+mn-ea"/>
            </a:endParaRPr>
          </a:p>
          <a:p>
            <a:pPr algn="l" eaLnBrk="1" hangingPunct="1"/>
            <a:r>
              <a:rPr lang="en-US" altLang="zh-CN" sz="1800" b="1" dirty="0">
                <a:latin typeface="+mn-ea"/>
              </a:rPr>
              <a:t>    </a:t>
            </a:r>
            <a:r>
              <a:rPr lang="zh-CN" altLang="en-US" sz="1800" b="1" dirty="0">
                <a:latin typeface="+mn-ea"/>
              </a:rPr>
              <a:t>尾数的正负如何表示</a:t>
            </a:r>
            <a:r>
              <a:rPr lang="en-US" altLang="zh-CN" sz="1800" b="1" dirty="0">
                <a:latin typeface="+mn-ea"/>
              </a:rPr>
              <a:t>? </a:t>
            </a:r>
            <a:r>
              <a:rPr lang="zh-CN" altLang="en-US" sz="1800" b="1" dirty="0">
                <a:latin typeface="+mn-ea"/>
              </a:rPr>
              <a:t>尾数如何表示</a:t>
            </a:r>
            <a:r>
              <a:rPr lang="en-US" altLang="zh-CN" sz="1800" b="1" dirty="0">
                <a:latin typeface="+mn-ea"/>
              </a:rPr>
              <a:t>? </a:t>
            </a:r>
            <a:r>
              <a:rPr lang="zh-CN" altLang="en-US" sz="1800" b="1" dirty="0">
                <a:latin typeface="+mn-ea"/>
              </a:rPr>
              <a:t>指数的正负如何表示</a:t>
            </a:r>
            <a:r>
              <a:rPr lang="en-US" altLang="zh-CN" sz="1800" b="1" dirty="0">
                <a:latin typeface="+mn-ea"/>
              </a:rPr>
              <a:t>? </a:t>
            </a:r>
            <a:r>
              <a:rPr lang="zh-CN" altLang="en-US" sz="1800" b="1" dirty="0">
                <a:latin typeface="+mn-ea"/>
              </a:rPr>
              <a:t>指数如何表示</a:t>
            </a:r>
            <a:r>
              <a:rPr lang="en-US" altLang="zh-CN" sz="1800" b="1" dirty="0">
                <a:latin typeface="+mn-ea"/>
              </a:rPr>
              <a:t>?</a:t>
            </a:r>
            <a:endParaRPr lang="en-US" altLang="zh-CN" b="1" dirty="0">
              <a:latin typeface="+mn-ea"/>
            </a:endParaRPr>
          </a:p>
          <a:p>
            <a:pPr algn="l" eaLnBrk="1" hangingPunct="1"/>
            <a:r>
              <a:rPr lang="en-US" altLang="zh-CN" sz="1800" b="1" dirty="0">
                <a:latin typeface="+mn-ea"/>
              </a:rPr>
              <a:t>	</a:t>
            </a:r>
            <a:r>
              <a:rPr lang="zh-CN" altLang="en-US" sz="1800" b="1" dirty="0">
                <a:latin typeface="+mn-ea"/>
              </a:rPr>
              <a:t>规范的尾数是一个整数部分为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的小数，尾数的小数部分由最后</a:t>
            </a:r>
            <a:r>
              <a:rPr lang="en-US" altLang="zh-CN" sz="1800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位表示，正负由第一位符号位表示，因此最后</a:t>
            </a:r>
            <a:r>
              <a:rPr lang="en-US" altLang="zh-CN" sz="1800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位是无符号的，实际上尾数的绝对值</a:t>
            </a:r>
            <a:r>
              <a:rPr lang="en-US" altLang="zh-CN" sz="1800" b="1" dirty="0">
                <a:latin typeface="+mn-ea"/>
              </a:rPr>
              <a:t>=</a:t>
            </a:r>
            <a:r>
              <a:rPr lang="zh-CN" altLang="en-US" sz="1800" b="1" dirty="0">
                <a:latin typeface="+mn-ea"/>
              </a:rPr>
              <a:t>最后</a:t>
            </a:r>
            <a:r>
              <a:rPr lang="en-US" altLang="zh-CN" sz="1800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位所表示的整数部分是</a:t>
            </a:r>
            <a:r>
              <a:rPr lang="en-US" altLang="zh-CN" sz="1800" b="1" dirty="0">
                <a:latin typeface="+mn-ea"/>
              </a:rPr>
              <a:t>0</a:t>
            </a:r>
            <a:r>
              <a:rPr lang="zh-CN" altLang="en-US" sz="1800" b="1" dirty="0">
                <a:latin typeface="+mn-ea"/>
              </a:rPr>
              <a:t>的小数</a:t>
            </a:r>
            <a:r>
              <a:rPr lang="en-US" altLang="zh-CN" sz="1800" b="1" dirty="0">
                <a:latin typeface="+mn-ea"/>
              </a:rPr>
              <a:t>+1</a:t>
            </a:r>
            <a:r>
              <a:rPr lang="zh-CN" altLang="en-US" sz="1800" b="1" dirty="0">
                <a:latin typeface="+mn-ea"/>
              </a:rPr>
              <a:t>；指数由第</a:t>
            </a:r>
            <a:r>
              <a:rPr lang="en-US" altLang="zh-CN" sz="1800" b="1" dirty="0">
                <a:latin typeface="+mn-ea"/>
              </a:rPr>
              <a:t>2-12</a:t>
            </a:r>
            <a:r>
              <a:rPr lang="zh-CN" altLang="en-US" sz="1800" b="1" dirty="0">
                <a:latin typeface="+mn-ea"/>
              </a:rPr>
              <a:t>位这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位数字表示，这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位数无符号，表示的一定是非负数，因为这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位表示的是实际的指数偏移后得到的数（实际指数</a:t>
            </a:r>
            <a:r>
              <a:rPr lang="en-US" altLang="zh-CN" sz="1800" b="1" dirty="0">
                <a:latin typeface="+mn-ea"/>
              </a:rPr>
              <a:t>+</a:t>
            </a:r>
            <a:r>
              <a:rPr lang="zh-CN" altLang="en-US" sz="1800" b="1" dirty="0">
                <a:latin typeface="+mn-ea"/>
              </a:rPr>
              <a:t>偏移量</a:t>
            </a:r>
            <a:r>
              <a:rPr lang="en-US" altLang="zh-CN" sz="1800" b="1" dirty="0">
                <a:latin typeface="+mn-ea"/>
              </a:rPr>
              <a:t>1023</a:t>
            </a:r>
            <a:r>
              <a:rPr lang="zh-CN" altLang="en-US" sz="1800" b="1" dirty="0">
                <a:latin typeface="+mn-ea"/>
              </a:rPr>
              <a:t>），因此实际指数</a:t>
            </a:r>
            <a:r>
              <a:rPr lang="en-US" altLang="zh-CN" sz="1800" b="1" dirty="0">
                <a:latin typeface="+mn-ea"/>
              </a:rPr>
              <a:t>=</a:t>
            </a:r>
            <a:r>
              <a:rPr lang="zh-CN" altLang="en-US" sz="1800" b="1" dirty="0">
                <a:latin typeface="+mn-ea"/>
              </a:rPr>
              <a:t>这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位数字所表示的十进制数</a:t>
            </a:r>
            <a:r>
              <a:rPr lang="en-US" altLang="zh-CN" sz="1800" b="1" dirty="0">
                <a:latin typeface="+mn-ea"/>
              </a:rPr>
              <a:t>-1023</a:t>
            </a:r>
          </a:p>
          <a:p>
            <a:pPr algn="l" eaLnBrk="1" hangingPunct="1"/>
            <a:endParaRPr lang="en-US" altLang="zh-CN" sz="1800" b="1" dirty="0">
              <a:latin typeface="+mn-ea"/>
            </a:endParaRPr>
          </a:p>
          <a:p>
            <a:pPr algn="l" eaLnBrk="1" hangingPunct="1"/>
            <a:r>
              <a:rPr lang="en-US" altLang="zh-CN" sz="1800" b="1" dirty="0">
                <a:latin typeface="+mn-ea"/>
              </a:rPr>
              <a:t>(4) </a:t>
            </a:r>
            <a:r>
              <a:rPr lang="zh-CN" altLang="en-US" sz="1800" b="1" dirty="0">
                <a:latin typeface="+mn-ea"/>
              </a:rPr>
              <a:t>为什么</a:t>
            </a:r>
            <a:r>
              <a:rPr lang="en-US" altLang="zh-CN" sz="1800" b="1" dirty="0">
                <a:latin typeface="+mn-ea"/>
              </a:rPr>
              <a:t>double</a:t>
            </a:r>
            <a:r>
              <a:rPr lang="zh-CN" altLang="en-US" sz="1800" b="1" dirty="0">
                <a:latin typeface="+mn-ea"/>
              </a:rPr>
              <a:t>型数据只有</a:t>
            </a:r>
            <a:r>
              <a:rPr lang="en-US" altLang="zh-CN" sz="1800" b="1" dirty="0">
                <a:latin typeface="+mn-ea"/>
              </a:rPr>
              <a:t>15</a:t>
            </a:r>
            <a:r>
              <a:rPr lang="zh-CN" altLang="en-US" sz="1800" b="1" dirty="0">
                <a:latin typeface="+mn-ea"/>
              </a:rPr>
              <a:t>位十进制有效数字</a:t>
            </a:r>
            <a:r>
              <a:rPr lang="en-US" altLang="zh-CN" sz="1800" b="1" dirty="0">
                <a:latin typeface="+mn-ea"/>
              </a:rPr>
              <a:t>? </a:t>
            </a:r>
          </a:p>
          <a:p>
            <a:r>
              <a:rPr lang="en-US" altLang="zh-CN" b="1" dirty="0">
                <a:latin typeface="+mn-ea"/>
              </a:rPr>
              <a:t>	</a:t>
            </a:r>
            <a:r>
              <a:rPr lang="zh-CN" altLang="en-US" sz="1800" b="1" dirty="0">
                <a:latin typeface="+mn-ea"/>
              </a:rPr>
              <a:t>因为尾数的小数部分用</a:t>
            </a:r>
            <a:r>
              <a:rPr lang="en-US" altLang="zh-CN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位二进制表示，加上整数部分有</a:t>
            </a:r>
            <a:r>
              <a:rPr lang="en-US" altLang="zh-CN" sz="1800" b="1" dirty="0">
                <a:latin typeface="+mn-ea"/>
              </a:rPr>
              <a:t>0</a:t>
            </a:r>
            <a:r>
              <a:rPr lang="zh-CN" altLang="en-US" sz="1800" b="1" dirty="0">
                <a:latin typeface="+mn-ea"/>
              </a:rPr>
              <a:t>和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两种，共可表示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en-US" altLang="zh-CN" b="1" baseline="30000" dirty="0">
                <a:latin typeface="+mn-ea"/>
              </a:rPr>
              <a:t>53</a:t>
            </a:r>
            <a:r>
              <a:rPr lang="zh-CN" altLang="en-US" sz="1800" b="1" dirty="0">
                <a:latin typeface="+mn-ea"/>
              </a:rPr>
              <a:t>种状态，设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en-US" altLang="zh-CN" b="1" baseline="30000" dirty="0">
                <a:latin typeface="+mn-ea"/>
              </a:rPr>
              <a:t>53</a:t>
            </a:r>
            <a:r>
              <a:rPr lang="en-US" altLang="zh-CN" sz="1800" b="1" dirty="0">
                <a:latin typeface="+mn-ea"/>
              </a:rPr>
              <a:t>=10</a:t>
            </a:r>
            <a:r>
              <a:rPr lang="en-US" altLang="zh-CN" sz="1800" b="1" baseline="30000" dirty="0">
                <a:latin typeface="+mn-ea"/>
              </a:rPr>
              <a:t>x</a:t>
            </a:r>
            <a:r>
              <a:rPr lang="zh-CN" altLang="en-US" sz="1800" b="1" dirty="0">
                <a:latin typeface="+mn-ea"/>
              </a:rPr>
              <a:t>，</a:t>
            </a:r>
            <a:r>
              <a:rPr lang="en-US" altLang="zh-CN" sz="1800" b="1" dirty="0">
                <a:latin typeface="+mn-ea"/>
              </a:rPr>
              <a:t>x</a:t>
            </a:r>
            <a:r>
              <a:rPr lang="zh-CN" altLang="en-US" b="1" dirty="0">
                <a:latin typeface="+mn-ea"/>
              </a:rPr>
              <a:t>向下取整是</a:t>
            </a:r>
            <a:r>
              <a:rPr lang="en-US" altLang="zh-CN" b="1" dirty="0">
                <a:latin typeface="+mn-ea"/>
              </a:rPr>
              <a:t>15</a:t>
            </a:r>
          </a:p>
          <a:p>
            <a:pPr algn="l" eaLnBrk="1" hangingPunct="1"/>
            <a:r>
              <a:rPr lang="en-US" altLang="zh-CN" sz="1800" b="1" dirty="0">
                <a:latin typeface="+mn-ea"/>
              </a:rPr>
              <a:t>    </a:t>
            </a:r>
            <a:r>
              <a:rPr lang="zh-CN" altLang="en-US" sz="1800" b="1" dirty="0">
                <a:latin typeface="+mn-ea"/>
              </a:rPr>
              <a:t>为什么最大只能是</a:t>
            </a:r>
            <a:r>
              <a:rPr lang="en-US" altLang="zh-CN" sz="1800" b="1" dirty="0">
                <a:latin typeface="+mn-ea"/>
              </a:rPr>
              <a:t>1.7x10</a:t>
            </a:r>
            <a:r>
              <a:rPr lang="en-US" altLang="zh-CN" sz="1800" b="1" baseline="30000" dirty="0">
                <a:latin typeface="+mn-ea"/>
              </a:rPr>
              <a:t>308</a:t>
            </a:r>
            <a:r>
              <a:rPr lang="en-US" altLang="zh-CN" sz="1800" b="1" dirty="0">
                <a:latin typeface="+mn-ea"/>
              </a:rPr>
              <a:t> ?</a:t>
            </a:r>
          </a:p>
          <a:p>
            <a:pPr algn="l" eaLnBrk="1" hangingPunct="1"/>
            <a:r>
              <a:rPr lang="en-US" altLang="zh-CN" sz="1800" b="1" dirty="0">
                <a:latin typeface="+mn-ea"/>
              </a:rPr>
              <a:t>	</a:t>
            </a:r>
            <a:r>
              <a:rPr lang="zh-CN" altLang="en-US" sz="1800" b="1" dirty="0">
                <a:latin typeface="+mn-ea"/>
              </a:rPr>
              <a:t>因为当尾数最大时，二进制表示为</a:t>
            </a:r>
            <a:r>
              <a:rPr lang="en-US" altLang="zh-CN" sz="1800" b="1" dirty="0">
                <a:latin typeface="+mn-ea"/>
              </a:rPr>
              <a:t>1.1……1</a:t>
            </a:r>
            <a:r>
              <a:rPr lang="zh-CN" altLang="en-US" sz="1800" b="1" dirty="0">
                <a:latin typeface="+mn-ea"/>
              </a:rPr>
              <a:t>（小数部分</a:t>
            </a:r>
            <a:r>
              <a:rPr lang="en-US" altLang="zh-CN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个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），十进制表示为</a:t>
            </a:r>
            <a:r>
              <a:rPr lang="en-US" altLang="zh-CN" sz="1800" b="1" dirty="0">
                <a:latin typeface="+mn-ea"/>
              </a:rPr>
              <a:t>2-2</a:t>
            </a:r>
            <a:r>
              <a:rPr lang="en-US" altLang="zh-CN" sz="1800" b="1" baseline="30000" dirty="0">
                <a:latin typeface="+mn-ea"/>
              </a:rPr>
              <a:t>-52</a:t>
            </a:r>
            <a:r>
              <a:rPr lang="zh-CN" altLang="en-US" sz="1800" b="1" dirty="0">
                <a:latin typeface="+mn-ea"/>
              </a:rPr>
              <a:t>；当指数最大时，十进制为</a:t>
            </a:r>
            <a:r>
              <a:rPr lang="en-US" altLang="zh-CN" sz="1800" b="1" dirty="0">
                <a:latin typeface="+mn-ea"/>
              </a:rPr>
              <a:t>2047</a:t>
            </a:r>
            <a:r>
              <a:rPr lang="zh-CN" altLang="en-US" sz="1800" b="1" dirty="0">
                <a:latin typeface="+mn-ea"/>
              </a:rPr>
              <a:t>，实际指数为</a:t>
            </a:r>
            <a:r>
              <a:rPr lang="en-US" altLang="zh-CN" b="1" dirty="0">
                <a:latin typeface="+mn-ea"/>
              </a:rPr>
              <a:t>1024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2047-1023</a:t>
            </a:r>
            <a:r>
              <a:rPr lang="zh-CN" altLang="en-US" sz="1800" b="1" dirty="0">
                <a:latin typeface="+mn-ea"/>
              </a:rPr>
              <a:t>），但是指数</a:t>
            </a:r>
            <a:r>
              <a:rPr lang="en-US" altLang="zh-CN" sz="1800" b="1" dirty="0">
                <a:latin typeface="+mn-ea"/>
              </a:rPr>
              <a:t>1024</a:t>
            </a:r>
            <a:r>
              <a:rPr lang="zh-CN" altLang="en-US" sz="1800" b="1" dirty="0">
                <a:latin typeface="+mn-ea"/>
              </a:rPr>
              <a:t>是用于表示无穷大的，因此指数最大是</a:t>
            </a:r>
            <a:r>
              <a:rPr lang="en-US" altLang="zh-CN" sz="1800" b="1" dirty="0">
                <a:latin typeface="+mn-ea"/>
              </a:rPr>
              <a:t>1023</a:t>
            </a:r>
            <a:r>
              <a:rPr lang="zh-CN" altLang="en-US" sz="1800" b="1" dirty="0">
                <a:latin typeface="+mn-ea"/>
              </a:rPr>
              <a:t>，此时表示的</a:t>
            </a:r>
            <a:r>
              <a:rPr lang="en-US" altLang="zh-CN" b="1" dirty="0">
                <a:latin typeface="+mn-ea"/>
              </a:rPr>
              <a:t>double</a:t>
            </a:r>
            <a:r>
              <a:rPr lang="zh-CN" altLang="en-US" sz="1800" b="1" dirty="0">
                <a:latin typeface="+mn-ea"/>
              </a:rPr>
              <a:t>型数是最大的，为（</a:t>
            </a:r>
            <a:r>
              <a:rPr lang="en-US" altLang="zh-CN" sz="1800" b="1" dirty="0">
                <a:latin typeface="+mn-ea"/>
              </a:rPr>
              <a:t>2-2</a:t>
            </a:r>
            <a:r>
              <a:rPr lang="en-US" altLang="zh-CN" sz="1800" b="1" baseline="30000" dirty="0">
                <a:latin typeface="+mn-ea"/>
              </a:rPr>
              <a:t>-52</a:t>
            </a:r>
            <a:r>
              <a:rPr lang="zh-CN" altLang="en-US" sz="1800" b="1" dirty="0">
                <a:latin typeface="+mn-ea"/>
              </a:rPr>
              <a:t>）</a:t>
            </a:r>
            <a:r>
              <a:rPr lang="en-US" altLang="zh-CN" sz="1800" b="1" dirty="0">
                <a:latin typeface="+mn-ea"/>
              </a:rPr>
              <a:t>x2</a:t>
            </a:r>
            <a:r>
              <a:rPr lang="en-US" altLang="zh-CN" b="1" baseline="30000" dirty="0">
                <a:latin typeface="+mn-ea"/>
              </a:rPr>
              <a:t>1023</a:t>
            </a:r>
            <a:r>
              <a:rPr lang="zh-CN" altLang="en-US" sz="1800" b="1" dirty="0">
                <a:latin typeface="+mn-ea"/>
              </a:rPr>
              <a:t>，约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en-US" altLang="zh-CN" b="1" baseline="30000" dirty="0">
                <a:latin typeface="+mn-ea"/>
              </a:rPr>
              <a:t>1024</a:t>
            </a:r>
            <a:r>
              <a:rPr lang="zh-CN" altLang="en-US" sz="1800" b="1" dirty="0">
                <a:latin typeface="+mn-ea"/>
              </a:rPr>
              <a:t>，即约</a:t>
            </a:r>
            <a:r>
              <a:rPr lang="en-US" altLang="zh-CN" sz="1800" b="1" dirty="0">
                <a:latin typeface="+mn-ea"/>
              </a:rPr>
              <a:t>1.7x10</a:t>
            </a:r>
            <a:r>
              <a:rPr lang="en-US" altLang="zh-CN" sz="1800" b="1" baseline="30000" dirty="0">
                <a:latin typeface="+mn-ea"/>
              </a:rPr>
              <a:t>308</a:t>
            </a:r>
          </a:p>
          <a:p>
            <a:pPr algn="l" eaLnBrk="1" hangingPunct="1"/>
            <a:r>
              <a:rPr lang="en-US" altLang="zh-CN" sz="1800" b="1" dirty="0">
                <a:latin typeface="+mn-ea"/>
              </a:rPr>
              <a:t>    </a:t>
            </a:r>
            <a:r>
              <a:rPr lang="zh-CN" altLang="en-US" sz="1800" b="1" dirty="0">
                <a:latin typeface="+mn-ea"/>
              </a:rPr>
              <a:t>有些资料上说有效位数是</a:t>
            </a:r>
            <a:r>
              <a:rPr lang="en-US" altLang="zh-CN" sz="1800" b="1" dirty="0">
                <a:latin typeface="+mn-ea"/>
              </a:rPr>
              <a:t>15~16</a:t>
            </a:r>
            <a:r>
              <a:rPr lang="zh-CN" altLang="en-US" sz="1800" b="1" dirty="0">
                <a:latin typeface="+mn-ea"/>
              </a:rPr>
              <a:t>位，能找出</a:t>
            </a:r>
            <a:r>
              <a:rPr lang="en-US" altLang="zh-CN" sz="1800" b="1" dirty="0">
                <a:latin typeface="+mn-ea"/>
              </a:rPr>
              <a:t>15</a:t>
            </a:r>
            <a:r>
              <a:rPr lang="zh-CN" altLang="en-US" sz="1800" b="1" dirty="0">
                <a:latin typeface="+mn-ea"/>
              </a:rPr>
              <a:t>位</a:t>
            </a:r>
            <a:r>
              <a:rPr lang="en-US" altLang="zh-CN" sz="1800" b="1" dirty="0">
                <a:latin typeface="+mn-ea"/>
              </a:rPr>
              <a:t>/16</a:t>
            </a:r>
            <a:r>
              <a:rPr lang="zh-CN" altLang="en-US" sz="1800" b="1" dirty="0">
                <a:latin typeface="+mn-ea"/>
              </a:rPr>
              <a:t>位不同的例子吗？</a:t>
            </a:r>
            <a:endParaRPr lang="en-US" altLang="zh-CN" sz="1800" b="1" dirty="0">
              <a:latin typeface="+mn-ea"/>
            </a:endParaRPr>
          </a:p>
          <a:p>
            <a:pPr algn="l" eaLnBrk="1" hangingPunct="1"/>
            <a:r>
              <a:rPr lang="en-US" altLang="zh-CN" b="1" dirty="0">
                <a:latin typeface="+mn-ea"/>
              </a:rPr>
              <a:t>	15</a:t>
            </a:r>
            <a:r>
              <a:rPr lang="zh-CN" altLang="en-US" b="1" dirty="0">
                <a:latin typeface="+mn-ea"/>
              </a:rPr>
              <a:t>位：</a:t>
            </a:r>
            <a:r>
              <a:rPr lang="en-US" altLang="zh-CN" b="1" dirty="0">
                <a:latin typeface="+mn-ea"/>
              </a:rPr>
              <a:t>2</a:t>
            </a:r>
            <a:r>
              <a:rPr lang="en-US" altLang="zh-CN" b="1" baseline="30000" dirty="0">
                <a:latin typeface="+mn-ea"/>
              </a:rPr>
              <a:t>47</a:t>
            </a:r>
            <a:r>
              <a:rPr lang="zh-CN" altLang="en-US" b="1" dirty="0">
                <a:latin typeface="+mn-ea"/>
              </a:rPr>
              <a:t>（一个十五位数）</a:t>
            </a:r>
            <a:endParaRPr lang="en-US" altLang="zh-CN" b="1" dirty="0">
              <a:latin typeface="+mn-ea"/>
            </a:endParaRPr>
          </a:p>
          <a:p>
            <a:pPr algn="l" eaLnBrk="1" hangingPunct="1"/>
            <a:r>
              <a:rPr lang="en-US" altLang="zh-CN" b="1" dirty="0">
                <a:latin typeface="+mn-ea"/>
              </a:rPr>
              <a:t>	16</a:t>
            </a:r>
            <a:r>
              <a:rPr lang="zh-CN" altLang="en-US" b="1" dirty="0">
                <a:latin typeface="+mn-ea"/>
              </a:rPr>
              <a:t>位：</a:t>
            </a:r>
            <a:r>
              <a:rPr lang="en-US" altLang="zh-CN" b="1" dirty="0">
                <a:latin typeface="+mn-ea"/>
              </a:rPr>
              <a:t>0.50……01</a:t>
            </a:r>
          </a:p>
          <a:p>
            <a:pPr algn="l" eaLnBrk="1" hangingPunct="1"/>
            <a:r>
              <a:rPr lang="en-US" altLang="zh-CN" b="1" dirty="0">
                <a:latin typeface="+mn-ea"/>
              </a:rPr>
              <a:t>		  14</a:t>
            </a:r>
            <a:r>
              <a:rPr lang="zh-CN" altLang="en-US" b="1" dirty="0">
                <a:latin typeface="+mn-ea"/>
              </a:rPr>
              <a:t>个</a:t>
            </a:r>
            <a:r>
              <a:rPr lang="en-US" altLang="zh-CN" b="1" dirty="0">
                <a:latin typeface="+mn-ea"/>
              </a:rPr>
              <a:t>0</a:t>
            </a:r>
            <a:endParaRPr lang="en-US" altLang="zh-CN" sz="1800" b="1" dirty="0">
              <a:latin typeface="+mn-ea"/>
            </a:endParaRPr>
          </a:p>
          <a:p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BC3138B-2468-4519-9CB5-321CA2C1D3A6}"/>
                  </a:ext>
                </a:extLst>
              </p14:cNvPr>
              <p14:cNvContentPartPr/>
              <p14:nvPr/>
            </p14:nvContentPartPr>
            <p14:xfrm>
              <a:off x="3404609" y="6373115"/>
              <a:ext cx="600120" cy="1252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BC3138B-2468-4519-9CB5-321CA2C1D3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8489" y="6366995"/>
                <a:ext cx="612360" cy="13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8864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、思考</a:t>
            </a:r>
            <a:endParaRPr lang="en-US" altLang="zh-CN" sz="1600" b="1" dirty="0">
              <a:latin typeface="+mn-ea"/>
            </a:endParaRPr>
          </a:p>
          <a:p>
            <a:pPr marL="342900" indent="-342900" algn="l" eaLnBrk="1" hangingPunct="1">
              <a:buAutoNum type="arabicParenBoth"/>
            </a:pPr>
            <a:r>
              <a:rPr lang="en-US" altLang="zh-CN" sz="1600" b="1" dirty="0">
                <a:latin typeface="+mn-ea"/>
              </a:rPr>
              <a:t>8/11bit</a:t>
            </a:r>
            <a:r>
              <a:rPr lang="zh-CN" altLang="en-US" sz="1600" b="1" dirty="0">
                <a:latin typeface="+mn-ea"/>
              </a:rPr>
              <a:t>的指数的表示形式是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进制补码吗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如果不是，一般称为什么方式表示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不是，是一个无符号的二进制数，表示的是实际指数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偏移量，实际指数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zh-CN" altLang="en-US" sz="1600" b="1" dirty="0">
                <a:latin typeface="+mn-ea"/>
              </a:rPr>
              <a:t>这</a:t>
            </a:r>
            <a:r>
              <a:rPr lang="en-US" altLang="zh-CN" sz="1600" b="1" dirty="0">
                <a:latin typeface="+mn-ea"/>
              </a:rPr>
              <a:t>8/11bit</a:t>
            </a:r>
            <a:r>
              <a:rPr lang="zh-CN" altLang="en-US" sz="1600" b="1" dirty="0">
                <a:latin typeface="+mn-ea"/>
              </a:rPr>
              <a:t>的指数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altLang="en-US" sz="1600" b="1" dirty="0">
                <a:latin typeface="+mn-ea"/>
              </a:rPr>
              <a:t>偏移量（</a:t>
            </a:r>
            <a:r>
              <a:rPr lang="en-US" altLang="zh-CN" sz="1600" b="1" dirty="0">
                <a:latin typeface="+mn-ea"/>
              </a:rPr>
              <a:t>8bit</a:t>
            </a:r>
            <a:r>
              <a:rPr lang="zh-CN" altLang="en-US" sz="1600" b="1" dirty="0">
                <a:latin typeface="+mn-ea"/>
              </a:rPr>
              <a:t>的偏移量为</a:t>
            </a:r>
            <a:r>
              <a:rPr lang="en-US" altLang="zh-CN" sz="1600" b="1" dirty="0">
                <a:latin typeface="+mn-ea"/>
              </a:rPr>
              <a:t>127,11bit</a:t>
            </a:r>
            <a:r>
              <a:rPr lang="zh-CN" altLang="en-US" sz="1600" b="1" dirty="0">
                <a:latin typeface="+mn-ea"/>
              </a:rPr>
              <a:t>的偏移量为</a:t>
            </a:r>
            <a:r>
              <a:rPr lang="en-US" altLang="zh-CN" sz="1600" b="1" dirty="0">
                <a:latin typeface="+mn-ea"/>
              </a:rPr>
              <a:t>1023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(2) double</a:t>
            </a:r>
            <a:r>
              <a:rPr lang="zh-CN" altLang="en-US" sz="1600" b="1" dirty="0">
                <a:latin typeface="+mn-ea"/>
              </a:rPr>
              <a:t>赋值给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时，下面两个程序，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型常量不加</a:t>
            </a:r>
            <a:r>
              <a:rPr lang="en-US" altLang="zh-CN" sz="1600" b="1" dirty="0">
                <a:latin typeface="+mn-ea"/>
              </a:rPr>
              <a:t>F</a:t>
            </a:r>
            <a:r>
              <a:rPr lang="zh-CN" altLang="en-US" sz="1600" b="1" dirty="0">
                <a:latin typeface="+mn-ea"/>
              </a:rPr>
              <a:t>的情况下，左侧有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，右侧无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，为什么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总结一下规律</a:t>
            </a:r>
            <a:endParaRPr lang="en-US" altLang="zh-CN" sz="1600" b="1" dirty="0"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145BA51-CE2C-4D32-A048-F6F09243AE41}"/>
              </a:ext>
            </a:extLst>
          </p:cNvPr>
          <p:cNvGrpSpPr/>
          <p:nvPr/>
        </p:nvGrpSpPr>
        <p:grpSpPr>
          <a:xfrm>
            <a:off x="661104" y="2729415"/>
            <a:ext cx="4045957" cy="2389774"/>
            <a:chOff x="707112" y="1928730"/>
            <a:chExt cx="4045957" cy="238977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7F96E63-74B1-441A-9A95-3B824C928A4B}"/>
                </a:ext>
              </a:extLst>
            </p:cNvPr>
            <p:cNvSpPr/>
            <p:nvPr/>
          </p:nvSpPr>
          <p:spPr bwMode="auto">
            <a:xfrm>
              <a:off x="707112" y="1928730"/>
              <a:ext cx="4045957" cy="238977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sz="1200" b="1" dirty="0">
                  <a:latin typeface="+mn-ea"/>
                </a:rPr>
                <a:t>#include &lt;iostream&gt;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using namespace std;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int main()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{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float f = </a:t>
              </a:r>
              <a:r>
                <a:rPr lang="en-US" altLang="zh-CN" sz="12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1.2</a:t>
              </a:r>
              <a:r>
                <a:rPr lang="en-US" altLang="zh-CN" sz="1200" b="1" dirty="0">
                  <a:latin typeface="+mn-ea"/>
                </a:rPr>
                <a:t>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unsigned char* p = (unsigned char*)&amp;f;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(int)(*p)    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(int)(*(p+1))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(int)(*(p+2))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(int)(*(p+3))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return 0;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}</a:t>
              </a: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70B48F18-0827-430A-900B-F21E72EEA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4021" y="4099456"/>
              <a:ext cx="3219048" cy="2190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6F989B03-5E2B-4B9F-9D9B-73D653AC6451}"/>
              </a:ext>
            </a:extLst>
          </p:cNvPr>
          <p:cNvSpPr/>
          <p:nvPr/>
        </p:nvSpPr>
        <p:spPr bwMode="auto">
          <a:xfrm>
            <a:off x="5103794" y="2729415"/>
            <a:ext cx="4045957" cy="238977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 =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100.25</a:t>
            </a:r>
            <a:r>
              <a:rPr lang="en-US" altLang="zh-CN" sz="1200" b="1" dirty="0">
                <a:latin typeface="+mn-ea"/>
              </a:rPr>
              <a:t>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unsigned char* p = (unsigned char*)&amp;f;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(int)(*p)    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(int)(*(p+1))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(int)(*(p+2))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(int)(*(p+3)) &lt;&lt; endl;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153433-8389-F71D-B2A7-D219D4B18AFB}"/>
              </a:ext>
            </a:extLst>
          </p:cNvPr>
          <p:cNvSpPr txBox="1"/>
          <p:nvPr/>
        </p:nvSpPr>
        <p:spPr>
          <a:xfrm>
            <a:off x="615351" y="5382883"/>
            <a:ext cx="11191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1.2</a:t>
            </a:r>
            <a:r>
              <a:rPr lang="zh-CN" altLang="en-US" dirty="0"/>
              <a:t>不能由</a:t>
            </a:r>
            <a:r>
              <a:rPr lang="en-US" altLang="zh-CN" dirty="0"/>
              <a:t>float</a:t>
            </a:r>
            <a:r>
              <a:rPr lang="zh-CN" altLang="en-US" dirty="0"/>
              <a:t>型精确表达</a:t>
            </a:r>
            <a:r>
              <a:rPr lang="en-US" altLang="zh-CN" dirty="0"/>
              <a:t>,</a:t>
            </a:r>
            <a:r>
              <a:rPr lang="zh-CN" altLang="en-US" dirty="0"/>
              <a:t>在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2</a:t>
            </a:r>
            <a:r>
              <a:rPr lang="zh-CN" altLang="en-US" dirty="0"/>
              <a:t>内，</a:t>
            </a:r>
            <a:r>
              <a:rPr lang="en-US" altLang="zh-CN" dirty="0"/>
              <a:t>float</a:t>
            </a:r>
            <a:r>
              <a:rPr lang="zh-CN" altLang="en-US" dirty="0"/>
              <a:t>的精度为</a:t>
            </a:r>
            <a:r>
              <a:rPr lang="en-US" altLang="zh-CN" dirty="0"/>
              <a:t>2</a:t>
            </a:r>
            <a:r>
              <a:rPr lang="en-US" altLang="zh-CN" baseline="30000" dirty="0"/>
              <a:t>-23</a:t>
            </a:r>
            <a:r>
              <a:rPr lang="zh-CN" altLang="en-US" dirty="0"/>
              <a:t>次方，没有可以准确表示</a:t>
            </a:r>
            <a:r>
              <a:rPr lang="en-US" altLang="zh-CN" dirty="0"/>
              <a:t>1.2</a:t>
            </a:r>
            <a:r>
              <a:rPr lang="zh-CN" altLang="en-US" dirty="0"/>
              <a:t>的数，所以</a:t>
            </a:r>
            <a:r>
              <a:rPr lang="en-US" altLang="zh-CN" dirty="0"/>
              <a:t>1.2</a:t>
            </a:r>
            <a:r>
              <a:rPr lang="zh-CN" altLang="en-US" dirty="0"/>
              <a:t>是一个</a:t>
            </a:r>
            <a:r>
              <a:rPr lang="en-US" altLang="zh-CN" dirty="0"/>
              <a:t>double</a:t>
            </a:r>
            <a:r>
              <a:rPr lang="zh-CN" altLang="en-US" dirty="0"/>
              <a:t>型的数，在赋值给</a:t>
            </a:r>
            <a:r>
              <a:rPr lang="en-US" altLang="zh-CN" dirty="0"/>
              <a:t>float</a:t>
            </a:r>
            <a:r>
              <a:rPr lang="zh-CN" altLang="en-US" dirty="0"/>
              <a:t>型的时候会截断，有</a:t>
            </a:r>
            <a:r>
              <a:rPr lang="en-US" altLang="zh-CN"/>
              <a:t>warning</a:t>
            </a:r>
            <a:r>
              <a:rPr lang="zh-CN" altLang="en-US"/>
              <a:t>；</a:t>
            </a:r>
            <a:r>
              <a:rPr lang="zh-CN" altLang="en-US" dirty="0"/>
              <a:t>但是</a:t>
            </a:r>
            <a:r>
              <a:rPr lang="en-US" altLang="zh-CN" dirty="0"/>
              <a:t>100.25</a:t>
            </a:r>
            <a:r>
              <a:rPr lang="zh-CN" altLang="en-US" dirty="0"/>
              <a:t>是可以由</a:t>
            </a:r>
            <a:r>
              <a:rPr lang="en-US" altLang="zh-CN" dirty="0"/>
              <a:t>float</a:t>
            </a:r>
            <a:r>
              <a:rPr lang="zh-CN" altLang="en-US" dirty="0"/>
              <a:t>型精确表达的，为</a:t>
            </a:r>
            <a:r>
              <a:rPr lang="en-US" altLang="zh-CN" dirty="0"/>
              <a:t>0100 0010 1100 1000 1000 0000 0000 0000</a:t>
            </a:r>
            <a:r>
              <a:rPr lang="zh-CN" altLang="en-US" dirty="0"/>
              <a:t>，因此</a:t>
            </a:r>
            <a:r>
              <a:rPr lang="en-US" altLang="zh-CN" dirty="0"/>
              <a:t>100.25</a:t>
            </a:r>
            <a:r>
              <a:rPr lang="zh-CN" altLang="en-US" dirty="0"/>
              <a:t>默认是</a:t>
            </a:r>
            <a:r>
              <a:rPr lang="en-US" altLang="zh-CN" dirty="0"/>
              <a:t>float</a:t>
            </a:r>
            <a:r>
              <a:rPr lang="zh-CN" altLang="en-US" dirty="0"/>
              <a:t>型，没必要是</a:t>
            </a:r>
            <a:r>
              <a:rPr lang="en-US" altLang="zh-CN" dirty="0"/>
              <a:t>double</a:t>
            </a:r>
            <a:r>
              <a:rPr lang="zh-CN" altLang="en-US" dirty="0"/>
              <a:t>型。总结：一个小数可以由</a:t>
            </a:r>
            <a:r>
              <a:rPr lang="en-US" altLang="zh-CN" dirty="0"/>
              <a:t>float</a:t>
            </a:r>
            <a:r>
              <a:rPr lang="zh-CN" altLang="en-US" dirty="0"/>
              <a:t>型精确表达时，就会默认为</a:t>
            </a:r>
            <a:r>
              <a:rPr lang="en-US" altLang="zh-CN" dirty="0"/>
              <a:t>float</a:t>
            </a:r>
            <a:r>
              <a:rPr lang="zh-CN" altLang="en-US" dirty="0"/>
              <a:t>型，当它不能被</a:t>
            </a:r>
            <a:r>
              <a:rPr lang="en-US" altLang="zh-CN" dirty="0"/>
              <a:t>float</a:t>
            </a:r>
            <a:r>
              <a:rPr lang="zh-CN" altLang="en-US" dirty="0"/>
              <a:t>型精确表达时才会默认为</a:t>
            </a:r>
            <a:r>
              <a:rPr lang="en-US" altLang="zh-CN" dirty="0"/>
              <a:t>double</a:t>
            </a:r>
            <a:r>
              <a:rPr lang="zh-CN" altLang="en-US" dirty="0"/>
              <a:t>型</a:t>
            </a:r>
          </a:p>
        </p:txBody>
      </p:sp>
    </p:spTree>
    <p:extLst>
      <p:ext uri="{BB962C8B-B14F-4D97-AF65-F5344CB8AC3E}">
        <p14:creationId xmlns:p14="http://schemas.microsoft.com/office/powerpoint/2010/main" val="3864915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endParaRPr lang="zh-CN" altLang="en-US" sz="2800" b="1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</TotalTime>
  <Words>5271</Words>
  <Application>Microsoft Office PowerPoint</Application>
  <PresentationFormat>宽屏</PresentationFormat>
  <Paragraphs>409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97</cp:revision>
  <dcterms:created xsi:type="dcterms:W3CDTF">2020-08-13T13:39:53Z</dcterms:created>
  <dcterms:modified xsi:type="dcterms:W3CDTF">2024-03-14T07:46:17Z</dcterms:modified>
</cp:coreProperties>
</file>