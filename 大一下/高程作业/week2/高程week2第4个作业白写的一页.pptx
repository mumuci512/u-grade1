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1205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D02B99-592A-45ED-B059-B5187F57B91D}" v="41" dt="2024-03-14T05:46:55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40" d="100"/>
          <a:sy n="40" d="100"/>
        </p:scale>
        <p:origin x="39" y="10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9BD02B99-592A-45ED-B059-B5187F57B91D}"/>
    <pc:docChg chg="custSel modSld">
      <pc:chgData name="xi sheng" userId="b3919e0d8ca6a452" providerId="LiveId" clId="{9BD02B99-592A-45ED-B059-B5187F57B91D}" dt="2024-03-14T05:51:46.805" v="208" actId="20577"/>
      <pc:docMkLst>
        <pc:docMk/>
      </pc:docMkLst>
      <pc:sldChg chg="delSp modSp mod">
        <pc:chgData name="xi sheng" userId="b3919e0d8ca6a452" providerId="LiveId" clId="{9BD02B99-592A-45ED-B059-B5187F57B91D}" dt="2024-03-14T05:51:46.805" v="208" actId="20577"/>
        <pc:sldMkLst>
          <pc:docMk/>
          <pc:sldMk cId="1387726478" sldId="256"/>
        </pc:sldMkLst>
        <pc:spChg chg="mod">
          <ac:chgData name="xi sheng" userId="b3919e0d8ca6a452" providerId="LiveId" clId="{9BD02B99-592A-45ED-B059-B5187F57B91D}" dt="2024-03-14T05:51:46.805" v="208" actId="20577"/>
          <ac:spMkLst>
            <pc:docMk/>
            <pc:sldMk cId="1387726478" sldId="256"/>
            <ac:spMk id="2" creationId="{4B9A0004-74E9-DCE0-C1EF-3C0CC01823FA}"/>
          </ac:spMkLst>
        </pc:spChg>
        <pc:spChg chg="del">
          <ac:chgData name="xi sheng" userId="b3919e0d8ca6a452" providerId="LiveId" clId="{9BD02B99-592A-45ED-B059-B5187F57B91D}" dt="2024-03-14T05:35:52.909" v="17" actId="478"/>
          <ac:spMkLst>
            <pc:docMk/>
            <pc:sldMk cId="1387726478" sldId="256"/>
            <ac:spMk id="3" creationId="{43C16DD2-325B-D1A1-1CD2-D7F878F8F1A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F354C-BCE6-E560-5091-7ECE07B27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10EF7E-7085-5253-A77C-46160377B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4828D7-7946-9970-37A2-4BE63278C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3D4A2-589C-4AE2-9CEF-1E0E9672050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724479-79C4-C0BA-D990-DFF7F1C6F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61E01A-7E9E-BB39-15E0-F1E40856A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DFC5-AE0D-48FC-9896-9289D717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01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3F6DD0-45BF-D016-F136-A0662834D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BA167D-9269-8348-5DAC-163744C4A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C945C6-7B30-AA2B-F406-C50DBA418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3D4A2-589C-4AE2-9CEF-1E0E9672050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CC673C-1968-3922-9C2F-531F31AD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DE9E3E-2E80-61C5-66DC-DFD3E8720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DFC5-AE0D-48FC-9896-9289D717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0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D0488-9016-8F51-C136-EC32A9B31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56D8A4-3567-3173-6DE4-A266000E2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155F8B-C7B9-C306-8CE9-B857162EF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3D4A2-589C-4AE2-9CEF-1E0E9672050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7A78EB-9E0D-1251-D6BF-0D3FF3BDB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F2E573-5164-5F86-CA68-F58B61CA5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DFC5-AE0D-48FC-9896-9289D717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44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E9E175-7F50-670C-20B4-D64CB2502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F12326-5322-D3CA-D58A-C9EF28A73B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961AF0-58B0-8E77-5EA1-1C361AD06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0EF405-216D-5CF7-B8CE-07E0B5F3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3D4A2-589C-4AE2-9CEF-1E0E9672050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285BA4-BAB2-5F24-BEB0-CBA8134EC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23AA66-52AF-8016-5E4F-EA37D4E6C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DFC5-AE0D-48FC-9896-9289D717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667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CA7F6-8591-A7AF-C162-E71992C18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C97021-5BDD-74F7-5CA9-C0B237008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B1A51E-C06C-7CFF-BCAF-713FF1451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634CCA0-2C4C-61AD-4518-2200D4526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12A362-6F5B-DE34-9360-9A10D0D391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2F6A5F1-F4FD-8962-91B3-C18D02CA1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3D4A2-589C-4AE2-9CEF-1E0E9672050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8777785-FDFC-F0DB-752B-9332870CD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775827F-85FA-8186-D436-2790D66B4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DFC5-AE0D-48FC-9896-9289D717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775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0C754-DF93-8722-5819-E3A8E2697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771FE9-0749-6237-B123-FF557501C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3D4A2-589C-4AE2-9CEF-1E0E9672050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5B8B26-F03B-97B6-628D-7C7CC4F23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D4A87F-6D95-AAC7-3894-1FA7770A4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DFC5-AE0D-48FC-9896-9289D717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466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DA4DF6-3B56-17D6-47C4-796CFA0D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3D4A2-589C-4AE2-9CEF-1E0E9672050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98915A-4D1E-2CAC-9788-FB0DD8681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DFED4B-D4F5-F5EF-8799-5E5C409C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DFC5-AE0D-48FC-9896-9289D717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210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9ED28F-0A19-430A-03B7-3F1D4F9D7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85E96A-C525-F4D6-306F-30E7729F6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8DA219-FDC2-89CF-A6A1-C6F2DBAF0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ED7FEE-B2D4-0555-EEA1-4FEF654C0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3D4A2-589C-4AE2-9CEF-1E0E9672050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4A818A-F769-A279-7D4D-46BFB1744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DF3E09-05AE-79C8-4CF2-44DCA36C6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DFC5-AE0D-48FC-9896-9289D717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726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4CF2D4-98B5-CF22-A758-B37E0EA34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BA207C-14EC-CA42-ACA0-3DA4DC630F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27127B-50E9-B253-9C5D-6C64542A4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850038-4548-F962-5E9E-C050A3BDA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3D4A2-589C-4AE2-9CEF-1E0E9672050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40C238-1E8D-FE25-3800-33C6B6040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7C95F3-8142-D308-0C98-640F35E6B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DFC5-AE0D-48FC-9896-9289D717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892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4929F-3FE2-7106-505E-B5740AB54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9A3E7D-BA8D-8714-26B7-EC29AC45D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A11DF7-25F2-B95F-B00F-5AA9EFBD5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3D4A2-589C-4AE2-9CEF-1E0E9672050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9842BA-19EC-A542-584E-B154D3F4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C03DEB-8C29-3938-4106-7E5E64BF6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DFC5-AE0D-48FC-9896-9289D717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778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F506D5-BDEF-FDE9-6494-58011C4B5B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66625C-F2C4-FF4D-0B58-B048AB29B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53AFEE-63FA-58BC-87B3-D1EF39F71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3D4A2-589C-4AE2-9CEF-1E0E9672050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F96E86-5B23-B3EC-EAE5-7E49C0BB7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5C73DC-9015-6C58-4BEA-23585FF9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DFC5-AE0D-48FC-9896-9289D717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562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2434D2-1482-FAF0-F7CA-025537FD2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1CF093-3219-0CBA-736C-72C43F0FD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BDF355-EECF-6141-2C6E-EB1999937A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3D4A2-589C-4AE2-9CEF-1E0E9672050F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22729D-F8E1-1AAF-2D4B-B7DD030FCB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8CF25D-103B-83C9-C7D1-F819D8E2D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9DFC5-AE0D-48FC-9896-9289D7178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553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A0004-74E9-DCE0-C1EF-3C0CC0182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855" y="138223"/>
            <a:ext cx="11132289" cy="6719777"/>
          </a:xfrm>
        </p:spPr>
        <p:txBody>
          <a:bodyPr>
            <a:noAutofit/>
          </a:bodyPr>
          <a:lstStyle/>
          <a:p>
            <a:pPr fontAlgn="base">
              <a:spcAft>
                <a:spcPct val="0"/>
              </a:spcAft>
            </a:pPr>
            <a:br>
              <a:rPr kumimoji="1" lang="en-US" altLang="zh-CN" sz="1800" b="1" i="1" u="sng" dirty="0">
                <a:solidFill>
                  <a:srgbClr val="000000"/>
                </a:solidFill>
                <a:latin typeface="+mn-ea"/>
              </a:rPr>
            </a:br>
            <a:br>
              <a:rPr kumimoji="1" lang="en-US" altLang="zh-CN" sz="1800" b="1" i="1" u="sng" dirty="0">
                <a:solidFill>
                  <a:srgbClr val="000000"/>
                </a:solidFill>
                <a:latin typeface="+mn-ea"/>
              </a:rPr>
            </a:br>
            <a:r>
              <a:rPr kumimoji="1" lang="zh-CN" altLang="en-US" sz="1800" b="1" i="1" u="sng" dirty="0">
                <a:solidFill>
                  <a:srgbClr val="000000"/>
                </a:solidFill>
                <a:latin typeface="+mn-ea"/>
              </a:rPr>
              <a:t>本页为草稿，白写的那一页是下一页</a:t>
            </a:r>
            <a:br>
              <a:rPr kumimoji="1" lang="en-US" altLang="zh-CN" sz="1800" b="1" dirty="0">
                <a:solidFill>
                  <a:srgbClr val="000000"/>
                </a:solidFill>
                <a:latin typeface="+mn-ea"/>
              </a:rPr>
            </a:b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数据在输入正确且范围合理的情况下</a:t>
            </a:r>
            <a:br>
              <a:rPr kumimoji="1" lang="en-US" altLang="zh-CN" sz="1800" b="1" dirty="0">
                <a:solidFill>
                  <a:srgbClr val="000000"/>
                </a:solidFill>
                <a:latin typeface="+mn-ea"/>
              </a:rPr>
            </a:b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返回数正确且可信</a:t>
            </a:r>
            <a:br>
              <a:rPr kumimoji="1" lang="en-US" altLang="zh-CN" sz="1800" b="1" dirty="0">
                <a:solidFill>
                  <a:srgbClr val="000000"/>
                </a:solidFill>
                <a:latin typeface="+mn-ea"/>
              </a:rPr>
            </a:b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数据在输入正确但超上限（未超同类型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上限）的情况下</a:t>
            </a:r>
            <a:br>
              <a:rPr kumimoji="1" lang="en-US" altLang="zh-CN" sz="1800" b="1" dirty="0">
                <a:solidFill>
                  <a:srgbClr val="000000"/>
                </a:solidFill>
                <a:latin typeface="+mn-ea"/>
              </a:rPr>
            </a:b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32767</a:t>
            </a:r>
            <a:br>
              <a:rPr kumimoji="1" lang="en-US" altLang="zh-CN" sz="1800" b="1" dirty="0">
                <a:solidFill>
                  <a:srgbClr val="000000"/>
                </a:solidFill>
                <a:latin typeface="+mn-ea"/>
              </a:rPr>
            </a:b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数据在输入正确且超上限（超过同类型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上限）的情况下</a:t>
            </a:r>
            <a:br>
              <a:rPr kumimoji="1" lang="en-US" altLang="zh-CN" sz="1800" b="1" dirty="0">
                <a:solidFill>
                  <a:srgbClr val="000000"/>
                </a:solidFill>
                <a:latin typeface="+mn-ea"/>
              </a:rPr>
            </a:b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返回数不可信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32767</a:t>
            </a:r>
            <a:br>
              <a:rPr kumimoji="1" lang="en-US" altLang="zh-CN" sz="1800" b="1" dirty="0">
                <a:solidFill>
                  <a:srgbClr val="000000"/>
                </a:solidFill>
                <a:latin typeface="+mn-ea"/>
              </a:rPr>
            </a:b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数据在输入正确但超下限范围的情况下</a:t>
            </a:r>
            <a:br>
              <a:rPr kumimoji="1" lang="en-US" altLang="zh-CN" sz="1800" b="1" dirty="0">
                <a:solidFill>
                  <a:srgbClr val="000000"/>
                </a:solidFill>
                <a:latin typeface="+mn-ea"/>
              </a:rPr>
            </a:b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返回数不可信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-32768</a:t>
            </a:r>
            <a:br>
              <a:rPr kumimoji="1" lang="en-US" altLang="zh-CN" sz="1800" b="1" dirty="0">
                <a:solidFill>
                  <a:srgbClr val="000000"/>
                </a:solidFill>
                <a:latin typeface="+mn-ea"/>
              </a:rPr>
            </a:b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数据在输入正确且范围合理的情况下</a:t>
            </a:r>
            <a:br>
              <a:rPr kumimoji="1" lang="en-US" altLang="zh-CN" sz="1800" b="1" dirty="0">
                <a:solidFill>
                  <a:srgbClr val="000000"/>
                </a:solidFill>
                <a:latin typeface="+mn-ea"/>
              </a:rPr>
            </a:b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返回数正确且可信</a:t>
            </a:r>
            <a:br>
              <a:rPr kumimoji="1" lang="en-US" altLang="zh-CN" sz="1800" b="1" dirty="0">
                <a:solidFill>
                  <a:srgbClr val="000000"/>
                </a:solidFill>
                <a:latin typeface="+mn-ea"/>
              </a:rPr>
            </a:b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6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数据在输入正确且超上限的情况下</a:t>
            </a:r>
            <a:br>
              <a:rPr kumimoji="1" lang="en-US" altLang="zh-CN" sz="1800" b="1" dirty="0">
                <a:solidFill>
                  <a:srgbClr val="000000"/>
                </a:solidFill>
                <a:latin typeface="+mn-ea"/>
              </a:rPr>
            </a:b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返回数不可信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65535</a:t>
            </a:r>
            <a:br>
              <a:rPr kumimoji="1" lang="en-US" altLang="zh-CN" sz="1800" b="1" dirty="0">
                <a:solidFill>
                  <a:srgbClr val="000000"/>
                </a:solidFill>
                <a:latin typeface="+mn-ea"/>
              </a:rPr>
            </a:b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数据在输入正确但为负数（未超同类型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下限）的情况下</a:t>
            </a:r>
            <a:br>
              <a:rPr kumimoji="1" lang="en-US" altLang="zh-CN" sz="1800" b="1" dirty="0">
                <a:solidFill>
                  <a:srgbClr val="000000"/>
                </a:solidFill>
                <a:latin typeface="+mn-ea"/>
              </a:rPr>
            </a:b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返回数可信但错误，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-12345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变成了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53191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，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-1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变成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65535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，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-65535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变成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（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short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）</a:t>
            </a:r>
            <a:br>
              <a:rPr kumimoji="1" lang="en-US" altLang="zh-CN" sz="1800" b="1" dirty="0">
                <a:solidFill>
                  <a:srgbClr val="000000"/>
                </a:solidFill>
                <a:latin typeface="+mn-ea"/>
              </a:rPr>
            </a:b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8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数据在输入正确且为负数（超过同类型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下限）的情况下</a:t>
            </a:r>
            <a:br>
              <a:rPr kumimoji="1" lang="en-US" altLang="zh-CN" sz="1800" b="1" dirty="0">
                <a:solidFill>
                  <a:srgbClr val="000000"/>
                </a:solidFill>
                <a:latin typeface="+mn-ea"/>
              </a:rPr>
            </a:b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返回数不可信</a:t>
            </a:r>
            <a:br>
              <a:rPr kumimoji="1" lang="en-US" altLang="zh-CN" sz="1800" b="1" dirty="0">
                <a:solidFill>
                  <a:srgbClr val="000000"/>
                </a:solidFill>
                <a:latin typeface="+mn-ea"/>
              </a:rPr>
            </a:b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9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数据在输入正确且为负数（超过同类型</a:t>
            </a:r>
            <a:r>
              <a:rPr kumimoji="1" lang="en-US" altLang="zh-CN" sz="18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800" b="1" dirty="0">
                <a:solidFill>
                  <a:srgbClr val="000000"/>
                </a:solidFill>
                <a:latin typeface="+mn-ea"/>
              </a:rPr>
              <a:t>上限加负号后的下限）的情况下</a:t>
            </a:r>
            <a:br>
              <a:rPr kumimoji="1" lang="en-US" altLang="zh-CN" sz="1800" b="1" dirty="0">
                <a:solidFill>
                  <a:srgbClr val="000000"/>
                </a:solidFill>
                <a:latin typeface="+mn-ea"/>
              </a:rPr>
            </a:br>
            <a:r>
              <a:rPr kumimoji="1" lang="zh-CN" altLang="en-US" sz="2400" b="1" dirty="0">
                <a:solidFill>
                  <a:srgbClr val="000000"/>
                </a:solidFill>
                <a:latin typeface="+mn-ea"/>
              </a:rPr>
              <a:t>返回数不可信</a:t>
            </a:r>
            <a:br>
              <a:rPr kumimoji="1" lang="en-US" altLang="zh-CN" sz="2400" b="1" dirty="0">
                <a:solidFill>
                  <a:srgbClr val="FF0000"/>
                </a:solidFill>
                <a:latin typeface="+mn-ea"/>
              </a:rPr>
            </a:b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对比：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+mn-ea"/>
              </a:rPr>
              <a:t>cin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输入与变量赋值，在输入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右值超范围的情况下，表现是否相同？总结规律</a:t>
            </a:r>
            <a:br>
              <a:rPr kumimoji="1" lang="en-US" altLang="zh-CN" sz="2400" b="1" dirty="0">
                <a:solidFill>
                  <a:srgbClr val="FF0000"/>
                </a:solidFill>
                <a:latin typeface="+mn-ea"/>
              </a:rPr>
            </a:b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      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+mn-ea"/>
              </a:rPr>
              <a:t>cin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输入与变量赋值，在输入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右值合理范围的情况下，表现是否相同？总结规律</a:t>
            </a:r>
            <a:br>
              <a:rPr kumimoji="1" lang="zh-CN" altLang="en-US" sz="2400" b="1" dirty="0">
                <a:solidFill>
                  <a:srgbClr val="FF0000"/>
                </a:solidFill>
                <a:latin typeface="+mn-ea"/>
              </a:rPr>
            </a:br>
            <a:br>
              <a:rPr kumimoji="1" lang="en-US" altLang="zh-CN" sz="2400" b="1" dirty="0">
                <a:solidFill>
                  <a:srgbClr val="000000"/>
                </a:solidFill>
                <a:latin typeface="+mn-ea"/>
              </a:rPr>
            </a:b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387726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D</a:t>
            </a:r>
            <a:r>
              <a:rPr lang="zh-CN" altLang="en-US" sz="1600" b="1" dirty="0">
                <a:latin typeface="+mn-ea"/>
              </a:rPr>
              <a:t>，自行构造不同测试数据，观察不同输入下的运行结果（贴图在清晰可辨的情况下尽可能小）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520457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unsigned int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&gt;&gt;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"k="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 good()="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 fail()="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796684" y="1323974"/>
            <a:ext cx="610956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__123___↙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__9999999999___↙</a:t>
            </a:r>
            <a:r>
              <a:rPr kumimoji="1" lang="zh-CN" altLang="en-US" sz="1600" b="1" dirty="0">
                <a:latin typeface="+mn-ea"/>
              </a:rPr>
              <a:t> （超上限）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__-1___↙</a:t>
            </a:r>
            <a:r>
              <a:rPr kumimoji="1" lang="zh-CN" altLang="en-US" sz="1600" b="1" dirty="0">
                <a:latin typeface="+mn-ea"/>
              </a:rPr>
              <a:t>（负数但未超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__-3333333333___↙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__-9999999999___↙</a:t>
            </a:r>
            <a:r>
              <a:rPr kumimoji="1" lang="zh-CN" altLang="en-US" sz="1600" b="1" dirty="0">
                <a:latin typeface="+mn-ea"/>
              </a:rPr>
              <a:t>（负数且超过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A0A7D5-B0D7-457D-AC0F-6DDEF11D5DFA}"/>
              </a:ext>
            </a:extLst>
          </p:cNvPr>
          <p:cNvSpPr/>
          <p:nvPr/>
        </p:nvSpPr>
        <p:spPr bwMode="auto">
          <a:xfrm>
            <a:off x="9610725" y="5919018"/>
            <a:ext cx="2295525" cy="61513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FAA866-F2A8-4472-9C38-3DD113F17631}"/>
              </a:ext>
            </a:extLst>
          </p:cNvPr>
          <p:cNvSpPr/>
          <p:nvPr/>
        </p:nvSpPr>
        <p:spPr bwMode="auto">
          <a:xfrm>
            <a:off x="592113" y="4857749"/>
            <a:ext cx="5204571" cy="16763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结论：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多个输入中，编号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__2,5_____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输入的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k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值是不可信的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F3CD21-A63C-4612-8061-61AC09EEECA7}"/>
              </a:ext>
            </a:extLst>
          </p:cNvPr>
          <p:cNvSpPr/>
          <p:nvPr/>
        </p:nvSpPr>
        <p:spPr bwMode="auto">
          <a:xfrm>
            <a:off x="9610724" y="1323973"/>
            <a:ext cx="2295525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u_int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A3F899-4F11-4204-B58C-4B1C2C6F2E27}"/>
              </a:ext>
            </a:extLst>
          </p:cNvPr>
          <p:cNvSpPr/>
          <p:nvPr/>
        </p:nvSpPr>
        <p:spPr bwMode="auto">
          <a:xfrm>
            <a:off x="592111" y="5919019"/>
            <a:ext cx="5204569" cy="615129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unsigned int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基本同 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unsigned short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，弄懂即可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本页可以不做，空着不扣分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0E351B4-90FB-D6A3-4CDF-FFDE4D928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959" y="2146472"/>
            <a:ext cx="2371742" cy="68580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D58B7CB-FC7A-9C4C-1FEA-16E7DEE34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152" y="2146472"/>
            <a:ext cx="2300304" cy="67151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9873FD2-BF94-D31D-DACE-F12DA4C8D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102766"/>
            <a:ext cx="2452705" cy="65246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6A76848-041D-2114-58A9-3C840646A3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4078" y="3040465"/>
            <a:ext cx="2476518" cy="77629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D095DAD-81ED-9FCB-4D16-3EF611E56F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5719" y="4088078"/>
            <a:ext cx="2409843" cy="66199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60891FD-D368-2689-AAC3-A18C8329A8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3152" y="4107350"/>
            <a:ext cx="2438418" cy="71914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9A3FF51-9319-81FE-5B03-663400C22D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2270" y="5082915"/>
            <a:ext cx="2381267" cy="67151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45FDD1EA-7EA0-B2D3-2A89-C8C2A191BE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3537" y="5082915"/>
            <a:ext cx="2438418" cy="67628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C4492A4F-9337-A352-0750-FB3BF92CBE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4541" y="6039431"/>
            <a:ext cx="2357455" cy="71438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276C48ED-CE43-5DEE-3337-108B2BAD57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52842" y="6022762"/>
            <a:ext cx="2538431" cy="74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092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566</Words>
  <Application>Microsoft Office PowerPoint</Application>
  <PresentationFormat>宽屏</PresentationFormat>
  <Paragraphs>41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宋体</vt:lpstr>
      <vt:lpstr>Arial</vt:lpstr>
      <vt:lpstr>Office 主题​​</vt:lpstr>
      <vt:lpstr>  本页为草稿，白写的那一页是下一页 1、signed数据在输入正确且范围合理的情况下 返回数正确且可信 2、signed数据在输入正确但超上限（未超同类型unsigned上限）的情况下 32767 3、signed数据在输入正确且超上限（超过同类型unsigned上限）的情况下 返回数不可信32767 4、signed数据在输入正确但超下限范围的情况下 返回数不可信-32768 5、unsigned数据在输入正确且范围合理的情况下 返回数正确且可信 6、unsigned数据在输入正确且超上限的情况下 返回数不可信65535 7、unsigned数据在输入正确但为负数（未超同类型signed下限）的情况下 返回数可信但错误，-12345变成了53191，-1变成65535，-65535变成1（short） 8、unsigned数据在输入正确且为负数（超过同类型signed下限）的情况下 返回数不可信 9、unsigned数据在输入正确且为负数（超过同类型unsigned上限加负号后的下限）的情况下 返回数不可信 对比：cin输入与变量赋值，在输入/右值超范围的情况下，表现是否相同？总结规律       cin输入与变量赋值，在输入/右值合理范围的情况下，表现是否相同？总结规律  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 sheng</dc:creator>
  <cp:lastModifiedBy>xi sheng</cp:lastModifiedBy>
  <cp:revision>1</cp:revision>
  <dcterms:created xsi:type="dcterms:W3CDTF">2024-03-14T05:31:00Z</dcterms:created>
  <dcterms:modified xsi:type="dcterms:W3CDTF">2024-03-14T05:51:55Z</dcterms:modified>
</cp:coreProperties>
</file>