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1236" r:id="rId3"/>
    <p:sldId id="1279" r:id="rId5"/>
    <p:sldId id="1237" r:id="rId6"/>
    <p:sldId id="1230" r:id="rId7"/>
    <p:sldId id="492" r:id="rId8"/>
    <p:sldId id="1276" r:id="rId9"/>
    <p:sldId id="1280" r:id="rId10"/>
    <p:sldId id="1251" r:id="rId11"/>
    <p:sldId id="1239" r:id="rId12"/>
    <p:sldId id="1277" r:id="rId13"/>
    <p:sldId id="1252" r:id="rId14"/>
    <p:sldId id="1242" r:id="rId15"/>
    <p:sldId id="1278" r:id="rId16"/>
    <p:sldId id="1253" r:id="rId17"/>
  </p:sldIdLst>
  <p:sldSz cx="12192000" cy="6858000"/>
  <p:notesSz cx="6858000" cy="9144000"/>
  <p:custDataLst>
    <p:tags r:id="rId2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arry" initials="L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844" autoAdjust="0"/>
    <p:restoredTop sz="86411" autoAdjust="0"/>
  </p:normalViewPr>
  <p:slideViewPr>
    <p:cSldViewPr snapToGrid="0">
      <p:cViewPr varScale="1">
        <p:scale>
          <a:sx n="90" d="100"/>
          <a:sy n="90" d="100"/>
        </p:scale>
        <p:origin x="80" y="34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gs" Target="tags/tag1.xml"/><Relationship Id="rId21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F4E512-F0DE-40DA-A281-500184A3244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490452-1689-4497-A9A0-B842EEA687A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115B22-8194-4FC8-9614-86C592EEABA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5F2CA6-A39B-48F7-84D1-AF91BD07D67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C41597-7941-4461-A03D-7D307C3317F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7E5104-8735-46A8-9820-8BD5C44B645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BB04D0-EC69-4E34-9026-1132273F6FE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34D7FE-E00D-4DCA-A0A7-A306174DC0C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E46EFE-F103-4F45-8883-0DE6C66B1B8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75AF18-52E2-4048-A908-642605843CB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2A61F9-4BE0-4887-A67C-4D288CA5699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7B2B09-852B-4EAA-A08A-0953A9F6334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1CDC42-DFEF-458F-BD1B-2EFAEEF6801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pPr>
              <a:defRPr/>
            </a:pPr>
            <a:fld id="{FF534AEE-0681-4001-91D8-DF8F111160F4}" type="slidenum">
              <a:rPr lang="en-US" altLang="zh-CN"/>
            </a:fld>
            <a:endParaRPr lang="en-US" altLang="zh-CN"/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2268" y="5786"/>
            <a:ext cx="1183064" cy="1183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循环结构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要求：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、完成本文档中所有的题目并写出分析、运行结果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、无特殊说明，均使用</a:t>
            </a:r>
            <a:r>
              <a:rPr lang="en-US" altLang="zh-CN" sz="1600" b="1" dirty="0">
                <a:latin typeface="+mn-ea"/>
              </a:rPr>
              <a:t>VS2022</a:t>
            </a:r>
            <a:r>
              <a:rPr lang="zh-CN" altLang="en-US" sz="1600" b="1" dirty="0">
                <a:latin typeface="+mn-ea"/>
              </a:rPr>
              <a:t>编译即可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、直接在本文件上作答，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写出答案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截图（不允许手写、手写拍照截图）</a:t>
            </a:r>
            <a:r>
              <a:rPr lang="zh-CN" altLang="en-US" sz="1600" b="1" dirty="0">
                <a:latin typeface="+mn-ea"/>
              </a:rPr>
              <a:t>即可；填写答案时，为适应所填内容或贴图，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允许调整</a:t>
            </a:r>
            <a:r>
              <a:rPr lang="zh-CN" altLang="en-US" sz="1600" b="1" dirty="0">
                <a:latin typeface="+mn-ea"/>
              </a:rPr>
              <a:t>页面的字体大小、颜色、文本框的位置等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贴图要有效部分即可，不需要全部内容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在保证一页一题的前提下，具体页面布局可以自行发挥，简单易读即可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不允许</a:t>
            </a:r>
            <a:r>
              <a:rPr lang="zh-CN" altLang="en-US" sz="1600" b="1" dirty="0">
                <a:latin typeface="+mn-ea"/>
              </a:rPr>
              <a:t>手写在纸上，再拍照贴图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允许</a:t>
            </a:r>
            <a:r>
              <a:rPr lang="zh-CN" altLang="en-US" sz="1600" b="1" dirty="0">
                <a:latin typeface="+mn-ea"/>
              </a:rPr>
              <a:t>在各种软件工具上完成（不含手写），再截图贴图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 </a:t>
            </a:r>
            <a:r>
              <a:rPr lang="zh-CN" altLang="en-US" sz="1600" b="1" dirty="0">
                <a:latin typeface="+mn-ea"/>
              </a:rPr>
              <a:t>如果某题要求</a:t>
            </a:r>
            <a:r>
              <a:rPr lang="en-US" altLang="zh-CN" sz="1600" b="1" dirty="0" err="1">
                <a:latin typeface="+mn-ea"/>
              </a:rPr>
              <a:t>VS+Dev</a:t>
            </a:r>
            <a:r>
              <a:rPr lang="zh-CN" altLang="en-US" sz="1600" b="1" dirty="0">
                <a:latin typeface="+mn-ea"/>
              </a:rPr>
              <a:t>的，则如果两个编译器运行结果一致，贴</a:t>
            </a:r>
            <a:r>
              <a:rPr lang="en-US" altLang="zh-CN" sz="1600" b="1" dirty="0">
                <a:latin typeface="+mn-ea"/>
              </a:rPr>
              <a:t>VS</a:t>
            </a:r>
            <a:r>
              <a:rPr lang="zh-CN" altLang="en-US" sz="1600" b="1" dirty="0">
                <a:latin typeface="+mn-ea"/>
              </a:rPr>
              <a:t>的一张图即可，如果不一致，则两个图都要贴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、转换为</a:t>
            </a:r>
            <a:r>
              <a:rPr lang="en-US" altLang="zh-CN" sz="1600" b="1" dirty="0">
                <a:latin typeface="+mn-ea"/>
              </a:rPr>
              <a:t>pdf</a:t>
            </a:r>
            <a:r>
              <a:rPr lang="zh-CN" altLang="en-US" sz="1600" b="1" dirty="0">
                <a:latin typeface="+mn-ea"/>
              </a:rPr>
              <a:t>后提交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4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月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4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日前</a:t>
            </a:r>
            <a:r>
              <a:rPr lang="zh-CN" altLang="en-US" sz="1600" b="1" dirty="0">
                <a:latin typeface="+mn-ea"/>
              </a:rPr>
              <a:t>网上提交本次作业（在“文档作业”中提交）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循环结构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贴图要求：只需要截取输出窗口中的有效部分即可，如果全部截取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截取过大，则视为无效贴图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   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例：无效贴图                                                                       例：有效贴图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853" y="1614221"/>
            <a:ext cx="8291512" cy="4899893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5148" y="1614221"/>
            <a:ext cx="2257143" cy="600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循环结构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附：用</a:t>
            </a:r>
            <a:r>
              <a:rPr lang="en-US" altLang="zh-CN" sz="1600" b="1" dirty="0">
                <a:latin typeface="+mn-ea"/>
              </a:rPr>
              <a:t>WPS</a:t>
            </a:r>
            <a:r>
              <a:rPr lang="zh-CN" altLang="en-US" sz="1600" b="1" dirty="0">
                <a:latin typeface="+mn-ea"/>
              </a:rPr>
              <a:t>等其他第三方软件打开</a:t>
            </a:r>
            <a:r>
              <a:rPr lang="en-US" altLang="zh-CN" sz="1600" b="1" dirty="0">
                <a:latin typeface="+mn-ea"/>
              </a:rPr>
              <a:t>PPT</a:t>
            </a:r>
            <a:r>
              <a:rPr lang="zh-CN" altLang="en-US" sz="1600" b="1" dirty="0">
                <a:latin typeface="+mn-ea"/>
              </a:rPr>
              <a:t>，将代码复制到</a:t>
            </a:r>
            <a:r>
              <a:rPr lang="en-US" altLang="zh-CN" sz="1600" b="1" dirty="0">
                <a:latin typeface="+mn-ea"/>
              </a:rPr>
              <a:t>VS2022</a:t>
            </a:r>
            <a:r>
              <a:rPr lang="zh-CN" altLang="en-US" sz="1600" b="1" dirty="0">
                <a:latin typeface="+mn-ea"/>
              </a:rPr>
              <a:t>中后，如果出现类似下面的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编译报错</a:t>
            </a:r>
            <a:r>
              <a:rPr lang="zh-CN" altLang="en-US" sz="1600" b="1" dirty="0">
                <a:latin typeface="+mn-ea"/>
              </a:rPr>
              <a:t>，则观察源程序编辑窗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                                                                         </a:t>
            </a:r>
            <a:r>
              <a:rPr lang="zh-CN" altLang="en-US" sz="1600" b="1" dirty="0">
                <a:latin typeface="+mn-ea"/>
              </a:rPr>
              <a:t>的右下角是否为</a:t>
            </a:r>
            <a:r>
              <a:rPr lang="en-US" altLang="zh-CN" sz="1600" b="1" dirty="0">
                <a:latin typeface="+mn-ea"/>
              </a:rPr>
              <a:t>CR</a:t>
            </a:r>
            <a:r>
              <a:rPr lang="zh-CN" altLang="en-US" sz="1600" b="1" dirty="0">
                <a:latin typeface="+mn-ea"/>
              </a:rPr>
              <a:t>，如果是，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                                                                         </a:t>
            </a:r>
            <a:r>
              <a:rPr lang="zh-CN" altLang="en-US" sz="1600" b="1" dirty="0">
                <a:latin typeface="+mn-ea"/>
              </a:rPr>
              <a:t>单击</a:t>
            </a:r>
            <a:r>
              <a:rPr lang="en-US" altLang="zh-CN" sz="1600" b="1" dirty="0">
                <a:latin typeface="+mn-ea"/>
              </a:rPr>
              <a:t>CR</a:t>
            </a:r>
            <a:r>
              <a:rPr lang="zh-CN" altLang="en-US" sz="1600" b="1" dirty="0">
                <a:latin typeface="+mn-ea"/>
              </a:rPr>
              <a:t>，在弹出中选择</a:t>
            </a:r>
            <a:r>
              <a:rPr lang="en-US" altLang="zh-CN" sz="1600" b="1" dirty="0">
                <a:latin typeface="+mn-ea"/>
              </a:rPr>
              <a:t>CRLF</a:t>
            </a:r>
            <a:r>
              <a:rPr lang="zh-CN" altLang="en-US" sz="1600" b="1" dirty="0">
                <a:latin typeface="+mn-ea"/>
              </a:rPr>
              <a:t>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                                                                         </a:t>
            </a:r>
            <a:r>
              <a:rPr lang="zh-CN" altLang="en-US" sz="1600" b="1" dirty="0">
                <a:latin typeface="+mn-ea"/>
              </a:rPr>
              <a:t>再次</a:t>
            </a:r>
            <a:r>
              <a:rPr lang="en-US" altLang="zh-CN" sz="1600" b="1" dirty="0">
                <a:latin typeface="+mn-ea"/>
              </a:rPr>
              <a:t>CTRL+F5</a:t>
            </a:r>
            <a:r>
              <a:rPr lang="zh-CN" altLang="en-US" sz="1600" b="1" dirty="0">
                <a:latin typeface="+mn-ea"/>
              </a:rPr>
              <a:t>运行即可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61635" y="3090983"/>
            <a:ext cx="2123810" cy="1933333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958" y="1329084"/>
            <a:ext cx="7914286" cy="5314286"/>
          </a:xfrm>
          <a:prstGeom prst="rect">
            <a:avLst/>
          </a:prstGeom>
        </p:spPr>
      </p:pic>
      <p:sp>
        <p:nvSpPr>
          <p:cNvPr id="5" name="箭头: 右 4"/>
          <p:cNvSpPr/>
          <p:nvPr/>
        </p:nvSpPr>
        <p:spPr bwMode="auto">
          <a:xfrm>
            <a:off x="8023460" y="4571893"/>
            <a:ext cx="638175" cy="452423"/>
          </a:xfrm>
          <a:prstGeom prst="rightArrow">
            <a:avLst/>
          </a:prstGeom>
          <a:solidFill>
            <a:srgbClr val="FF0000">
              <a:alpha val="40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2800" b="1" dirty="0">
                <a:latin typeface="+mn-ea"/>
              </a:rPr>
              <a:t>特别提示：</a:t>
            </a:r>
            <a:endParaRPr lang="en-US" altLang="zh-CN" sz="2800" b="1" dirty="0">
              <a:latin typeface="+mn-ea"/>
            </a:endParaRPr>
          </a:p>
          <a:p>
            <a:pPr algn="l"/>
            <a:r>
              <a:rPr lang="zh-CN" altLang="en-US" sz="2800" b="1" dirty="0">
                <a:latin typeface="+mn-ea"/>
              </a:rPr>
              <a:t>★ 本次作业的答案，除特别提示外，上课全讲过，课件上都有</a:t>
            </a:r>
            <a:r>
              <a:rPr lang="en-US" altLang="zh-CN" sz="2800" b="1" dirty="0">
                <a:latin typeface="+mn-ea"/>
              </a:rPr>
              <a:t>!!!</a:t>
            </a:r>
            <a:endParaRPr lang="en-US" altLang="zh-CN" sz="2800" b="1" dirty="0">
              <a:latin typeface="+mn-ea"/>
            </a:endParaRPr>
          </a:p>
          <a:p>
            <a:pPr algn="l"/>
            <a:r>
              <a:rPr lang="zh-CN" altLang="en-US" sz="2800" b="1" dirty="0">
                <a:latin typeface="+mn-ea"/>
              </a:rPr>
              <a:t>★ 作业本质就是对上课内容及课件的</a:t>
            </a:r>
            <a:r>
              <a:rPr lang="en-US" altLang="zh-CN" sz="2800" b="1" dirty="0">
                <a:latin typeface="+mn-ea"/>
              </a:rPr>
              <a:t>review(</a:t>
            </a:r>
            <a:r>
              <a:rPr lang="zh-CN" altLang="en-US" sz="2800" b="1" dirty="0">
                <a:latin typeface="+mn-ea"/>
              </a:rPr>
              <a:t>因为读懂程序的逻辑很重要</a:t>
            </a:r>
            <a:r>
              <a:rPr lang="en-US" altLang="zh-CN" sz="2800" b="1" dirty="0">
                <a:latin typeface="+mn-ea"/>
              </a:rPr>
              <a:t>)</a:t>
            </a:r>
            <a:endParaRPr lang="en-US" altLang="zh-CN" sz="2800" b="1" dirty="0">
              <a:latin typeface="+mn-ea"/>
            </a:endParaRPr>
          </a:p>
          <a:p>
            <a:pPr algn="l"/>
            <a:r>
              <a:rPr lang="zh-CN" altLang="en-US" sz="2800" b="1" dirty="0">
                <a:latin typeface="+mn-ea"/>
              </a:rPr>
              <a:t>★ 对上课接受程度较好的同学，可能有点重复</a:t>
            </a:r>
            <a:r>
              <a:rPr lang="en-US" altLang="zh-CN" sz="2800" b="1" dirty="0">
                <a:latin typeface="+mn-ea"/>
              </a:rPr>
              <a:t>/</a:t>
            </a:r>
            <a:r>
              <a:rPr lang="zh-CN" altLang="en-US" sz="2800" b="1" dirty="0">
                <a:latin typeface="+mn-ea"/>
              </a:rPr>
              <a:t>多余，但还得做</a:t>
            </a:r>
            <a:endParaRPr lang="en-US" altLang="zh-CN" sz="2800" b="1" dirty="0">
              <a:latin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循环结构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、循环的嵌套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A.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int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, j, k;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int count1 = 0, count2 = 0, count3 = 0;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=1;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&lt;=100;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++) 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++count1;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for(j=1; j&lt;=100;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j++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 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++count2;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for(k=1; k&lt;=100; k++) 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 ++count3;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"count1=" &lt;&lt; count1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"count2=" &lt;&lt; count2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"count3=" &lt;&lt; count3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5534026" y="1323975"/>
            <a:ext cx="530542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、贴运行结果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、当循环嵌套时，内层循环的执行次数和外层循环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是什么关系？</a:t>
            </a:r>
            <a:endParaRPr kumimoji="1" lang="zh-CN" altLang="en-US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外层循环每执行一次，内层循环执行一遍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55005" y="1887855"/>
            <a:ext cx="4057650" cy="16097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循环结构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、循环的嵌套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int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, j, k;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int count1 = 0, count2 = 0, count3 = 0;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=1;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&lt;=100;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++) 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++count1;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for(j=</a:t>
            </a:r>
            <a:r>
              <a:rPr kumimoji="1" lang="en-US" altLang="zh-CN" sz="1600" b="1" dirty="0" err="1">
                <a:solidFill>
                  <a:srgbClr val="FF0000"/>
                </a:solidFill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 j&lt;=100;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j++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 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++count2;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for(k=</a:t>
            </a:r>
            <a:r>
              <a:rPr kumimoji="1"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j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 k&lt;=100; k++) 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 ++count3;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"count1=" &lt;&lt; count1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"count2=" &lt;&lt; count2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"count3=" &lt;&lt; count3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5534026" y="1323975"/>
            <a:ext cx="530542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、贴运行结果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、当循环嵌套时，内层循环的执行次数和外层循环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是什么关系？</a:t>
            </a:r>
            <a:endParaRPr kumimoji="1" lang="zh-CN" altLang="en-US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外层循环每执行一次，内层循环执行一遍，当内层循环的前置条件等和外层循环有关时，内层循环的每遍执行会随着外层循环的每次执行发生规律性的改变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4025" y="1591945"/>
            <a:ext cx="4086225" cy="14763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循环结构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、循环的嵌套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C.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conio.h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int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, j,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count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=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0;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=1;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&lt;=100;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++) 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for(j=1; </a:t>
            </a:r>
            <a:r>
              <a:rPr kumimoji="1" lang="en-US" altLang="zh-CN" sz="1600" b="1" dirty="0" err="1">
                <a:solidFill>
                  <a:srgbClr val="FF0000"/>
                </a:solidFill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&lt;=100;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j++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 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++count;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if (count % 1000 == 0) 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"*";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 _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getch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 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"count = " &lt;&lt; count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注意：这个程序无法通过按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CTRL+C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终止，要关窗口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5534026" y="1323975"/>
            <a:ext cx="530542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、贴运行结果（能表现出要表达的意思即可）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、按内外</a:t>
            </a:r>
            <a:r>
              <a:rPr kumimoji="1" lang="en-US" altLang="zh-CN" sz="1600" b="1" dirty="0">
                <a:latin typeface="+mn-ea"/>
              </a:rPr>
              <a:t>for</a:t>
            </a:r>
            <a:r>
              <a:rPr kumimoji="1" lang="zh-CN" altLang="en-US" sz="1600" b="1" dirty="0">
                <a:latin typeface="+mn-ea"/>
              </a:rPr>
              <a:t>循环的执行步骤依次分析，为什么会得到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这个结果？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第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步 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- 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外循环表达式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1 - </a:t>
            </a:r>
            <a:r>
              <a:rPr kumimoji="1" lang="en-US" altLang="zh-CN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i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=1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第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2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步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- 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外循环表达式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2 - i&lt;=100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第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3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步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- 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内循环表达式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1 - j=1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第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4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步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- 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内循环表达式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2 - i&lt;=100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第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5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步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- 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内循环语句序列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1 - ++count =&gt; count=1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第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7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步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- 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内循环语句序列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2 - count%1000!=0,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不执行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n>
                  <a:noFill/>
                </a:ln>
                <a:effectLst/>
                <a:latin typeface="+mn-ea"/>
                <a:sym typeface="+mn-ea"/>
              </a:rPr>
              <a:t>第</a:t>
            </a:r>
            <a:r>
              <a:rPr kumimoji="1" lang="en-US" altLang="zh-CN" sz="1600" b="1" dirty="0">
                <a:ln>
                  <a:noFill/>
                </a:ln>
                <a:effectLst/>
                <a:latin typeface="+mn-ea"/>
                <a:sym typeface="+mn-ea"/>
              </a:rPr>
              <a:t>8</a:t>
            </a:r>
            <a:r>
              <a:rPr kumimoji="1" lang="zh-CN" altLang="en-US" sz="1600" b="1" dirty="0">
                <a:ln>
                  <a:noFill/>
                </a:ln>
                <a:effectLst/>
                <a:latin typeface="+mn-ea"/>
                <a:sym typeface="+mn-ea"/>
              </a:rPr>
              <a:t>步</a:t>
            </a:r>
            <a:r>
              <a:rPr kumimoji="1" lang="en-US" altLang="zh-CN" sz="1600" b="1" dirty="0">
                <a:ln>
                  <a:noFill/>
                </a:ln>
                <a:effectLst/>
                <a:latin typeface="+mn-ea"/>
                <a:sym typeface="+mn-ea"/>
              </a:rPr>
              <a:t> - </a:t>
            </a:r>
            <a:r>
              <a:rPr kumimoji="1" lang="zh-CN" altLang="en-US" sz="1600" b="1" dirty="0">
                <a:ln>
                  <a:noFill/>
                </a:ln>
                <a:effectLst/>
                <a:latin typeface="+mn-ea"/>
                <a:sym typeface="+mn-ea"/>
              </a:rPr>
              <a:t>内循环表达式</a:t>
            </a:r>
            <a:r>
              <a:rPr kumimoji="1" lang="en-US" altLang="zh-CN" sz="1600" b="1" dirty="0">
                <a:ln>
                  <a:noFill/>
                </a:ln>
                <a:effectLst/>
                <a:latin typeface="+mn-ea"/>
                <a:sym typeface="+mn-ea"/>
              </a:rPr>
              <a:t>3 - j++ =&gt; j=2</a:t>
            </a:r>
            <a:endParaRPr kumimoji="1" lang="en-US" altLang="zh-CN" sz="1600" b="1" dirty="0">
              <a:ln>
                <a:noFill/>
              </a:ln>
              <a:effectLst/>
              <a:latin typeface="+mn-ea"/>
              <a:sym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n>
                  <a:noFill/>
                </a:ln>
                <a:effectLst/>
                <a:latin typeface="+mn-ea"/>
                <a:sym typeface="+mn-ea"/>
              </a:rPr>
              <a:t>第</a:t>
            </a:r>
            <a:r>
              <a:rPr kumimoji="1" lang="en-US" altLang="zh-CN" sz="1600" b="1" dirty="0">
                <a:ln>
                  <a:noFill/>
                </a:ln>
                <a:effectLst/>
                <a:latin typeface="+mn-ea"/>
                <a:sym typeface="+mn-ea"/>
              </a:rPr>
              <a:t>9</a:t>
            </a:r>
            <a:r>
              <a:rPr kumimoji="1" lang="zh-CN" altLang="en-US" sz="1600" b="1" dirty="0">
                <a:ln>
                  <a:noFill/>
                </a:ln>
                <a:effectLst/>
                <a:latin typeface="+mn-ea"/>
                <a:sym typeface="+mn-ea"/>
              </a:rPr>
              <a:t>步</a:t>
            </a:r>
            <a:r>
              <a:rPr kumimoji="1" lang="en-US" altLang="zh-CN" sz="1600" b="1" dirty="0">
                <a:ln>
                  <a:noFill/>
                </a:ln>
                <a:effectLst/>
                <a:latin typeface="+mn-ea"/>
                <a:sym typeface="+mn-ea"/>
              </a:rPr>
              <a:t> - </a:t>
            </a:r>
            <a:r>
              <a:rPr kumimoji="1" lang="zh-CN" altLang="en-US" sz="1600" b="1" dirty="0">
                <a:ln>
                  <a:noFill/>
                </a:ln>
                <a:effectLst/>
                <a:latin typeface="+mn-ea"/>
                <a:sym typeface="+mn-ea"/>
              </a:rPr>
              <a:t>内循环表达式</a:t>
            </a:r>
            <a:r>
              <a:rPr kumimoji="1" lang="en-US" altLang="zh-CN" sz="1600" b="1" dirty="0">
                <a:ln>
                  <a:noFill/>
                </a:ln>
                <a:effectLst/>
                <a:latin typeface="+mn-ea"/>
                <a:sym typeface="+mn-ea"/>
              </a:rPr>
              <a:t>2 - i&lt;=100</a:t>
            </a:r>
            <a:endParaRPr kumimoji="1" lang="en-US" altLang="zh-CN" sz="1600" b="1" dirty="0">
              <a:ln>
                <a:noFill/>
              </a:ln>
              <a:effectLst/>
              <a:latin typeface="+mn-ea"/>
              <a:sym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n>
                  <a:noFill/>
                </a:ln>
                <a:effectLst/>
                <a:latin typeface="+mn-ea"/>
                <a:sym typeface="+mn-ea"/>
              </a:rPr>
              <a:t>第</a:t>
            </a:r>
            <a:r>
              <a:rPr kumimoji="1" lang="en-US" altLang="zh-CN" sz="1600" b="1" dirty="0">
                <a:ln>
                  <a:noFill/>
                </a:ln>
                <a:effectLst/>
                <a:latin typeface="+mn-ea"/>
                <a:sym typeface="+mn-ea"/>
              </a:rPr>
              <a:t>10</a:t>
            </a:r>
            <a:r>
              <a:rPr kumimoji="1" lang="zh-CN" altLang="en-US" sz="1600" b="1" dirty="0">
                <a:ln>
                  <a:noFill/>
                </a:ln>
                <a:effectLst/>
                <a:latin typeface="+mn-ea"/>
                <a:sym typeface="+mn-ea"/>
              </a:rPr>
              <a:t>步</a:t>
            </a:r>
            <a:r>
              <a:rPr kumimoji="1" lang="en-US" altLang="zh-CN" sz="1600" b="1" dirty="0">
                <a:ln>
                  <a:noFill/>
                </a:ln>
                <a:effectLst/>
                <a:latin typeface="+mn-ea"/>
                <a:sym typeface="+mn-ea"/>
              </a:rPr>
              <a:t> - </a:t>
            </a:r>
            <a:r>
              <a:rPr kumimoji="1" lang="zh-CN" altLang="en-US" sz="1600" b="1" dirty="0">
                <a:ln>
                  <a:noFill/>
                </a:ln>
                <a:effectLst/>
                <a:latin typeface="+mn-ea"/>
                <a:sym typeface="+mn-ea"/>
              </a:rPr>
              <a:t>内循环语句序列</a:t>
            </a:r>
            <a:r>
              <a:rPr kumimoji="1" lang="en-US" altLang="zh-CN" sz="1600" b="1" dirty="0">
                <a:ln>
                  <a:noFill/>
                </a:ln>
                <a:effectLst/>
                <a:latin typeface="+mn-ea"/>
                <a:sym typeface="+mn-ea"/>
              </a:rPr>
              <a:t>1 - ++count =&gt; count=2</a:t>
            </a:r>
            <a:endParaRPr kumimoji="1" lang="en-US" altLang="zh-CN" sz="1600" b="1" dirty="0">
              <a:ln>
                <a:noFill/>
              </a:ln>
              <a:effectLst/>
              <a:latin typeface="+mn-ea"/>
              <a:sym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n>
                  <a:noFill/>
                </a:ln>
                <a:effectLst/>
                <a:latin typeface="+mn-ea"/>
                <a:sym typeface="+mn-ea"/>
              </a:rPr>
              <a:t>第</a:t>
            </a:r>
            <a:r>
              <a:rPr kumimoji="1" lang="en-US" altLang="zh-CN" sz="1600" b="1" dirty="0">
                <a:ln>
                  <a:noFill/>
                </a:ln>
                <a:effectLst/>
                <a:latin typeface="+mn-ea"/>
                <a:sym typeface="+mn-ea"/>
              </a:rPr>
              <a:t>11</a:t>
            </a:r>
            <a:r>
              <a:rPr kumimoji="1" lang="zh-CN" altLang="en-US" sz="1600" b="1" dirty="0">
                <a:ln>
                  <a:noFill/>
                </a:ln>
                <a:effectLst/>
                <a:latin typeface="+mn-ea"/>
                <a:sym typeface="+mn-ea"/>
              </a:rPr>
              <a:t>步</a:t>
            </a:r>
            <a:r>
              <a:rPr kumimoji="1" lang="en-US" altLang="zh-CN" sz="1600" b="1" dirty="0">
                <a:ln>
                  <a:noFill/>
                </a:ln>
                <a:effectLst/>
                <a:latin typeface="+mn-ea"/>
                <a:sym typeface="+mn-ea"/>
              </a:rPr>
              <a:t> - </a:t>
            </a:r>
            <a:r>
              <a:rPr kumimoji="1" lang="zh-CN" altLang="en-US" sz="1600" b="1" dirty="0">
                <a:ln>
                  <a:noFill/>
                </a:ln>
                <a:effectLst/>
                <a:latin typeface="+mn-ea"/>
                <a:sym typeface="+mn-ea"/>
              </a:rPr>
              <a:t>内循环语句序列</a:t>
            </a:r>
            <a:r>
              <a:rPr kumimoji="1" lang="en-US" altLang="zh-CN" sz="1600" b="1" dirty="0">
                <a:ln>
                  <a:noFill/>
                </a:ln>
                <a:effectLst/>
                <a:latin typeface="+mn-ea"/>
                <a:sym typeface="+mn-ea"/>
              </a:rPr>
              <a:t>2 - count%1000!=0,</a:t>
            </a:r>
            <a:r>
              <a:rPr kumimoji="1" lang="zh-CN" altLang="en-US" sz="1600" b="1" dirty="0">
                <a:ln>
                  <a:noFill/>
                </a:ln>
                <a:effectLst/>
                <a:latin typeface="+mn-ea"/>
                <a:sym typeface="+mn-ea"/>
              </a:rPr>
              <a:t>不执行</a:t>
            </a:r>
            <a:endParaRPr kumimoji="1" lang="zh-CN" altLang="en-US" sz="1600" b="1" dirty="0">
              <a:ln>
                <a:noFill/>
              </a:ln>
              <a:effectLst/>
              <a:latin typeface="+mn-ea"/>
              <a:sym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n>
                  <a:noFill/>
                </a:ln>
                <a:effectLst/>
                <a:latin typeface="+mn-ea"/>
                <a:sym typeface="+mn-ea"/>
              </a:rPr>
              <a:t>第</a:t>
            </a:r>
            <a:r>
              <a:rPr kumimoji="1" lang="en-US" altLang="zh-CN" sz="1600" b="1" dirty="0">
                <a:ln>
                  <a:noFill/>
                </a:ln>
                <a:effectLst/>
                <a:latin typeface="+mn-ea"/>
                <a:sym typeface="+mn-ea"/>
              </a:rPr>
              <a:t>12</a:t>
            </a:r>
            <a:r>
              <a:rPr kumimoji="1" lang="zh-CN" altLang="en-US" sz="1600" b="1" dirty="0">
                <a:ln>
                  <a:noFill/>
                </a:ln>
                <a:effectLst/>
                <a:latin typeface="+mn-ea"/>
                <a:sym typeface="+mn-ea"/>
              </a:rPr>
              <a:t>步</a:t>
            </a:r>
            <a:r>
              <a:rPr kumimoji="1" lang="en-US" altLang="zh-CN" sz="1600" b="1" dirty="0">
                <a:ln>
                  <a:noFill/>
                </a:ln>
                <a:effectLst/>
                <a:latin typeface="+mn-ea"/>
                <a:sym typeface="+mn-ea"/>
              </a:rPr>
              <a:t> - </a:t>
            </a:r>
            <a:r>
              <a:rPr kumimoji="1" lang="zh-CN" altLang="en-US" sz="1600" b="1" dirty="0">
                <a:ln>
                  <a:noFill/>
                </a:ln>
                <a:effectLst/>
                <a:latin typeface="+mn-ea"/>
                <a:sym typeface="+mn-ea"/>
              </a:rPr>
              <a:t>内循环表达式</a:t>
            </a:r>
            <a:r>
              <a:rPr kumimoji="1" lang="en-US" altLang="zh-CN" sz="1600" b="1" dirty="0">
                <a:ln>
                  <a:noFill/>
                </a:ln>
                <a:effectLst/>
                <a:latin typeface="+mn-ea"/>
                <a:sym typeface="+mn-ea"/>
              </a:rPr>
              <a:t>2 - i&lt;=100</a:t>
            </a:r>
            <a:endParaRPr kumimoji="1" lang="en-US" altLang="zh-CN" sz="1600" b="1" dirty="0">
              <a:ln>
                <a:noFill/>
              </a:ln>
              <a:effectLst/>
              <a:latin typeface="+mn-ea"/>
              <a:sym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n>
                  <a:noFill/>
                </a:ln>
                <a:effectLst/>
                <a:latin typeface="+mn-ea"/>
                <a:sym typeface="+mn-ea"/>
              </a:rPr>
              <a:t>……</a:t>
            </a:r>
            <a:r>
              <a:rPr kumimoji="1" lang="zh-CN" altLang="en-US" sz="1600" b="1" dirty="0">
                <a:ln>
                  <a:noFill/>
                </a:ln>
                <a:effectLst/>
                <a:latin typeface="+mn-ea"/>
                <a:sym typeface="+mn-ea"/>
              </a:rPr>
              <a:t>内循环没有可以改变</a:t>
            </a:r>
            <a:r>
              <a:rPr kumimoji="1" lang="en-US" altLang="zh-CN" sz="1600" b="1" dirty="0">
                <a:ln>
                  <a:noFill/>
                </a:ln>
                <a:effectLst/>
                <a:latin typeface="+mn-ea"/>
                <a:sym typeface="+mn-ea"/>
              </a:rPr>
              <a:t>i</a:t>
            </a:r>
            <a:r>
              <a:rPr kumimoji="1" lang="zh-CN" altLang="en-US" sz="1600" b="1" dirty="0">
                <a:ln>
                  <a:noFill/>
                </a:ln>
                <a:effectLst/>
                <a:latin typeface="+mn-ea"/>
                <a:sym typeface="+mn-ea"/>
              </a:rPr>
              <a:t>的语句，内循环表达式</a:t>
            </a:r>
            <a:r>
              <a:rPr kumimoji="1" lang="en-US" altLang="zh-CN" sz="1600" b="1" dirty="0">
                <a:ln>
                  <a:noFill/>
                </a:ln>
                <a:effectLst/>
                <a:latin typeface="+mn-ea"/>
                <a:sym typeface="+mn-ea"/>
              </a:rPr>
              <a:t>2</a:t>
            </a:r>
            <a:r>
              <a:rPr kumimoji="1" lang="zh-CN" altLang="en-US" sz="1600" b="1" dirty="0">
                <a:ln>
                  <a:noFill/>
                </a:ln>
                <a:effectLst/>
                <a:latin typeface="+mn-ea"/>
                <a:sym typeface="+mn-ea"/>
              </a:rPr>
              <a:t>又是判断</a:t>
            </a:r>
            <a:r>
              <a:rPr kumimoji="1" lang="en-US" altLang="zh-CN" sz="1600" b="1" dirty="0">
                <a:ln>
                  <a:noFill/>
                </a:ln>
                <a:effectLst/>
                <a:latin typeface="+mn-ea"/>
                <a:sym typeface="+mn-ea"/>
              </a:rPr>
              <a:t>i</a:t>
            </a:r>
            <a:r>
              <a:rPr kumimoji="1" lang="zh-CN" altLang="en-US" sz="1600" b="1" dirty="0">
                <a:ln>
                  <a:noFill/>
                </a:ln>
                <a:effectLst/>
                <a:latin typeface="+mn-ea"/>
                <a:sym typeface="+mn-ea"/>
              </a:rPr>
              <a:t>的值，因此会一直重复内循环，即第</a:t>
            </a:r>
            <a:r>
              <a:rPr kumimoji="1" lang="en-US" altLang="zh-CN" sz="1600" b="1" dirty="0">
                <a:ln>
                  <a:noFill/>
                </a:ln>
                <a:effectLst/>
                <a:latin typeface="+mn-ea"/>
                <a:sym typeface="+mn-ea"/>
              </a:rPr>
              <a:t>4-8</a:t>
            </a:r>
            <a:r>
              <a:rPr kumimoji="1" lang="zh-CN" altLang="en-US" sz="1600" b="1" dirty="0">
                <a:ln>
                  <a:noFill/>
                </a:ln>
                <a:effectLst/>
                <a:latin typeface="+mn-ea"/>
                <a:sym typeface="+mn-ea"/>
              </a:rPr>
              <a:t>步，当</a:t>
            </a:r>
            <a:r>
              <a:rPr kumimoji="1" lang="en-US" altLang="zh-CN" sz="1600" b="1" dirty="0">
                <a:ln>
                  <a:noFill/>
                </a:ln>
                <a:effectLst/>
                <a:latin typeface="+mn-ea"/>
                <a:sym typeface="+mn-ea"/>
              </a:rPr>
              <a:t>count</a:t>
            </a:r>
            <a:r>
              <a:rPr kumimoji="1" lang="zh-CN" altLang="en-US" sz="1600" b="1" dirty="0">
                <a:ln>
                  <a:noFill/>
                </a:ln>
                <a:effectLst/>
                <a:latin typeface="+mn-ea"/>
                <a:sym typeface="+mn-ea"/>
              </a:rPr>
              <a:t>累计到</a:t>
            </a:r>
            <a:r>
              <a:rPr kumimoji="1" lang="en-US" altLang="zh-CN" sz="1600" b="1" dirty="0">
                <a:ln>
                  <a:noFill/>
                </a:ln>
                <a:effectLst/>
                <a:latin typeface="+mn-ea"/>
                <a:sym typeface="+mn-ea"/>
              </a:rPr>
              <a:t>1000</a:t>
            </a:r>
            <a:r>
              <a:rPr kumimoji="1" lang="zh-CN" altLang="en-US" sz="1600" b="1" dirty="0">
                <a:ln>
                  <a:noFill/>
                </a:ln>
                <a:effectLst/>
                <a:latin typeface="+mn-ea"/>
                <a:sym typeface="+mn-ea"/>
              </a:rPr>
              <a:t>的倍数时，会</a:t>
            </a:r>
            <a:r>
              <a:rPr kumimoji="1" lang="en-US" altLang="zh-CN" sz="1600" b="1" dirty="0">
                <a:ln>
                  <a:noFill/>
                </a:ln>
                <a:effectLst/>
                <a:latin typeface="+mn-ea"/>
                <a:sym typeface="+mn-ea"/>
              </a:rPr>
              <a:t>cout</a:t>
            </a:r>
            <a:r>
              <a:rPr kumimoji="1" lang="zh-CN" altLang="en-US" sz="1600" b="1" dirty="0">
                <a:ln>
                  <a:noFill/>
                </a:ln>
                <a:effectLst/>
                <a:latin typeface="+mn-ea"/>
                <a:sym typeface="+mn-ea"/>
              </a:rPr>
              <a:t>星号，程序等待输入，输入后再次重复第</a:t>
            </a:r>
            <a:r>
              <a:rPr kumimoji="1" lang="en-US" altLang="zh-CN" sz="1600" b="1" dirty="0">
                <a:ln>
                  <a:noFill/>
                </a:ln>
                <a:effectLst/>
                <a:latin typeface="+mn-ea"/>
                <a:sym typeface="+mn-ea"/>
              </a:rPr>
              <a:t>4-8</a:t>
            </a:r>
            <a:r>
              <a:rPr kumimoji="1" lang="zh-CN" altLang="en-US" sz="1600" b="1" dirty="0">
                <a:ln>
                  <a:noFill/>
                </a:ln>
                <a:effectLst/>
                <a:latin typeface="+mn-ea"/>
                <a:sym typeface="+mn-ea"/>
              </a:rPr>
              <a:t>步，直到</a:t>
            </a:r>
            <a:r>
              <a:rPr kumimoji="1" lang="en-US" altLang="zh-CN" sz="1600" b="1" dirty="0">
                <a:ln>
                  <a:noFill/>
                </a:ln>
                <a:effectLst/>
                <a:latin typeface="+mn-ea"/>
                <a:sym typeface="+mn-ea"/>
              </a:rPr>
              <a:t>count</a:t>
            </a:r>
            <a:r>
              <a:rPr kumimoji="1" lang="zh-CN" altLang="en-US" sz="1600" b="1" dirty="0">
                <a:ln>
                  <a:noFill/>
                </a:ln>
                <a:effectLst/>
                <a:latin typeface="+mn-ea"/>
                <a:sym typeface="+mn-ea"/>
              </a:rPr>
              <a:t>再次累计到</a:t>
            </a:r>
            <a:r>
              <a:rPr kumimoji="1" lang="en-US" altLang="zh-CN" sz="1600" b="1" dirty="0">
                <a:ln>
                  <a:noFill/>
                </a:ln>
                <a:effectLst/>
                <a:latin typeface="+mn-ea"/>
                <a:sym typeface="+mn-ea"/>
              </a:rPr>
              <a:t>1000</a:t>
            </a:r>
            <a:r>
              <a:rPr kumimoji="1" lang="zh-CN" altLang="en-US" sz="1600" b="1" dirty="0">
                <a:ln>
                  <a:noFill/>
                </a:ln>
                <a:effectLst/>
                <a:latin typeface="+mn-ea"/>
                <a:sym typeface="+mn-ea"/>
              </a:rPr>
              <a:t>的倍数，重复上述操作，永不结束</a:t>
            </a:r>
            <a:r>
              <a:rPr kumimoji="1" lang="en-US" altLang="zh-CN" sz="1600" b="1" dirty="0">
                <a:latin typeface="+mn-ea"/>
              </a:rPr>
              <a:t> 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01665" y="1593850"/>
            <a:ext cx="2872740" cy="75882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8574405" y="1681480"/>
            <a:ext cx="25514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_getch</a:t>
            </a:r>
            <a:r>
              <a:rPr lang="zh-CN" altLang="en-US" sz="1600"/>
              <a:t>两次后得到</a:t>
            </a:r>
            <a:r>
              <a:rPr lang="en-US" altLang="zh-CN" sz="1600"/>
              <a:t>3</a:t>
            </a:r>
            <a:r>
              <a:rPr lang="zh-CN" altLang="en-US" sz="1600"/>
              <a:t>个星号，程序仍在等待输入</a:t>
            </a:r>
            <a:endParaRPr lang="zh-CN" altLang="en-US" sz="1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循环结构</a:t>
            </a:r>
            <a:endParaRPr lang="en-US" altLang="zh-CN" sz="2800" b="1" dirty="0">
              <a:latin typeface="+mn-ea"/>
            </a:endParaRPr>
          </a:p>
          <a:p>
            <a:pPr eaLnBrk="1" hangingPunct="1"/>
            <a:endParaRPr lang="en-US" altLang="zh-CN" sz="2800" b="1" dirty="0">
              <a:latin typeface="+mn-ea"/>
            </a:endParaRPr>
          </a:p>
          <a:p>
            <a:pPr eaLnBrk="1" hangingPunct="1"/>
            <a:r>
              <a:rPr lang="zh-CN" altLang="en-US" sz="2800" b="1" dirty="0">
                <a:latin typeface="+mn-ea"/>
              </a:rPr>
              <a:t>此页不要删除，也没有意义，仅仅为了分隔题目</a:t>
            </a:r>
            <a:endParaRPr lang="en-US" altLang="zh-CN" sz="2800" b="1" dirty="0">
              <a:latin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循环结构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break</a:t>
            </a:r>
            <a:r>
              <a:rPr lang="zh-CN" altLang="en-US" sz="1600" b="1" dirty="0">
                <a:latin typeface="+mn-ea"/>
              </a:rPr>
              <a:t>与</a:t>
            </a:r>
            <a:r>
              <a:rPr lang="en-US" altLang="zh-CN" sz="1600" b="1" dirty="0">
                <a:latin typeface="+mn-ea"/>
              </a:rPr>
              <a:t>continue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A.</a:t>
            </a:r>
            <a:r>
              <a:rPr lang="zh-CN" altLang="en-US" sz="1600" b="1" dirty="0">
                <a:latin typeface="+mn-ea"/>
              </a:rPr>
              <a:t>已知代码如下，回答问题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while(1) 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①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②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if (X)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continue;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③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④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当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为真时，重复执行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①②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①②③④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当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为假时，重复执行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①②③④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①②③④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5267324" y="1323975"/>
            <a:ext cx="5572125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for(1; 1; ④) 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①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②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if (X)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continue;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③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当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为真时，重复执行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①②④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①②③④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当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为假时，重复执行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①②③④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①②③④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循环结构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break</a:t>
            </a:r>
            <a:r>
              <a:rPr lang="zh-CN" altLang="en-US" sz="1600" b="1" dirty="0">
                <a:latin typeface="+mn-ea"/>
              </a:rPr>
              <a:t>与</a:t>
            </a:r>
            <a:r>
              <a:rPr lang="en-US" altLang="zh-CN" sz="1600" b="1" dirty="0">
                <a:latin typeface="+mn-ea"/>
              </a:rPr>
              <a:t>continue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 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=0,sum=0;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3333C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while(</a:t>
            </a:r>
            <a:r>
              <a:rPr kumimoji="1" lang="en-US" altLang="zh-CN" sz="1600" b="1" dirty="0" err="1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&lt;1000) {</a:t>
            </a:r>
            <a:endParaRPr kumimoji="1" lang="en-US" altLang="zh-CN" sz="1600" b="1" dirty="0">
              <a:solidFill>
                <a:srgbClr val="3333C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++;</a:t>
            </a:r>
            <a:endParaRPr kumimoji="1" lang="en-US" altLang="zh-CN" sz="1600" b="1" dirty="0">
              <a:solidFill>
                <a:srgbClr val="3333C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break;</a:t>
            </a:r>
            <a:endParaRPr kumimoji="1" lang="en-US" altLang="zh-CN" sz="1600" b="1" dirty="0">
              <a:solidFill>
                <a:srgbClr val="3333C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sum=</a:t>
            </a:r>
            <a:r>
              <a:rPr kumimoji="1" lang="en-US" altLang="zh-CN" sz="1600" b="1" dirty="0" err="1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sum+i</a:t>
            </a:r>
            <a:r>
              <a:rPr kumimoji="1" lang="en-US" altLang="zh-CN" sz="1600" b="1" dirty="0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3333C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}</a:t>
            </a:r>
            <a:endParaRPr kumimoji="1" lang="en-US" altLang="zh-CN" sz="1600" b="1" dirty="0">
              <a:solidFill>
                <a:srgbClr val="3333C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"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" sum=" &lt;&lt; sum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问题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：循环执行了多少次？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次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问题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sum=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sum+i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执行了多少次？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次</a:t>
            </a:r>
            <a:endParaRPr kumimoji="1" lang="zh-CN" altLang="en-US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5267324" y="1323975"/>
            <a:ext cx="5572125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=0,sum=0;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3333C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while(</a:t>
            </a:r>
            <a:r>
              <a:rPr kumimoji="1" lang="en-US" altLang="zh-CN" sz="1600" b="1" dirty="0" err="1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&lt;1000) {</a:t>
            </a:r>
            <a:endParaRPr kumimoji="1" lang="en-US" altLang="zh-CN" sz="1600" b="1" dirty="0">
              <a:solidFill>
                <a:srgbClr val="3333C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++;</a:t>
            </a:r>
            <a:endParaRPr kumimoji="1" lang="en-US" altLang="zh-CN" sz="1600" b="1" dirty="0">
              <a:solidFill>
                <a:srgbClr val="3333C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continue; </a:t>
            </a:r>
            <a:endParaRPr kumimoji="1" lang="en-US" altLang="zh-CN" sz="1600" b="1" dirty="0">
              <a:solidFill>
                <a:srgbClr val="3333C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sum=</a:t>
            </a:r>
            <a:r>
              <a:rPr kumimoji="1" lang="en-US" altLang="zh-CN" sz="1600" b="1" dirty="0" err="1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sum+i</a:t>
            </a:r>
            <a:r>
              <a:rPr kumimoji="1" lang="en-US" altLang="zh-CN" sz="1600" b="1" dirty="0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3333C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}</a:t>
            </a:r>
            <a:endParaRPr kumimoji="1" lang="en-US" altLang="zh-CN" sz="1600" b="1" dirty="0">
              <a:solidFill>
                <a:srgbClr val="3333C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"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" sum=" &lt;&lt; sum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问题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：循环执行了多少次？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1000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次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问题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sum=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sum+i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执行了多少次？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次</a:t>
            </a:r>
            <a:endParaRPr kumimoji="1" lang="zh-CN" altLang="en-US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14880" y="1776095"/>
            <a:ext cx="2994025" cy="86804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201420"/>
            <a:ext cx="4114800" cy="1295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循环结构</a:t>
            </a:r>
            <a:endParaRPr lang="en-US" altLang="zh-CN" sz="2800" b="1" dirty="0">
              <a:latin typeface="+mn-ea"/>
            </a:endParaRPr>
          </a:p>
          <a:p>
            <a:pPr eaLnBrk="1" hangingPunct="1"/>
            <a:endParaRPr lang="en-US" altLang="zh-CN" sz="2800" b="1" dirty="0">
              <a:latin typeface="+mn-ea"/>
            </a:endParaRPr>
          </a:p>
          <a:p>
            <a:pPr eaLnBrk="1" hangingPunct="1"/>
            <a:r>
              <a:rPr lang="zh-CN" altLang="en-US" sz="2800" b="1" dirty="0">
                <a:latin typeface="+mn-ea"/>
              </a:rPr>
              <a:t>此页不要删除，也没有意义，仅仅为了分隔题目</a:t>
            </a:r>
            <a:endParaRPr lang="en-US" altLang="zh-CN" sz="2800" b="1" dirty="0">
              <a:latin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循环结构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、观察程序运行结果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A.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000" b="1" dirty="0">
                <a:latin typeface="+mn-ea"/>
              </a:rPr>
              <a:t>#include &lt;iostream&gt;</a:t>
            </a:r>
            <a:endParaRPr lang="en-US" altLang="zh-CN" sz="1000" b="1" dirty="0">
              <a:latin typeface="+mn-ea"/>
            </a:endParaRPr>
          </a:p>
          <a:p>
            <a:r>
              <a:rPr lang="en-US" altLang="zh-CN" sz="1000" b="1" dirty="0">
                <a:latin typeface="+mn-ea"/>
              </a:rPr>
              <a:t>#include &lt;</a:t>
            </a:r>
            <a:r>
              <a:rPr lang="en-US" altLang="zh-CN" sz="1000" b="1" dirty="0" err="1">
                <a:latin typeface="+mn-ea"/>
              </a:rPr>
              <a:t>iomanip</a:t>
            </a:r>
            <a:r>
              <a:rPr lang="en-US" altLang="zh-CN" sz="1000" b="1" dirty="0">
                <a:latin typeface="+mn-ea"/>
              </a:rPr>
              <a:t>&gt;    //</a:t>
            </a:r>
            <a:r>
              <a:rPr lang="zh-CN" altLang="en-US" sz="1000" b="1" dirty="0">
                <a:latin typeface="+mn-ea"/>
              </a:rPr>
              <a:t>格式输出</a:t>
            </a:r>
            <a:endParaRPr lang="en-US" altLang="zh-CN" sz="1000" b="1" dirty="0">
              <a:latin typeface="+mn-ea"/>
            </a:endParaRPr>
          </a:p>
          <a:p>
            <a:r>
              <a:rPr lang="en-US" altLang="zh-CN" sz="1000" b="1" dirty="0">
                <a:latin typeface="+mn-ea"/>
              </a:rPr>
              <a:t>#include &lt;</a:t>
            </a:r>
            <a:r>
              <a:rPr lang="en-US" altLang="zh-CN" sz="1000" b="1" dirty="0" err="1">
                <a:latin typeface="+mn-ea"/>
              </a:rPr>
              <a:t>cmath</a:t>
            </a:r>
            <a:r>
              <a:rPr lang="en-US" altLang="zh-CN" sz="1000" b="1" dirty="0">
                <a:latin typeface="+mn-ea"/>
              </a:rPr>
              <a:t>&gt;      //fabs</a:t>
            </a:r>
            <a:endParaRPr lang="en-US" altLang="zh-CN" sz="1000" b="1" dirty="0">
              <a:latin typeface="+mn-ea"/>
            </a:endParaRPr>
          </a:p>
          <a:p>
            <a:r>
              <a:rPr lang="en-US" altLang="zh-CN" sz="1000" b="1" dirty="0">
                <a:latin typeface="+mn-ea"/>
              </a:rPr>
              <a:t>#include &lt;</a:t>
            </a:r>
            <a:r>
              <a:rPr lang="en-US" altLang="zh-CN" sz="1000" b="1" dirty="0" err="1">
                <a:latin typeface="+mn-ea"/>
              </a:rPr>
              <a:t>windows.h</a:t>
            </a:r>
            <a:r>
              <a:rPr lang="en-US" altLang="zh-CN" sz="1000" b="1" dirty="0">
                <a:latin typeface="+mn-ea"/>
              </a:rPr>
              <a:t>&gt;  //</a:t>
            </a:r>
            <a:r>
              <a:rPr lang="zh-CN" altLang="en-US" sz="1000" b="1" dirty="0">
                <a:latin typeface="+mn-ea"/>
              </a:rPr>
              <a:t>取系统时间</a:t>
            </a:r>
            <a:endParaRPr lang="en-US" altLang="zh-CN" sz="1000" b="1" dirty="0">
              <a:latin typeface="+mn-ea"/>
            </a:endParaRPr>
          </a:p>
          <a:p>
            <a:r>
              <a:rPr lang="en-US" altLang="zh-CN" sz="1000" b="1" dirty="0">
                <a:latin typeface="+mn-ea"/>
              </a:rPr>
              <a:t>using namespace std;</a:t>
            </a:r>
            <a:endParaRPr lang="en-US" altLang="zh-CN" sz="1000" b="1" dirty="0">
              <a:latin typeface="+mn-ea"/>
            </a:endParaRPr>
          </a:p>
          <a:p>
            <a:endParaRPr lang="en-US" altLang="zh-CN" sz="1000" b="1" dirty="0">
              <a:latin typeface="+mn-ea"/>
            </a:endParaRPr>
          </a:p>
          <a:p>
            <a:r>
              <a:rPr lang="en-US" altLang="zh-CN" sz="1000" b="1" dirty="0">
                <a:latin typeface="+mn-ea"/>
              </a:rPr>
              <a:t>int main()</a:t>
            </a:r>
            <a:endParaRPr lang="en-US" altLang="zh-CN" sz="1000" b="1" dirty="0">
              <a:latin typeface="+mn-ea"/>
            </a:endParaRPr>
          </a:p>
          <a:p>
            <a:r>
              <a:rPr lang="en-US" altLang="zh-CN" sz="1000" b="1" dirty="0">
                <a:latin typeface="+mn-ea"/>
              </a:rPr>
              <a:t>{</a:t>
            </a:r>
            <a:endParaRPr lang="en-US" altLang="zh-CN" sz="1000" b="1" dirty="0">
              <a:latin typeface="+mn-ea"/>
            </a:endParaRPr>
          </a:p>
          <a:p>
            <a:r>
              <a:rPr lang="en-US" altLang="zh-CN" sz="1000" b="1" dirty="0">
                <a:latin typeface="+mn-ea"/>
              </a:rPr>
              <a:t>    int s=1;</a:t>
            </a:r>
            <a:endParaRPr lang="en-US" altLang="zh-CN" sz="1000" b="1" dirty="0">
              <a:latin typeface="+mn-ea"/>
            </a:endParaRPr>
          </a:p>
          <a:p>
            <a:r>
              <a:rPr lang="en-US" altLang="zh-CN" sz="1000" b="1" dirty="0">
                <a:latin typeface="+mn-ea"/>
              </a:rPr>
              <a:t>    double n=1, t=1, pi=0;</a:t>
            </a:r>
            <a:endParaRPr lang="en-US" altLang="zh-CN" sz="1000" b="1" dirty="0">
              <a:latin typeface="+mn-ea"/>
            </a:endParaRPr>
          </a:p>
          <a:p>
            <a:endParaRPr lang="en-US" altLang="zh-CN" sz="10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000" b="1" dirty="0">
                <a:solidFill>
                  <a:srgbClr val="FF0000"/>
                </a:solidFill>
                <a:latin typeface="+mn-ea"/>
              </a:rPr>
              <a:t>    LARGE_INTEGER tick, begin, end;</a:t>
            </a:r>
            <a:endParaRPr lang="en-US" altLang="zh-CN" sz="10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000" b="1" dirty="0">
                <a:solidFill>
                  <a:srgbClr val="FF0000"/>
                </a:solidFill>
                <a:latin typeface="+mn-ea"/>
              </a:rPr>
              <a:t>    </a:t>
            </a:r>
            <a:r>
              <a:rPr lang="en-US" altLang="zh-CN" sz="1000" b="1" dirty="0" err="1">
                <a:solidFill>
                  <a:srgbClr val="FF0000"/>
                </a:solidFill>
                <a:latin typeface="+mn-ea"/>
              </a:rPr>
              <a:t>QueryPerformanceFrequency</a:t>
            </a:r>
            <a:r>
              <a:rPr lang="en-US" altLang="zh-CN" sz="1000" b="1" dirty="0">
                <a:solidFill>
                  <a:srgbClr val="FF0000"/>
                </a:solidFill>
                <a:latin typeface="+mn-ea"/>
              </a:rPr>
              <a:t>(&amp;tick);	//</a:t>
            </a:r>
            <a:r>
              <a:rPr lang="zh-CN" altLang="en-US" sz="1000" b="1" dirty="0">
                <a:solidFill>
                  <a:srgbClr val="FF0000"/>
                </a:solidFill>
                <a:latin typeface="+mn-ea"/>
              </a:rPr>
              <a:t>取计数器频率</a:t>
            </a:r>
            <a:endParaRPr lang="zh-CN" altLang="en-US" sz="10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000" b="1" dirty="0">
                <a:solidFill>
                  <a:srgbClr val="FF0000"/>
                </a:solidFill>
                <a:latin typeface="+mn-ea"/>
              </a:rPr>
              <a:t>    </a:t>
            </a:r>
            <a:r>
              <a:rPr lang="en-US" altLang="zh-CN" sz="1000" b="1" dirty="0" err="1">
                <a:solidFill>
                  <a:srgbClr val="FF0000"/>
                </a:solidFill>
                <a:latin typeface="+mn-ea"/>
              </a:rPr>
              <a:t>QueryPerformanceCounter</a:t>
            </a:r>
            <a:r>
              <a:rPr lang="en-US" altLang="zh-CN" sz="1000" b="1" dirty="0">
                <a:solidFill>
                  <a:srgbClr val="FF0000"/>
                </a:solidFill>
                <a:latin typeface="+mn-ea"/>
              </a:rPr>
              <a:t>(&amp;begin);	//</a:t>
            </a:r>
            <a:r>
              <a:rPr lang="zh-CN" altLang="en-US" sz="1000" b="1" dirty="0">
                <a:solidFill>
                  <a:srgbClr val="FF0000"/>
                </a:solidFill>
                <a:latin typeface="+mn-ea"/>
              </a:rPr>
              <a:t>取初始硬件定时器计数</a:t>
            </a:r>
            <a:endParaRPr lang="zh-CN" altLang="en-US" sz="1000" b="1" dirty="0">
              <a:solidFill>
                <a:srgbClr val="FF0000"/>
              </a:solidFill>
              <a:latin typeface="+mn-ea"/>
            </a:endParaRPr>
          </a:p>
          <a:p>
            <a:endParaRPr lang="en-US" altLang="zh-CN" sz="1000" b="1" dirty="0">
              <a:latin typeface="+mn-ea"/>
            </a:endParaRPr>
          </a:p>
          <a:p>
            <a:r>
              <a:rPr lang="zh-CN" altLang="en-US" sz="1000" b="1" dirty="0">
                <a:latin typeface="+mn-ea"/>
              </a:rPr>
              <a:t>    </a:t>
            </a:r>
            <a:r>
              <a:rPr lang="en-US" altLang="zh-CN" sz="1000" b="1" dirty="0">
                <a:latin typeface="+mn-ea"/>
              </a:rPr>
              <a:t>while(fabs(t)&gt;1e-6) {</a:t>
            </a:r>
            <a:endParaRPr lang="en-US" altLang="zh-CN" sz="1000" b="1" dirty="0">
              <a:latin typeface="+mn-ea"/>
            </a:endParaRPr>
          </a:p>
          <a:p>
            <a:r>
              <a:rPr lang="en-US" altLang="zh-CN" sz="1000" b="1" dirty="0">
                <a:latin typeface="+mn-ea"/>
              </a:rPr>
              <a:t>       pi=</a:t>
            </a:r>
            <a:r>
              <a:rPr lang="en-US" altLang="zh-CN" sz="1000" b="1" dirty="0" err="1">
                <a:latin typeface="+mn-ea"/>
              </a:rPr>
              <a:t>pi+t</a:t>
            </a:r>
            <a:r>
              <a:rPr lang="en-US" altLang="zh-CN" sz="1000" b="1" dirty="0">
                <a:latin typeface="+mn-ea"/>
              </a:rPr>
              <a:t>;</a:t>
            </a:r>
            <a:endParaRPr lang="en-US" altLang="zh-CN" sz="1000" b="1" dirty="0">
              <a:latin typeface="+mn-ea"/>
            </a:endParaRPr>
          </a:p>
          <a:p>
            <a:r>
              <a:rPr lang="en-US" altLang="zh-CN" sz="1000" b="1" dirty="0">
                <a:latin typeface="+mn-ea"/>
              </a:rPr>
              <a:t>       n=n+2;</a:t>
            </a:r>
            <a:endParaRPr lang="en-US" altLang="zh-CN" sz="1000" b="1" dirty="0">
              <a:latin typeface="+mn-ea"/>
            </a:endParaRPr>
          </a:p>
          <a:p>
            <a:r>
              <a:rPr lang="en-US" altLang="zh-CN" sz="1000" b="1" dirty="0">
                <a:latin typeface="+mn-ea"/>
              </a:rPr>
              <a:t>       s=-s;</a:t>
            </a:r>
            <a:endParaRPr lang="en-US" altLang="zh-CN" sz="1000" b="1" dirty="0">
              <a:latin typeface="+mn-ea"/>
            </a:endParaRPr>
          </a:p>
          <a:p>
            <a:r>
              <a:rPr lang="en-US" altLang="zh-CN" sz="1000" b="1" dirty="0">
                <a:latin typeface="+mn-ea"/>
              </a:rPr>
              <a:t>       t=s/n;</a:t>
            </a:r>
            <a:endParaRPr lang="en-US" altLang="zh-CN" sz="1000" b="1" dirty="0">
              <a:latin typeface="+mn-ea"/>
            </a:endParaRPr>
          </a:p>
          <a:p>
            <a:r>
              <a:rPr lang="en-US" altLang="zh-CN" sz="1000" b="1" dirty="0">
                <a:latin typeface="+mn-ea"/>
              </a:rPr>
              <a:t>       }</a:t>
            </a:r>
            <a:endParaRPr lang="en-US" altLang="zh-CN" sz="1000" b="1" dirty="0">
              <a:latin typeface="+mn-ea"/>
            </a:endParaRPr>
          </a:p>
          <a:p>
            <a:endParaRPr lang="en-US" altLang="zh-CN" sz="10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000" b="1" dirty="0">
                <a:solidFill>
                  <a:srgbClr val="FF0000"/>
                </a:solidFill>
                <a:latin typeface="+mn-ea"/>
              </a:rPr>
              <a:t>    </a:t>
            </a:r>
            <a:r>
              <a:rPr lang="en-US" altLang="zh-CN" sz="1000" b="1" dirty="0" err="1">
                <a:solidFill>
                  <a:srgbClr val="FF0000"/>
                </a:solidFill>
                <a:latin typeface="+mn-ea"/>
              </a:rPr>
              <a:t>QueryPerformanceCounter</a:t>
            </a:r>
            <a:r>
              <a:rPr lang="en-US" altLang="zh-CN" sz="1000" b="1" dirty="0">
                <a:solidFill>
                  <a:srgbClr val="FF0000"/>
                </a:solidFill>
                <a:latin typeface="+mn-ea"/>
              </a:rPr>
              <a:t>(&amp;end);//</a:t>
            </a:r>
            <a:r>
              <a:rPr lang="zh-CN" altLang="en-US" sz="1000" b="1" dirty="0">
                <a:solidFill>
                  <a:srgbClr val="FF0000"/>
                </a:solidFill>
                <a:latin typeface="+mn-ea"/>
              </a:rPr>
              <a:t>获得终止硬件定时器计数</a:t>
            </a:r>
            <a:endParaRPr lang="en-US" altLang="zh-CN" sz="1000" b="1" dirty="0">
              <a:solidFill>
                <a:srgbClr val="FF0000"/>
              </a:solidFill>
              <a:latin typeface="+mn-ea"/>
            </a:endParaRPr>
          </a:p>
          <a:p>
            <a:endParaRPr lang="en-US" altLang="zh-CN" sz="1000" b="1" dirty="0">
              <a:latin typeface="+mn-ea"/>
            </a:endParaRPr>
          </a:p>
          <a:p>
            <a:r>
              <a:rPr lang="en-US" altLang="zh-CN" sz="1000" b="1" dirty="0">
                <a:latin typeface="+mn-ea"/>
              </a:rPr>
              <a:t>    pi=pi*4;</a:t>
            </a:r>
            <a:endParaRPr lang="en-US" altLang="zh-CN" sz="1000" b="1" dirty="0">
              <a:latin typeface="+mn-ea"/>
            </a:endParaRPr>
          </a:p>
          <a:p>
            <a:r>
              <a:rPr lang="en-US" altLang="zh-CN" sz="1000" b="1" dirty="0">
                <a:latin typeface="+mn-ea"/>
              </a:rPr>
              <a:t>    </a:t>
            </a:r>
            <a:r>
              <a:rPr lang="en-US" altLang="zh-CN" sz="1000" b="1" dirty="0" err="1">
                <a:latin typeface="+mn-ea"/>
              </a:rPr>
              <a:t>cout</a:t>
            </a:r>
            <a:r>
              <a:rPr lang="en-US" altLang="zh-CN" sz="1000" b="1" dirty="0">
                <a:latin typeface="+mn-ea"/>
              </a:rPr>
              <a:t> &lt;&lt; "n="  &lt;&lt; </a:t>
            </a:r>
            <a:r>
              <a:rPr lang="en-US" altLang="zh-CN" sz="1000" b="1" dirty="0" err="1">
                <a:latin typeface="+mn-ea"/>
              </a:rPr>
              <a:t>setprecision</a:t>
            </a:r>
            <a:r>
              <a:rPr lang="en-US" altLang="zh-CN" sz="1000" b="1" dirty="0">
                <a:latin typeface="+mn-ea"/>
              </a:rPr>
              <a:t>(10) &lt;&lt; n &lt;&lt; </a:t>
            </a:r>
            <a:r>
              <a:rPr lang="en-US" altLang="zh-CN" sz="1000" b="1" dirty="0" err="1">
                <a:latin typeface="+mn-ea"/>
              </a:rPr>
              <a:t>endl</a:t>
            </a:r>
            <a:r>
              <a:rPr lang="en-US" altLang="zh-CN" sz="1000" b="1" dirty="0">
                <a:latin typeface="+mn-ea"/>
              </a:rPr>
              <a:t>;</a:t>
            </a:r>
            <a:endParaRPr lang="en-US" altLang="zh-CN" sz="1000" b="1" dirty="0">
              <a:latin typeface="+mn-ea"/>
            </a:endParaRPr>
          </a:p>
          <a:p>
            <a:r>
              <a:rPr lang="en-US" altLang="zh-CN" sz="1000" b="1" dirty="0">
                <a:latin typeface="+mn-ea"/>
              </a:rPr>
              <a:t>    </a:t>
            </a:r>
            <a:r>
              <a:rPr lang="en-US" altLang="zh-CN" sz="1000" b="1" dirty="0" err="1">
                <a:latin typeface="+mn-ea"/>
              </a:rPr>
              <a:t>cout</a:t>
            </a:r>
            <a:r>
              <a:rPr lang="en-US" altLang="zh-CN" sz="1000" b="1" dirty="0">
                <a:latin typeface="+mn-ea"/>
              </a:rPr>
              <a:t>&lt;&lt;"pi="&lt;&lt;</a:t>
            </a:r>
            <a:r>
              <a:rPr lang="en-US" altLang="zh-CN" sz="1000" b="1" dirty="0" err="1">
                <a:latin typeface="+mn-ea"/>
              </a:rPr>
              <a:t>setiosflags</a:t>
            </a:r>
            <a:r>
              <a:rPr lang="en-US" altLang="zh-CN" sz="1000" b="1" dirty="0">
                <a:latin typeface="+mn-ea"/>
              </a:rPr>
              <a:t>(</a:t>
            </a:r>
            <a:r>
              <a:rPr lang="en-US" altLang="zh-CN" sz="1000" b="1" dirty="0" err="1">
                <a:latin typeface="+mn-ea"/>
              </a:rPr>
              <a:t>ios</a:t>
            </a:r>
            <a:r>
              <a:rPr lang="en-US" altLang="zh-CN" sz="1000" b="1" dirty="0">
                <a:latin typeface="+mn-ea"/>
              </a:rPr>
              <a:t>::fixed)&lt;&lt;</a:t>
            </a:r>
            <a:r>
              <a:rPr lang="en-US" altLang="zh-CN" sz="1000" b="1" dirty="0" err="1">
                <a:latin typeface="+mn-ea"/>
              </a:rPr>
              <a:t>setprecision</a:t>
            </a:r>
            <a:r>
              <a:rPr lang="en-US" altLang="zh-CN" sz="1000" b="1" dirty="0">
                <a:latin typeface="+mn-ea"/>
              </a:rPr>
              <a:t>(9)&lt;&lt;pi&lt;&lt; </a:t>
            </a:r>
            <a:r>
              <a:rPr lang="en-US" altLang="zh-CN" sz="1000" b="1" dirty="0" err="1">
                <a:latin typeface="+mn-ea"/>
              </a:rPr>
              <a:t>endl</a:t>
            </a:r>
            <a:r>
              <a:rPr lang="en-US" altLang="zh-CN" sz="1000" b="1" dirty="0">
                <a:latin typeface="+mn-ea"/>
              </a:rPr>
              <a:t>;</a:t>
            </a:r>
            <a:endParaRPr lang="en-US" altLang="zh-CN" sz="1000" b="1" dirty="0">
              <a:latin typeface="+mn-ea"/>
            </a:endParaRPr>
          </a:p>
          <a:p>
            <a:endParaRPr lang="zh-CN" altLang="en-US" sz="1000" b="1" dirty="0">
              <a:latin typeface="+mn-ea"/>
            </a:endParaRPr>
          </a:p>
          <a:p>
            <a:r>
              <a:rPr lang="en-US" altLang="zh-CN" sz="1000" b="1" dirty="0">
                <a:solidFill>
                  <a:srgbClr val="FF0000"/>
                </a:solidFill>
                <a:latin typeface="+mn-ea"/>
              </a:rPr>
              <a:t>    </a:t>
            </a:r>
            <a:r>
              <a:rPr lang="en-US" altLang="zh-CN" sz="1000" b="1" dirty="0" err="1">
                <a:solidFill>
                  <a:srgbClr val="FF0000"/>
                </a:solidFill>
                <a:latin typeface="+mn-ea"/>
              </a:rPr>
              <a:t>cout</a:t>
            </a:r>
            <a:r>
              <a:rPr lang="en-US" altLang="zh-CN" sz="1000" b="1" dirty="0">
                <a:solidFill>
                  <a:srgbClr val="FF0000"/>
                </a:solidFill>
                <a:latin typeface="+mn-ea"/>
              </a:rPr>
              <a:t> &lt;&lt; "</a:t>
            </a:r>
            <a:r>
              <a:rPr lang="zh-CN" altLang="en-US" sz="1000" b="1" dirty="0">
                <a:solidFill>
                  <a:srgbClr val="FF0000"/>
                </a:solidFill>
                <a:latin typeface="+mn-ea"/>
              </a:rPr>
              <a:t>计数器频率：</a:t>
            </a:r>
            <a:r>
              <a:rPr lang="en-US" altLang="zh-CN" sz="1000" b="1" dirty="0">
                <a:solidFill>
                  <a:srgbClr val="FF0000"/>
                </a:solidFill>
                <a:latin typeface="+mn-ea"/>
              </a:rPr>
              <a:t>" &lt;&lt; </a:t>
            </a:r>
            <a:r>
              <a:rPr lang="en-US" altLang="zh-CN" sz="1000" b="1" dirty="0" err="1">
                <a:solidFill>
                  <a:srgbClr val="FF0000"/>
                </a:solidFill>
                <a:latin typeface="+mn-ea"/>
              </a:rPr>
              <a:t>tick.QuadPart</a:t>
            </a:r>
            <a:r>
              <a:rPr lang="en-US" altLang="zh-CN" sz="1000" b="1" dirty="0">
                <a:solidFill>
                  <a:srgbClr val="FF0000"/>
                </a:solidFill>
                <a:latin typeface="+mn-ea"/>
              </a:rPr>
              <a:t> &lt;&lt; "Hz" &lt;&lt; </a:t>
            </a:r>
            <a:r>
              <a:rPr lang="en-US" altLang="zh-CN" sz="1000" b="1" dirty="0" err="1">
                <a:solidFill>
                  <a:srgbClr val="FF0000"/>
                </a:solidFill>
                <a:latin typeface="+mn-ea"/>
              </a:rPr>
              <a:t>endl</a:t>
            </a:r>
            <a:r>
              <a:rPr lang="en-US" altLang="zh-CN" sz="1000" b="1" dirty="0">
                <a:solidFill>
                  <a:srgbClr val="FF0000"/>
                </a:solidFill>
                <a:latin typeface="+mn-ea"/>
              </a:rPr>
              <a:t>;</a:t>
            </a:r>
            <a:endParaRPr lang="en-US" altLang="zh-CN" sz="10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000" b="1" dirty="0">
                <a:solidFill>
                  <a:srgbClr val="FF0000"/>
                </a:solidFill>
                <a:latin typeface="+mn-ea"/>
              </a:rPr>
              <a:t>    </a:t>
            </a:r>
            <a:r>
              <a:rPr lang="en-US" altLang="zh-CN" sz="1000" b="1" dirty="0" err="1">
                <a:solidFill>
                  <a:srgbClr val="FF0000"/>
                </a:solidFill>
                <a:latin typeface="+mn-ea"/>
              </a:rPr>
              <a:t>cout</a:t>
            </a:r>
            <a:r>
              <a:rPr lang="en-US" altLang="zh-CN" sz="1000" b="1" dirty="0">
                <a:solidFill>
                  <a:srgbClr val="FF0000"/>
                </a:solidFill>
                <a:latin typeface="+mn-ea"/>
              </a:rPr>
              <a:t> &lt;&lt; "</a:t>
            </a:r>
            <a:r>
              <a:rPr lang="zh-CN" altLang="en-US" sz="1000" b="1" dirty="0">
                <a:solidFill>
                  <a:srgbClr val="FF0000"/>
                </a:solidFill>
                <a:latin typeface="+mn-ea"/>
              </a:rPr>
              <a:t>时钟计数  ：</a:t>
            </a:r>
            <a:r>
              <a:rPr lang="en-US" altLang="zh-CN" sz="1000" b="1" dirty="0">
                <a:solidFill>
                  <a:srgbClr val="FF0000"/>
                </a:solidFill>
                <a:latin typeface="+mn-ea"/>
              </a:rPr>
              <a:t>" &lt;&lt; </a:t>
            </a:r>
            <a:r>
              <a:rPr lang="en-US" altLang="zh-CN" sz="1000" b="1" dirty="0" err="1">
                <a:solidFill>
                  <a:srgbClr val="FF0000"/>
                </a:solidFill>
                <a:latin typeface="+mn-ea"/>
              </a:rPr>
              <a:t>end.QuadPart</a:t>
            </a:r>
            <a:r>
              <a:rPr lang="en-US" altLang="zh-CN" sz="1000" b="1" dirty="0">
                <a:solidFill>
                  <a:srgbClr val="FF0000"/>
                </a:solidFill>
                <a:latin typeface="+mn-ea"/>
              </a:rPr>
              <a:t> - </a:t>
            </a:r>
            <a:r>
              <a:rPr lang="en-US" altLang="zh-CN" sz="1000" b="1" dirty="0" err="1">
                <a:solidFill>
                  <a:srgbClr val="FF0000"/>
                </a:solidFill>
                <a:latin typeface="+mn-ea"/>
              </a:rPr>
              <a:t>begin.QuadPart</a:t>
            </a:r>
            <a:r>
              <a:rPr lang="en-US" altLang="zh-CN" sz="1000" b="1" dirty="0">
                <a:solidFill>
                  <a:srgbClr val="FF0000"/>
                </a:solidFill>
                <a:latin typeface="+mn-ea"/>
              </a:rPr>
              <a:t> &lt;&lt; </a:t>
            </a:r>
            <a:r>
              <a:rPr lang="en-US" altLang="zh-CN" sz="1000" b="1" dirty="0" err="1">
                <a:solidFill>
                  <a:srgbClr val="FF0000"/>
                </a:solidFill>
                <a:latin typeface="+mn-ea"/>
              </a:rPr>
              <a:t>endl</a:t>
            </a:r>
            <a:r>
              <a:rPr lang="en-US" altLang="zh-CN" sz="1000" b="1" dirty="0">
                <a:solidFill>
                  <a:srgbClr val="FF0000"/>
                </a:solidFill>
                <a:latin typeface="+mn-ea"/>
              </a:rPr>
              <a:t>;</a:t>
            </a:r>
            <a:endParaRPr lang="en-US" altLang="zh-CN" sz="10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000" b="1" dirty="0">
                <a:solidFill>
                  <a:srgbClr val="FF0000"/>
                </a:solidFill>
                <a:latin typeface="+mn-ea"/>
              </a:rPr>
              <a:t>    </a:t>
            </a:r>
            <a:r>
              <a:rPr lang="en-US" altLang="zh-CN" sz="1000" b="1" dirty="0" err="1">
                <a:solidFill>
                  <a:srgbClr val="FF0000"/>
                </a:solidFill>
                <a:latin typeface="+mn-ea"/>
              </a:rPr>
              <a:t>cout</a:t>
            </a:r>
            <a:r>
              <a:rPr lang="en-US" altLang="zh-CN" sz="1000" b="1" dirty="0">
                <a:solidFill>
                  <a:srgbClr val="FF0000"/>
                </a:solidFill>
                <a:latin typeface="+mn-ea"/>
              </a:rPr>
              <a:t> &lt;&lt; </a:t>
            </a:r>
            <a:r>
              <a:rPr lang="en-US" altLang="zh-CN" sz="1000" b="1" dirty="0" err="1">
                <a:solidFill>
                  <a:srgbClr val="FF0000"/>
                </a:solidFill>
                <a:latin typeface="+mn-ea"/>
              </a:rPr>
              <a:t>setprecision</a:t>
            </a:r>
            <a:r>
              <a:rPr lang="en-US" altLang="zh-CN" sz="1000" b="1" dirty="0">
                <a:solidFill>
                  <a:srgbClr val="FF0000"/>
                </a:solidFill>
                <a:latin typeface="+mn-ea"/>
              </a:rPr>
              <a:t>(6) &lt;&lt; (</a:t>
            </a:r>
            <a:r>
              <a:rPr lang="en-US" altLang="zh-CN" sz="1000" b="1" dirty="0" err="1">
                <a:solidFill>
                  <a:srgbClr val="FF0000"/>
                </a:solidFill>
                <a:latin typeface="+mn-ea"/>
              </a:rPr>
              <a:t>end.QuadPart</a:t>
            </a:r>
            <a:r>
              <a:rPr lang="en-US" altLang="zh-CN" sz="1000" b="1" dirty="0">
                <a:solidFill>
                  <a:srgbClr val="FF0000"/>
                </a:solidFill>
                <a:latin typeface="+mn-ea"/>
              </a:rPr>
              <a:t> - </a:t>
            </a:r>
            <a:r>
              <a:rPr lang="en-US" altLang="zh-CN" sz="1000" b="1" dirty="0" err="1">
                <a:solidFill>
                  <a:srgbClr val="FF0000"/>
                </a:solidFill>
                <a:latin typeface="+mn-ea"/>
              </a:rPr>
              <a:t>begin.QuadPart</a:t>
            </a:r>
            <a:r>
              <a:rPr lang="en-US" altLang="zh-CN" sz="1000" b="1" dirty="0">
                <a:solidFill>
                  <a:srgbClr val="FF0000"/>
                </a:solidFill>
                <a:latin typeface="+mn-ea"/>
              </a:rPr>
              <a:t>)/double(</a:t>
            </a:r>
            <a:r>
              <a:rPr lang="en-US" altLang="zh-CN" sz="1000" b="1" dirty="0" err="1">
                <a:solidFill>
                  <a:srgbClr val="FF0000"/>
                </a:solidFill>
                <a:latin typeface="+mn-ea"/>
              </a:rPr>
              <a:t>tick.QuadPart</a:t>
            </a:r>
            <a:r>
              <a:rPr lang="en-US" altLang="zh-CN" sz="1000" b="1" dirty="0">
                <a:solidFill>
                  <a:srgbClr val="FF0000"/>
                </a:solidFill>
                <a:latin typeface="+mn-ea"/>
              </a:rPr>
              <a:t>) &lt;&lt; "</a:t>
            </a:r>
            <a:r>
              <a:rPr lang="zh-CN" altLang="en-US" sz="1000" b="1" dirty="0">
                <a:solidFill>
                  <a:srgbClr val="FF0000"/>
                </a:solidFill>
                <a:latin typeface="+mn-ea"/>
              </a:rPr>
              <a:t>秒</a:t>
            </a:r>
            <a:r>
              <a:rPr lang="en-US" altLang="zh-CN" sz="1000" b="1" dirty="0">
                <a:solidFill>
                  <a:srgbClr val="FF0000"/>
                </a:solidFill>
                <a:latin typeface="+mn-ea"/>
              </a:rPr>
              <a:t>" &lt;&lt;</a:t>
            </a:r>
            <a:r>
              <a:rPr lang="en-US" altLang="zh-CN" sz="1000" b="1" dirty="0" err="1">
                <a:solidFill>
                  <a:srgbClr val="FF0000"/>
                </a:solidFill>
                <a:latin typeface="+mn-ea"/>
              </a:rPr>
              <a:t>endl</a:t>
            </a:r>
            <a:r>
              <a:rPr lang="en-US" altLang="zh-CN" sz="1000" b="1" dirty="0">
                <a:solidFill>
                  <a:srgbClr val="FF0000"/>
                </a:solidFill>
                <a:latin typeface="+mn-ea"/>
              </a:rPr>
              <a:t>;</a:t>
            </a:r>
            <a:endParaRPr lang="en-US" altLang="zh-CN" sz="1000" b="1" dirty="0">
              <a:solidFill>
                <a:srgbClr val="FF0000"/>
              </a:solidFill>
              <a:latin typeface="+mn-ea"/>
            </a:endParaRPr>
          </a:p>
          <a:p>
            <a:endParaRPr lang="en-US" altLang="zh-CN" sz="1000" b="1" dirty="0">
              <a:latin typeface="+mn-ea"/>
            </a:endParaRPr>
          </a:p>
          <a:p>
            <a:r>
              <a:rPr lang="en-US" altLang="zh-CN" sz="1000" b="1" dirty="0">
                <a:latin typeface="+mn-ea"/>
              </a:rPr>
              <a:t>    return 0;</a:t>
            </a:r>
            <a:endParaRPr lang="en-US" altLang="zh-CN" sz="1000" b="1" dirty="0">
              <a:latin typeface="+mn-ea"/>
            </a:endParaRPr>
          </a:p>
          <a:p>
            <a:r>
              <a:rPr lang="en-US" altLang="zh-CN" sz="1000" b="1" dirty="0">
                <a:latin typeface="+mn-ea"/>
              </a:rPr>
              <a:t>}</a:t>
            </a:r>
            <a:endParaRPr lang="en-US" altLang="zh-CN" sz="1000" b="1" dirty="0">
              <a:latin typeface="+mn-ea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5065986" y="2154621"/>
            <a:ext cx="5773464" cy="3069021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200" b="1" dirty="0">
                <a:latin typeface="+mn-ea"/>
              </a:rPr>
              <a:t>(1) n</a:t>
            </a:r>
            <a:r>
              <a:rPr lang="zh-CN" altLang="en-US" sz="1200" b="1" dirty="0">
                <a:latin typeface="+mn-ea"/>
              </a:rPr>
              <a:t>，</a:t>
            </a:r>
            <a:r>
              <a:rPr lang="en-US" altLang="zh-CN" sz="1200" b="1" dirty="0">
                <a:latin typeface="+mn-ea"/>
              </a:rPr>
              <a:t>t</a:t>
            </a:r>
            <a:r>
              <a:rPr lang="zh-CN" altLang="en-US" sz="1200" b="1" dirty="0">
                <a:latin typeface="+mn-ea"/>
              </a:rPr>
              <a:t>，</a:t>
            </a:r>
            <a:r>
              <a:rPr lang="en-US" altLang="zh-CN" sz="1200" b="1" dirty="0">
                <a:latin typeface="+mn-ea"/>
              </a:rPr>
              <a:t>pi</a:t>
            </a:r>
            <a:r>
              <a:rPr lang="zh-CN" altLang="en-US" sz="1200" b="1" dirty="0">
                <a:latin typeface="+mn-ea"/>
              </a:rPr>
              <a:t>为</a:t>
            </a:r>
            <a:r>
              <a:rPr lang="en-US" altLang="zh-CN" sz="1200" b="1" dirty="0">
                <a:latin typeface="+mn-ea"/>
              </a:rPr>
              <a:t>double</a:t>
            </a:r>
            <a:r>
              <a:rPr lang="zh-CN" altLang="en-US" sz="1200" b="1" dirty="0">
                <a:latin typeface="+mn-ea"/>
              </a:rPr>
              <a:t>型</a:t>
            </a:r>
            <a:endParaRPr lang="zh-CN" altLang="en-US" sz="1200" b="1" dirty="0">
              <a:latin typeface="+mn-ea"/>
            </a:endParaRPr>
          </a:p>
          <a:p>
            <a:r>
              <a:rPr lang="zh-CN" altLang="en-US" sz="1200" b="1" dirty="0">
                <a:latin typeface="+mn-ea"/>
              </a:rPr>
              <a:t>  精度为</a:t>
            </a:r>
            <a:r>
              <a:rPr lang="en-US" altLang="zh-CN" sz="1200" b="1" dirty="0">
                <a:latin typeface="+mn-ea"/>
              </a:rPr>
              <a:t>1e-6</a:t>
            </a:r>
            <a:r>
              <a:rPr lang="zh-CN" altLang="en-US" sz="1200" b="1" dirty="0">
                <a:latin typeface="+mn-ea"/>
              </a:rPr>
              <a:t>：</a:t>
            </a:r>
            <a:r>
              <a:rPr lang="en-US" altLang="zh-CN" sz="1200" b="1" dirty="0">
                <a:latin typeface="+mn-ea"/>
              </a:rPr>
              <a:t>n=_____1000001___  pi=__3.141590654_ </a:t>
            </a:r>
            <a:r>
              <a:rPr lang="zh-CN" altLang="en-US" sz="1200" b="1" dirty="0">
                <a:latin typeface="+mn-ea"/>
              </a:rPr>
              <a:t>时间</a:t>
            </a:r>
            <a:r>
              <a:rPr lang="en-US" altLang="zh-CN" sz="1200" b="1" dirty="0">
                <a:latin typeface="+mn-ea"/>
              </a:rPr>
              <a:t>=__0.002276_(</a:t>
            </a:r>
            <a:r>
              <a:rPr lang="zh-CN" altLang="en-US" sz="1200" b="1" dirty="0">
                <a:latin typeface="+mn-ea"/>
              </a:rPr>
              <a:t>秒</a:t>
            </a:r>
            <a:r>
              <a:rPr lang="en-US" altLang="zh-CN" sz="1200" b="1" dirty="0">
                <a:latin typeface="+mn-ea"/>
              </a:rPr>
              <a:t>)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    1e-7</a:t>
            </a:r>
            <a:r>
              <a:rPr lang="zh-CN" altLang="en-US" sz="1200" b="1" dirty="0">
                <a:latin typeface="+mn-ea"/>
              </a:rPr>
              <a:t>：</a:t>
            </a:r>
            <a:r>
              <a:rPr lang="en-US" altLang="zh-CN" sz="1200" b="1" dirty="0">
                <a:latin typeface="+mn-ea"/>
              </a:rPr>
              <a:t>n=___10000001____  pi=__3.141592454__ </a:t>
            </a:r>
            <a:r>
              <a:rPr lang="zh-CN" altLang="en-US" sz="1200" b="1" dirty="0">
                <a:latin typeface="+mn-ea"/>
              </a:rPr>
              <a:t>时间</a:t>
            </a:r>
            <a:r>
              <a:rPr lang="en-US" altLang="zh-CN" sz="1200" b="1" dirty="0">
                <a:latin typeface="+mn-ea"/>
              </a:rPr>
              <a:t>=__0.024577_(</a:t>
            </a:r>
            <a:r>
              <a:rPr lang="zh-CN" altLang="en-US" sz="1200" b="1" dirty="0">
                <a:latin typeface="+mn-ea"/>
              </a:rPr>
              <a:t>秒</a:t>
            </a:r>
            <a:r>
              <a:rPr lang="en-US" altLang="zh-CN" sz="1200" b="1" dirty="0">
                <a:latin typeface="+mn-ea"/>
              </a:rPr>
              <a:t>)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    1e-8</a:t>
            </a:r>
            <a:r>
              <a:rPr lang="zh-CN" altLang="en-US" sz="1200" b="1" dirty="0">
                <a:latin typeface="+mn-ea"/>
              </a:rPr>
              <a:t>：</a:t>
            </a:r>
            <a:r>
              <a:rPr lang="en-US" altLang="zh-CN" sz="1200" b="1" dirty="0">
                <a:latin typeface="+mn-ea"/>
              </a:rPr>
              <a:t>n=__100000001___  pi=__3.141592634_ </a:t>
            </a:r>
            <a:r>
              <a:rPr lang="zh-CN" altLang="en-US" sz="1200" b="1" dirty="0">
                <a:latin typeface="+mn-ea"/>
              </a:rPr>
              <a:t>时间</a:t>
            </a:r>
            <a:r>
              <a:rPr lang="en-US" altLang="zh-CN" sz="1200" b="1" dirty="0">
                <a:latin typeface="+mn-ea"/>
              </a:rPr>
              <a:t>=__0.238236__(</a:t>
            </a:r>
            <a:r>
              <a:rPr lang="zh-CN" altLang="en-US" sz="1200" b="1" dirty="0">
                <a:latin typeface="+mn-ea"/>
              </a:rPr>
              <a:t>秒</a:t>
            </a:r>
            <a:r>
              <a:rPr lang="en-US" altLang="zh-CN" sz="1200" b="1" dirty="0">
                <a:latin typeface="+mn-ea"/>
              </a:rPr>
              <a:t>)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    1e-9</a:t>
            </a:r>
            <a:r>
              <a:rPr lang="zh-CN" altLang="en-US" sz="1200" b="1" dirty="0">
                <a:latin typeface="+mn-ea"/>
              </a:rPr>
              <a:t>：</a:t>
            </a:r>
            <a:r>
              <a:rPr lang="en-US" altLang="zh-CN" sz="1200" b="1" dirty="0">
                <a:latin typeface="+mn-ea"/>
              </a:rPr>
              <a:t>n=___1000000001____  pi=__3.141592652__ </a:t>
            </a:r>
            <a:r>
              <a:rPr lang="zh-CN" altLang="en-US" sz="1200" b="1" dirty="0">
                <a:latin typeface="+mn-ea"/>
              </a:rPr>
              <a:t>时间</a:t>
            </a:r>
            <a:r>
              <a:rPr lang="en-US" altLang="zh-CN" sz="1200" b="1" dirty="0">
                <a:latin typeface="+mn-ea"/>
              </a:rPr>
              <a:t>=_2.526028_(</a:t>
            </a:r>
            <a:r>
              <a:rPr lang="zh-CN" altLang="en-US" sz="1200" b="1" dirty="0">
                <a:latin typeface="+mn-ea"/>
              </a:rPr>
              <a:t>秒</a:t>
            </a:r>
            <a:r>
              <a:rPr lang="en-US" altLang="zh-CN" sz="1200" b="1" dirty="0">
                <a:latin typeface="+mn-ea"/>
              </a:rPr>
              <a:t>)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             (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</a:rPr>
              <a:t>因为机器配置不同，时间值可能不同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)</a:t>
            </a:r>
            <a:endParaRPr lang="en-US" altLang="zh-CN" sz="1200" b="1" dirty="0">
              <a:solidFill>
                <a:srgbClr val="FF0000"/>
              </a:solidFill>
              <a:latin typeface="+mn-ea"/>
            </a:endParaRP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(2) n</a:t>
            </a:r>
            <a:r>
              <a:rPr lang="zh-CN" altLang="en-US" sz="1200" b="1" dirty="0">
                <a:latin typeface="+mn-ea"/>
              </a:rPr>
              <a:t>，</a:t>
            </a:r>
            <a:r>
              <a:rPr lang="en-US" altLang="zh-CN" sz="1200" b="1" dirty="0">
                <a:latin typeface="+mn-ea"/>
              </a:rPr>
              <a:t>t</a:t>
            </a:r>
            <a:r>
              <a:rPr lang="zh-CN" altLang="en-US" sz="1200" b="1" dirty="0">
                <a:latin typeface="+mn-ea"/>
              </a:rPr>
              <a:t>，</a:t>
            </a:r>
            <a:r>
              <a:rPr lang="en-US" altLang="zh-CN" sz="1200" b="1" dirty="0">
                <a:latin typeface="+mn-ea"/>
              </a:rPr>
              <a:t>pi</a:t>
            </a:r>
            <a:r>
              <a:rPr lang="zh-CN" altLang="en-US" sz="1200" b="1" dirty="0">
                <a:latin typeface="+mn-ea"/>
              </a:rPr>
              <a:t>为</a:t>
            </a:r>
            <a:r>
              <a:rPr lang="en-US" altLang="zh-CN" sz="1200" b="1" dirty="0">
                <a:latin typeface="+mn-ea"/>
              </a:rPr>
              <a:t>float</a:t>
            </a:r>
            <a:r>
              <a:rPr lang="zh-CN" altLang="en-US" sz="1200" b="1" dirty="0">
                <a:latin typeface="+mn-ea"/>
              </a:rPr>
              <a:t>型</a:t>
            </a:r>
            <a:endParaRPr lang="zh-CN" altLang="en-US" sz="1200" b="1" dirty="0">
              <a:latin typeface="+mn-ea"/>
            </a:endParaRPr>
          </a:p>
          <a:p>
            <a:r>
              <a:rPr lang="zh-CN" altLang="en-US" sz="1200" b="1" dirty="0">
                <a:latin typeface="+mn-ea"/>
              </a:rPr>
              <a:t>  精度为</a:t>
            </a:r>
            <a:r>
              <a:rPr lang="en-US" altLang="zh-CN" sz="1200" b="1" dirty="0">
                <a:latin typeface="+mn-ea"/>
              </a:rPr>
              <a:t>1e-6</a:t>
            </a:r>
            <a:r>
              <a:rPr lang="zh-CN" altLang="en-US" sz="1200" b="1" dirty="0">
                <a:latin typeface="+mn-ea"/>
              </a:rPr>
              <a:t>：</a:t>
            </a:r>
            <a:r>
              <a:rPr lang="en-US" altLang="zh-CN" sz="1200" b="1" dirty="0">
                <a:latin typeface="+mn-ea"/>
              </a:rPr>
              <a:t>n=____1000001___  pi=__3.141593933__ </a:t>
            </a:r>
            <a:r>
              <a:rPr lang="zh-CN" altLang="en-US" sz="1200" b="1" dirty="0">
                <a:latin typeface="+mn-ea"/>
              </a:rPr>
              <a:t>时间</a:t>
            </a:r>
            <a:r>
              <a:rPr lang="en-US" altLang="zh-CN" sz="1200" b="1" dirty="0">
                <a:latin typeface="+mn-ea"/>
              </a:rPr>
              <a:t>=__0.022777__(</a:t>
            </a:r>
            <a:r>
              <a:rPr lang="zh-CN" altLang="en-US" sz="1200" b="1" dirty="0">
                <a:latin typeface="+mn-ea"/>
              </a:rPr>
              <a:t>秒</a:t>
            </a:r>
            <a:r>
              <a:rPr lang="en-US" altLang="zh-CN" sz="1200" b="1" dirty="0">
                <a:latin typeface="+mn-ea"/>
              </a:rPr>
              <a:t>)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    1e-7</a:t>
            </a:r>
            <a:r>
              <a:rPr lang="zh-CN" altLang="en-US" sz="1200" b="1" dirty="0">
                <a:latin typeface="+mn-ea"/>
              </a:rPr>
              <a:t>：</a:t>
            </a:r>
            <a:r>
              <a:rPr lang="en-US" altLang="zh-CN" sz="1200" b="1" dirty="0">
                <a:latin typeface="+mn-ea"/>
              </a:rPr>
              <a:t>n=_____10000001__  pi=__3.141596556_ </a:t>
            </a:r>
            <a:r>
              <a:rPr lang="zh-CN" altLang="en-US" sz="1200" b="1" dirty="0">
                <a:latin typeface="+mn-ea"/>
              </a:rPr>
              <a:t>时间</a:t>
            </a:r>
            <a:r>
              <a:rPr lang="en-US" altLang="zh-CN" sz="1200" b="1" dirty="0">
                <a:latin typeface="+mn-ea"/>
              </a:rPr>
              <a:t>=__0.233051_(</a:t>
            </a:r>
            <a:r>
              <a:rPr lang="zh-CN" altLang="en-US" sz="1200" b="1" dirty="0">
                <a:latin typeface="+mn-ea"/>
              </a:rPr>
              <a:t>秒</a:t>
            </a:r>
            <a:r>
              <a:rPr lang="en-US" altLang="zh-CN" sz="1200" b="1" dirty="0">
                <a:latin typeface="+mn-ea"/>
              </a:rPr>
              <a:t>)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    1e-8</a:t>
            </a:r>
            <a:r>
              <a:rPr lang="zh-CN" altLang="en-US" sz="1200" b="1" dirty="0">
                <a:latin typeface="+mn-ea"/>
              </a:rPr>
              <a:t>：</a:t>
            </a:r>
            <a:r>
              <a:rPr lang="en-US" altLang="zh-CN" sz="1200" b="1" dirty="0">
                <a:latin typeface="+mn-ea"/>
              </a:rPr>
              <a:t>n=________________  pi=___________ </a:t>
            </a:r>
            <a:r>
              <a:rPr lang="zh-CN" altLang="en-US" sz="1200" b="1" dirty="0">
                <a:latin typeface="+mn-ea"/>
              </a:rPr>
              <a:t>时间</a:t>
            </a:r>
            <a:r>
              <a:rPr lang="en-US" altLang="zh-CN" sz="1200" b="1" dirty="0">
                <a:latin typeface="+mn-ea"/>
              </a:rPr>
              <a:t>=________(</a:t>
            </a:r>
            <a:r>
              <a:rPr lang="zh-CN" altLang="en-US" sz="1200" b="1" dirty="0">
                <a:latin typeface="+mn-ea"/>
              </a:rPr>
              <a:t>秒</a:t>
            </a:r>
            <a:r>
              <a:rPr lang="en-US" altLang="zh-CN" sz="1200" b="1" dirty="0">
                <a:latin typeface="+mn-ea"/>
              </a:rPr>
              <a:t>)</a:t>
            </a:r>
            <a:endParaRPr lang="en-US" altLang="zh-CN" sz="1200" b="1" dirty="0">
              <a:latin typeface="+mn-ea"/>
            </a:endParaRPr>
          </a:p>
          <a:p>
            <a:endParaRPr lang="en-US" altLang="zh-CN" sz="1200" b="1" dirty="0">
              <a:latin typeface="+mn-ea"/>
            </a:endParaRPr>
          </a:p>
          <a:p>
            <a:r>
              <a:rPr lang="zh-CN" altLang="en-US" sz="1200" b="1" dirty="0">
                <a:latin typeface="+mn-ea"/>
              </a:rPr>
              <a:t>问：</a:t>
            </a:r>
            <a:r>
              <a:rPr lang="en-US" altLang="zh-CN" sz="1200" b="1" dirty="0">
                <a:latin typeface="+mn-ea"/>
              </a:rPr>
              <a:t>1</a:t>
            </a:r>
            <a:r>
              <a:rPr lang="zh-CN" altLang="en-US" sz="1200" b="1" dirty="0">
                <a:latin typeface="+mn-ea"/>
              </a:rPr>
              <a:t>、</a:t>
            </a:r>
            <a:r>
              <a:rPr lang="en-US" altLang="zh-CN" sz="1200" b="1" dirty="0">
                <a:latin typeface="+mn-ea"/>
              </a:rPr>
              <a:t>7</a:t>
            </a:r>
            <a:r>
              <a:rPr lang="zh-CN" altLang="en-US" sz="1200" b="1" dirty="0">
                <a:latin typeface="+mn-ea"/>
              </a:rPr>
              <a:t>项中哪个没结果？为什么？</a:t>
            </a:r>
            <a:r>
              <a:rPr lang="en-US" altLang="zh-CN" sz="1200" b="1" dirty="0">
                <a:latin typeface="+mn-ea"/>
              </a:rPr>
              <a:t>n</a:t>
            </a:r>
            <a:r>
              <a:rPr lang="zh-CN" altLang="en-US" sz="1200" b="1" dirty="0">
                <a:latin typeface="+mn-ea"/>
              </a:rPr>
              <a:t>，</a:t>
            </a:r>
            <a:r>
              <a:rPr lang="en-US" altLang="zh-CN" sz="1200" b="1" dirty="0">
                <a:latin typeface="+mn-ea"/>
              </a:rPr>
              <a:t>t</a:t>
            </a:r>
            <a:r>
              <a:rPr lang="zh-CN" altLang="en-US" sz="1200" b="1" dirty="0">
                <a:latin typeface="+mn-ea"/>
              </a:rPr>
              <a:t>，</a:t>
            </a:r>
            <a:r>
              <a:rPr lang="en-US" altLang="zh-CN" sz="1200" b="1" dirty="0">
                <a:latin typeface="+mn-ea"/>
              </a:rPr>
              <a:t>pi</a:t>
            </a:r>
            <a:r>
              <a:rPr lang="zh-CN" altLang="en-US" sz="1200" b="1" dirty="0">
                <a:latin typeface="+mn-ea"/>
              </a:rPr>
              <a:t>为</a:t>
            </a:r>
            <a:r>
              <a:rPr lang="en-US" altLang="zh-CN" sz="1200" b="1" dirty="0">
                <a:latin typeface="+mn-ea"/>
              </a:rPr>
              <a:t>float</a:t>
            </a:r>
            <a:r>
              <a:rPr lang="zh-CN" altLang="en-US" sz="1200" b="1" dirty="0">
                <a:latin typeface="+mn-ea"/>
              </a:rPr>
              <a:t>型且精度为</a:t>
            </a:r>
            <a:r>
              <a:rPr lang="en-US" altLang="zh-CN" sz="1200" b="1" dirty="0">
                <a:latin typeface="+mn-ea"/>
              </a:rPr>
              <a:t>1e-8</a:t>
            </a:r>
            <a:r>
              <a:rPr lang="zh-CN" altLang="en-US" sz="1200" b="1" dirty="0">
                <a:latin typeface="+mn-ea"/>
              </a:rPr>
              <a:t>时，因为</a:t>
            </a:r>
            <a:r>
              <a:rPr lang="en-US" altLang="zh-CN" sz="1200" b="1" dirty="0">
                <a:latin typeface="+mn-ea"/>
              </a:rPr>
              <a:t>float</a:t>
            </a:r>
            <a:r>
              <a:rPr lang="zh-CN" altLang="en-US" sz="1200" b="1" dirty="0">
                <a:latin typeface="+mn-ea"/>
              </a:rPr>
              <a:t>型的精度最高</a:t>
            </a:r>
            <a:r>
              <a:rPr lang="en-US" altLang="zh-CN" sz="1200" b="1" dirty="0">
                <a:latin typeface="+mn-ea"/>
              </a:rPr>
              <a:t>7</a:t>
            </a:r>
            <a:r>
              <a:rPr lang="zh-CN" altLang="en-US" sz="1200" b="1" dirty="0">
                <a:latin typeface="+mn-ea"/>
              </a:rPr>
              <a:t>位，所以</a:t>
            </a:r>
            <a:r>
              <a:rPr lang="en-US" altLang="zh-CN" sz="1200" b="1" dirty="0">
                <a:latin typeface="+mn-ea"/>
              </a:rPr>
              <a:t>t</a:t>
            </a:r>
            <a:r>
              <a:rPr lang="zh-CN" altLang="en-US" sz="1200" b="1" dirty="0">
                <a:latin typeface="+mn-ea"/>
              </a:rPr>
              <a:t>作为一个整数部分为</a:t>
            </a:r>
            <a:r>
              <a:rPr lang="en-US" altLang="zh-CN" sz="1200" b="1" dirty="0">
                <a:latin typeface="+mn-ea"/>
              </a:rPr>
              <a:t>0</a:t>
            </a:r>
            <a:r>
              <a:rPr lang="zh-CN" altLang="en-US" sz="1200" b="1" dirty="0">
                <a:latin typeface="+mn-ea"/>
              </a:rPr>
              <a:t>的小数，无法比</a:t>
            </a:r>
            <a:r>
              <a:rPr lang="en-US" altLang="zh-CN" sz="1200" b="1" dirty="0">
                <a:latin typeface="+mn-ea"/>
              </a:rPr>
              <a:t>1e-8</a:t>
            </a:r>
            <a:r>
              <a:rPr lang="zh-CN" altLang="en-US" sz="1200" b="1" dirty="0">
                <a:latin typeface="+mn-ea"/>
              </a:rPr>
              <a:t>小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2</a:t>
            </a:r>
            <a:r>
              <a:rPr lang="zh-CN" altLang="en-US" sz="1200" b="1" dirty="0">
                <a:latin typeface="+mn-ea"/>
              </a:rPr>
              <a:t>、</a:t>
            </a:r>
            <a:r>
              <a:rPr lang="en-US" altLang="zh-CN" sz="1200" b="1" dirty="0">
                <a:latin typeface="+mn-ea"/>
              </a:rPr>
              <a:t>float</a:t>
            </a:r>
            <a:r>
              <a:rPr lang="zh-CN" altLang="en-US" sz="1200" b="1" dirty="0">
                <a:latin typeface="+mn-ea"/>
              </a:rPr>
              <a:t>和</a:t>
            </a:r>
            <a:r>
              <a:rPr lang="en-US" altLang="zh-CN" sz="1200" b="1" dirty="0">
                <a:latin typeface="+mn-ea"/>
              </a:rPr>
              <a:t>double</a:t>
            </a:r>
            <a:r>
              <a:rPr lang="zh-CN" altLang="en-US" sz="1200" b="1" dirty="0">
                <a:latin typeface="+mn-ea"/>
              </a:rPr>
              <a:t>同进度下那个时间快？（观察现象即可，不需要解释原因）</a:t>
            </a:r>
            <a:endParaRPr lang="zh-CN" altLang="en-US" sz="1200" b="1" dirty="0">
              <a:latin typeface="+mn-ea"/>
            </a:endParaRPr>
          </a:p>
          <a:p>
            <a:pPr indent="457200"/>
            <a:r>
              <a:rPr lang="en-US" altLang="zh-CN" sz="1200" b="1" dirty="0">
                <a:latin typeface="+mn-ea"/>
              </a:rPr>
              <a:t>double</a:t>
            </a:r>
            <a:r>
              <a:rPr lang="zh-CN" altLang="en-US" sz="1200" b="1" dirty="0">
                <a:latin typeface="+mn-ea"/>
              </a:rPr>
              <a:t>更快</a:t>
            </a:r>
            <a:endParaRPr lang="zh-CN" altLang="en-US" sz="1200" b="1" dirty="0">
              <a:latin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Object 3"/>
              <p:cNvSpPr txBox="1"/>
              <p:nvPr/>
            </p:nvSpPr>
            <p:spPr bwMode="auto">
              <a:xfrm>
                <a:off x="7296641" y="1323975"/>
                <a:ext cx="3542809" cy="83064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>
                <a:norm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2100" b="1" dirty="0">
                    <a:solidFill>
                      <a:srgbClr val="000000"/>
                    </a:solidFill>
                    <a:latin typeface="+mn-ea"/>
                  </a:rPr>
                  <a:t>用下面的迭代公式求</a:t>
                </a:r>
                <a:r>
                  <a:rPr kumimoji="1" lang="en-US" altLang="zh-CN" sz="2100" b="1" dirty="0">
                    <a:solidFill>
                      <a:srgbClr val="000000"/>
                    </a:solidFill>
                    <a:latin typeface="+mn-ea"/>
                  </a:rPr>
                  <a:t>Pi</a:t>
                </a:r>
                <a:r>
                  <a:rPr kumimoji="1" lang="zh-CN" altLang="en-US" sz="2100" b="1" dirty="0">
                    <a:solidFill>
                      <a:srgbClr val="000000"/>
                    </a:solidFill>
                    <a:latin typeface="+mn-ea"/>
                  </a:rPr>
                  <a:t>的值</a:t>
                </a:r>
                <a:endParaRPr kumimoji="1" lang="en-US" altLang="zh-CN" sz="2100" b="1" dirty="0">
                  <a:solidFill>
                    <a:srgbClr val="000000"/>
                  </a:solidFill>
                  <a:latin typeface="+mn-ea"/>
                </a:endParaRPr>
              </a:p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14:m>
                  <m:oMath xmlns:m="http://schemas.openxmlformats.org/officeDocument/2006/math">
                    <m:r>
                      <a:rPr kumimoji="1" lang="en-US" altLang="zh-CN" sz="16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   </m:t>
                    </m:r>
                    <m:r>
                      <a:rPr kumimoji="1" lang="en-US" altLang="zh-CN" sz="16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kumimoji="1" lang="en-US" altLang="zh-CN" sz="16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− </m:t>
                    </m:r>
                    <m:f>
                      <m:fPr>
                        <m:ctrlPr>
                          <a:rPr kumimoji="1" lang="zh-CN" altLang="en-US" sz="16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zh-CN" altLang="en-US" sz="16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kumimoji="1" lang="zh-CN" altLang="en-US" sz="16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den>
                    </m:f>
                    <m:r>
                      <a:rPr kumimoji="1" lang="en-US" altLang="zh-CN" sz="16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+ </m:t>
                    </m:r>
                    <m:f>
                      <m:fPr>
                        <m:ctrlPr>
                          <a:rPr kumimoji="1" lang="zh-CN" altLang="en-US" sz="16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zh-CN" altLang="en-US" sz="16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kumimoji="1" lang="zh-CN" altLang="en-US" sz="16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den>
                    </m:f>
                    <m:r>
                      <a:rPr kumimoji="1" lang="en-US" altLang="zh-CN" sz="16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− </m:t>
                    </m:r>
                    <m:f>
                      <m:fPr>
                        <m:ctrlPr>
                          <a:rPr kumimoji="1" lang="zh-CN" altLang="en-US" sz="16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zh-CN" altLang="en-US" sz="16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kumimoji="1" lang="zh-CN" altLang="en-US" sz="16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𝟕</m:t>
                        </m:r>
                      </m:den>
                    </m:f>
                    <m:r>
                      <a:rPr kumimoji="1" lang="en-US" altLang="zh-CN" sz="16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en-US" altLang="zh-CN" sz="16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kumimoji="1" lang="en-US" altLang="zh-CN" sz="1600" b="1" dirty="0">
                    <a:solidFill>
                      <a:srgbClr val="000000"/>
                    </a:solidFill>
                    <a:latin typeface="+mn-ea"/>
                  </a:rPr>
                  <a:t>…</a:t>
                </a:r>
                <a:endParaRPr kumimoji="1" lang="zh-CN" altLang="en-US" sz="1600" b="1" dirty="0">
                  <a:solidFill>
                    <a:srgbClr val="000000"/>
                  </a:solidFill>
                  <a:latin typeface="+mn-ea"/>
                </a:endParaRPr>
              </a:p>
            </p:txBody>
          </p:sp>
        </mc:Choice>
        <mc:Fallback>
          <p:sp>
            <p:nvSpPr>
              <p:cNvPr id="5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296641" y="1323975"/>
                <a:ext cx="3542809" cy="830646"/>
              </a:xfrm>
              <a:prstGeom prst="rect">
                <a:avLst/>
              </a:prstGeom>
              <a:blipFill rotWithShape="1">
                <a:blip r:embed="rId1"/>
                <a:stretch>
                  <a:fillRect l="-139" t="-612" r="-125" b="-527"/>
                </a:stretch>
              </a:blip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/>
          <p:cNvSpPr/>
          <p:nvPr/>
        </p:nvSpPr>
        <p:spPr bwMode="auto">
          <a:xfrm>
            <a:off x="7918882" y="4913259"/>
            <a:ext cx="2920568" cy="31038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本页结果不要截图，手填即可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循环结构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、观察程序运行结果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200" b="1" dirty="0">
                <a:latin typeface="+mn-ea"/>
              </a:rPr>
              <a:t>#include &lt;iostream&gt;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#include &lt;</a:t>
            </a:r>
            <a:r>
              <a:rPr lang="en-US" altLang="zh-CN" sz="1200" b="1" dirty="0" err="1">
                <a:latin typeface="+mn-ea"/>
              </a:rPr>
              <a:t>iomanip</a:t>
            </a:r>
            <a:r>
              <a:rPr lang="en-US" altLang="zh-CN" sz="1200" b="1" dirty="0">
                <a:latin typeface="+mn-ea"/>
              </a:rPr>
              <a:t>&gt;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using namespace std;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int main()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{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int n = 0, </a:t>
            </a:r>
            <a:r>
              <a:rPr lang="en-US" altLang="zh-CN" sz="1200" b="1" dirty="0" err="1">
                <a:latin typeface="+mn-ea"/>
              </a:rPr>
              <a:t>i</a:t>
            </a:r>
            <a:r>
              <a:rPr lang="en-US" altLang="zh-CN" sz="1200" b="1" dirty="0">
                <a:latin typeface="+mn-ea"/>
              </a:rPr>
              <a:t>, m, k;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bool prime;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for(m=101; m&lt;=200; m+=2) { //</a:t>
            </a:r>
            <a:r>
              <a:rPr lang="zh-CN" altLang="en-US" sz="1200" b="1" dirty="0">
                <a:latin typeface="+mn-ea"/>
              </a:rPr>
              <a:t>偶数没必要判断</a:t>
            </a:r>
            <a:endParaRPr lang="zh-CN" altLang="en-US" sz="1200" b="1" dirty="0">
              <a:latin typeface="+mn-ea"/>
            </a:endParaRPr>
          </a:p>
          <a:p>
            <a:r>
              <a:rPr lang="zh-CN" altLang="en-US" sz="1200" b="1" dirty="0">
                <a:latin typeface="+mn-ea"/>
              </a:rPr>
              <a:t>        </a:t>
            </a:r>
            <a:r>
              <a:rPr lang="en-US" altLang="zh-CN" sz="1200" b="1" dirty="0">
                <a:latin typeface="+mn-ea"/>
              </a:rPr>
              <a:t>prime=true;            //</a:t>
            </a:r>
            <a:r>
              <a:rPr lang="zh-CN" altLang="en-US" sz="1200" b="1" dirty="0">
                <a:latin typeface="+mn-ea"/>
              </a:rPr>
              <a:t>对每个数，先认为是素数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    k=int(sqrt(m));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       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</a:rPr>
              <a:t> 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for(</a:t>
            </a:r>
            <a:r>
              <a:rPr lang="en-US" altLang="zh-CN" sz="1200" b="1" dirty="0" err="1">
                <a:solidFill>
                  <a:srgbClr val="FF0000"/>
                </a:solidFill>
                <a:latin typeface="+mn-ea"/>
              </a:rPr>
              <a:t>i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=2; </a:t>
            </a:r>
            <a:r>
              <a:rPr lang="en-US" altLang="zh-CN" sz="1200" b="1" dirty="0" err="1">
                <a:solidFill>
                  <a:srgbClr val="FF0000"/>
                </a:solidFill>
                <a:latin typeface="+mn-ea"/>
              </a:rPr>
              <a:t>i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&lt;=k; </a:t>
            </a:r>
            <a:r>
              <a:rPr lang="en-US" altLang="zh-CN" sz="1200" b="1" dirty="0" err="1">
                <a:solidFill>
                  <a:srgbClr val="FF0000"/>
                </a:solidFill>
                <a:latin typeface="+mn-ea"/>
              </a:rPr>
              <a:t>i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++)</a:t>
            </a:r>
            <a:endParaRPr lang="en-US" altLang="zh-CN" sz="12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            if (</a:t>
            </a:r>
            <a:r>
              <a:rPr lang="en-US" altLang="zh-CN" sz="1200" b="1" dirty="0" err="1">
                <a:solidFill>
                  <a:srgbClr val="FF0000"/>
                </a:solidFill>
                <a:latin typeface="+mn-ea"/>
              </a:rPr>
              <a:t>m%i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==0) {</a:t>
            </a:r>
            <a:endParaRPr lang="zh-CN" altLang="en-US" sz="1200" b="1" dirty="0">
              <a:solidFill>
                <a:srgbClr val="FF0000"/>
              </a:solidFill>
              <a:latin typeface="+mn-ea"/>
            </a:endParaRPr>
          </a:p>
          <a:p>
            <a:r>
              <a:rPr lang="zh-CN" altLang="en-US" sz="1200" b="1" dirty="0">
                <a:solidFill>
                  <a:srgbClr val="FF0000"/>
                </a:solidFill>
                <a:latin typeface="+mn-ea"/>
              </a:rPr>
              <a:t>                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prime=false;</a:t>
            </a:r>
            <a:endParaRPr lang="zh-CN" altLang="en-US" sz="1200" b="1" dirty="0">
              <a:solidFill>
                <a:srgbClr val="FF0000"/>
              </a:solidFill>
              <a:latin typeface="+mn-ea"/>
            </a:endParaRPr>
          </a:p>
          <a:p>
            <a:r>
              <a:rPr lang="zh-CN" altLang="en-US" sz="1200" b="1" dirty="0">
                <a:solidFill>
                  <a:srgbClr val="FF0000"/>
                </a:solidFill>
                <a:latin typeface="+mn-ea"/>
              </a:rPr>
              <a:t>                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break;</a:t>
            </a:r>
            <a:endParaRPr lang="zh-CN" altLang="en-US" sz="1200" b="1" dirty="0">
              <a:solidFill>
                <a:srgbClr val="FF0000"/>
              </a:solidFill>
              <a:latin typeface="+mn-ea"/>
            </a:endParaRPr>
          </a:p>
          <a:p>
            <a:r>
              <a:rPr lang="zh-CN" altLang="en-US" sz="1200" b="1" dirty="0">
                <a:solidFill>
                  <a:srgbClr val="FF0000"/>
                </a:solidFill>
                <a:latin typeface="+mn-ea"/>
              </a:rPr>
              <a:t>                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}</a:t>
            </a:r>
            <a:endParaRPr lang="en-US" altLang="zh-CN" sz="1200" b="1" dirty="0">
              <a:solidFill>
                <a:srgbClr val="FF0000"/>
              </a:solidFill>
              <a:latin typeface="+mn-ea"/>
            </a:endParaRP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    if (prime) {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    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setw</a:t>
            </a:r>
            <a:r>
              <a:rPr lang="en-US" altLang="zh-CN" sz="1200" b="1" dirty="0">
                <a:latin typeface="+mn-ea"/>
              </a:rPr>
              <a:t>(5) &lt;&lt; m;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        n=n+1;      //</a:t>
            </a:r>
            <a:r>
              <a:rPr lang="zh-CN" altLang="en-US" sz="1200" b="1" dirty="0">
                <a:latin typeface="+mn-ea"/>
              </a:rPr>
              <a:t>计数器，只为了加输出换行</a:t>
            </a:r>
            <a:endParaRPr lang="zh-CN" altLang="en-US" sz="1200" b="1" dirty="0">
              <a:latin typeface="+mn-ea"/>
            </a:endParaRPr>
          </a:p>
          <a:p>
            <a:r>
              <a:rPr lang="zh-CN" altLang="en-US" sz="1200" b="1" dirty="0">
                <a:latin typeface="+mn-ea"/>
              </a:rPr>
              <a:t>            </a:t>
            </a:r>
            <a:r>
              <a:rPr lang="en-US" altLang="zh-CN" sz="1200" b="1" dirty="0">
                <a:latin typeface="+mn-ea"/>
              </a:rPr>
              <a:t>}</a:t>
            </a:r>
            <a:endParaRPr lang="en-US" altLang="zh-CN" sz="1200" b="1" dirty="0">
              <a:latin typeface="+mn-ea"/>
            </a:endParaRP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    if (n%10==0)    //</a:t>
            </a:r>
            <a:r>
              <a:rPr lang="zh-CN" altLang="en-US" sz="1200" b="1" dirty="0">
                <a:latin typeface="+mn-ea"/>
              </a:rPr>
              <a:t>每</a:t>
            </a:r>
            <a:r>
              <a:rPr lang="en-US" altLang="zh-CN" sz="1200" b="1" dirty="0">
                <a:latin typeface="+mn-ea"/>
              </a:rPr>
              <a:t>10</a:t>
            </a:r>
            <a:r>
              <a:rPr lang="zh-CN" altLang="en-US" sz="1200" b="1" dirty="0">
                <a:latin typeface="+mn-ea"/>
              </a:rPr>
              <a:t>个数输出一行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    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&lt;&lt;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    } //end of for</a:t>
            </a:r>
            <a:endParaRPr lang="en-US" altLang="zh-CN" sz="1200" b="1" dirty="0">
              <a:latin typeface="+mn-ea"/>
            </a:endParaRP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return 0;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}</a:t>
            </a:r>
            <a:endParaRPr lang="en-US" altLang="zh-CN" sz="1200" b="1" dirty="0">
              <a:latin typeface="+mn-ea"/>
            </a:endParaRPr>
          </a:p>
        </p:txBody>
      </p:sp>
      <p:sp>
        <p:nvSpPr>
          <p:cNvPr id="5" name="Object 3"/>
          <p:cNvSpPr txBox="1"/>
          <p:nvPr/>
        </p:nvSpPr>
        <p:spPr bwMode="auto">
          <a:xfrm>
            <a:off x="2325249" y="1323975"/>
            <a:ext cx="3035028" cy="4417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>
            <a:norm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100" b="1" dirty="0">
                <a:solidFill>
                  <a:srgbClr val="000000"/>
                </a:solidFill>
                <a:latin typeface="+mn-ea"/>
              </a:rPr>
              <a:t>打印</a:t>
            </a:r>
            <a:r>
              <a:rPr kumimoji="1" lang="en-US" altLang="zh-CN" sz="2100" b="1" dirty="0">
                <a:solidFill>
                  <a:srgbClr val="000000"/>
                </a:solidFill>
                <a:latin typeface="+mn-ea"/>
              </a:rPr>
              <a:t>100-200</a:t>
            </a:r>
            <a:r>
              <a:rPr kumimoji="1" lang="zh-CN" altLang="en-US" sz="2100" b="1" dirty="0">
                <a:solidFill>
                  <a:srgbClr val="000000"/>
                </a:solidFill>
                <a:latin typeface="+mn-ea"/>
              </a:rPr>
              <a:t>之间的素数</a:t>
            </a:r>
            <a:endParaRPr kumimoji="1" lang="en-US" altLang="zh-CN" sz="21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5360276" y="1323975"/>
            <a:ext cx="5479173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600" b="1" dirty="0">
                <a:latin typeface="+mn-ea"/>
              </a:rPr>
              <a:t>(1) </a:t>
            </a:r>
            <a:r>
              <a:rPr lang="zh-CN" altLang="en-US" sz="1600" b="1" dirty="0">
                <a:latin typeface="+mn-ea"/>
              </a:rPr>
              <a:t>目前输出结果：一共</a:t>
            </a:r>
            <a:r>
              <a:rPr lang="en-US" altLang="zh-CN" sz="1600" b="1" dirty="0">
                <a:latin typeface="+mn-ea"/>
              </a:rPr>
              <a:t>21</a:t>
            </a:r>
            <a:r>
              <a:rPr lang="zh-CN" altLang="en-US" sz="1600" b="1" dirty="0">
                <a:latin typeface="+mn-ea"/>
              </a:rPr>
              <a:t>个，每</a:t>
            </a:r>
            <a:r>
              <a:rPr lang="en-US" altLang="zh-CN" sz="1600" b="1" dirty="0">
                <a:latin typeface="+mn-ea"/>
              </a:rPr>
              <a:t>10</a:t>
            </a:r>
            <a:r>
              <a:rPr lang="zh-CN" altLang="en-US" sz="1600" b="1" dirty="0">
                <a:latin typeface="+mn-ea"/>
              </a:rPr>
              <a:t>个一行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(2) </a:t>
            </a:r>
            <a:r>
              <a:rPr lang="zh-CN" altLang="en-US" sz="1600" b="1" dirty="0">
                <a:latin typeface="+mn-ea"/>
              </a:rPr>
              <a:t>将</a:t>
            </a:r>
            <a:r>
              <a:rPr lang="en-US" altLang="zh-CN" sz="1600" b="1" dirty="0">
                <a:latin typeface="+mn-ea"/>
              </a:rPr>
              <a:t>m</a:t>
            </a:r>
            <a:r>
              <a:rPr lang="zh-CN" altLang="en-US" sz="1600" b="1" dirty="0">
                <a:latin typeface="+mn-ea"/>
              </a:rPr>
              <a:t>的初值从</a:t>
            </a:r>
            <a:r>
              <a:rPr lang="en-US" altLang="zh-CN" sz="1600" b="1" dirty="0">
                <a:latin typeface="+mn-ea"/>
              </a:rPr>
              <a:t>101</a:t>
            </a:r>
            <a:r>
              <a:rPr lang="zh-CN" altLang="en-US" sz="1600" b="1" dirty="0">
                <a:latin typeface="+mn-ea"/>
              </a:rPr>
              <a:t>改为</a:t>
            </a:r>
            <a:r>
              <a:rPr lang="en-US" altLang="zh-CN" sz="1600" b="1" dirty="0">
                <a:latin typeface="+mn-ea"/>
              </a:rPr>
              <a:t>103</a:t>
            </a:r>
            <a:r>
              <a:rPr lang="zh-CN" altLang="en-US" sz="1600" b="1" dirty="0">
                <a:latin typeface="+mn-ea"/>
              </a:rPr>
              <a:t>，应该是</a:t>
            </a:r>
            <a:r>
              <a:rPr lang="en-US" altLang="zh-CN" sz="1600" b="1" dirty="0">
                <a:latin typeface="+mn-ea"/>
              </a:rPr>
              <a:t>20</a:t>
            </a:r>
            <a:r>
              <a:rPr lang="zh-CN" altLang="en-US" sz="1600" b="1" dirty="0">
                <a:latin typeface="+mn-ea"/>
              </a:rPr>
              <a:t>个，共</a:t>
            </a:r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行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zh-CN" altLang="en-US" sz="1600" b="1" dirty="0">
                <a:latin typeface="+mn-ea"/>
              </a:rPr>
              <a:t>实际呢？为什么？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实际是</a:t>
            </a:r>
            <a:r>
              <a:rPr lang="en-US" altLang="zh-CN" sz="1600" b="1" dirty="0">
                <a:latin typeface="+mn-ea"/>
              </a:rPr>
              <a:t>20</a:t>
            </a:r>
            <a:r>
              <a:rPr lang="zh-CN" altLang="en-US" sz="1600" b="1" dirty="0">
                <a:latin typeface="+mn-ea"/>
              </a:rPr>
              <a:t>个，共</a:t>
            </a:r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行，第</a:t>
            </a: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行和第</a:t>
            </a:r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行之间空了两行。判断输出</a:t>
            </a:r>
            <a:r>
              <a:rPr lang="en-US" altLang="zh-CN" sz="1600" b="1" dirty="0">
                <a:latin typeface="+mn-ea"/>
              </a:rPr>
              <a:t>endl</a:t>
            </a:r>
            <a:r>
              <a:rPr lang="zh-CN" altLang="en-US" sz="1600" b="1" dirty="0">
                <a:latin typeface="+mn-ea"/>
              </a:rPr>
              <a:t>的条件是</a:t>
            </a:r>
            <a:r>
              <a:rPr lang="en-US" altLang="zh-CN" sz="1600" b="1" dirty="0">
                <a:latin typeface="+mn-ea"/>
              </a:rPr>
              <a:t>n%10==0,</a:t>
            </a:r>
            <a:r>
              <a:rPr lang="zh-CN" altLang="en-US" sz="1600" b="1" dirty="0">
                <a:latin typeface="+mn-ea"/>
              </a:rPr>
              <a:t>和当前</a:t>
            </a:r>
            <a:r>
              <a:rPr lang="en-US" altLang="zh-CN" sz="1600" b="1" dirty="0">
                <a:latin typeface="+mn-ea"/>
              </a:rPr>
              <a:t>m</a:t>
            </a:r>
            <a:r>
              <a:rPr lang="zh-CN" altLang="en-US" sz="1600" b="1" dirty="0">
                <a:latin typeface="+mn-ea"/>
              </a:rPr>
              <a:t>是否为素数无关，但实际应当只在</a:t>
            </a:r>
            <a:r>
              <a:rPr lang="en-US" altLang="zh-CN" sz="1600" b="1" dirty="0">
                <a:latin typeface="+mn-ea"/>
              </a:rPr>
              <a:t>m</a:t>
            </a:r>
            <a:r>
              <a:rPr lang="zh-CN" altLang="en-US" sz="1600" b="1" dirty="0">
                <a:latin typeface="+mn-ea"/>
              </a:rPr>
              <a:t>为素数时换行。</a:t>
            </a:r>
            <a:r>
              <a:rPr lang="en-US" altLang="zh-CN" sz="1600" b="1" dirty="0">
                <a:latin typeface="+mn-ea"/>
              </a:rPr>
              <a:t>m</a:t>
            </a:r>
            <a:r>
              <a:rPr lang="zh-CN" altLang="en-US" sz="1600" b="1" dirty="0">
                <a:latin typeface="+mn-ea"/>
              </a:rPr>
              <a:t>从</a:t>
            </a:r>
            <a:r>
              <a:rPr lang="en-US" altLang="zh-CN" sz="1600" b="1" dirty="0">
                <a:latin typeface="+mn-ea"/>
              </a:rPr>
              <a:t>101</a:t>
            </a:r>
            <a:r>
              <a:rPr lang="zh-CN" altLang="en-US" sz="1600" b="1" dirty="0">
                <a:latin typeface="+mn-ea"/>
              </a:rPr>
              <a:t>开始时，换行处的两个数字分别为</a:t>
            </a:r>
            <a:r>
              <a:rPr lang="en-US" altLang="zh-CN" sz="1600" b="1" dirty="0">
                <a:latin typeface="+mn-ea"/>
              </a:rPr>
              <a:t>149</a:t>
            </a:r>
            <a:r>
              <a:rPr lang="zh-CN" altLang="en-US" sz="1600" b="1" dirty="0">
                <a:latin typeface="+mn-ea"/>
              </a:rPr>
              <a:t>和</a:t>
            </a:r>
            <a:r>
              <a:rPr lang="en-US" altLang="zh-CN" sz="1600" b="1" dirty="0">
                <a:latin typeface="+mn-ea"/>
              </a:rPr>
              <a:t>151,197</a:t>
            </a:r>
            <a:r>
              <a:rPr lang="zh-CN" altLang="en-US" sz="1600" b="1" dirty="0">
                <a:latin typeface="+mn-ea"/>
              </a:rPr>
              <a:t>和</a:t>
            </a:r>
            <a:r>
              <a:rPr lang="en-US" altLang="zh-CN" sz="1600" b="1" dirty="0">
                <a:latin typeface="+mn-ea"/>
              </a:rPr>
              <a:t>199</a:t>
            </a:r>
            <a:r>
              <a:rPr lang="zh-CN" altLang="en-US" sz="1600" b="1" dirty="0">
                <a:latin typeface="+mn-ea"/>
              </a:rPr>
              <a:t>，其中没有夹杂非素数奇数，换行时没有问题；但当</a:t>
            </a:r>
            <a:r>
              <a:rPr lang="en-US" altLang="zh-CN" sz="1600" b="1" dirty="0">
                <a:latin typeface="+mn-ea"/>
              </a:rPr>
              <a:t>m</a:t>
            </a:r>
            <a:r>
              <a:rPr lang="zh-CN" altLang="en-US" sz="1600" b="1" dirty="0">
                <a:latin typeface="+mn-ea"/>
              </a:rPr>
              <a:t>从</a:t>
            </a:r>
            <a:r>
              <a:rPr lang="en-US" altLang="zh-CN" sz="1600" b="1" dirty="0">
                <a:latin typeface="+mn-ea"/>
              </a:rPr>
              <a:t>103</a:t>
            </a:r>
            <a:r>
              <a:rPr lang="zh-CN" altLang="en-US" sz="1600" b="1" dirty="0">
                <a:latin typeface="+mn-ea"/>
              </a:rPr>
              <a:t>开始，换行处的两个数位</a:t>
            </a:r>
            <a:r>
              <a:rPr lang="en-US" altLang="zh-CN" sz="1600" b="1" dirty="0">
                <a:latin typeface="+mn-ea"/>
              </a:rPr>
              <a:t>151</a:t>
            </a:r>
            <a:r>
              <a:rPr lang="zh-CN" altLang="en-US" sz="1600" b="1" dirty="0">
                <a:latin typeface="+mn-ea"/>
              </a:rPr>
              <a:t>和</a:t>
            </a:r>
            <a:r>
              <a:rPr lang="en-US" altLang="zh-CN" sz="1600" b="1" dirty="0">
                <a:latin typeface="+mn-ea"/>
              </a:rPr>
              <a:t>157</a:t>
            </a:r>
            <a:r>
              <a:rPr lang="zh-CN" altLang="en-US" sz="1600" b="1" dirty="0">
                <a:latin typeface="+mn-ea"/>
              </a:rPr>
              <a:t>，之间的</a:t>
            </a:r>
            <a:r>
              <a:rPr lang="en-US" altLang="zh-CN" sz="1600" b="1" dirty="0">
                <a:latin typeface="+mn-ea"/>
              </a:rPr>
              <a:t>153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155</a:t>
            </a:r>
            <a:r>
              <a:rPr lang="zh-CN" altLang="en-US" sz="1600" b="1" dirty="0">
                <a:latin typeface="+mn-ea"/>
              </a:rPr>
              <a:t>都不是素数，但在</a:t>
            </a:r>
            <a:r>
              <a:rPr lang="en-US" altLang="zh-CN" sz="1600" b="1" dirty="0">
                <a:latin typeface="+mn-ea"/>
              </a:rPr>
              <a:t>m</a:t>
            </a:r>
            <a:r>
              <a:rPr lang="zh-CN" altLang="en-US" sz="1600" b="1" dirty="0">
                <a:latin typeface="+mn-ea"/>
              </a:rPr>
              <a:t>为这两个数字时，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zh-CN" altLang="en-US" sz="1600" b="1" dirty="0">
                <a:latin typeface="+mn-ea"/>
              </a:rPr>
              <a:t>也还是</a:t>
            </a:r>
            <a:r>
              <a:rPr lang="en-US" altLang="zh-CN" sz="1600" b="1" dirty="0">
                <a:latin typeface="+mn-ea"/>
              </a:rPr>
              <a:t>10</a:t>
            </a:r>
            <a:r>
              <a:rPr lang="zh-CN" altLang="en-US" sz="1600" b="1" dirty="0">
                <a:latin typeface="+mn-ea"/>
              </a:rPr>
              <a:t>，还是会输出</a:t>
            </a:r>
            <a:r>
              <a:rPr lang="en-US" altLang="zh-CN" sz="1600" b="1" dirty="0">
                <a:latin typeface="+mn-ea"/>
              </a:rPr>
              <a:t>endl</a:t>
            </a:r>
            <a:r>
              <a:rPr lang="zh-CN" altLang="en-US" sz="1600" b="1" dirty="0">
                <a:latin typeface="+mn-ea"/>
              </a:rPr>
              <a:t>，因此多换行了</a:t>
            </a:r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次。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(3) </a:t>
            </a:r>
            <a:r>
              <a:rPr lang="zh-CN" altLang="en-US" sz="1600" b="1" dirty="0">
                <a:latin typeface="+mn-ea"/>
              </a:rPr>
              <a:t>将左侧程序改正确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(</a:t>
            </a:r>
            <a:r>
              <a:rPr lang="zh-CN" altLang="en-US" sz="1600" b="1" dirty="0">
                <a:latin typeface="+mn-ea"/>
              </a:rPr>
              <a:t>正确程序贴图在左侧，覆盖现有内容即可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62702" y="1617236"/>
            <a:ext cx="6819048" cy="111428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1935" y="3373120"/>
            <a:ext cx="5693410" cy="139446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63195" y="1411605"/>
            <a:ext cx="5485130" cy="512254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循环结构</a:t>
            </a:r>
            <a:endParaRPr lang="en-US" altLang="zh-CN" sz="2800" b="1" dirty="0">
              <a:latin typeface="+mn-ea"/>
            </a:endParaRPr>
          </a:p>
          <a:p>
            <a:pPr eaLnBrk="1" hangingPunct="1"/>
            <a:endParaRPr lang="en-US" altLang="zh-CN" sz="2800" b="1" dirty="0">
              <a:latin typeface="+mn-ea"/>
            </a:endParaRPr>
          </a:p>
          <a:p>
            <a:pPr eaLnBrk="1" hangingPunct="1"/>
            <a:r>
              <a:rPr lang="zh-CN" altLang="en-US" sz="2800" b="1" dirty="0">
                <a:latin typeface="+mn-ea"/>
              </a:rPr>
              <a:t>此页不要删除，也没有意义，仅仅为了分隔题目</a:t>
            </a:r>
            <a:endParaRPr lang="en-US" altLang="zh-CN" sz="2800" b="1" dirty="0">
              <a:latin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NzFkYTAzODc1OTI4MjVhMmUxM2FjNmFjZGNmZmI0ZTQifQ=="/>
</p:tagLst>
</file>

<file path=ppt/theme/theme1.xml><?xml version="1.0" encoding="utf-8"?>
<a:theme xmlns:a="http://schemas.openxmlformats.org/drawingml/2006/main" name="1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6556</Words>
  <Application>WPS 演示</Application>
  <PresentationFormat>宽屏</PresentationFormat>
  <Paragraphs>359</Paragraphs>
  <Slides>14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4" baseType="lpstr">
      <vt:lpstr>Arial</vt:lpstr>
      <vt:lpstr>宋体</vt:lpstr>
      <vt:lpstr>Wingdings</vt:lpstr>
      <vt:lpstr>Times New Roman</vt:lpstr>
      <vt:lpstr>Cambria Math</vt:lpstr>
      <vt:lpstr>微软雅黑</vt:lpstr>
      <vt:lpstr>Arial Unicode MS</vt:lpstr>
      <vt:lpstr>等线</vt:lpstr>
      <vt:lpstr>Calibri</vt:lpstr>
      <vt:lpstr>1_默认设计模板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 Y</dc:creator>
  <cp:lastModifiedBy>€</cp:lastModifiedBy>
  <cp:revision>214</cp:revision>
  <dcterms:created xsi:type="dcterms:W3CDTF">2020-08-13T13:39:00Z</dcterms:created>
  <dcterms:modified xsi:type="dcterms:W3CDTF">2024-03-30T03:25:02Z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CB11E9EBD48F444E9142E8395CA548AF_12</vt:lpwstr>
  </property>
  <property fmtid="{D5CDD505-2E9C-101B-9397-08002B2CF9AE}" pid="3" name="KSOProductBuildVer">
    <vt:lpwstr>2052-12.1.0.16417</vt:lpwstr>
  </property>
</Properties>
</file>