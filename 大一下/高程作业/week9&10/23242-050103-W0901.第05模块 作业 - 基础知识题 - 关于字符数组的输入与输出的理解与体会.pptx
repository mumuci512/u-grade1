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838" r:id="rId2"/>
    <p:sldId id="1279" r:id="rId3"/>
    <p:sldId id="1021" r:id="rId4"/>
    <p:sldId id="1237" r:id="rId5"/>
    <p:sldId id="990" r:id="rId6"/>
    <p:sldId id="992" r:id="rId7"/>
    <p:sldId id="993" r:id="rId8"/>
    <p:sldId id="994" r:id="rId9"/>
    <p:sldId id="995" r:id="rId10"/>
    <p:sldId id="996" r:id="rId11"/>
    <p:sldId id="997" r:id="rId12"/>
    <p:sldId id="998" r:id="rId13"/>
    <p:sldId id="999" r:id="rId14"/>
    <p:sldId id="1000" r:id="rId15"/>
    <p:sldId id="1001" r:id="rId16"/>
    <p:sldId id="1002" r:id="rId17"/>
    <p:sldId id="1003" r:id="rId18"/>
    <p:sldId id="1004" r:id="rId19"/>
    <p:sldId id="1005" r:id="rId20"/>
    <p:sldId id="1006" r:id="rId21"/>
    <p:sldId id="1007" r:id="rId22"/>
    <p:sldId id="1008" r:id="rId23"/>
    <p:sldId id="886" r:id="rId24"/>
    <p:sldId id="1009" r:id="rId25"/>
    <p:sldId id="1010" r:id="rId26"/>
    <p:sldId id="1011" r:id="rId27"/>
    <p:sldId id="1012" r:id="rId28"/>
    <p:sldId id="1013" r:id="rId29"/>
    <p:sldId id="1014" r:id="rId30"/>
    <p:sldId id="1015" r:id="rId31"/>
    <p:sldId id="1016" r:id="rId32"/>
    <p:sldId id="1017" r:id="rId33"/>
    <p:sldId id="1020" r:id="rId34"/>
    <p:sldId id="1019" r:id="rId35"/>
    <p:sldId id="1280" r:id="rId36"/>
    <p:sldId id="1281" r:id="rId37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D22F8A67-5C69-49ED-A36F-D3D9F4701A5A}"/>
    <pc:docChg chg="undo custSel modSld">
      <pc:chgData name="xi sheng" userId="b3919e0d8ca6a452" providerId="LiveId" clId="{D22F8A67-5C69-49ED-A36F-D3D9F4701A5A}" dt="2024-05-27T03:25:37.004" v="1" actId="1076"/>
      <pc:docMkLst>
        <pc:docMk/>
      </pc:docMkLst>
      <pc:sldChg chg="modSp mod">
        <pc:chgData name="xi sheng" userId="b3919e0d8ca6a452" providerId="LiveId" clId="{D22F8A67-5C69-49ED-A36F-D3D9F4701A5A}" dt="2024-05-27T03:25:37.004" v="1" actId="1076"/>
        <pc:sldMkLst>
          <pc:docMk/>
          <pc:sldMk cId="0" sldId="1014"/>
        </pc:sldMkLst>
        <pc:picChg chg="mod">
          <ac:chgData name="xi sheng" userId="b3919e0d8ca6a452" providerId="LiveId" clId="{D22F8A67-5C69-49ED-A36F-D3D9F4701A5A}" dt="2024-05-27T03:25:37.004" v="1" actId="1076"/>
          <ac:picMkLst>
            <pc:docMk/>
            <pc:sldMk cId="0" sldId="1014"/>
            <ac:picMk id="1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6D1469-C67C-43DD-86C4-BFFF7550F22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EC486-F6C5-4AAA-8960-E919FE3FCCA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DCA4C-AF04-4244-A082-F134C26C2F6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91335-FFD6-4CC5-9B10-2218992F66C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8295-1FD1-4DA7-9F4F-48ED7ABBB11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58311-2B5E-4B54-A64F-80F748F0F7B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63A07-5878-4175-8019-C3E8ECC8F15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6A801-E626-4839-9137-0EEA428EDCF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B0799-F841-424A-B011-CEEF2562E9E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77222-3A9B-4630-963E-A75EDD7F2B5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121C8-6AEF-4C3E-B3B5-FD8A0792709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454C29BD-F113-4F65-8132-FD331AFC82F3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、完成本文档中所有的题目并写出分析、运行结果，体会字符数组输入输出时不同用法的差异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、部分内容的填写，如果能确定是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不确定值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随机值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的，可直接填写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**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随机</a:t>
            </a:r>
            <a:r>
              <a:rPr lang="en-US" altLang="zh-CN" sz="1600" b="1" dirty="0">
                <a:latin typeface="+mn-ea"/>
              </a:rPr>
              <a:t>"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99018" y="1400426"/>
            <a:ext cx="8424936" cy="2820662"/>
            <a:chOff x="323528" y="3933056"/>
            <a:chExt cx="8424936" cy="282066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3933056"/>
              <a:ext cx="6333333" cy="263809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6948264" y="3933056"/>
              <a:ext cx="1800200" cy="28206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输出的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行内容是：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输出的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行内容是：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" name="直接连接符 4"/>
            <p:cNvCxnSpPr>
              <a:stCxn id="4" idx="1"/>
              <a:endCxn id="4" idx="3"/>
            </p:cNvCxnSpPr>
            <p:nvPr/>
          </p:nvCxnSpPr>
          <p:spPr bwMode="auto">
            <a:xfrm>
              <a:off x="6948264" y="5343387"/>
              <a:ext cx="18002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" name="箭头: 右 5"/>
            <p:cNvSpPr/>
            <p:nvPr/>
          </p:nvSpPr>
          <p:spPr bwMode="auto">
            <a:xfrm>
              <a:off x="5796136" y="5157192"/>
              <a:ext cx="1152128" cy="389869"/>
            </a:xfrm>
            <a:prstGeom prst="rightArrow">
              <a:avLst/>
            </a:prstGeom>
            <a:solidFill>
              <a:srgbClr val="FF0000">
                <a:alpha val="30000"/>
              </a:srgb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方式输入单个字符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c%c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&amp;a[3], &amp;a[7]);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4" name="AutoShape 4"/>
          <p:cNvSpPr/>
          <p:nvPr/>
        </p:nvSpPr>
        <p:spPr bwMode="auto">
          <a:xfrm>
            <a:off x="4147112" y="3331558"/>
            <a:ext cx="1513135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数组下标表示前有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取地址符号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规定后面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必须是变量的地址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638" y="1193671"/>
            <a:ext cx="762343" cy="26307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697" y="2210618"/>
            <a:ext cx="530554" cy="4272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方式输入单个字符</a:t>
            </a: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a[3] &gt;&gt; a[7];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AutoShape 4"/>
          <p:cNvSpPr/>
          <p:nvPr/>
        </p:nvSpPr>
        <p:spPr bwMode="auto">
          <a:xfrm>
            <a:off x="4164696" y="3591154"/>
            <a:ext cx="1513135" cy="449134"/>
          </a:xfrm>
          <a:prstGeom prst="borderCallout1">
            <a:avLst>
              <a:gd name="adj1" fmla="val 5884"/>
              <a:gd name="adj2" fmla="val -2356"/>
              <a:gd name="adj3" fmla="val 240742"/>
              <a:gd name="adj4" fmla="val -95721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数组下标表示前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无取地址符号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734" y="983094"/>
            <a:ext cx="767170" cy="28326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232" y="2242868"/>
            <a:ext cx="642895" cy="41406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方式多次逐个输入时回车的处理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c%c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&amp;a[3], &amp;a[7]);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&amp;a[0]);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4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438" y="52212"/>
            <a:ext cx="752580" cy="40105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900" y="2633932"/>
            <a:ext cx="3875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方式多次逐个输入时回车的处理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a[3] &gt;&gt; a[7];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并回车，表现如何？没有反应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多按几次回车，表现如何？依旧没反应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最后再输入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并回车，则输出是：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67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65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66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综合例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3/4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得到结论：当多次逐个输入时，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方式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处理回车的方式是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直接读取回车并赋值到变量中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____________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方式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处理回车的方式是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回车代表当前输入结束，回车本身并不会被赋值到变量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_________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16" y="567750"/>
            <a:ext cx="652712" cy="28352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622" y="2642086"/>
            <a:ext cx="390287" cy="3571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72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、回车是否在数组中？否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后面的一个字符是什么？尾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0</a:t>
            </a: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800199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直接数组名，无下标，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规定，数组名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代表数组的起始地址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718" y="1115308"/>
            <a:ext cx="702977" cy="25998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083" y="1794294"/>
            <a:ext cx="663194" cy="46065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120511" y="570390"/>
            <a:ext cx="3096344" cy="63864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等待键盘输入：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1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100" b="1" dirty="0">
                <a:solidFill>
                  <a:srgbClr val="FF0000"/>
                </a:solidFill>
                <a:latin typeface="+mn-ea"/>
              </a:rPr>
              <a:t>个及以内字符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0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一串数字，以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0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结尾，如果不到九个后面再输出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1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kumimoji="1" lang="zh-CN" altLang="en-US" sz="1100" b="1" dirty="0">
                <a:solidFill>
                  <a:srgbClr val="FF0000"/>
                </a:solidFill>
                <a:latin typeface="+mn-ea"/>
              </a:rPr>
              <a:t>个及以上字符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输入的字符的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ASCII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码，出现弹窗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问：如果要保证输入正确，输入的字符个数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要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______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小于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定义的字符数组的长度</a:t>
            </a: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800199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直接数组名，无下标，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规定，数组名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代表数组的起始地址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946" y="52212"/>
            <a:ext cx="749535" cy="271955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517" y="1138409"/>
            <a:ext cx="696657" cy="3429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523" y="4674202"/>
            <a:ext cx="3170441" cy="21258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72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、回车是否在数组中？否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后面的一个字符是什么？尾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0</a:t>
            </a: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620639" cy="493096"/>
          </a:xfrm>
          <a:prstGeom prst="borderCallout1">
            <a:avLst>
              <a:gd name="adj1" fmla="val 5884"/>
              <a:gd name="adj2" fmla="val -2356"/>
              <a:gd name="adj3" fmla="val 277543"/>
              <a:gd name="adj4" fmla="val -116808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无下标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553" y="704182"/>
            <a:ext cx="676611" cy="28739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687" y="2367802"/>
            <a:ext cx="618155" cy="38761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077471" y="552091"/>
            <a:ext cx="3096344" cy="63864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等待键盘输入：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1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100" b="1" dirty="0">
                <a:solidFill>
                  <a:srgbClr val="FF0000"/>
                </a:solidFill>
                <a:latin typeface="+mn-ea"/>
              </a:rPr>
              <a:t>个及以内字符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0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一串数字，以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0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结尾，如果不到九个后面再输出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1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kumimoji="1" lang="zh-CN" altLang="en-US" sz="1100" b="1" dirty="0">
                <a:solidFill>
                  <a:srgbClr val="FF0000"/>
                </a:solidFill>
                <a:latin typeface="+mn-ea"/>
              </a:rPr>
              <a:t>个及以上字符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输入的字符的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ASCII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码，出现弹窗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问：如果要保证输入正确，输入的字符个数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要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小于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_______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定义的字符数组的长度</a:t>
            </a: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620639" cy="493096"/>
          </a:xfrm>
          <a:prstGeom prst="borderCallout1">
            <a:avLst>
              <a:gd name="adj1" fmla="val 5884"/>
              <a:gd name="adj2" fmla="val -2356"/>
              <a:gd name="adj3" fmla="val 277543"/>
              <a:gd name="adj4" fmla="val -116808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无下标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374" y="162560"/>
            <a:ext cx="524514" cy="254275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904" y="1222824"/>
            <a:ext cx="659849" cy="317813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2088" y="4636920"/>
            <a:ext cx="2973000" cy="21167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方式输出单个字符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长度缺省为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("%c*\n", a[5]);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a[3]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是为了确认只输出了一个字符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+mn-ea"/>
              </a:rPr>
              <a:t>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+mn-ea"/>
              </a:rPr>
              <a:t>n*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+mn-ea"/>
              </a:rPr>
              <a:t>d*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91" y="2354437"/>
            <a:ext cx="4067743" cy="16671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方式以单个字符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循环形式输出整个数组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AutoShape 4"/>
          <p:cNvSpPr/>
          <p:nvPr/>
        </p:nvSpPr>
        <p:spPr bwMode="auto">
          <a:xfrm>
            <a:off x="3506094" y="3001961"/>
            <a:ext cx="1944216" cy="504056"/>
          </a:xfrm>
          <a:prstGeom prst="borderCallout1">
            <a:avLst>
              <a:gd name="adj1" fmla="val 11671"/>
              <a:gd name="adj2" fmla="val -2356"/>
              <a:gd name="adj3" fmla="val 211514"/>
              <a:gd name="adj4" fmla="val -5246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缺省长度为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[0]-[6]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，尾零不输出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735" y="2373223"/>
            <a:ext cx="4077269" cy="1257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方式以单个字符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循环形式输出整个数组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("%c,",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 &lt;&lt; '*';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solidFill>
                  <a:srgbClr val="000000"/>
                </a:solidFill>
                <a:latin typeface="+mn-ea"/>
              </a:rPr>
              <a:t>S,t,u,d,e,n,t,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solidFill>
                  <a:srgbClr val="000000"/>
                </a:solidFill>
                <a:latin typeface="+mn-ea"/>
              </a:rPr>
              <a:t>S*t*u*d*e*n*t*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5970" y="3206001"/>
            <a:ext cx="2160240" cy="2068030"/>
            <a:chOff x="6804248" y="4381155"/>
            <a:chExt cx="2160240" cy="2068030"/>
          </a:xfrm>
        </p:grpSpPr>
        <p:sp>
          <p:nvSpPr>
            <p:cNvPr id="13" name="AutoShape 4"/>
            <p:cNvSpPr/>
            <p:nvPr/>
          </p:nvSpPr>
          <p:spPr bwMode="auto">
            <a:xfrm>
              <a:off x="7524328" y="4381155"/>
              <a:ext cx="1440160" cy="646088"/>
            </a:xfrm>
            <a:prstGeom prst="borderCallout1">
              <a:avLst>
                <a:gd name="adj1" fmla="val 11671"/>
                <a:gd name="adj2" fmla="val -2356"/>
                <a:gd name="adj3" fmla="val 187764"/>
                <a:gd name="adj4" fmla="val -101718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%c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后面多一个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方式每个字符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后面多一个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</a:t>
              </a:r>
              <a:endPara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4" name="直接连接符 13"/>
            <p:cNvCxnSpPr>
              <a:stCxn id="13" idx="2"/>
            </p:cNvCxnSpPr>
            <p:nvPr/>
          </p:nvCxnSpPr>
          <p:spPr bwMode="auto">
            <a:xfrm flipH="1">
              <a:off x="6804248" y="4704199"/>
              <a:ext cx="720080" cy="174498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511" y="2380795"/>
            <a:ext cx="4191585" cy="13717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问：尾零输出了吗？如何证明？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没有。在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a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以后再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一个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在新版控制台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新宋体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28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、旧版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控制台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新宋体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28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、旧版控制台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新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宋体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等不同的情况下输出，发现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以后都没有输出任何东西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就直接输出了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，说明很可能没有输出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860313" y="2679333"/>
            <a:ext cx="2353602" cy="1042135"/>
            <a:chOff x="1763688" y="2566885"/>
            <a:chExt cx="2353602" cy="1042135"/>
          </a:xfrm>
        </p:grpSpPr>
        <p:sp>
          <p:nvSpPr>
            <p:cNvPr id="10" name="AutoShape 4"/>
            <p:cNvSpPr/>
            <p:nvPr/>
          </p:nvSpPr>
          <p:spPr bwMode="auto">
            <a:xfrm>
              <a:off x="2821146" y="2566885"/>
              <a:ext cx="1296144" cy="502073"/>
            </a:xfrm>
            <a:prstGeom prst="borderCallout1">
              <a:avLst>
                <a:gd name="adj1" fmla="val 5884"/>
                <a:gd name="adj2" fmla="val -2356"/>
                <a:gd name="adj3" fmla="val 265985"/>
                <a:gd name="adj4" fmla="val -135887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跟数组名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不是数组元素名</a:t>
              </a:r>
            </a:p>
          </p:txBody>
        </p:sp>
        <p:cxnSp>
          <p:nvCxnSpPr>
            <p:cNvPr id="11" name="直接连接符 10"/>
            <p:cNvCxnSpPr>
              <a:stCxn id="10" idx="2"/>
            </p:cNvCxnSpPr>
            <p:nvPr/>
          </p:nvCxnSpPr>
          <p:spPr bwMode="auto">
            <a:xfrm flipH="1">
              <a:off x="1763688" y="2817922"/>
              <a:ext cx="1057458" cy="7910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373" y="2230184"/>
            <a:ext cx="4248743" cy="14003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a[]="Student\0china";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a[12]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14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：从本例的结果可知，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 数组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的长度是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___14___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最后是否还有隐含的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？有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中的字符串的长度是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__7__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：字符串形式输出字符数组，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如果数组中包含显式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'\0'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则输出到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___\0___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为止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644" y="1586946"/>
            <a:ext cx="4220164" cy="19243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不含尾零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注意：不能以字符串方式初始化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a[5]={'C','h','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','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n','a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'};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096000" y="1830434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China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烫烫烫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書欂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???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China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烫烫烫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書欂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：为什么会有乱字符？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a[5]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中没有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，输出字符串时输出到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为止，所以一直在输出乱字符直到碰巧遇到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：如果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%s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方式换成下面形式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for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&lt;5;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("%c",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还会看到乱字符吗？为什么？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不会，因为以一个字符一个字符的方式输出，不需要碰到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就能停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止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377" y="2564017"/>
            <a:ext cx="4077269" cy="12479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不含尾零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a[5];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不初始化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烫烫烫烫烫烫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齩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烫烫烫烫烫烫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齩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：为什么会有乱字符？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没有初始化，一直输出乱字符直到碰到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：乱字符出现几行是正常的？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一行？多行？或者都正常？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都正常，取决于哪里会碰巧遇到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结论：不能字符串形式输出不含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__\0____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的字符数组，否则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可能会得到不正确的结果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177" y="2091229"/>
            <a:ext cx="4163006" cy="19624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：从任一元素开始以字符串形式输出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38066" y="2545210"/>
            <a:ext cx="3091200" cy="1656184"/>
            <a:chOff x="3143673" y="2852936"/>
            <a:chExt cx="3091200" cy="1656184"/>
          </a:xfrm>
        </p:grpSpPr>
        <p:sp>
          <p:nvSpPr>
            <p:cNvPr id="6" name="AutoShape 4"/>
            <p:cNvSpPr/>
            <p:nvPr/>
          </p:nvSpPr>
          <p:spPr bwMode="auto">
            <a:xfrm>
              <a:off x="4742391" y="2852936"/>
              <a:ext cx="648072" cy="286050"/>
            </a:xfrm>
            <a:prstGeom prst="borderCallout1">
              <a:avLst>
                <a:gd name="adj1" fmla="val 5884"/>
                <a:gd name="adj2" fmla="val -2356"/>
                <a:gd name="adj3" fmla="val 415312"/>
                <a:gd name="adj4" fmla="val -249976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%s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形式</a:t>
              </a:r>
            </a:p>
          </p:txBody>
        </p:sp>
        <p:sp>
          <p:nvSpPr>
            <p:cNvPr id="7" name="AutoShape 4"/>
            <p:cNvSpPr/>
            <p:nvPr/>
          </p:nvSpPr>
          <p:spPr bwMode="auto">
            <a:xfrm>
              <a:off x="4772051" y="3442501"/>
              <a:ext cx="1462822" cy="346540"/>
            </a:xfrm>
            <a:prstGeom prst="borderCallout1">
              <a:avLst>
                <a:gd name="adj1" fmla="val 5884"/>
                <a:gd name="adj2" fmla="val -2356"/>
                <a:gd name="adj3" fmla="val 155055"/>
                <a:gd name="adj4" fmla="val -66747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数组元素名形式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 flipH="1">
              <a:off x="3143673" y="3559514"/>
              <a:ext cx="1617999" cy="94960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" name="椭圆 9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&amp;a[3]);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&amp;a[3]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dent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dent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511" y="2424124"/>
            <a:ext cx="4105848" cy="11241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方式从任一元素开始以字符串形式输入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&amp;a[3]);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行，内容是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72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AutoShape 4"/>
          <p:cNvSpPr/>
          <p:nvPr/>
        </p:nvSpPr>
        <p:spPr bwMode="auto">
          <a:xfrm>
            <a:off x="4091019" y="3750087"/>
            <a:ext cx="1462822" cy="346540"/>
          </a:xfrm>
          <a:prstGeom prst="borderCallout1">
            <a:avLst>
              <a:gd name="adj1" fmla="val 5884"/>
              <a:gd name="adj2" fmla="val -2356"/>
              <a:gd name="adj3" fmla="val 300957"/>
              <a:gd name="adj4" fmla="val -97634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数组元素名形式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577" y="1223178"/>
            <a:ext cx="863071" cy="27001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827" y="2754702"/>
            <a:ext cx="777783" cy="35023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方式从任一元素开始以字符串形式输入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&amp;a[3];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行，内容是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72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16-18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的结果，得出的结论是：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方式从任一元素开始以字符串形式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输入输出时，表示形式都是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__%s_ 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的形式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572273" y="3662164"/>
            <a:ext cx="1462822" cy="346540"/>
          </a:xfrm>
          <a:prstGeom prst="borderCallout1">
            <a:avLst>
              <a:gd name="adj1" fmla="val 5884"/>
              <a:gd name="adj2" fmla="val -2356"/>
              <a:gd name="adj3" fmla="val 300957"/>
              <a:gd name="adj4" fmla="val -97634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数组元素名形式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709" y="1113617"/>
            <a:ext cx="700383" cy="250402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687" y="2364961"/>
            <a:ext cx="739835" cy="373811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1-3.</a:t>
            </a:r>
            <a:r>
              <a:rPr lang="zh-CN" altLang="en-US" sz="1600" b="1" dirty="0">
                <a:latin typeface="+mn-ea"/>
              </a:rPr>
              <a:t>总结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完成下表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给出了第一行的答案供参考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</a:t>
            </a:r>
          </a:p>
        </p:txBody>
      </p:sp>
      <p:graphicFrame>
        <p:nvGraphicFramePr>
          <p:cNvPr id="3" name="Group 54"/>
          <p:cNvGraphicFramePr>
            <a:graphicFrameLocks noGrp="1"/>
          </p:cNvGraphicFramePr>
          <p:nvPr/>
        </p:nvGraphicFramePr>
        <p:xfrm>
          <a:off x="287061" y="1611217"/>
          <a:ext cx="6984776" cy="2374687"/>
        </p:xfrm>
        <a:graphic>
          <a:graphicData uri="http://schemas.openxmlformats.org/drawingml/2006/table">
            <a:tbl>
              <a:tblPr/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方式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C++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方式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输入单个字符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("%c",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 &gt;&gt; 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输入字符串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(“%s”,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&gt;&gt;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输出单个字符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printf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("%c",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&lt;&lt;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输出字符串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printf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(“%s”,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&lt;&lt;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任一元素开始输入串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("%s",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&gt;&gt;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任一元素开始输出串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printf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("%s",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&lt;&lt;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方式多个字符串的输入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s%s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a, 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("%s-%s\n",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-def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3300"/>
                </a:solidFill>
                <a:latin typeface="+mn-ea"/>
              </a:rPr>
              <a:t>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-def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结论：空格是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____B_____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输入串中的合法字符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B.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输入分隔符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990" y="2583878"/>
            <a:ext cx="3345729" cy="10294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848" y="4427923"/>
            <a:ext cx="2780544" cy="10689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方式多个字符串的输入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'-'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-def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3300"/>
                </a:solidFill>
                <a:latin typeface="+mn-ea"/>
              </a:rPr>
              <a:t>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-def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结论：空格是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__B_______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输入串中的合法字符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B.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输入分隔符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综合例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19-20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可知：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从键盘上输入的字符串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不能包含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______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956" y="2216805"/>
            <a:ext cx="3361461" cy="10371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486" y="3633922"/>
            <a:ext cx="2667747" cy="10371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VS2022    </a:t>
            </a:r>
            <a:r>
              <a:rPr lang="zh-CN" altLang="en-US" sz="1600" b="1" dirty="0">
                <a:latin typeface="+mn-ea"/>
              </a:rPr>
              <a:t>：有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，无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，  有</a:t>
            </a:r>
            <a:r>
              <a:rPr lang="en-US" altLang="zh-CN" sz="1600" b="1" dirty="0" err="1">
                <a:latin typeface="+mn-ea"/>
              </a:rPr>
              <a:t>fgets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Dev C++   </a:t>
            </a:r>
            <a:r>
              <a:rPr lang="zh-CN" altLang="en-US" sz="1600" b="1" dirty="0">
                <a:latin typeface="+mn-ea"/>
              </a:rPr>
              <a:t>：有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，  无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，有</a:t>
            </a:r>
            <a:r>
              <a:rPr lang="en-US" altLang="zh-CN" sz="1600" b="1" dirty="0" err="1">
                <a:latin typeface="+mn-ea"/>
              </a:rPr>
              <a:t>fgets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zh-CN" altLang="en-US" sz="1600" b="1" dirty="0">
                <a:latin typeface="+mn-ea"/>
              </a:rPr>
              <a:t>函数的原型定义为：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字符数组名，最大长度，</a:t>
            </a:r>
            <a:r>
              <a:rPr lang="en-US" altLang="zh-CN" sz="1600" b="1" dirty="0" err="1">
                <a:latin typeface="+mn-ea"/>
              </a:rPr>
              <a:t>stdin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</a:t>
            </a:r>
            <a:r>
              <a:rPr lang="zh-CN" altLang="en-US" sz="1600" b="1" dirty="0">
                <a:latin typeface="+mn-ea"/>
              </a:rPr>
              <a:t>但与</a:t>
            </a:r>
            <a:r>
              <a:rPr lang="en-US" altLang="zh-CN" sz="1600" b="1" dirty="0">
                <a:latin typeface="+mn-ea"/>
              </a:rPr>
              <a:t>gets/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的表现有不同，请自行观察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★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scanf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cin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通过某些高级设置方式还是可以输入含空格的字符串的，本课程不再讨论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输入含空格的字符串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gets_s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gets_s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、键盘先输入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问：为什么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因为要预留一个位置给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487" y="2518837"/>
            <a:ext cx="2814385" cy="133830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595" y="3313079"/>
            <a:ext cx="2452956" cy="186046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961" y="4466039"/>
            <a:ext cx="2272382" cy="174738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DevC</a:t>
            </a:r>
            <a:r>
              <a:rPr lang="en-US" altLang="zh-CN" sz="1600" b="1" dirty="0">
                <a:latin typeface="+mn-ea"/>
              </a:rPr>
              <a:t>++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输入含空格的字符串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gets(a);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gets(b);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971909"/>
            <a:ext cx="3096344" cy="56714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没反应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、键盘先输入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问：为什么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因为要预留一个位置给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057" y="1720971"/>
            <a:ext cx="3096344" cy="12680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03" y="3971424"/>
            <a:ext cx="5900299" cy="191466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不同编译器从键盘输入含空格字符串的方法不同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Dev C++</a:t>
            </a:r>
            <a:r>
              <a:rPr lang="zh-CN" altLang="en-US" sz="1600" b="1" dirty="0">
                <a:latin typeface="+mn-ea"/>
              </a:rPr>
              <a:t>均可用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zh-CN" altLang="en-US" sz="1600" b="1" dirty="0">
                <a:latin typeface="+mn-ea"/>
              </a:rPr>
              <a:t>输入含空格的字符串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(a,10,stdin);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(b,20,stdin);</a:t>
            </a:r>
            <a:endParaRPr kumimoji="1" lang="en-US" altLang="zh-CN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a[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b[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int(b[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97 98 99 32 100 101 102 10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120 121 122 10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：和例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21-22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的输出区别在哪里？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每个字符串的最后（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前）都多了一个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ascii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码为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的回车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：后面两段红色代码的目的是什么？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分解观察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中的每一个字符分别是什么，使用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型输出可以保证看到每一个字符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fi-FI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aaaaaaaaa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fi-FI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fi-FI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fi-FI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97 97 97 97 97 97 97 97 97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fi-FI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fi-FI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、如果输入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jklmnopqrstuvwxyzaa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97 98 99 100 101 102 103 104 105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106 107 108 109 110 111 112 113 114 115 116 117 118 119 120 121 122 97 97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、如果输入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超过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jklmnopqrstuvwxyzaa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97 98 99 100 101 102 103 104 105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106 107 108 109 110 111 112 113 114 115 116 117 118 119 120 121 122 97 97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566" y="162560"/>
            <a:ext cx="2531350" cy="18585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687" y="2933387"/>
            <a:ext cx="2088750" cy="12172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64" y="3793344"/>
            <a:ext cx="5926968" cy="1192319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462069" y="2784562"/>
            <a:ext cx="208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Dev C++ </a:t>
            </a:r>
            <a:r>
              <a:rPr lang="zh-CN" altLang="en-US" dirty="0"/>
              <a:t>结果同</a:t>
            </a:r>
            <a:r>
              <a:rPr lang="en-US" altLang="zh-CN" dirty="0"/>
              <a:t>VS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724" y="5684033"/>
            <a:ext cx="4846308" cy="95933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24</a:t>
            </a:r>
            <a:r>
              <a:rPr lang="zh-CN" altLang="en-US" sz="1600" b="1" dirty="0">
                <a:latin typeface="+mn-ea"/>
              </a:rPr>
              <a:t>：二维字符数组以双下标形式输出单个字符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单下标形式输出字符串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单个字符输出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双下标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("a[0][2]=%c\n", a[0][2]);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"a[1][20]=" &lt;&lt; a[1][20]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字符串输出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n",a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a[0][2]=C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a[1][20]=u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a[2]=0123456789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91" y="2445569"/>
            <a:ext cx="4753638" cy="191479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25</a:t>
            </a:r>
            <a:r>
              <a:rPr lang="zh-CN" altLang="en-US" sz="1600" b="1" dirty="0">
                <a:latin typeface="+mn-ea"/>
              </a:rPr>
              <a:t>：二维字符数组以双下标形式输入单个字符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单字符输入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双下标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("%c\n", &amp;a[0][2]);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格式符为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%c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a[1][20];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字符串输出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("a[0]=%s\n", a[0]);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#@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a[0]=AB#DEFGHIJKLMNOPQRSTUVWXYZ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abcdefghijklmnopqrst@vwxyz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@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a[0]=AB#DEFGHIJKLMNOPQRSTUVWXYZ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abcdefghijklmnopqrst@vwxyz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343" y="2222272"/>
            <a:ext cx="3506568" cy="10912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469" y="4578538"/>
            <a:ext cx="3353298" cy="132541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26</a:t>
            </a:r>
            <a:r>
              <a:rPr lang="zh-CN" altLang="en-US" sz="1600" b="1" dirty="0">
                <a:latin typeface="+mn-ea"/>
              </a:rPr>
              <a:t>：二维字符数组以单下标形式输入字符串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需要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("%s", a[1]);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//a[1]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是一维数组名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,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"a[0]=" &lt;&lt; a[0]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873105"/>
            <a:ext cx="3096344" cy="59326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、输入≤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29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个字符，输出为：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a[2]=0123456789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30-59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个字符，输出为：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abcdefghijklmnopqrstuvwxyzaaaaaaaaaa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aaaaaa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60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个以上字符，输出为：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将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换为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&gt;&gt; a[1];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再重复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，观察结果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结果同上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30~59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个字符为什么不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出现错误？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输入时从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a[1]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的首地址开始赋值，以后的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60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个地址都是已经声明过的，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输入最多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59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的字符，预留了一个位置给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，没有越界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a[2]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中是什么？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a[2]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中的是输入的字符去掉前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个后留下的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：简述你是怎么理解二维数组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越界的？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只有超过了整个二维数组的所占的地址才算越界，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无关乎二维数组中各个一维数组分别占什么地址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输入时只需在整个二维数组最后预留一个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100" y="277776"/>
            <a:ext cx="2676345" cy="103935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409" y="1317133"/>
            <a:ext cx="3323934" cy="10393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789" y="2315344"/>
            <a:ext cx="3645417" cy="222729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601970" y="2783840"/>
            <a:ext cx="7502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a[0]=ABCDEFGHIJKLMNOPQRSTUVWXYZ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a[1]= ABCDEFGHIJKLMNOPQRSTUVWXYZABCDEFGHIJKLMNOPQRSTUVWXYZABCDEFGHIJKLMNOPQRSTUVWXYZ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a[2]=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EFGHIJKLMNOPQRSTUVWXYZABCDEFGHIJKLMNOPQRSTUVWXYZ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27</a:t>
            </a:r>
            <a:r>
              <a:rPr lang="zh-CN" altLang="en-US" sz="1600" b="1" dirty="0">
                <a:latin typeface="+mn-ea"/>
              </a:rPr>
              <a:t>：二维字符数组从任一位置开始输出字符串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             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abcdefghijklmnopqrstuvwxyz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组）单字符输出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双下标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("a[0][2]=%c\n", a[0][2]);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"a[1][20]=" &lt;&lt; a[1][20]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组）字符串输出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(&amp;+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双下标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("a[0][2]=%s\n", &amp;a[0][2]); </a:t>
            </a:r>
            <a:endParaRPr kumimoji="1" lang="zh-CN" altLang="zh-CN" sz="1200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"a[1][20]=" &lt;&lt; &amp;a[1][20]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组）字符串输出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单下标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("a[0]=%s\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n",a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"a[2]=" &lt;&lt; a[2]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：同样双下标形式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1/2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怎样输出单个字符？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里使用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，不加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里不加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怎样输出字符串？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里用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，加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里加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：如何修改第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组的输出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必须保持双下标形式不变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使输出结果与第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组一致？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kumimoji="1" lang="pt-BR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printf("a[0]=%s\n", &amp;a[0][0]);</a:t>
            </a:r>
          </a:p>
          <a:p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"a[2]=" &lt;&lt; &amp;a[2][0]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524" y="1344261"/>
            <a:ext cx="5039428" cy="255305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45119" y="2242867"/>
            <a:ext cx="329241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a[0][2]=C</a:t>
            </a:r>
          </a:p>
          <a:p>
            <a:r>
              <a:rPr lang="en-US" altLang="zh-CN" sz="1050" dirty="0"/>
              <a:t>a[1][20]=u</a:t>
            </a:r>
          </a:p>
          <a:p>
            <a:r>
              <a:rPr lang="en-US" altLang="zh-CN" sz="1050" dirty="0"/>
              <a:t>a[0][2]=CDEFGHIJKLMNOPQRSTUVWXYZ</a:t>
            </a:r>
          </a:p>
          <a:p>
            <a:r>
              <a:rPr lang="en-US" altLang="zh-CN" sz="1050" dirty="0"/>
              <a:t>a[1][20]=</a:t>
            </a:r>
            <a:r>
              <a:rPr lang="en-US" altLang="zh-CN" sz="1050" dirty="0" err="1"/>
              <a:t>uvwxyz</a:t>
            </a:r>
            <a:endParaRPr lang="en-US" altLang="zh-CN" sz="1050" dirty="0"/>
          </a:p>
          <a:p>
            <a:r>
              <a:rPr lang="en-US" altLang="zh-CN" sz="1050" dirty="0"/>
              <a:t>a[0]=ABCDEFGHIJKLMNOPQRSTUVWXYZ</a:t>
            </a:r>
          </a:p>
          <a:p>
            <a:r>
              <a:rPr lang="en-US" altLang="zh-CN" sz="1050" dirty="0"/>
              <a:t>a[2]=0123456789</a:t>
            </a:r>
            <a:endParaRPr lang="zh-CN" alt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28</a:t>
            </a:r>
            <a:r>
              <a:rPr lang="zh-CN" altLang="en-US" sz="1600" b="1" dirty="0">
                <a:latin typeface="+mn-ea"/>
              </a:rPr>
              <a:t>：二维字符数组从任一位置开始输入字符串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&amp;a[1][3]);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//&amp;+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双下标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"a[0]=" &lt;&lt; a[0]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595835"/>
            <a:ext cx="3096344" cy="5894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a[0]=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a[1]=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a[2]=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0123456789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27-56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a[0]=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a[1]=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a[2]=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个以上字符，输出为：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a[0]=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a[1]=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abcABCDEFGHIJKLMNOPQRSTUVWXYZABCDEFGHIJKLMNOPQRSTUVWXYZaaaaaa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a[2]=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BCDEFGHIJKLMNOPQRSTUVWXYZaaaaaa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换为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&amp;a[1][3];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再重复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，观察结果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结果一致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27~56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个字符为什么不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出现错误？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中是什么？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输入时从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a[1][3]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的地址开始赋值，以后的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57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个地址都是已经声明过的，输入最多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56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的字符，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预留了一个位置给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，没有越界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 a[2]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中的是输入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的字符去掉前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个后留下的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：如果想不影响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中是≤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29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本例中是≤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差别在哪？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输入后赋值的起始位置不一样，本例从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a[1][3]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开始，例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从一维数组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的首地址开始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2708" y="595520"/>
            <a:ext cx="3158626" cy="11931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325" y="1913890"/>
            <a:ext cx="3062605" cy="10153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417" y="2370988"/>
            <a:ext cx="3359926" cy="249081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</a:t>
            </a:r>
            <a:r>
              <a:rPr lang="zh-CN" altLang="en-US" sz="1600" b="1" dirty="0">
                <a:latin typeface="+mn-ea"/>
              </a:rPr>
              <a:t>尾零的输出</a:t>
            </a: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29</a:t>
            </a:r>
            <a:r>
              <a:rPr lang="zh-CN" altLang="en-US" sz="1600" b="1" dirty="0">
                <a:latin typeface="+mn-ea"/>
              </a:rPr>
              <a:t>：在不同的控制台及字体设置下尾零输出的差异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2" y="1836812"/>
            <a:ext cx="6570785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char a[10] = { 'c','h','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','</a:t>
            </a:r>
            <a:r>
              <a:rPr lang="en-US" altLang="zh-CN" sz="1600" b="1" dirty="0" err="1">
                <a:latin typeface="+mn-ea"/>
              </a:rPr>
              <a:t>n','a</a:t>
            </a:r>
            <a:r>
              <a:rPr lang="en-US" altLang="zh-CN" sz="1600" b="1" dirty="0">
                <a:latin typeface="+mn-ea"/>
              </a:rPr>
              <a:t>' };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         1         2         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for (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 = 0;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 &lt; 10;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++)</a:t>
            </a:r>
          </a:p>
          <a:p>
            <a:r>
              <a:rPr lang="en-US" altLang="zh-CN" sz="1600" b="1" dirty="0">
                <a:latin typeface="+mn-ea"/>
              </a:rPr>
              <a:t>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int(</a:t>
            </a:r>
            <a:r>
              <a:rPr lang="en-US" altLang="zh-CN" sz="1600" b="1" dirty="0">
                <a:latin typeface="+mn-ea"/>
              </a:rPr>
              <a:t>a[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]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r>
              <a:rPr lang="en-US" altLang="zh-CN" sz="1600" b="1" dirty="0">
                <a:latin typeface="+mn-ea"/>
              </a:rPr>
              <a:t> &lt;&lt; '$';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确认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a[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]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是否输出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加行尾识别符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672177" y="802312"/>
            <a:ext cx="3784202" cy="56876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、新版控制台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新宋体</a:t>
            </a:r>
            <a:r>
              <a:rPr kumimoji="1" lang="en-US" altLang="zh-CN" sz="1600" b="1" dirty="0">
                <a:latin typeface="+mn-ea"/>
              </a:rPr>
              <a:t>28</a:t>
            </a:r>
            <a:r>
              <a:rPr kumimoji="1" lang="zh-CN" altLang="en-US" sz="1600" b="1" dirty="0">
                <a:latin typeface="+mn-ea"/>
              </a:rPr>
              <a:t>点阵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、旧版控制台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新宋体</a:t>
            </a:r>
            <a:r>
              <a:rPr kumimoji="1" lang="en-US" altLang="zh-CN" sz="1600" b="1" dirty="0">
                <a:latin typeface="+mn-ea"/>
              </a:rPr>
              <a:t>28</a:t>
            </a:r>
            <a:r>
              <a:rPr kumimoji="1" lang="zh-CN" altLang="en-US" sz="1600" b="1" dirty="0">
                <a:latin typeface="+mn-ea"/>
              </a:rPr>
              <a:t>点阵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、旧版控制台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新宋体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点阵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、不要以字符形式输出</a:t>
            </a:r>
            <a:r>
              <a:rPr kumimoji="1" lang="en-US" altLang="zh-CN" sz="1600" b="1" dirty="0">
                <a:latin typeface="+mn-ea"/>
              </a:rPr>
              <a:t>\0</a:t>
            </a:r>
            <a:r>
              <a:rPr kumimoji="1" lang="zh-CN" altLang="en-US" sz="1600" b="1" dirty="0">
                <a:latin typeface="+mn-ea"/>
              </a:rPr>
              <a:t>，因为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看到的内容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不可信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可信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不可信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、如果想准确得知某字符的值，转为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___int___</a:t>
            </a:r>
            <a:r>
              <a:rPr kumimoji="1" lang="zh-CN" altLang="en-US" sz="1600" b="1" dirty="0">
                <a:latin typeface="+mn-ea"/>
              </a:rPr>
              <a:t>类型输出即可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左侧改一处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307" y="1103179"/>
            <a:ext cx="3368876" cy="11723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893" y="4046723"/>
            <a:ext cx="4096322" cy="10764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943" y="2579743"/>
            <a:ext cx="2932563" cy="106638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</a:t>
            </a:r>
            <a:r>
              <a:rPr lang="zh-CN" altLang="en-US" sz="1600" b="1" dirty="0">
                <a:latin typeface="+mn-ea"/>
              </a:rPr>
              <a:t>尾零的输出</a:t>
            </a: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30</a:t>
            </a:r>
            <a:r>
              <a:rPr lang="zh-CN" altLang="en-US" sz="1600" b="1" dirty="0">
                <a:latin typeface="+mn-ea"/>
              </a:rPr>
              <a:t>：在不同的控制台及字体设置下其它非图形字符输出的差异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（去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码表中查表示扑克牌</a:t>
            </a:r>
            <a:r>
              <a:rPr lang="zh-CN" altLang="en-US" sz="1600" b="1" kern="1200" dirty="0">
                <a:latin typeface="+mn-ea"/>
              </a:rPr>
              <a:t>四种花色</a:t>
            </a:r>
            <a:r>
              <a:rPr lang="zh-CN" altLang="en-US" sz="1600" b="1" dirty="0">
                <a:latin typeface="+mn-ea"/>
              </a:rPr>
              <a:t>的字符，用测试程序打印含这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个字符的字符串，然后贴图）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2" y="1836812"/>
            <a:ext cx="6570785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"\3\4\5\6"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672177" y="1836812"/>
            <a:ext cx="3784202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、某版控制台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某字体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某点阵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此处找到一种可显示的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新版控制台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点阵字体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、某版控制台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某字体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某点阵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此处随便找到一种不显示的即可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新版控制台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新宋体</a:t>
            </a:r>
            <a:r>
              <a:rPr kumimoji="1" lang="en-US" altLang="zh-CN" sz="1600" b="1" dirty="0">
                <a:latin typeface="+mn-ea"/>
              </a:rPr>
              <a:t>16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上页的结论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也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适用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适用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不适用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于其它非图形字符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628" y="1726464"/>
            <a:ext cx="3679664" cy="22926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298" y="4401461"/>
            <a:ext cx="3747154" cy="101017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FkYTAzODc1OTI4MjVhMmUxM2FjNmFjZGNmZmI0ZTQ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7865</Words>
  <Application>Microsoft Office PowerPoint</Application>
  <PresentationFormat>宽屏</PresentationFormat>
  <Paragraphs>1523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0" baseType="lpstr">
      <vt:lpstr>等线</vt:lpstr>
      <vt:lpstr>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41</cp:revision>
  <dcterms:created xsi:type="dcterms:W3CDTF">2020-08-13T13:39:00Z</dcterms:created>
  <dcterms:modified xsi:type="dcterms:W3CDTF">2024-05-27T03:25:47Z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CFF54528310547CA9865BC69FE4AF9B1_12</vt:lpwstr>
  </property>
  <property fmtid="{D5CDD505-2E9C-101B-9397-08002B2CF9AE}" pid="3" name="KSOProductBuildVer">
    <vt:lpwstr>2052-12.1.0.16729</vt:lpwstr>
  </property>
</Properties>
</file>