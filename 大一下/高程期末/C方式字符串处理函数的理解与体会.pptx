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26"/>
  </p:notesMasterIdLst>
  <p:sldIdLst>
    <p:sldId id="990" r:id="rId2"/>
    <p:sldId id="992" r:id="rId3"/>
    <p:sldId id="993" r:id="rId4"/>
    <p:sldId id="1238" r:id="rId5"/>
    <p:sldId id="1244" r:id="rId6"/>
    <p:sldId id="1245" r:id="rId7"/>
    <p:sldId id="1239" r:id="rId8"/>
    <p:sldId id="1246" r:id="rId9"/>
    <p:sldId id="1247" r:id="rId10"/>
    <p:sldId id="1240" r:id="rId11"/>
    <p:sldId id="1248" r:id="rId12"/>
    <p:sldId id="1249" r:id="rId13"/>
    <p:sldId id="1250" r:id="rId14"/>
    <p:sldId id="1241" r:id="rId15"/>
    <p:sldId id="1251" r:id="rId16"/>
    <p:sldId id="1252" r:id="rId17"/>
    <p:sldId id="1253" r:id="rId18"/>
    <p:sldId id="1254" r:id="rId19"/>
    <p:sldId id="1242" r:id="rId20"/>
    <p:sldId id="1255" r:id="rId21"/>
    <p:sldId id="1256" r:id="rId22"/>
    <p:sldId id="1257" r:id="rId23"/>
    <p:sldId id="1243" r:id="rId24"/>
    <p:sldId id="1258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E2DD42-42BD-4084-B1DA-27D870C63EFE}" v="179" dt="2024-05-09T14:09:23.7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12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  <a:t>2024/6/23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755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6D1469-C67C-43DD-86C4-BFFF7550F22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658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FEC486-F6C5-4AAA-8960-E919FE3FCCA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66813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3DCA4C-AF04-4244-A082-F134C26C2F6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58501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191335-FFD6-4CC5-9B10-2218992F66C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04261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918295-1FD1-4DA7-9F4F-48ED7ABBB1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9771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658311-2B5E-4B54-A64F-80F748F0F7B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9016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463A07-5878-4175-8019-C3E8ECC8F15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892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66A801-E626-4839-9137-0EEA428EDCF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2851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8B0799-F841-424A-B011-CEEF2562E9E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36154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C77222-3A9B-4630-963E-A75EDD7F2B5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0252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A121C8-6AEF-4C3E-B3B5-FD8A0792709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937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454C29BD-F113-4F65-8132-FD331AFC82F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08B5E3D3-37C4-4BB5-A53A-9A3EE5FD31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8348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总体知识：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常用字符串处理函数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① </a:t>
            </a:r>
            <a:r>
              <a:rPr lang="en-US" altLang="zh-CN" sz="1600" b="1" dirty="0" err="1">
                <a:latin typeface="+mn-ea"/>
              </a:rPr>
              <a:t>strlen</a:t>
            </a:r>
            <a:r>
              <a:rPr lang="en-US" altLang="zh-CN" sz="1600" b="1" dirty="0">
                <a:latin typeface="+mn-ea"/>
              </a:rPr>
              <a:t> (const char s[]);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② </a:t>
            </a:r>
            <a:r>
              <a:rPr lang="en-US" altLang="zh-CN" sz="1600" b="1" dirty="0" err="1">
                <a:latin typeface="+mn-ea"/>
              </a:rPr>
              <a:t>strcat</a:t>
            </a:r>
            <a:r>
              <a:rPr lang="en-US" altLang="zh-CN" sz="1600" b="1" dirty="0">
                <a:latin typeface="+mn-ea"/>
              </a:rPr>
              <a:t> 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[]);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③ </a:t>
            </a:r>
            <a:r>
              <a:rPr lang="en-US" altLang="zh-CN" sz="1600" b="1" dirty="0" err="1">
                <a:latin typeface="+mn-ea"/>
              </a:rPr>
              <a:t>strncat</a:t>
            </a:r>
            <a:r>
              <a:rPr lang="en-US" altLang="zh-CN" sz="1600" b="1" dirty="0">
                <a:latin typeface="+mn-ea"/>
              </a:rPr>
              <a:t>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[], const unsigned int </a:t>
            </a:r>
            <a:r>
              <a:rPr lang="en-US" altLang="zh-CN" sz="1600" b="1" dirty="0" err="1">
                <a:latin typeface="+mn-ea"/>
              </a:rPr>
              <a:t>len</a:t>
            </a:r>
            <a:r>
              <a:rPr lang="en-US" altLang="zh-CN" sz="1600" b="1" dirty="0">
                <a:latin typeface="+mn-ea"/>
              </a:rPr>
              <a:t>);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只有它不复制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\0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④ </a:t>
            </a:r>
            <a:r>
              <a:rPr lang="en-US" altLang="zh-CN" sz="1600" b="1" dirty="0" err="1">
                <a:latin typeface="+mn-ea"/>
              </a:rPr>
              <a:t>strcpy</a:t>
            </a:r>
            <a:r>
              <a:rPr lang="en-US" altLang="zh-CN" sz="1600" b="1" dirty="0">
                <a:latin typeface="+mn-ea"/>
              </a:rPr>
              <a:t> 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[]);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⑤ </a:t>
            </a:r>
            <a:r>
              <a:rPr lang="en-US" altLang="zh-CN" sz="1600" b="1" dirty="0" err="1">
                <a:latin typeface="+mn-ea"/>
              </a:rPr>
              <a:t>strncpy</a:t>
            </a:r>
            <a:r>
              <a:rPr lang="en-US" altLang="zh-CN" sz="1600" b="1" dirty="0">
                <a:latin typeface="+mn-ea"/>
              </a:rPr>
              <a:t>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[], const unsigned int </a:t>
            </a:r>
            <a:r>
              <a:rPr lang="en-US" altLang="zh-CN" sz="1600" b="1" dirty="0" err="1">
                <a:latin typeface="+mn-ea"/>
              </a:rPr>
              <a:t>len</a:t>
            </a:r>
            <a:r>
              <a:rPr lang="en-US" altLang="zh-CN" sz="1600" b="1" dirty="0">
                <a:latin typeface="+mn-ea"/>
              </a:rPr>
              <a:t>);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⑥ </a:t>
            </a:r>
            <a:r>
              <a:rPr lang="en-US" altLang="zh-CN" sz="1600" b="1" dirty="0" err="1">
                <a:latin typeface="+mn-ea"/>
              </a:rPr>
              <a:t>strcmp</a:t>
            </a:r>
            <a:r>
              <a:rPr lang="en-US" altLang="zh-CN" sz="1600" b="1" dirty="0">
                <a:latin typeface="+mn-ea"/>
              </a:rPr>
              <a:t> (const char s1[], const char s2[]);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⑦ </a:t>
            </a:r>
            <a:r>
              <a:rPr lang="en-US" altLang="zh-CN" sz="1600" b="1" dirty="0" err="1">
                <a:latin typeface="+mn-ea"/>
              </a:rPr>
              <a:t>strncmp</a:t>
            </a:r>
            <a:r>
              <a:rPr lang="en-US" altLang="zh-CN" sz="1600" b="1" dirty="0">
                <a:latin typeface="+mn-ea"/>
              </a:rPr>
              <a:t>(const char s1[], const char s2[], const unsigned int </a:t>
            </a:r>
            <a:r>
              <a:rPr lang="en-US" altLang="zh-CN" sz="1600" b="1" dirty="0" err="1">
                <a:latin typeface="+mn-ea"/>
              </a:rPr>
              <a:t>len</a:t>
            </a:r>
            <a:r>
              <a:rPr lang="en-US" altLang="zh-CN" sz="1600" b="1" dirty="0">
                <a:latin typeface="+mn-ea"/>
              </a:rPr>
              <a:t>);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●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更多的字符串处理函数通过作业完成并理解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●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教材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参考资料中，很多形式是 </a:t>
            </a:r>
            <a:r>
              <a:rPr lang="en-US" altLang="zh-CN" sz="1600" b="1" dirty="0">
                <a:latin typeface="+mn-ea"/>
              </a:rPr>
              <a:t>const char *s</a:t>
            </a:r>
            <a:r>
              <a:rPr lang="zh-CN" altLang="en-US" sz="1600" b="1" dirty="0">
                <a:latin typeface="+mn-ea"/>
              </a:rPr>
              <a:t>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暂时忽略</a:t>
            </a:r>
            <a:r>
              <a:rPr lang="zh-CN" altLang="en-US" sz="1600" b="1" dirty="0">
                <a:latin typeface="+mn-ea"/>
              </a:rPr>
              <a:t>，待学习指针后再进一步理解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●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先不要考虑这些函数的返回值，待学习指针后再进一步理解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zh-CN" altLang="en-US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97344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1.strlen(const char s[])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    能：求字符串的长度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输入参数：存放字符串的字符数组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返 回 值：整型值表示的长度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注意事项：返回第一个</a:t>
            </a:r>
            <a:r>
              <a:rPr lang="en-US" altLang="zh-CN" sz="1600" b="1" dirty="0">
                <a:latin typeface="+mn-ea"/>
              </a:rPr>
              <a:t>'\0'</a:t>
            </a:r>
            <a:r>
              <a:rPr lang="zh-CN" altLang="en-US" sz="1600" b="1" dirty="0">
                <a:latin typeface="+mn-ea"/>
              </a:rPr>
              <a:t>前的字符数量</a:t>
            </a:r>
            <a:r>
              <a:rPr lang="en-US" altLang="zh-CN" sz="1600" b="1" dirty="0">
                <a:latin typeface="+mn-ea"/>
              </a:rPr>
              <a:t>,</a:t>
            </a:r>
            <a:r>
              <a:rPr lang="zh-CN" altLang="en-US" sz="1600" b="1" dirty="0">
                <a:latin typeface="+mn-ea"/>
              </a:rPr>
              <a:t>不含</a:t>
            </a:r>
            <a:r>
              <a:rPr lang="en-US" altLang="zh-CN" sz="1600" b="1" dirty="0">
                <a:latin typeface="+mn-ea"/>
              </a:rPr>
              <a:t>'\0'</a:t>
            </a:r>
          </a:p>
        </p:txBody>
      </p:sp>
    </p:spTree>
    <p:extLst>
      <p:ext uri="{BB962C8B-B14F-4D97-AF65-F5344CB8AC3E}">
        <p14:creationId xmlns:p14="http://schemas.microsoft.com/office/powerpoint/2010/main" val="3125744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1.strlen(const char s[])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：字符数组与字符串长度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D164D51-A4CB-4D32-8D82-EF4E2067E9D6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22498D5-1DDF-473C-A5FE-9B49A2786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263316"/>
            <a:ext cx="4907188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  char str1[]="Hello";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sizeof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(str1)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strlen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(str1)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  char str2[]="china\0Hello\0\0";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sizeof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(str2)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strlen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(str2)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itchFamily="2" charset="-122"/>
                <a:ea typeface="宋体" pitchFamily="2" charset="-122"/>
              </a:rPr>
              <a:t> //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itchFamily="2" charset="-122"/>
                <a:ea typeface="宋体" pitchFamily="2" charset="-122"/>
              </a:rPr>
              <a:t>读操作，不需要加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itchFamily="2" charset="-122"/>
                <a:ea typeface="宋体" pitchFamily="2" charset="-122"/>
              </a:rPr>
              <a:t>_CRT_SECURE_NO_WARNINGS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A01A97C-F98F-4774-9B2B-260540420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ts val="672"/>
              </a:spcBef>
            </a:pP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问题：</a:t>
            </a:r>
            <a:endParaRPr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Bef>
                <a:spcPts val="672"/>
              </a:spcBef>
            </a:pP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、求数组长度时，无论是否有显式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\0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，最后一定有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隐式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___(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显示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隐式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\0</a:t>
            </a:r>
          </a:p>
          <a:p>
            <a:pPr>
              <a:spcBef>
                <a:spcPts val="672"/>
              </a:spcBef>
            </a:pP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、当含有多个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\0(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显式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隐式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时，字符串长度计算到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_____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第一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______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\0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为止</a:t>
            </a:r>
            <a:endParaRPr lang="zh-CN" altLang="en-US" sz="1600" b="1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E012389A-BD8F-4936-BF73-8A73F0345C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2811" y="1263316"/>
            <a:ext cx="3688876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给出程序的运行结果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6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5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latin typeface="宋体" pitchFamily="2" charset="-122"/>
                <a:ea typeface="宋体" pitchFamily="2" charset="-122"/>
              </a:rPr>
              <a:t>14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5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767DB7D-40AC-BC17-8699-2B8D34878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7516" y="1846375"/>
            <a:ext cx="4039164" cy="181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971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2.strcat(char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[])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    能：</a:t>
            </a:r>
            <a:r>
              <a:rPr lang="zh-CN" altLang="en-US" sz="24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将字符串</a:t>
            </a:r>
            <a:r>
              <a:rPr lang="en-US" altLang="zh-CN" sz="2400" b="1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src</a:t>
            </a:r>
            <a:r>
              <a:rPr lang="zh-CN" altLang="en-US" sz="24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连接到字符串</a:t>
            </a:r>
            <a:r>
              <a:rPr lang="en-US" altLang="zh-CN" sz="2400" b="1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dst</a:t>
            </a:r>
            <a:r>
              <a:rPr lang="zh-CN" altLang="en-US" sz="24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的尾部</a:t>
            </a:r>
            <a:r>
              <a:rPr lang="en-US" altLang="zh-CN" sz="24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(</a:t>
            </a:r>
            <a:r>
              <a:rPr lang="zh-CN" altLang="en-US" sz="24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含尾零</a:t>
            </a:r>
            <a:r>
              <a:rPr lang="en-US" altLang="zh-CN" sz="24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)</a:t>
            </a:r>
            <a:endParaRPr lang="zh-CN" altLang="en-US" sz="16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输入参数：存放字符串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 err="1">
                <a:latin typeface="+mn-ea"/>
              </a:rPr>
              <a:t>dst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          </a:t>
            </a:r>
            <a:r>
              <a:rPr lang="zh-CN" altLang="en-US" sz="1600" b="1" dirty="0">
                <a:latin typeface="+mn-ea"/>
              </a:rPr>
              <a:t>存放字符串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只读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返 回 值：改变后的字符数组</a:t>
            </a:r>
            <a:r>
              <a:rPr lang="en-US" altLang="zh-CN" sz="1600" b="1" dirty="0" err="1">
                <a:latin typeface="+mn-ea"/>
              </a:rPr>
              <a:t>dst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注意事项：字符数组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要有足够的空间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两串总长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+1)</a:t>
            </a:r>
          </a:p>
        </p:txBody>
      </p:sp>
    </p:spTree>
    <p:extLst>
      <p:ext uri="{BB962C8B-B14F-4D97-AF65-F5344CB8AC3E}">
        <p14:creationId xmlns:p14="http://schemas.microsoft.com/office/powerpoint/2010/main" val="1050531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2.strcat(char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[])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：字符串连接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D164D51-A4CB-4D32-8D82-EF4E2067E9D6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22498D5-1DDF-473C-A5FE-9B49A2786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263316"/>
            <a:ext cx="6206598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char str1[30]="Tongji ";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不能缺省，至少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18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字节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!!!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char str2[]="University";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strcat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(str1, str2) &lt;&lt; '#'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加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#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的目的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?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A01A97C-F98F-4774-9B2B-260540420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ts val="672"/>
              </a:spcBef>
            </a:pP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问题：</a:t>
            </a:r>
            <a:endParaRPr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Bef>
                <a:spcPts val="672"/>
              </a:spcBef>
            </a:pP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str2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数组的默认长度是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__11___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Bef>
                <a:spcPts val="672"/>
              </a:spcBef>
            </a:pP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、结合前面字符数组输入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输出的作业，</a:t>
            </a:r>
            <a:r>
              <a:rPr lang="en-US" altLang="zh-CN" sz="16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strcat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复制时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_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包含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（包含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不包含）</a:t>
            </a:r>
            <a:r>
              <a:rPr lang="en-US" altLang="zh-CN" sz="16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src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\0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1600" b="1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B2248B6-03E4-4DCC-B63C-E19DF9300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2221" y="1263316"/>
            <a:ext cx="2389466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给出程序的运行结果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Tongji University#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DCC5926-21BC-00F1-8833-2E7409D61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534" y="1744753"/>
            <a:ext cx="4086795" cy="96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306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2.strcat(char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[])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：字符串连接（错误）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D164D51-A4CB-4D32-8D82-EF4E2067E9D6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22498D5-1DDF-473C-A5FE-9B49A2786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263316"/>
            <a:ext cx="6206598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char str1[]="Tongji ";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char str2[]="University";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strcat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(str1, str2) &lt;&lt; '#'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加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#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的目的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?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A01A97C-F98F-4774-9B2B-260540420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str1</a:t>
            </a:r>
            <a:r>
              <a:rPr lang="zh-CN" altLang="en-US" sz="1600" b="1" dirty="0">
                <a:latin typeface="+mn-ea"/>
              </a:rPr>
              <a:t>数组的大小必须给出，不能默认，其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最小</a:t>
            </a:r>
            <a:r>
              <a:rPr lang="zh-CN" altLang="en-US" sz="1600" b="1" dirty="0">
                <a:latin typeface="+mn-ea"/>
              </a:rPr>
              <a:t>长度是</a:t>
            </a:r>
            <a:r>
              <a:rPr lang="en-US" altLang="zh-CN" sz="1600" b="1" dirty="0">
                <a:latin typeface="+mn-ea"/>
              </a:rPr>
              <a:t>__18___</a:t>
            </a:r>
            <a:r>
              <a:rPr lang="zh-CN" altLang="en-US" sz="1600" b="1" dirty="0">
                <a:latin typeface="+mn-ea"/>
              </a:rPr>
              <a:t>（针对本例的一个具体数字）。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数组的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最小</a:t>
            </a:r>
            <a:r>
              <a:rPr lang="zh-CN" altLang="en-US" sz="1600" b="1" dirty="0">
                <a:latin typeface="+mn-ea"/>
              </a:rPr>
              <a:t>长度是</a:t>
            </a:r>
            <a:r>
              <a:rPr lang="en-US" altLang="zh-CN" sz="1600" b="1" dirty="0">
                <a:latin typeface="+mn-ea"/>
              </a:rPr>
              <a:t>___</a:t>
            </a:r>
            <a:r>
              <a:rPr lang="zh-CN" altLang="en-US" sz="1600" b="1" dirty="0">
                <a:latin typeface="+mn-ea"/>
              </a:rPr>
              <a:t>字符串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的长度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不含</a:t>
            </a:r>
            <a:r>
              <a:rPr lang="en-US" altLang="zh-CN" sz="1600" b="1" dirty="0">
                <a:latin typeface="+mn-ea"/>
              </a:rPr>
              <a:t>\0)+</a:t>
            </a:r>
            <a:r>
              <a:rPr lang="zh-CN" altLang="en-US" sz="1600" b="1" dirty="0">
                <a:latin typeface="+mn-ea"/>
              </a:rPr>
              <a:t>字符串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长度（不含</a:t>
            </a:r>
            <a:r>
              <a:rPr lang="en-US" altLang="zh-CN" sz="1600" b="1" dirty="0">
                <a:latin typeface="+mn-ea"/>
              </a:rPr>
              <a:t>\0</a:t>
            </a:r>
            <a:r>
              <a:rPr lang="zh-CN" altLang="en-US" sz="1600" b="1" dirty="0">
                <a:latin typeface="+mn-ea"/>
              </a:rPr>
              <a:t>）</a:t>
            </a:r>
            <a:r>
              <a:rPr lang="en-US" altLang="zh-CN" sz="1600" b="1" dirty="0">
                <a:latin typeface="+mn-ea"/>
              </a:rPr>
              <a:t>+1__</a:t>
            </a:r>
            <a:r>
              <a:rPr lang="zh-CN" altLang="en-US" sz="1600" b="1" dirty="0">
                <a:latin typeface="+mn-ea"/>
              </a:rPr>
              <a:t>（通用规则）才能保证正确。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B2248B6-03E4-4DCC-B63C-E19DF9300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2221" y="1263316"/>
            <a:ext cx="2389466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给出程序的运行结果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Tongji University#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AB16F0DB-DF48-4A18-8E11-EE9E32979626}"/>
              </a:ext>
            </a:extLst>
          </p:cNvPr>
          <p:cNvCxnSpPr>
            <a:cxnSpLocks/>
          </p:cNvCxnSpPr>
          <p:nvPr/>
        </p:nvCxnSpPr>
        <p:spPr bwMode="auto">
          <a:xfrm>
            <a:off x="2153653" y="2680138"/>
            <a:ext cx="0" cy="544325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BEDBB118-46E0-7FB6-DA69-68C187D9B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2221" y="1817284"/>
            <a:ext cx="4850525" cy="377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616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3.strncat(char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[], const unsigned int n)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    能：将字符串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前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n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个字符</a:t>
            </a:r>
            <a:r>
              <a:rPr lang="zh-CN" altLang="en-US" sz="1600" b="1" dirty="0">
                <a:latin typeface="+mn-ea"/>
              </a:rPr>
              <a:t>连接到字符串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的尾部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输入参数：存放字符串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 err="1">
                <a:latin typeface="+mn-ea"/>
              </a:rPr>
              <a:t>dst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          </a:t>
            </a:r>
            <a:r>
              <a:rPr lang="zh-CN" altLang="en-US" sz="1600" b="1" dirty="0">
                <a:latin typeface="+mn-ea"/>
              </a:rPr>
              <a:t>存放字符串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只读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          </a:t>
            </a:r>
            <a:r>
              <a:rPr lang="zh-CN" altLang="en-US" sz="1600" b="1" dirty="0">
                <a:latin typeface="+mn-ea"/>
              </a:rPr>
              <a:t>要复制的长度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只读，如果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n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超过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src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长度，则只连接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src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个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返 回 值：改变后的字符数组</a:t>
            </a:r>
            <a:r>
              <a:rPr lang="en-US" altLang="zh-CN" sz="1600" b="1" dirty="0" err="1">
                <a:latin typeface="+mn-ea"/>
              </a:rPr>
              <a:t>dst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注意事项：字符数组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要有足够的空间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原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dst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长度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+n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+1)</a:t>
            </a:r>
          </a:p>
        </p:txBody>
      </p:sp>
    </p:spTree>
    <p:extLst>
      <p:ext uri="{BB962C8B-B14F-4D97-AF65-F5344CB8AC3E}">
        <p14:creationId xmlns:p14="http://schemas.microsoft.com/office/powerpoint/2010/main" val="2804800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3.strncat(char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[], const unsigned int n)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：字符串连接前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个字符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D164D51-A4CB-4D32-8D82-EF4E2067E9D6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22498D5-1DDF-473C-A5FE-9B49A2786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263316"/>
            <a:ext cx="560501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例：字符串连接前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n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个字符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char str1[30]="Tongji 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char str2[30]="Tongji ";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char str3[]="University";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strncat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(str1, str3, 3) &lt;&lt; '*'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strncat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(str2, str3, 300) &lt;&lt; '*'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A01A97C-F98F-4774-9B2B-260540420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但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超过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表示的字符串的长度时，连接规则是</a:t>
            </a:r>
            <a:r>
              <a:rPr lang="en-US" altLang="zh-CN" sz="1600" b="1" dirty="0">
                <a:latin typeface="+mn-ea"/>
              </a:rPr>
              <a:t>______</a:t>
            </a:r>
            <a:r>
              <a:rPr lang="zh-CN" altLang="en-US" sz="1600" b="1" dirty="0">
                <a:latin typeface="+mn-ea"/>
              </a:rPr>
              <a:t>只连接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个</a:t>
            </a:r>
            <a:r>
              <a:rPr lang="en-US" altLang="zh-CN" sz="1600" b="1" dirty="0">
                <a:latin typeface="+mn-ea"/>
              </a:rPr>
              <a:t>_________________________</a:t>
            </a:r>
            <a:r>
              <a:rPr lang="zh-CN" altLang="en-US" sz="1600" b="1" dirty="0">
                <a:latin typeface="+mn-ea"/>
              </a:rPr>
              <a:t>。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endParaRPr lang="zh-CN" altLang="en-US" sz="1600" b="1" dirty="0">
              <a:latin typeface="+mn-ea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B2248B6-03E4-4DCC-B63C-E19DF9300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0642" y="1263316"/>
            <a:ext cx="299104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给出程序的运行结果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Tongji Uni*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Tongji University*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3CA8B03-762C-E031-54A5-A45E485E52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8812" y="1842818"/>
            <a:ext cx="4010585" cy="128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2768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3.strncat(char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[], const unsigned int n)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：字符串连接前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个字符（错误）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D164D51-A4CB-4D32-8D82-EF4E2067E9D6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22498D5-1DDF-473C-A5FE-9B49A2786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263316"/>
            <a:ext cx="560501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例：字符串连接前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n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个字符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char str1[]="Tongji 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char str3[]="University";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缺省长度为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11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strncat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(str1, str3, 3) &lt;&lt; '*'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A01A97C-F98F-4774-9B2B-260540420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str1</a:t>
            </a:r>
            <a:r>
              <a:rPr lang="zh-CN" altLang="en-US" sz="1600" b="1" dirty="0">
                <a:latin typeface="+mn-ea"/>
              </a:rPr>
              <a:t>数组的大小必须给出，不能默认，其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最小</a:t>
            </a:r>
            <a:r>
              <a:rPr lang="zh-CN" altLang="en-US" sz="1600" b="1" dirty="0">
                <a:latin typeface="+mn-ea"/>
              </a:rPr>
              <a:t>长度是</a:t>
            </a:r>
            <a:r>
              <a:rPr lang="en-US" altLang="zh-CN" sz="1600" b="1" dirty="0">
                <a:latin typeface="+mn-ea"/>
              </a:rPr>
              <a:t>___11__</a:t>
            </a:r>
            <a:r>
              <a:rPr lang="zh-CN" altLang="en-US" sz="1600" b="1" dirty="0">
                <a:latin typeface="+mn-ea"/>
              </a:rPr>
              <a:t>（针对本例的一个具体数字）。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数组的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最小</a:t>
            </a:r>
            <a:r>
              <a:rPr lang="zh-CN" altLang="en-US" sz="1600" b="1" dirty="0">
                <a:latin typeface="+mn-ea"/>
              </a:rPr>
              <a:t>长度是</a:t>
            </a:r>
            <a:r>
              <a:rPr lang="en-US" altLang="zh-CN" sz="1600" b="1" dirty="0">
                <a:latin typeface="+mn-ea"/>
              </a:rPr>
              <a:t>____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字符串长度</a:t>
            </a:r>
            <a:r>
              <a:rPr lang="en-US" altLang="zh-CN" sz="1600" b="1" dirty="0">
                <a:latin typeface="+mn-ea"/>
              </a:rPr>
              <a:t>+min(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字符串长度</a:t>
            </a:r>
            <a:r>
              <a:rPr lang="en-US" altLang="zh-CN" sz="1600" b="1" dirty="0">
                <a:latin typeface="+mn-ea"/>
              </a:rPr>
              <a:t>,n)+1________</a:t>
            </a:r>
            <a:r>
              <a:rPr lang="zh-CN" altLang="en-US" sz="1600" b="1" dirty="0">
                <a:latin typeface="+mn-ea"/>
              </a:rPr>
              <a:t>（通用规则）才能保证正确。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B2248B6-03E4-4DCC-B63C-E19DF9300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0642" y="1263316"/>
            <a:ext cx="299104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给出程序的运行结果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Tongji Uni*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08746F36-5310-4C28-B3A6-F02820454B79}"/>
              </a:ext>
            </a:extLst>
          </p:cNvPr>
          <p:cNvCxnSpPr>
            <a:cxnSpLocks/>
          </p:cNvCxnSpPr>
          <p:nvPr/>
        </p:nvCxnSpPr>
        <p:spPr bwMode="auto">
          <a:xfrm>
            <a:off x="2165685" y="2764359"/>
            <a:ext cx="0" cy="544325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C60F8E2B-54DB-D526-2BAD-473F900EB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0642" y="1808155"/>
            <a:ext cx="4924113" cy="3786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20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4. </a:t>
            </a:r>
            <a:r>
              <a:rPr lang="en-US" altLang="zh-CN" sz="1600" b="1" dirty="0" err="1">
                <a:latin typeface="+mn-ea"/>
              </a:rPr>
              <a:t>strcpy</a:t>
            </a:r>
            <a:r>
              <a:rPr lang="en-US" altLang="zh-CN" sz="1600" b="1" dirty="0">
                <a:latin typeface="+mn-ea"/>
              </a:rPr>
              <a:t>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[])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    能：将字符串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复制到字符串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中</a:t>
            </a:r>
            <a:r>
              <a:rPr lang="en-US" altLang="zh-CN" sz="1600" b="1" dirty="0">
                <a:latin typeface="+mn-ea"/>
              </a:rPr>
              <a:t>,</a:t>
            </a:r>
            <a:r>
              <a:rPr lang="zh-CN" altLang="en-US" sz="1600" b="1" dirty="0">
                <a:latin typeface="+mn-ea"/>
              </a:rPr>
              <a:t>覆盖原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串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输入参数：存放字符串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 err="1">
                <a:latin typeface="+mn-ea"/>
              </a:rPr>
              <a:t>dst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          </a:t>
            </a:r>
            <a:r>
              <a:rPr lang="zh-CN" altLang="en-US" sz="1600" b="1" dirty="0">
                <a:latin typeface="+mn-ea"/>
              </a:rPr>
              <a:t>存放字符串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只读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返 回 值：改变后的字符数组</a:t>
            </a:r>
            <a:r>
              <a:rPr lang="en-US" altLang="zh-CN" sz="1600" b="1" dirty="0" err="1">
                <a:latin typeface="+mn-ea"/>
              </a:rPr>
              <a:t>dst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注意事项：字符数组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要有足够的空间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串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src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长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+1)</a:t>
            </a:r>
          </a:p>
        </p:txBody>
      </p:sp>
    </p:spTree>
    <p:extLst>
      <p:ext uri="{BB962C8B-B14F-4D97-AF65-F5344CB8AC3E}">
        <p14:creationId xmlns:p14="http://schemas.microsoft.com/office/powerpoint/2010/main" val="4066679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4.strcpy(char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[])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：字符串拷贝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D164D51-A4CB-4D32-8D82-EF4E2067E9D6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22498D5-1DDF-473C-A5FE-9B49A2786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263316"/>
            <a:ext cx="560501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char a[]="student", b[]="hello";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strcpy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a,b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=0;i&lt;8;i++)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]) &lt;&lt; ' ';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A01A97C-F98F-4774-9B2B-260540420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、字符串复制时，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复制到</a:t>
            </a:r>
            <a:r>
              <a:rPr lang="en-US" altLang="zh-CN" sz="1600" b="1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src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的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__\0__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为止，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__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包含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____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（包含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/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不包含）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\0</a:t>
            </a:r>
            <a:r>
              <a:rPr lang="zh-CN" altLang="en-US" sz="1600" b="1" dirty="0">
                <a:latin typeface="+mn-ea"/>
              </a:rPr>
              <a:t>，之后的字符不再复制。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、在运行截图中用箭头指出证明结论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的位置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B2248B6-03E4-4DCC-B63C-E19DF9300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0642" y="1263316"/>
            <a:ext cx="299104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给出程序的运行结果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latin typeface="宋体" pitchFamily="2" charset="-122"/>
                <a:ea typeface="宋体" pitchFamily="2" charset="-122"/>
              </a:rPr>
              <a:t>hello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latin typeface="宋体" pitchFamily="2" charset="-122"/>
                <a:ea typeface="宋体" pitchFamily="2" charset="-122"/>
              </a:rPr>
              <a:t>104 101 108 108 111 0 116 0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41D22FC-42AD-5F3E-88AC-18319CD429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1250" y="1997282"/>
            <a:ext cx="4410691" cy="1333686"/>
          </a:xfrm>
          <a:prstGeom prst="rect">
            <a:avLst/>
          </a:prstGeom>
        </p:spPr>
      </p:pic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AE5C3531-7C31-4382-E5A6-E8CD8B12235E}"/>
              </a:ext>
            </a:extLst>
          </p:cNvPr>
          <p:cNvCxnSpPr/>
          <p:nvPr/>
        </p:nvCxnSpPr>
        <p:spPr bwMode="auto">
          <a:xfrm flipV="1">
            <a:off x="9167004" y="3283789"/>
            <a:ext cx="0" cy="1052422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724046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4.strcpy(char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[])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7</a:t>
            </a:r>
            <a:r>
              <a:rPr lang="zh-CN" altLang="en-US" sz="1600" b="1" dirty="0">
                <a:latin typeface="+mn-ea"/>
              </a:rPr>
              <a:t>：字符串拷贝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D164D51-A4CB-4D32-8D82-EF4E2067E9D6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22498D5-1DDF-473C-A5FE-9B49A2786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263316"/>
            <a:ext cx="560501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char a[]="student", b[]="hello\0china";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strcpy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a,b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=0;i&lt;8;i++)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]) &lt;&lt; ' ';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A01A97C-F98F-4774-9B2B-260540420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a</a:t>
            </a:r>
            <a:r>
              <a:rPr lang="zh-CN" altLang="en-US" sz="1600" b="1" dirty="0">
                <a:latin typeface="+mn-ea"/>
              </a:rPr>
              <a:t>数组的默认大小时</a:t>
            </a:r>
            <a:r>
              <a:rPr lang="en-US" altLang="zh-CN" sz="1600" b="1" dirty="0">
                <a:latin typeface="+mn-ea"/>
              </a:rPr>
              <a:t>_____8______</a:t>
            </a:r>
            <a:r>
              <a:rPr lang="zh-CN" altLang="en-US" sz="1600" b="1" dirty="0">
                <a:latin typeface="+mn-ea"/>
              </a:rPr>
              <a:t>，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数组的默认大小是</a:t>
            </a:r>
            <a:r>
              <a:rPr lang="en-US" altLang="zh-CN" sz="1600" b="1" dirty="0">
                <a:latin typeface="+mn-ea"/>
              </a:rPr>
              <a:t>____12________</a:t>
            </a:r>
            <a:r>
              <a:rPr lang="zh-CN" altLang="en-US" sz="1600" b="1" dirty="0">
                <a:latin typeface="+mn-ea"/>
              </a:rPr>
              <a:t>。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b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数组的大小超过了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a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数组的大小，为什么运行不出错</a:t>
            </a:r>
            <a:r>
              <a:rPr lang="zh-CN" altLang="en-US" sz="1600" b="1" dirty="0">
                <a:latin typeface="+mn-ea"/>
              </a:rPr>
              <a:t>？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中有显式</a:t>
            </a:r>
            <a:r>
              <a:rPr lang="en-US" altLang="zh-CN" sz="1600" b="1" dirty="0">
                <a:latin typeface="+mn-ea"/>
              </a:rPr>
              <a:t>\0</a:t>
            </a:r>
            <a:r>
              <a:rPr lang="zh-CN" altLang="en-US" sz="1600" b="1" dirty="0">
                <a:latin typeface="+mn-ea"/>
              </a:rPr>
              <a:t>，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代表的字符串是</a:t>
            </a:r>
            <a:r>
              <a:rPr lang="en-US" altLang="zh-CN" sz="1600" b="1" dirty="0">
                <a:latin typeface="+mn-ea"/>
              </a:rPr>
              <a:t>hello</a:t>
            </a:r>
            <a:r>
              <a:rPr lang="zh-CN" altLang="en-US" sz="1600" b="1" dirty="0">
                <a:latin typeface="+mn-ea"/>
              </a:rPr>
              <a:t>，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en-US" altLang="zh-CN" sz="1600" b="1" dirty="0">
                <a:latin typeface="+mn-ea"/>
              </a:rPr>
              <a:t>						</a:t>
            </a:r>
            <a:r>
              <a:rPr lang="zh-CN" altLang="en-US" sz="1600" b="1" dirty="0">
                <a:latin typeface="+mn-ea"/>
              </a:rPr>
              <a:t>加上</a:t>
            </a:r>
            <a:r>
              <a:rPr lang="en-US" altLang="zh-CN" sz="1600" b="1" dirty="0">
                <a:latin typeface="+mn-ea"/>
              </a:rPr>
              <a:t>\0</a:t>
            </a:r>
            <a:r>
              <a:rPr lang="zh-CN" altLang="en-US" sz="1600" b="1" dirty="0">
                <a:latin typeface="+mn-ea"/>
              </a:rPr>
              <a:t>是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个字符，没有超过</a:t>
            </a:r>
            <a:r>
              <a:rPr lang="en-US" altLang="zh-CN" sz="1600" b="1" dirty="0">
                <a:latin typeface="+mn-ea"/>
              </a:rPr>
              <a:t>a</a:t>
            </a:r>
            <a:r>
              <a:rPr lang="zh-CN" altLang="en-US" sz="1600" b="1" dirty="0">
                <a:latin typeface="+mn-ea"/>
              </a:rPr>
              <a:t>的大小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、本例中，复制到</a:t>
            </a:r>
            <a:r>
              <a:rPr lang="en-US" altLang="zh-CN" sz="1600" b="1" dirty="0">
                <a:latin typeface="+mn-ea"/>
              </a:rPr>
              <a:t>b[_5__]</a:t>
            </a:r>
            <a:r>
              <a:rPr lang="zh-CN" altLang="en-US" sz="1600" b="1" dirty="0">
                <a:latin typeface="+mn-ea"/>
              </a:rPr>
              <a:t>就停止复制了？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B2248B6-03E4-4DCC-B63C-E19DF9300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0642" y="1263316"/>
            <a:ext cx="299104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给出程序的运行结果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hello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104 101 108 108 111 0 116 0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81ED391-7266-3B07-810A-5F7C1FD9B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2319" y="1538957"/>
            <a:ext cx="4363059" cy="1314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908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4.strcpy(char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[])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：字符串拷贝（有错）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D164D51-A4CB-4D32-8D82-EF4E2067E9D6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22498D5-1DDF-473C-A5FE-9B49A2786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263316"/>
            <a:ext cx="560501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char a[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11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]="student", b[]="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hellochina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strcpy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a,b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=0; 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]!='\0';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]) &lt;&lt; ' ';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A01A97C-F98F-4774-9B2B-260540420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、本程序为什么会错？复制到</a:t>
            </a:r>
            <a:r>
              <a:rPr lang="en-US" altLang="zh-CN" sz="1600" b="1" dirty="0">
                <a:latin typeface="+mn-ea"/>
              </a:rPr>
              <a:t>a</a:t>
            </a:r>
            <a:r>
              <a:rPr lang="zh-CN" altLang="en-US" sz="1600" b="1" dirty="0">
                <a:latin typeface="+mn-ea"/>
              </a:rPr>
              <a:t>上的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的长度大于</a:t>
            </a:r>
            <a:r>
              <a:rPr lang="en-US" altLang="zh-CN" sz="1600" b="1" dirty="0">
                <a:latin typeface="+mn-ea"/>
              </a:rPr>
              <a:t>a</a:t>
            </a:r>
            <a:r>
              <a:rPr lang="zh-CN" altLang="en-US" sz="1600" b="1" dirty="0">
                <a:latin typeface="+mn-ea"/>
              </a:rPr>
              <a:t>，导致非法写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、仅改</a:t>
            </a:r>
            <a:r>
              <a:rPr lang="en-US" altLang="zh-CN" sz="1600" b="1" dirty="0">
                <a:latin typeface="+mn-ea"/>
              </a:rPr>
              <a:t>a</a:t>
            </a:r>
            <a:r>
              <a:rPr lang="zh-CN" altLang="en-US" sz="1600" b="1" dirty="0">
                <a:latin typeface="+mn-ea"/>
              </a:rPr>
              <a:t>的定义使正确</a:t>
            </a:r>
            <a:r>
              <a:rPr lang="en-US" altLang="zh-CN" sz="1600" b="1" dirty="0">
                <a:latin typeface="+mn-ea"/>
              </a:rPr>
              <a:t>,</a:t>
            </a:r>
            <a:r>
              <a:rPr lang="zh-CN" altLang="en-US" sz="1600" b="1" dirty="0">
                <a:latin typeface="+mn-ea"/>
              </a:rPr>
              <a:t>如何做？（直接在上面的源程序中用红色写出修改内容即可）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数组的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最小</a:t>
            </a:r>
            <a:r>
              <a:rPr lang="zh-CN" altLang="en-US" sz="1600" b="1" dirty="0">
                <a:latin typeface="+mn-ea"/>
              </a:rPr>
              <a:t>长度是</a:t>
            </a:r>
            <a:r>
              <a:rPr lang="en-US" altLang="zh-CN" sz="1600" b="1" dirty="0">
                <a:latin typeface="+mn-ea"/>
              </a:rPr>
              <a:t>____</a:t>
            </a:r>
            <a:r>
              <a:rPr lang="zh-CN" altLang="en-US" sz="1600" b="1" dirty="0">
                <a:latin typeface="+mn-ea"/>
              </a:rPr>
              <a:t>字符串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长度</a:t>
            </a:r>
            <a:r>
              <a:rPr lang="en-US" altLang="zh-CN" sz="1600" b="1" dirty="0">
                <a:latin typeface="+mn-ea"/>
              </a:rPr>
              <a:t>+1________</a:t>
            </a:r>
            <a:r>
              <a:rPr lang="zh-CN" altLang="en-US" sz="1600" b="1" dirty="0">
                <a:latin typeface="+mn-ea"/>
              </a:rPr>
              <a:t>（通用规则）才能保证正确。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B2248B6-03E4-4DCC-B63C-E19DF9300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0642" y="1263316"/>
            <a:ext cx="299104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给出程序的运行结果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latin typeface="宋体" pitchFamily="2" charset="-122"/>
                <a:ea typeface="宋体" pitchFamily="2" charset="-122"/>
              </a:rPr>
              <a:t>hellochina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104 101 108 108 111 99 104 105 110 97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5D6A155-2A90-7BCF-1F4C-631E0604E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6469" y="1783849"/>
            <a:ext cx="4908609" cy="4113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0604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5.strncpy(char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[], unsigned int n)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    能：将字符串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前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n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个</a:t>
            </a:r>
            <a:r>
              <a:rPr lang="zh-CN" altLang="en-US" sz="1600" b="1" dirty="0">
                <a:latin typeface="+mn-ea"/>
              </a:rPr>
              <a:t>复制到字符串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中</a:t>
            </a:r>
            <a:r>
              <a:rPr lang="en-US" altLang="zh-CN" sz="1600" b="1" dirty="0">
                <a:latin typeface="+mn-ea"/>
              </a:rPr>
              <a:t>,</a:t>
            </a:r>
            <a:r>
              <a:rPr lang="zh-CN" altLang="en-US" sz="1600" b="1" dirty="0">
                <a:latin typeface="+mn-ea"/>
              </a:rPr>
              <a:t>覆盖原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串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输入参数：存放字符串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 err="1">
                <a:latin typeface="+mn-ea"/>
              </a:rPr>
              <a:t>dst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          </a:t>
            </a:r>
            <a:r>
              <a:rPr lang="zh-CN" altLang="en-US" sz="1600" b="1" dirty="0">
                <a:latin typeface="+mn-ea"/>
              </a:rPr>
              <a:t>存放字符串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只读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          </a:t>
            </a:r>
            <a:r>
              <a:rPr lang="zh-CN" altLang="en-US" sz="1600" b="1" dirty="0">
                <a:latin typeface="+mn-ea"/>
              </a:rPr>
              <a:t>要复制的长度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只读，如果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n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超过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src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长度，则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只复制</a:t>
            </a:r>
            <a:r>
              <a:rPr lang="en-US" altLang="zh-CN" sz="1600" b="1" dirty="0" err="1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src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个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返 回 值：改变后的字符数组</a:t>
            </a:r>
            <a:r>
              <a:rPr lang="en-US" altLang="zh-CN" sz="1600" b="1" dirty="0" err="1">
                <a:latin typeface="+mn-ea"/>
              </a:rPr>
              <a:t>dst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注意事项：字符数组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要有足够的空间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(min(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串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src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长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,n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)+1)</a:t>
            </a:r>
          </a:p>
        </p:txBody>
      </p:sp>
    </p:spTree>
    <p:extLst>
      <p:ext uri="{BB962C8B-B14F-4D97-AF65-F5344CB8AC3E}">
        <p14:creationId xmlns:p14="http://schemas.microsoft.com/office/powerpoint/2010/main" val="23540419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5.strncpy(char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[], unsigned int n)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9</a:t>
            </a:r>
            <a:r>
              <a:rPr lang="zh-CN" altLang="en-US" sz="1600" b="1" dirty="0">
                <a:latin typeface="+mn-ea"/>
              </a:rPr>
              <a:t>：字符串拷贝前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个字符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D164D51-A4CB-4D32-8D82-EF4E2067E9D6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22498D5-1DDF-473C-A5FE-9B49A2786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263316"/>
            <a:ext cx="560501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char a[]="student", b[]="hello";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strncpy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(a, b, 2);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=0;i&lt;8;i++)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]) &lt;&lt; ' ';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A01A97C-F98F-4774-9B2B-260540420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本程序证明了</a:t>
            </a:r>
            <a:r>
              <a:rPr lang="en-US" altLang="zh-CN" sz="1600" b="1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strncpy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复制时，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__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不包含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_____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（包含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/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不包含）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\0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。</a:t>
            </a:r>
            <a:endParaRPr lang="en-US" altLang="zh-CN" sz="16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  <a:p>
            <a:pPr>
              <a:spcBef>
                <a:spcPts val="672"/>
              </a:spcBef>
            </a:pPr>
            <a:endParaRPr lang="zh-CN" altLang="en-US" sz="1600" b="1" dirty="0">
              <a:latin typeface="+mn-ea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B2248B6-03E4-4DCC-B63C-E19DF9300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0642" y="1263316"/>
            <a:ext cx="299104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给出程序的运行结果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latin typeface="宋体" pitchFamily="2" charset="-122"/>
                <a:ea typeface="宋体" pitchFamily="2" charset="-122"/>
              </a:rPr>
              <a:t>heudent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104 101 117 100 101 110 116 0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03B2304-2B25-A02D-7E4A-D3D8A07AC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2888" y="2164542"/>
            <a:ext cx="4496427" cy="123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8575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5.strncpy(char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[], unsigned int n)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10</a:t>
            </a:r>
            <a:r>
              <a:rPr lang="zh-CN" altLang="en-US" sz="1600" b="1" dirty="0">
                <a:latin typeface="+mn-ea"/>
              </a:rPr>
              <a:t>：字符串拷贝前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个字符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D164D51-A4CB-4D32-8D82-EF4E2067E9D6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22498D5-1DDF-473C-A5FE-9B49A2786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263316"/>
            <a:ext cx="560501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char a[]="student", b[]="hello";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strncpy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a,&amp;b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[2], 2);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=0;i&lt;8;i++)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]) &lt;&lt; ' ';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A01A97C-F98F-4774-9B2B-260540420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如果想从</a:t>
            </a:r>
            <a:r>
              <a:rPr lang="en-US" altLang="zh-CN" sz="1600" b="1" dirty="0">
                <a:latin typeface="+mn-ea"/>
              </a:rPr>
              <a:t>b[2]</a:t>
            </a:r>
            <a:r>
              <a:rPr lang="zh-CN" altLang="en-US" sz="1600" b="1" dirty="0">
                <a:latin typeface="+mn-ea"/>
              </a:rPr>
              <a:t>开始复制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个字符到</a:t>
            </a:r>
            <a:r>
              <a:rPr lang="en-US" altLang="zh-CN" sz="1600" b="1" dirty="0">
                <a:latin typeface="+mn-ea"/>
              </a:rPr>
              <a:t>a</a:t>
            </a:r>
            <a:r>
              <a:rPr lang="zh-CN" altLang="en-US" sz="1600" b="1" dirty="0">
                <a:latin typeface="+mn-ea"/>
              </a:rPr>
              <a:t>中，如何做？（即期望输出：</a:t>
            </a:r>
            <a:r>
              <a:rPr lang="en-US" altLang="zh-CN" sz="1600" b="1" dirty="0" err="1">
                <a:latin typeface="+mn-ea"/>
              </a:rPr>
              <a:t>lludent</a:t>
            </a:r>
            <a:r>
              <a:rPr lang="zh-CN" altLang="en-US" sz="1600" b="1" dirty="0">
                <a:latin typeface="+mn-ea"/>
              </a:rPr>
              <a:t>）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（直接在源程序中修改</a:t>
            </a:r>
            <a:r>
              <a:rPr lang="en-US" altLang="zh-CN" sz="1600" b="1" dirty="0">
                <a:latin typeface="+mn-ea"/>
              </a:rPr>
              <a:t>____</a:t>
            </a:r>
            <a:r>
              <a:rPr lang="zh-CN" altLang="en-US" sz="1600" b="1" dirty="0">
                <a:latin typeface="+mn-ea"/>
              </a:rPr>
              <a:t>位置即可）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B2248B6-03E4-4DCC-B63C-E19DF9300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0642" y="1263316"/>
            <a:ext cx="299104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给出程序的运行结果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latin typeface="宋体" pitchFamily="2" charset="-122"/>
                <a:ea typeface="宋体" pitchFamily="2" charset="-122"/>
              </a:rPr>
              <a:t>lludent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108 108 117 100 101 110 116 0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EB2E3AA-B0E1-0077-365E-9CB7CF4EA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1359" y="2083195"/>
            <a:ext cx="4591691" cy="12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8570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5.strncpy(char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[], unsigned int n)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11</a:t>
            </a:r>
            <a:r>
              <a:rPr lang="zh-CN" altLang="en-US" sz="1600" b="1" dirty="0">
                <a:latin typeface="+mn-ea"/>
              </a:rPr>
              <a:t>：字符串拷贝前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个字符（深度讨论）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D164D51-A4CB-4D32-8D82-EF4E2067E9D6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22498D5-1DDF-473C-A5FE-9B49A2786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263316"/>
            <a:ext cx="412513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  //VS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需要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cstring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int 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char a[] = "student", b[] = "hello";</a:t>
            </a:r>
          </a:p>
          <a:p>
            <a:r>
              <a:rPr lang="nn-NO" altLang="zh-CN" sz="1200" b="1" dirty="0">
                <a:latin typeface="+mn-ea"/>
              </a:rPr>
              <a:t>    for (i = 0; i &lt; 12; i++) 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//12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已越界，目的？</a:t>
            </a:r>
            <a:endParaRPr lang="nn-NO" altLang="zh-CN" sz="12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int(a[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]) &lt;&lt; ' ';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strncpy</a:t>
            </a:r>
            <a:r>
              <a:rPr lang="en-US" altLang="zh-CN" sz="1200" b="1" dirty="0">
                <a:latin typeface="+mn-ea"/>
              </a:rPr>
              <a:t>(a, b, 200);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a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nn-NO" altLang="zh-CN" sz="1200" b="1" dirty="0">
              <a:latin typeface="+mn-ea"/>
            </a:endParaRPr>
          </a:p>
          <a:p>
            <a:r>
              <a:rPr lang="nn-NO" altLang="zh-CN" sz="1200" b="1" dirty="0">
                <a:latin typeface="+mn-ea"/>
              </a:rPr>
              <a:t>    for (i = 0; i &lt; 12; i++)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//12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已越界，目的？</a:t>
            </a:r>
            <a:endParaRPr lang="nn-NO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int(a[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]) &lt;&lt; ' ';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A01A97C-F98F-4774-9B2B-260540420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观察两个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for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循环的后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6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个数字的输出，能得到什么结论？（提示：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n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超</a:t>
            </a:r>
            <a:r>
              <a:rPr lang="en-US" altLang="zh-CN" sz="1600" b="1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src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长度是到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\0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为止吗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?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）</a:t>
            </a:r>
            <a:endParaRPr lang="en-US" altLang="zh-CN" sz="16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n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超</a:t>
            </a:r>
            <a:r>
              <a:rPr lang="en-US" altLang="zh-CN" sz="1600" b="1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src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长度不是到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\0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为止，而是后面还会继续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copy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一些字符到</a:t>
            </a:r>
            <a:r>
              <a:rPr lang="en-US" altLang="zh-CN" sz="1600" b="1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dst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上</a:t>
            </a:r>
            <a:endParaRPr lang="en-US" altLang="zh-CN" sz="16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B2248B6-03E4-4DCC-B63C-E19DF9300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0758" y="1263316"/>
            <a:ext cx="447092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给出</a:t>
            </a: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VS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下程序的运行结果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nb-NO" altLang="zh-CN" sz="1050" b="1" dirty="0">
                <a:latin typeface="宋体" pitchFamily="2" charset="-122"/>
                <a:ea typeface="宋体" pitchFamily="2" charset="-122"/>
              </a:rPr>
              <a:t>115 116 117 100 101 110 116 0 -52 -52 -52 -52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nb-NO" altLang="zh-CN" sz="1050" b="1" dirty="0">
                <a:latin typeface="宋体" pitchFamily="2" charset="-122"/>
                <a:ea typeface="宋体" pitchFamily="2" charset="-122"/>
              </a:rPr>
              <a:t>hello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nb-NO" altLang="zh-CN" sz="1050" b="1" dirty="0">
                <a:latin typeface="宋体" pitchFamily="2" charset="-122"/>
                <a:ea typeface="宋体" pitchFamily="2" charset="-122"/>
              </a:rPr>
              <a:t>104 101 108 108 111 0 0 0 0 0 0 0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给出</a:t>
            </a: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Dev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下程序的运行结果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nb-NO" altLang="zh-CN" sz="1600" b="1" dirty="0">
                <a:latin typeface="宋体" pitchFamily="2" charset="-122"/>
                <a:ea typeface="宋体" pitchFamily="2" charset="-122"/>
              </a:rPr>
              <a:t>115 116 117 100 101 110 116 0 8 0 0 0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nb-NO" altLang="zh-CN" sz="1600" b="1" dirty="0">
                <a:latin typeface="宋体" pitchFamily="2" charset="-122"/>
                <a:ea typeface="宋体" pitchFamily="2" charset="-122"/>
              </a:rPr>
              <a:t>hello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nb-NO" altLang="zh-CN" sz="1600" b="1" dirty="0">
                <a:latin typeface="宋体" pitchFamily="2" charset="-122"/>
                <a:ea typeface="宋体" pitchFamily="2" charset="-122"/>
              </a:rPr>
              <a:t>104 101 108 108 111 0 0 0 8 0 0 0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905FC1E-5ADE-5AF7-1C21-66FAA7E49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9872" y="436050"/>
            <a:ext cx="3213615" cy="280646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DCBD405-FC5C-8CE1-B38A-6A24FD2C49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758" y="3953825"/>
            <a:ext cx="5579623" cy="1763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175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5.strncpy(char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[], unsigned int n)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12</a:t>
            </a:r>
            <a:r>
              <a:rPr lang="zh-CN" altLang="en-US" sz="1600" b="1" dirty="0">
                <a:latin typeface="+mn-ea"/>
              </a:rPr>
              <a:t>：字符串拷贝前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个字符（深度讨论）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D164D51-A4CB-4D32-8D82-EF4E2067E9D6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22498D5-1DDF-473C-A5FE-9B49A2786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263316"/>
            <a:ext cx="412513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  //VS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需要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cstring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int 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char a[] = "student", b[] = "hello";</a:t>
            </a:r>
          </a:p>
          <a:p>
            <a:r>
              <a:rPr lang="nn-NO" altLang="zh-CN" sz="1200" b="1" dirty="0">
                <a:latin typeface="+mn-ea"/>
              </a:rPr>
              <a:t>    for (i = 0; i &lt; 20; i++) 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//20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已越界，目的？</a:t>
            </a:r>
            <a:endParaRPr lang="nn-NO" altLang="zh-CN" sz="12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int(a[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]) &lt;&lt; ' ';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strncpy</a:t>
            </a:r>
            <a:r>
              <a:rPr lang="en-US" altLang="zh-CN" sz="1200" b="1" dirty="0">
                <a:latin typeface="+mn-ea"/>
              </a:rPr>
              <a:t>(a, b, 200);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a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nn-NO" altLang="zh-CN" sz="1200" b="1" dirty="0">
              <a:latin typeface="+mn-ea"/>
            </a:endParaRPr>
          </a:p>
          <a:p>
            <a:r>
              <a:rPr lang="nn-NO" altLang="zh-CN" sz="1200" b="1" dirty="0">
                <a:latin typeface="+mn-ea"/>
              </a:rPr>
              <a:t>    for (i = 0; i &lt; 20; i++)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//20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已越界，目的？</a:t>
            </a:r>
            <a:endParaRPr lang="nn-NO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int(a[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]) &lt;&lt; ' ';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A01A97C-F98F-4774-9B2B-260540420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如果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超过了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的长度，则</a:t>
            </a:r>
            <a:r>
              <a:rPr lang="en-US" altLang="zh-CN" sz="1600" b="1" dirty="0">
                <a:latin typeface="+mn-ea"/>
              </a:rPr>
              <a:t>___copy</a:t>
            </a:r>
            <a:r>
              <a:rPr lang="zh-CN" altLang="en-US" sz="1600" b="1" dirty="0">
                <a:latin typeface="+mn-ea"/>
              </a:rPr>
              <a:t>时不会到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\0</a:t>
            </a:r>
            <a:r>
              <a:rPr lang="zh-CN" altLang="en-US" sz="1600" b="1" dirty="0">
                <a:latin typeface="+mn-ea"/>
              </a:rPr>
              <a:t>就结束，后面还会</a:t>
            </a:r>
            <a:r>
              <a:rPr lang="en-US" altLang="zh-CN" sz="1600" b="1" dirty="0">
                <a:latin typeface="+mn-ea"/>
              </a:rPr>
              <a:t>copy</a:t>
            </a:r>
            <a:r>
              <a:rPr lang="zh-CN" altLang="en-US" sz="1600" b="1" dirty="0">
                <a:latin typeface="+mn-ea"/>
              </a:rPr>
              <a:t>一些随机字符到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上</a:t>
            </a:r>
            <a:r>
              <a:rPr lang="en-US" altLang="zh-CN" sz="1600" b="1" dirty="0">
                <a:latin typeface="+mn-ea"/>
              </a:rPr>
              <a:t>________________</a:t>
            </a:r>
            <a:r>
              <a:rPr lang="zh-CN" altLang="en-US" sz="1600" b="1" dirty="0">
                <a:latin typeface="+mn-ea"/>
              </a:rPr>
              <a:t>。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endParaRPr lang="en-US" altLang="zh-CN" sz="1600" b="1" dirty="0">
              <a:latin typeface="+mn-ea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B2248B6-03E4-4DCC-B63C-E19DF9300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0758" y="1263316"/>
            <a:ext cx="447092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给出</a:t>
            </a: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VS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下程序的运行结果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nb-NO" altLang="zh-CN" sz="1600" b="1" dirty="0">
                <a:latin typeface="宋体" pitchFamily="2" charset="-122"/>
                <a:ea typeface="宋体" pitchFamily="2" charset="-122"/>
              </a:rPr>
              <a:t>115 116 117 100 101 110 116 0 -52 -52 -52 -52 -52 -52 -52 -52 16 0 0 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nb-NO" altLang="zh-CN" sz="1600" b="1" dirty="0">
                <a:latin typeface="宋体" pitchFamily="2" charset="-122"/>
                <a:ea typeface="宋体" pitchFamily="2" charset="-122"/>
              </a:rPr>
              <a:t>hello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nb-NO" altLang="zh-CN" sz="1600" b="1" dirty="0">
                <a:latin typeface="宋体" pitchFamily="2" charset="-122"/>
                <a:ea typeface="宋体" pitchFamily="2" charset="-122"/>
              </a:rPr>
              <a:t>104 101 108 108 111 0 0 0 0 0 0 0 0 0 0 0 16 0 0 0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给出</a:t>
            </a: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Dev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下程序的运行结果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nb-NO" altLang="zh-CN" sz="1600" b="1" dirty="0">
                <a:latin typeface="宋体" pitchFamily="2" charset="-122"/>
                <a:ea typeface="宋体" pitchFamily="2" charset="-122"/>
              </a:rPr>
              <a:t>115 116 117 100 101 110 116 0 8 0 0 0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nb-NO" altLang="zh-CN" sz="1600" b="1" dirty="0">
                <a:latin typeface="宋体" pitchFamily="2" charset="-122"/>
                <a:ea typeface="宋体" pitchFamily="2" charset="-122"/>
              </a:rPr>
              <a:t>hello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nb-NO" altLang="zh-CN" sz="1600" b="1" dirty="0">
                <a:latin typeface="宋体" pitchFamily="2" charset="-122"/>
                <a:ea typeface="宋体" pitchFamily="2" charset="-122"/>
              </a:rPr>
              <a:t>104 101 108 108 111 0 0 0 8 0 0 0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1530A13-2990-44D7-8623-99CF7172416F}"/>
              </a:ext>
            </a:extLst>
          </p:cNvPr>
          <p:cNvSpPr/>
          <p:nvPr/>
        </p:nvSpPr>
        <p:spPr bwMode="auto">
          <a:xfrm>
            <a:off x="2995863" y="1792705"/>
            <a:ext cx="1636295" cy="673769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同上例，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数组越界到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20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D3EFAB1-556D-2BE9-A0B3-38E930BD5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719" y="368053"/>
            <a:ext cx="4495669" cy="309400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466A2A4-5331-116F-9BF3-1053B34929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884" y="3915046"/>
            <a:ext cx="6171522" cy="1804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6140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6.strcmp(const char s1[], const char s2[])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    能：比较字符串</a:t>
            </a:r>
            <a:r>
              <a:rPr lang="en-US" altLang="zh-CN" sz="1600" b="1" dirty="0">
                <a:latin typeface="+mn-ea"/>
              </a:rPr>
              <a:t>s1</a:t>
            </a:r>
            <a:r>
              <a:rPr lang="zh-CN" altLang="en-US" sz="1600" b="1" dirty="0">
                <a:latin typeface="+mn-ea"/>
              </a:rPr>
              <a:t>和字符串</a:t>
            </a:r>
            <a:r>
              <a:rPr lang="en-US" altLang="zh-CN" sz="1600" b="1" dirty="0">
                <a:latin typeface="+mn-ea"/>
              </a:rPr>
              <a:t>s2</a:t>
            </a:r>
            <a:r>
              <a:rPr lang="zh-CN" altLang="en-US" sz="1600" b="1" dirty="0">
                <a:latin typeface="+mn-ea"/>
              </a:rPr>
              <a:t>的大小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输入参数：存放字符串</a:t>
            </a:r>
            <a:r>
              <a:rPr lang="en-US" altLang="zh-CN" sz="1600" b="1" dirty="0">
                <a:latin typeface="+mn-ea"/>
              </a:rPr>
              <a:t>s1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>
                <a:latin typeface="+mn-ea"/>
              </a:rPr>
              <a:t>s1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只读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          </a:t>
            </a:r>
            <a:r>
              <a:rPr lang="zh-CN" altLang="en-US" sz="1600" b="1" dirty="0">
                <a:latin typeface="+mn-ea"/>
              </a:rPr>
              <a:t>存放字符串</a:t>
            </a:r>
            <a:r>
              <a:rPr lang="en-US" altLang="zh-CN" sz="1600" b="1" dirty="0">
                <a:latin typeface="+mn-ea"/>
              </a:rPr>
              <a:t>s2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>
                <a:latin typeface="+mn-ea"/>
              </a:rPr>
              <a:t>s2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只读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返 回 值：整型值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(0: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相等  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&gt;0: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串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1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大  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&lt;0: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串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1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小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612913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6.strcmp(const char s1[], const char s2[])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13</a:t>
            </a:r>
            <a:r>
              <a:rPr lang="zh-CN" altLang="en-US" sz="1600" b="1" dirty="0">
                <a:latin typeface="+mn-ea"/>
              </a:rPr>
              <a:t>：字符串比较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D164D51-A4CB-4D32-8D82-EF4E2067E9D6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22498D5-1DDF-473C-A5FE-9B49A2786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263316"/>
            <a:ext cx="560501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   char str1[] = "house", str2[]  = "horse";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de-DE" altLang="zh-CN" sz="1600" b="1" dirty="0">
                <a:solidFill>
                  <a:srgbClr val="000000"/>
                </a:solidFill>
                <a:latin typeface="+mn-ea"/>
              </a:rPr>
              <a:t>    char str3[] = "abcd",  str4[]  = "abcde";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str5[] =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abcd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",  str6[]  =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abc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str7[] =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abcd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",  str8[]  =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abcd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str9[] =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abcd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",  str10[] =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abcd</a:t>
            </a:r>
            <a:r>
              <a:rPr kumimoji="1" lang="en-US" altLang="zh-CN" sz="1600" b="1" dirty="0">
                <a:solidFill>
                  <a:srgbClr val="3333CC"/>
                </a:solidFill>
                <a:latin typeface="+mn-ea"/>
              </a:rPr>
              <a:t>\0efgh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strcmp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(str1, str2)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strcmp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(str3, str4)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strcmp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(str5, str6)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strcmp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(str7, str8)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strcmp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(str9, str10)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A01A97C-F98F-4774-9B2B-260540420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问题：两个字符串相等的条件是？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长度相等且对应位置字符的</a:t>
            </a:r>
            <a:r>
              <a:rPr lang="en-US" altLang="zh-CN" sz="1600" b="1" dirty="0">
                <a:latin typeface="+mn-ea"/>
              </a:rPr>
              <a:t>ASCII</a:t>
            </a:r>
            <a:r>
              <a:rPr lang="zh-CN" altLang="en-US" sz="1600" b="1" dirty="0">
                <a:latin typeface="+mn-ea"/>
              </a:rPr>
              <a:t>码值相等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en-US" altLang="zh-CN" sz="24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u</a:t>
            </a:r>
            <a:r>
              <a:rPr lang="zh-CN" altLang="en-US" sz="24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在</a:t>
            </a:r>
            <a:r>
              <a:rPr lang="en-US" altLang="zh-CN" sz="24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r</a:t>
            </a:r>
            <a:r>
              <a:rPr lang="zh-CN" altLang="en-US" sz="24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的后面，所以</a:t>
            </a:r>
            <a:r>
              <a:rPr lang="en-US" altLang="zh-CN" sz="24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u</a:t>
            </a:r>
            <a:r>
              <a:rPr lang="zh-CN" altLang="en-US" sz="24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大！！别脑抽觉得是</a:t>
            </a:r>
            <a:r>
              <a:rPr lang="en-US" altLang="zh-CN" sz="24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u</a:t>
            </a:r>
            <a:r>
              <a:rPr lang="zh-CN" altLang="en-US" sz="24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小！！！</a:t>
            </a:r>
            <a:endParaRPr lang="en-US" altLang="zh-CN" sz="24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  <a:p>
            <a:pPr>
              <a:spcBef>
                <a:spcPts val="672"/>
              </a:spcBef>
            </a:pPr>
            <a:endParaRPr lang="zh-CN" altLang="en-US" sz="1600" b="1" dirty="0">
              <a:latin typeface="+mn-ea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B2248B6-03E4-4DCC-B63C-E19DF9300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0642" y="1263316"/>
            <a:ext cx="299104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给出程序的运行结果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1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-1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1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0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F98DE80-8325-3D97-66EE-957C62372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8786" y="1636296"/>
            <a:ext cx="4153480" cy="236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5232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6.strcmp(const char s1[], const char s2[])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14</a:t>
            </a:r>
            <a:r>
              <a:rPr lang="zh-CN" altLang="en-US" sz="1600" b="1" dirty="0">
                <a:latin typeface="+mn-ea"/>
              </a:rPr>
              <a:t>：字符串比较（另一种形式）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D164D51-A4CB-4D32-8D82-EF4E2067E9D6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22498D5-1DDF-473C-A5FE-9B49A2786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263316"/>
            <a:ext cx="560501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  char str1[]="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abcd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", str2[]="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abcde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k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strcmp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(str1, str2);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if (k==0)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串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 =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串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else if (k&lt;0)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串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 &lt;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串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else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串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 &gt;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串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A01A97C-F98F-4774-9B2B-260540420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问题：给出两个字符串比较的执行过程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两串首字符对应比较，若不等则返回非</a:t>
            </a:r>
            <a:r>
              <a:rPr lang="en-US" altLang="zh-CN" sz="1600" b="1" dirty="0">
                <a:latin typeface="+mn-ea"/>
              </a:rPr>
              <a:t>0</a:t>
            </a:r>
            <a:r>
              <a:rPr lang="zh-CN" altLang="en-US" sz="1600" b="1" dirty="0">
                <a:latin typeface="+mn-ea"/>
              </a:rPr>
              <a:t>，若相等则继续比较下一个字符，重复到两串对应字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符均为</a:t>
            </a:r>
            <a:r>
              <a:rPr lang="en-US" altLang="zh-CN" sz="1600" b="1" dirty="0">
                <a:latin typeface="+mn-ea"/>
              </a:rPr>
              <a:t>\0</a:t>
            </a:r>
            <a:r>
              <a:rPr lang="zh-CN" altLang="en-US" sz="1600" b="1" dirty="0">
                <a:latin typeface="+mn-ea"/>
              </a:rPr>
              <a:t>则结束比较，返回</a:t>
            </a:r>
            <a:r>
              <a:rPr lang="en-US" altLang="zh-CN" sz="1600" b="1" dirty="0">
                <a:latin typeface="+mn-ea"/>
              </a:rPr>
              <a:t>0</a:t>
            </a:r>
            <a:r>
              <a:rPr lang="zh-CN" altLang="en-US" sz="1600" b="1" dirty="0">
                <a:latin typeface="+mn-ea"/>
              </a:rPr>
              <a:t>（相等）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endParaRPr lang="zh-CN" altLang="en-US" sz="1600" b="1" dirty="0">
              <a:latin typeface="+mn-ea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B2248B6-03E4-4DCC-B63C-E19DF9300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0642" y="1263316"/>
            <a:ext cx="299104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给出程序的运行结果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串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 &lt;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串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17EB473-AE19-F4CF-3363-221B1BAD3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0642" y="1801858"/>
            <a:ext cx="4039164" cy="105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5286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6.strcmp(const char s1[], const char s2[])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15</a:t>
            </a:r>
            <a:r>
              <a:rPr lang="zh-CN" altLang="en-US" sz="1600" b="1" dirty="0">
                <a:latin typeface="+mn-ea"/>
              </a:rPr>
              <a:t>：字符串比较（编译不错，但运行结果与期望不符合）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D164D51-A4CB-4D32-8D82-EF4E2067E9D6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22498D5-1DDF-473C-A5FE-9B49A2786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263316"/>
            <a:ext cx="560501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  char str1[]="house", str2[]="horse";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k = str1 &lt; str2;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k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A01A97C-F98F-4774-9B2B-260540420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zh-CN" altLang="en-US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这个程序的运行结果是表示</a:t>
            </a:r>
            <a:r>
              <a:rPr lang="en-US" altLang="zh-CN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str1</a:t>
            </a:r>
            <a:r>
              <a:rPr lang="zh-CN" altLang="en-US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和</a:t>
            </a:r>
            <a:r>
              <a:rPr lang="en-US" altLang="zh-CN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str2</a:t>
            </a:r>
            <a:r>
              <a:rPr lang="zh-CN" altLang="en-US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的</a:t>
            </a:r>
            <a:r>
              <a:rPr lang="en-US" altLang="zh-CN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____</a:t>
            </a:r>
            <a:r>
              <a:rPr lang="zh-CN" altLang="en-US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首地址</a:t>
            </a:r>
            <a:r>
              <a:rPr lang="en-US" altLang="zh-CN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______</a:t>
            </a:r>
            <a:r>
              <a:rPr lang="zh-CN" altLang="en-US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进行比较。</a:t>
            </a:r>
            <a:endParaRPr lang="en-US" altLang="zh-CN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  <a:p>
            <a:pPr>
              <a:spcBef>
                <a:spcPts val="672"/>
              </a:spcBef>
            </a:pPr>
            <a:endParaRPr lang="zh-CN" altLang="en-US" sz="1600" b="1" dirty="0">
              <a:latin typeface="+mn-ea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B2248B6-03E4-4DCC-B63C-E19DF9300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0642" y="1263316"/>
            <a:ext cx="299104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给出程序的运行结果 </a:t>
            </a: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将</a:t>
            </a: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str1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和</a:t>
            </a: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str2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的内容互换，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  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给出运行结果 </a:t>
            </a: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将</a:t>
            </a: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str1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和</a:t>
            </a: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str2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都置为</a:t>
            </a: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"house",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  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给出运行结果 </a:t>
            </a: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7141F0C-0D74-A201-95C8-6473F44C6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4439" y="1483757"/>
            <a:ext cx="4134427" cy="109552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99CC94D-54FF-B6D5-1A42-F3A7E4D8DC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439" y="3150015"/>
            <a:ext cx="4096322" cy="91452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2FE9BB9-878C-CFF0-319E-3F155EA545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768" y="4635273"/>
            <a:ext cx="4039164" cy="103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1456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7.strncmp(const char s1[], const char s2[],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const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unsigned int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n)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    能：比较字符串</a:t>
            </a:r>
            <a:r>
              <a:rPr lang="en-US" altLang="zh-CN" sz="1600" b="1" dirty="0">
                <a:latin typeface="+mn-ea"/>
              </a:rPr>
              <a:t>s1</a:t>
            </a:r>
            <a:r>
              <a:rPr lang="zh-CN" altLang="en-US" sz="1600" b="1" dirty="0">
                <a:latin typeface="+mn-ea"/>
              </a:rPr>
              <a:t>和字符串</a:t>
            </a:r>
            <a:r>
              <a:rPr lang="en-US" altLang="zh-CN" sz="1600" b="1" dirty="0">
                <a:latin typeface="+mn-ea"/>
              </a:rPr>
              <a:t>s2</a:t>
            </a:r>
            <a:r>
              <a:rPr lang="zh-CN" altLang="en-US" sz="1600" b="1" dirty="0">
                <a:latin typeface="+mn-ea"/>
              </a:rPr>
              <a:t>的前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个字符的大小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输入参数：存放字符串</a:t>
            </a:r>
            <a:r>
              <a:rPr lang="en-US" altLang="zh-CN" sz="1600" b="1" dirty="0">
                <a:latin typeface="+mn-ea"/>
              </a:rPr>
              <a:t>s1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>
                <a:latin typeface="+mn-ea"/>
              </a:rPr>
              <a:t>s1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只读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          </a:t>
            </a:r>
            <a:r>
              <a:rPr lang="zh-CN" altLang="en-US" sz="1600" b="1" dirty="0">
                <a:latin typeface="+mn-ea"/>
              </a:rPr>
              <a:t>存放字符串</a:t>
            </a:r>
            <a:r>
              <a:rPr lang="en-US" altLang="zh-CN" sz="1600" b="1" dirty="0">
                <a:latin typeface="+mn-ea"/>
              </a:rPr>
              <a:t>s2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>
                <a:latin typeface="+mn-ea"/>
              </a:rPr>
              <a:t>s2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只读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要比较的长度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只读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返 回 值：整型值</a:t>
            </a:r>
            <a:r>
              <a:rPr lang="en-US" altLang="zh-CN" sz="1600" b="1" dirty="0">
                <a:latin typeface="+mn-ea"/>
              </a:rPr>
              <a:t>(0:</a:t>
            </a:r>
            <a:r>
              <a:rPr lang="zh-CN" altLang="en-US" sz="1600" b="1" dirty="0">
                <a:latin typeface="+mn-ea"/>
              </a:rPr>
              <a:t>相等  </a:t>
            </a:r>
            <a:r>
              <a:rPr lang="en-US" altLang="zh-CN" sz="1600" b="1" dirty="0">
                <a:latin typeface="+mn-ea"/>
              </a:rPr>
              <a:t>&gt;0:</a:t>
            </a:r>
            <a:r>
              <a:rPr lang="zh-CN" altLang="en-US" sz="1600" b="1" dirty="0">
                <a:latin typeface="+mn-ea"/>
              </a:rPr>
              <a:t>串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大  </a:t>
            </a:r>
            <a:r>
              <a:rPr lang="en-US" altLang="zh-CN" sz="1600" b="1" dirty="0">
                <a:latin typeface="+mn-ea"/>
              </a:rPr>
              <a:t>&lt;0:</a:t>
            </a:r>
            <a:r>
              <a:rPr lang="zh-CN" altLang="en-US" sz="1600" b="1" dirty="0">
                <a:latin typeface="+mn-ea"/>
              </a:rPr>
              <a:t>串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小</a:t>
            </a:r>
            <a:r>
              <a:rPr lang="en-US" altLang="zh-CN" sz="1600" b="1" dirty="0">
                <a:latin typeface="+mn-ea"/>
              </a:rPr>
              <a:t>)</a:t>
            </a:r>
            <a:endParaRPr lang="zh-CN" altLang="en-US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558814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7.strncmp(const char s1[], const char s2[],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const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unsigned int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n)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16</a:t>
            </a:r>
            <a:r>
              <a:rPr lang="zh-CN" altLang="en-US" sz="1600" b="1" dirty="0">
                <a:latin typeface="+mn-ea"/>
              </a:rPr>
              <a:t>：字符串比较前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个字符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D164D51-A4CB-4D32-8D82-EF4E2067E9D6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22498D5-1DDF-473C-A5FE-9B49A2786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263316"/>
            <a:ext cx="560501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de-DE" altLang="zh-CN" sz="1600" b="1" dirty="0">
                <a:solidFill>
                  <a:srgbClr val="000000"/>
                </a:solidFill>
                <a:latin typeface="+mn-ea"/>
              </a:rPr>
              <a:t>    char str1[] = "abcd",  str2[]  = "abcde";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strncmp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(str1, str2, 3) 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strncmp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(str1, str2, 4) 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strncmp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(str1, str2, 5) 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strncmp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(str1, str2, 100)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A01A97C-F98F-4774-9B2B-260540420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、当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小于短串长度时，则比较到</a:t>
            </a:r>
            <a:r>
              <a:rPr lang="en-US" altLang="zh-CN" sz="1600" b="1" dirty="0">
                <a:latin typeface="+mn-ea"/>
              </a:rPr>
              <a:t>____n_________________</a:t>
            </a:r>
            <a:r>
              <a:rPr lang="zh-CN" altLang="en-US" sz="1600" b="1" dirty="0">
                <a:latin typeface="+mn-ea"/>
              </a:rPr>
              <a:t>。</a:t>
            </a:r>
          </a:p>
          <a:p>
            <a:pPr>
              <a:spcBef>
                <a:spcPts val="672"/>
              </a:spcBef>
            </a:pP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当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n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大于等于短串长度时，则比较到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___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短串长度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+1__________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为止。</a:t>
            </a:r>
            <a:endParaRPr lang="en-US" altLang="zh-CN" sz="16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3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、如果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n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超过长串的长度，则比较到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_____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短串长度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+1__________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为止。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B2248B6-03E4-4DCC-B63C-E19DF9300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0642" y="1263316"/>
            <a:ext cx="299104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给出程序的运行结果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-1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-1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将</a:t>
            </a: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str2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也置为</a:t>
            </a: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"</a:t>
            </a:r>
            <a:r>
              <a:rPr kumimoji="1" lang="en-US" altLang="zh-CN" sz="1600" b="1" dirty="0" err="1">
                <a:latin typeface="宋体" pitchFamily="2" charset="-122"/>
                <a:ea typeface="宋体" pitchFamily="2" charset="-122"/>
              </a:rPr>
              <a:t>abcd</a:t>
            </a: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"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  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给出程序的运行结果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latin typeface="宋体" pitchFamily="2" charset="-122"/>
                <a:ea typeface="宋体" pitchFamily="2" charset="-122"/>
              </a:rPr>
              <a:t>0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C13D010-F643-63C9-9730-78BCC4C15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3861" y="985885"/>
            <a:ext cx="4124901" cy="189574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CED2F84-E9FA-5AE2-D764-629AA55C5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861" y="3159056"/>
            <a:ext cx="4115374" cy="190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004186"/>
      </p:ext>
    </p:extLst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416</TotalTime>
  <Words>4230</Words>
  <Application>Microsoft Office PowerPoint</Application>
  <PresentationFormat>宽屏</PresentationFormat>
  <Paragraphs>660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28" baseType="lpstr">
      <vt:lpstr>宋体</vt:lpstr>
      <vt:lpstr>Times New Roman</vt:lpstr>
      <vt:lpstr>等线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Larry</dc:creator>
  <cp:lastModifiedBy>xi sheng</cp:lastModifiedBy>
  <cp:revision>51</cp:revision>
  <dcterms:created xsi:type="dcterms:W3CDTF">2020-08-13T13:39:53Z</dcterms:created>
  <dcterms:modified xsi:type="dcterms:W3CDTF">2024-06-23T02:09:18Z</dcterms:modified>
</cp:coreProperties>
</file>