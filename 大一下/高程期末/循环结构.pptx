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492" r:id="rId2"/>
    <p:sldId id="1276" r:id="rId3"/>
    <p:sldId id="1280" r:id="rId4"/>
    <p:sldId id="1251" r:id="rId5"/>
    <p:sldId id="1239" r:id="rId6"/>
    <p:sldId id="1277" r:id="rId7"/>
    <p:sldId id="1252" r:id="rId8"/>
    <p:sldId id="1242" r:id="rId9"/>
    <p:sldId id="1278" r:id="rId10"/>
    <p:sldId id="1253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141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count1 = 0, count2 = 0, count3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++count1;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for(j=1; j&lt;=100;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++count2;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for(k=1; k&lt;=100; k++)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++count3;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"count1=" &lt;&lt; count1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"count2=" &lt;&lt; count2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"count3=" &lt;&lt; count3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、当循环嵌套时，内层循环的执行次数和外层循环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是什么关系？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外层循环每执行一次，内层循环执行一遍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005" y="1887855"/>
            <a:ext cx="4057650" cy="1609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count1 = 0, count2 = 0, count3 =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++count1;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for(j=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j&lt;=100;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++count2;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for(k=</a:t>
            </a:r>
            <a:r>
              <a:rPr kumimoji="1" lang="en-US" altLang="zh-CN" sz="1600" b="1" dirty="0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k&lt;=100; k++)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++count3;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"count1=" &lt;&lt; count1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"count2=" &lt;&lt; count2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"count3=" &lt;&lt; count3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、当循环嵌套时，内层循环的执行次数和外层循环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是什么关系？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外层循环每执行一次，内层循环执行一遍，当内层循环的前置条件等和外层循环有关时，内层循环的每遍执行会随着外层循环的每次执行发生规律性的改变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5" y="1591945"/>
            <a:ext cx="4086225" cy="1476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、循环的嵌套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count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=1;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for(j=1; </a:t>
            </a:r>
            <a:r>
              <a:rPr kumimoji="1"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&lt;=100;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j++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++count;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if (count % 1000 == 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"*";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"count = " &lt;&lt; count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注意：这个程序无法通过按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CTRL+C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终止，要关窗口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、贴运行结果（能表现出要表达的意思即可）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、按内外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循环的执行步骤依次分析，为什么会得到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这个结果？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 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外循环表达式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1 - </a:t>
            </a:r>
            <a:r>
              <a:rPr kumimoji="1" lang="en-US" altLang="zh-CN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=1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外循环表达式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2 - i&lt;=100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3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内循环表达式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1 - j=1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4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内循环表达式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2 - i&lt;=100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内循环语句序列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1 - ++count =&gt; count=1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7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步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-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内循环语句序列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2 - count%1000!=0,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不执行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8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内循环表达式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3 - j++ =&gt; j=2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9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内循环表达式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2 - i&lt;=100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内循环语句序列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1 - ++count =&gt; count=2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11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内循环语句序列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2 - count%1000!=0,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不执行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12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 - 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内循环表达式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2 - i&lt;=100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……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内循环没有可以改变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i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的语句，内循环表达式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2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又是判断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i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的值，因此会一直重复内循环，即第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4-8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步，当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count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累计到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1000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的倍数时，会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cout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星号，程序等待输入，输入后再次重复第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4-8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步，直到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count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再次累计到</a:t>
            </a:r>
            <a:r>
              <a:rPr kumimoji="1" lang="en-US" altLang="zh-CN" sz="1600" b="1" dirty="0">
                <a:ln>
                  <a:noFill/>
                </a:ln>
                <a:effectLst/>
                <a:latin typeface="+mn-ea"/>
                <a:sym typeface="+mn-ea"/>
              </a:rPr>
              <a:t>1000</a:t>
            </a:r>
            <a:r>
              <a:rPr kumimoji="1" lang="zh-CN" altLang="en-US" sz="1600" b="1" dirty="0">
                <a:ln>
                  <a:noFill/>
                </a:ln>
                <a:effectLst/>
                <a:latin typeface="+mn-ea"/>
                <a:sym typeface="+mn-ea"/>
              </a:rPr>
              <a:t>的倍数，重复上述操作，永不结束</a:t>
            </a:r>
            <a:r>
              <a:rPr kumimoji="1" lang="en-US" altLang="zh-CN" sz="1600" b="1" dirty="0">
                <a:latin typeface="+mn-ea"/>
              </a:rPr>
              <a:t> 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665" y="1593850"/>
            <a:ext cx="2872740" cy="758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74405" y="1681480"/>
            <a:ext cx="25514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_getch</a:t>
            </a:r>
            <a:r>
              <a:rPr lang="zh-CN" altLang="en-US" sz="1600"/>
              <a:t>两次后得到</a:t>
            </a:r>
            <a:r>
              <a:rPr lang="en-US" altLang="zh-CN" sz="1600"/>
              <a:t>3</a:t>
            </a:r>
            <a:r>
              <a:rPr lang="zh-CN" altLang="en-US" sz="1600"/>
              <a:t>个星号，程序仍在等待输入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break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continue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已知代码如下，回答问题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while(1)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②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(X)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continue;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③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④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为真时，重复执行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为假时，重复执行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①②③④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267324" y="1323975"/>
            <a:ext cx="557212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for(1; 1; ④)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①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②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(X)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continue;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③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为真时，重复执行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①②④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为假时，重复执行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①②③④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①②③④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break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continue</a:t>
            </a: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=0,sum=0;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&lt;1000)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break;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sum=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 sum=" &lt;&lt; sum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267324" y="1323975"/>
            <a:ext cx="557212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=0,sum=0;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3333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while(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&lt;1000) 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continue;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sum=</a:t>
            </a:r>
            <a:r>
              <a:rPr kumimoji="1" lang="en-US" altLang="zh-CN" sz="1600" b="1" dirty="0" err="1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 sum=" &lt;&lt; sum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1000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sum+i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执行了多少次？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次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880" y="1776095"/>
            <a:ext cx="2994025" cy="8680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201420"/>
            <a:ext cx="41148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、观察程序运行结果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    //</a:t>
            </a:r>
            <a:r>
              <a:rPr lang="zh-CN" altLang="en-US" sz="1000" b="1" dirty="0">
                <a:latin typeface="+mn-ea"/>
              </a:rPr>
              <a:t>格式输出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cmath</a:t>
            </a:r>
            <a:r>
              <a:rPr lang="en-US" altLang="zh-CN" sz="1000" b="1" dirty="0">
                <a:latin typeface="+mn-ea"/>
              </a:rPr>
              <a:t>&gt;      //fabs</a:t>
            </a: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windows.h</a:t>
            </a:r>
            <a:r>
              <a:rPr lang="en-US" altLang="zh-CN" sz="1000" b="1" dirty="0">
                <a:latin typeface="+mn-ea"/>
              </a:rPr>
              <a:t>&gt;  //</a:t>
            </a:r>
            <a:r>
              <a:rPr lang="zh-CN" altLang="en-US" sz="1000" b="1" dirty="0">
                <a:latin typeface="+mn-ea"/>
              </a:rPr>
              <a:t>取系统时间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using namespace std;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int main()</a:t>
            </a:r>
          </a:p>
          <a:p>
            <a:r>
              <a:rPr lang="en-US" altLang="zh-CN" sz="1000" b="1" dirty="0">
                <a:latin typeface="+mn-ea"/>
              </a:rPr>
              <a:t>{</a:t>
            </a:r>
          </a:p>
          <a:p>
            <a:r>
              <a:rPr lang="en-US" altLang="zh-CN" sz="1000" b="1" dirty="0">
                <a:latin typeface="+mn-ea"/>
              </a:rPr>
              <a:t>    int s=1;</a:t>
            </a:r>
          </a:p>
          <a:p>
            <a:r>
              <a:rPr lang="en-US" altLang="zh-CN" sz="1000" b="1" dirty="0">
                <a:latin typeface="+mn-ea"/>
              </a:rPr>
              <a:t>    double n=1, t=1, pi=0;</a:t>
            </a:r>
          </a:p>
          <a:p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LARGE_INTEGER tick, begin, end;</a:t>
            </a: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QueryPerformanceFrequency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(&amp;tick);	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取计数器频率</a:t>
            </a: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QueryPerformanceCounter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(&amp;begin);	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取初始硬件定时器计数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while(fabs(t)&gt;1e-6) {</a:t>
            </a:r>
          </a:p>
          <a:p>
            <a:r>
              <a:rPr lang="en-US" altLang="zh-CN" sz="1000" b="1" dirty="0">
                <a:latin typeface="+mn-ea"/>
              </a:rPr>
              <a:t>       pi=</a:t>
            </a:r>
            <a:r>
              <a:rPr lang="en-US" altLang="zh-CN" sz="1000" b="1" dirty="0" err="1">
                <a:latin typeface="+mn-ea"/>
              </a:rPr>
              <a:t>pi+t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   n=n+2;</a:t>
            </a:r>
          </a:p>
          <a:p>
            <a:r>
              <a:rPr lang="en-US" altLang="zh-CN" sz="1000" b="1" dirty="0">
                <a:latin typeface="+mn-ea"/>
              </a:rPr>
              <a:t>       s=-s;</a:t>
            </a:r>
          </a:p>
          <a:p>
            <a:r>
              <a:rPr lang="en-US" altLang="zh-CN" sz="1000" b="1" dirty="0">
                <a:latin typeface="+mn-ea"/>
              </a:rPr>
              <a:t>       t=s/n;</a:t>
            </a:r>
          </a:p>
          <a:p>
            <a:r>
              <a:rPr lang="en-US" altLang="zh-CN" sz="1000" b="1" dirty="0">
                <a:latin typeface="+mn-ea"/>
              </a:rPr>
              <a:t>       }</a:t>
            </a:r>
          </a:p>
          <a:p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QueryPerformanceCounter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(&amp;end);//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获得终止硬件定时器计数</a:t>
            </a:r>
            <a:endParaRPr lang="en-US" altLang="zh-CN" sz="10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pi=pi*4;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"n=" 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(10) &lt;&lt; n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&lt;&lt;"pi="&lt;&lt;</a:t>
            </a:r>
            <a:r>
              <a:rPr lang="en-US" altLang="zh-CN" sz="1000" b="1" dirty="0" err="1">
                <a:latin typeface="+mn-ea"/>
              </a:rPr>
              <a:t>setiosflags</a:t>
            </a:r>
            <a:r>
              <a:rPr lang="en-US" altLang="zh-CN" sz="1000" b="1" dirty="0">
                <a:latin typeface="+mn-ea"/>
              </a:rPr>
              <a:t>(</a:t>
            </a:r>
            <a:r>
              <a:rPr lang="en-US" altLang="zh-CN" sz="1000" b="1" dirty="0" err="1">
                <a:latin typeface="+mn-ea"/>
              </a:rPr>
              <a:t>ios</a:t>
            </a:r>
            <a:r>
              <a:rPr lang="en-US" altLang="zh-CN" sz="1000" b="1" dirty="0">
                <a:latin typeface="+mn-ea"/>
              </a:rPr>
              <a:t>::fixed)&lt;&lt;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(9)&lt;&lt;pi&lt;&lt;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</a:p>
          <a:p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计数器频率：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tick.QuadPart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"Hz"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时钟计数  ：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-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begin.QuadPart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</a:p>
          <a:p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&lt;&lt;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setprecision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(6) &lt;&lt; (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 - 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begin.QuadPart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)/double(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tick.QuadPart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) &lt;&lt; "</a:t>
            </a:r>
            <a:r>
              <a:rPr lang="zh-CN" altLang="en-US" sz="1000" b="1" dirty="0">
                <a:solidFill>
                  <a:srgbClr val="FF0000"/>
                </a:solidFill>
                <a:latin typeface="+mn-ea"/>
              </a:rPr>
              <a:t>秒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" &lt;&lt;</a:t>
            </a:r>
            <a:r>
              <a:rPr lang="en-US" altLang="zh-CN" sz="1000" b="1" dirty="0" err="1">
                <a:solidFill>
                  <a:srgbClr val="FF0000"/>
                </a:solidFill>
                <a:latin typeface="+mn-ea"/>
              </a:rPr>
              <a:t>endl</a:t>
            </a:r>
            <a:r>
              <a:rPr lang="en-US" altLang="zh-CN" sz="1000" b="1" dirty="0">
                <a:solidFill>
                  <a:srgbClr val="FF0000"/>
                </a:solidFill>
                <a:latin typeface="+mn-ea"/>
              </a:rPr>
              <a:t>;</a:t>
            </a:r>
          </a:p>
          <a:p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</a:p>
          <a:p>
            <a:r>
              <a:rPr lang="en-US" altLang="zh-CN" sz="1000" b="1" dirty="0">
                <a:latin typeface="+mn-ea"/>
              </a:rPr>
              <a:t>}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5065986" y="2154621"/>
            <a:ext cx="5773464" cy="306902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(1) 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型</a:t>
            </a:r>
          </a:p>
          <a:p>
            <a:r>
              <a:rPr lang="zh-CN" altLang="en-US" sz="1200" b="1" dirty="0">
                <a:latin typeface="+mn-ea"/>
              </a:rPr>
              <a:t>  精度为</a:t>
            </a:r>
            <a:r>
              <a:rPr lang="en-US" altLang="zh-CN" sz="1200" b="1" dirty="0">
                <a:latin typeface="+mn-ea"/>
              </a:rPr>
              <a:t>1e-6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n=_____1000001___  pi=__3.141590654_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=__0.002276_(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1e-7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n=___10000001____  pi=__3.141592454__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=__0.024577_(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1e-8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n=__100000001___  pi=__3.141592634_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=__0.238236__(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1e-9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n=___1000000001____  pi=__3.141592652__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=_2.526028_(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      (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因为机器配置不同，时间值可能不同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(2) 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型</a:t>
            </a:r>
          </a:p>
          <a:p>
            <a:r>
              <a:rPr lang="zh-CN" altLang="en-US" sz="1200" b="1" dirty="0">
                <a:latin typeface="+mn-ea"/>
              </a:rPr>
              <a:t>  精度为</a:t>
            </a:r>
            <a:r>
              <a:rPr lang="en-US" altLang="zh-CN" sz="1200" b="1" dirty="0">
                <a:latin typeface="+mn-ea"/>
              </a:rPr>
              <a:t>1e-6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n=____1000001___  pi=__3.141593933__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=__0.022777__(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1e-7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n=_____10000001__  pi=__3.141596556_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=__0.233051_(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r>
              <a:rPr lang="en-US" altLang="zh-CN" sz="1200" b="1" dirty="0">
                <a:latin typeface="+mn-ea"/>
              </a:rPr>
              <a:t>        1e-8</a:t>
            </a:r>
            <a:r>
              <a:rPr lang="zh-CN" altLang="en-US" sz="1200" b="1" dirty="0">
                <a:latin typeface="+mn-ea"/>
              </a:rPr>
              <a:t>：</a:t>
            </a:r>
            <a:r>
              <a:rPr lang="en-US" altLang="zh-CN" sz="1200" b="1" dirty="0">
                <a:latin typeface="+mn-ea"/>
              </a:rPr>
              <a:t>n=________________  pi=___________ </a:t>
            </a:r>
            <a:r>
              <a:rPr lang="zh-CN" altLang="en-US" sz="1200" b="1" dirty="0">
                <a:latin typeface="+mn-ea"/>
              </a:rPr>
              <a:t>时间</a:t>
            </a:r>
            <a:r>
              <a:rPr lang="en-US" altLang="zh-CN" sz="1200" b="1" dirty="0">
                <a:latin typeface="+mn-ea"/>
              </a:rPr>
              <a:t>=________(</a:t>
            </a:r>
            <a:r>
              <a:rPr lang="zh-CN" altLang="en-US" sz="1200" b="1" dirty="0">
                <a:latin typeface="+mn-ea"/>
              </a:rPr>
              <a:t>秒</a:t>
            </a:r>
            <a:r>
              <a:rPr lang="en-US" altLang="zh-CN" sz="1200" b="1" dirty="0">
                <a:latin typeface="+mn-ea"/>
              </a:rPr>
              <a:t>)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问：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、</a:t>
            </a: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项中哪个没结果？为什么？</a:t>
            </a:r>
            <a:r>
              <a:rPr lang="en-US" altLang="zh-CN" sz="1200" b="1" dirty="0">
                <a:latin typeface="+mn-ea"/>
              </a:rPr>
              <a:t>n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，</a:t>
            </a:r>
            <a:r>
              <a:rPr lang="en-US" altLang="zh-CN" sz="1200" b="1" dirty="0">
                <a:latin typeface="+mn-ea"/>
              </a:rPr>
              <a:t>pi</a:t>
            </a:r>
            <a:r>
              <a:rPr lang="zh-CN" altLang="en-US" sz="1200" b="1" dirty="0">
                <a:latin typeface="+mn-ea"/>
              </a:rPr>
              <a:t>为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型且精度为</a:t>
            </a:r>
            <a:r>
              <a:rPr lang="en-US" altLang="zh-CN" sz="1200" b="1" dirty="0">
                <a:latin typeface="+mn-ea"/>
              </a:rPr>
              <a:t>1e-8</a:t>
            </a:r>
            <a:r>
              <a:rPr lang="zh-CN" altLang="en-US" sz="1200" b="1" dirty="0">
                <a:latin typeface="+mn-ea"/>
              </a:rPr>
              <a:t>时，因为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型的精度最高</a:t>
            </a:r>
            <a:r>
              <a:rPr lang="en-US" altLang="zh-CN" sz="1200" b="1" dirty="0">
                <a:latin typeface="+mn-ea"/>
              </a:rPr>
              <a:t>7</a:t>
            </a:r>
            <a:r>
              <a:rPr lang="zh-CN" altLang="en-US" sz="1200" b="1" dirty="0">
                <a:latin typeface="+mn-ea"/>
              </a:rPr>
              <a:t>位，所以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zh-CN" altLang="en-US" sz="1200" b="1" dirty="0">
                <a:latin typeface="+mn-ea"/>
              </a:rPr>
              <a:t>作为一个整数部分为</a:t>
            </a:r>
            <a:r>
              <a:rPr lang="en-US" altLang="zh-CN" sz="1200" b="1" dirty="0">
                <a:latin typeface="+mn-ea"/>
              </a:rPr>
              <a:t>0</a:t>
            </a:r>
            <a:r>
              <a:rPr lang="zh-CN" altLang="en-US" sz="1200" b="1" dirty="0">
                <a:latin typeface="+mn-ea"/>
              </a:rPr>
              <a:t>的小数，无法比</a:t>
            </a:r>
            <a:r>
              <a:rPr lang="en-US" altLang="zh-CN" sz="1200" b="1" dirty="0">
                <a:latin typeface="+mn-ea"/>
              </a:rPr>
              <a:t>1e-8</a:t>
            </a:r>
            <a:r>
              <a:rPr lang="zh-CN" altLang="en-US" sz="1200" b="1" dirty="0">
                <a:latin typeface="+mn-ea"/>
              </a:rPr>
              <a:t>小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2</a:t>
            </a:r>
            <a:r>
              <a:rPr lang="zh-CN" altLang="en-US" sz="1200" b="1" dirty="0">
                <a:latin typeface="+mn-ea"/>
              </a:rPr>
              <a:t>、</a:t>
            </a:r>
            <a:r>
              <a:rPr lang="en-US" altLang="zh-CN" sz="1200" b="1" dirty="0">
                <a:latin typeface="+mn-ea"/>
              </a:rPr>
              <a:t>float</a:t>
            </a:r>
            <a:r>
              <a:rPr lang="zh-CN" altLang="en-US" sz="1200" b="1" dirty="0">
                <a:latin typeface="+mn-ea"/>
              </a:rPr>
              <a:t>和</a:t>
            </a:r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同进度下那个时间快？（观察现象即可，不需要解释原因）</a:t>
            </a:r>
          </a:p>
          <a:p>
            <a:pPr indent="457200"/>
            <a:r>
              <a:rPr lang="en-US" altLang="zh-CN" sz="1200" b="1" dirty="0">
                <a:latin typeface="+mn-ea"/>
              </a:rPr>
              <a:t>double</a:t>
            </a:r>
            <a:r>
              <a:rPr lang="zh-CN" altLang="en-US" sz="1200" b="1" dirty="0">
                <a:latin typeface="+mn-ea"/>
              </a:rPr>
              <a:t>更快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3"/>
              <p:cNvSpPr txBox="1"/>
              <p:nvPr/>
            </p:nvSpPr>
            <p:spPr bwMode="auto">
              <a:xfrm>
                <a:off x="7296641" y="1323975"/>
                <a:ext cx="3542809" cy="83064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100" b="1" dirty="0">
                    <a:solidFill>
                      <a:srgbClr val="000000"/>
                    </a:solidFill>
                    <a:latin typeface="+mn-ea"/>
                  </a:rPr>
                  <a:t>用下面的迭代公式求</a:t>
                </a:r>
                <a:r>
                  <a:rPr kumimoji="1" lang="en-US" altLang="zh-CN" sz="2100" b="1" dirty="0">
                    <a:solidFill>
                      <a:srgbClr val="000000"/>
                    </a:solidFill>
                    <a:latin typeface="+mn-ea"/>
                  </a:rPr>
                  <a:t>Pi</a:t>
                </a:r>
                <a:r>
                  <a:rPr kumimoji="1" lang="zh-CN" altLang="en-US" sz="2100" b="1" dirty="0">
                    <a:solidFill>
                      <a:srgbClr val="000000"/>
                    </a:solidFill>
                    <a:latin typeface="+mn-ea"/>
                  </a:rPr>
                  <a:t>的值</a:t>
                </a:r>
                <a:endParaRPr kumimoji="1" lang="en-US" altLang="zh-CN" sz="2100" b="1" dirty="0">
                  <a:solidFill>
                    <a:srgbClr val="000000"/>
                  </a:solidFill>
                  <a:latin typeface="+mn-ea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zh-CN" altLang="en-US" sz="1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kumimoji="1" lang="en-US" altLang="zh-CN" sz="16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1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zh-CN" sz="1600" b="1" dirty="0">
                    <a:solidFill>
                      <a:srgbClr val="000000"/>
                    </a:solidFill>
                    <a:latin typeface="+mn-ea"/>
                  </a:rPr>
                  <a:t>…</a:t>
                </a:r>
                <a:endParaRPr kumimoji="1" lang="zh-CN" altLang="en-US" sz="1600" b="1" dirty="0">
                  <a:solidFill>
                    <a:srgbClr val="00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6641" y="1323975"/>
                <a:ext cx="3542809" cy="830646"/>
              </a:xfrm>
              <a:prstGeom prst="rect">
                <a:avLst/>
              </a:prstGeom>
              <a:blipFill rotWithShape="1">
                <a:blip r:embed="rId2"/>
                <a:stretch>
                  <a:fillRect l="-139" t="-612" r="-125" b="-527"/>
                </a:stretch>
              </a:blip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 bwMode="auto">
          <a:xfrm>
            <a:off x="7918882" y="4913259"/>
            <a:ext cx="2920568" cy="3103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本页结果不要截图，手填即可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循环结构</a:t>
            </a:r>
            <a:endParaRPr lang="en-US" altLang="zh-CN" sz="28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、观察程序运行结果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n = 0,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, m, k;</a:t>
            </a:r>
          </a:p>
          <a:p>
            <a:r>
              <a:rPr lang="en-US" altLang="zh-CN" sz="1200" b="1" dirty="0">
                <a:latin typeface="+mn-ea"/>
              </a:rPr>
              <a:t>    bool prime;</a:t>
            </a:r>
          </a:p>
          <a:p>
            <a:r>
              <a:rPr lang="en-US" altLang="zh-CN" sz="1200" b="1" dirty="0">
                <a:latin typeface="+mn-ea"/>
              </a:rPr>
              <a:t>    for(m=101; m&lt;=200; m+=2) { //</a:t>
            </a:r>
            <a:r>
              <a:rPr lang="zh-CN" altLang="en-US" sz="1200" b="1" dirty="0">
                <a:latin typeface="+mn-ea"/>
              </a:rPr>
              <a:t>偶数没必要判断</a:t>
            </a:r>
          </a:p>
          <a:p>
            <a:r>
              <a:rPr lang="zh-CN" altLang="en-US" sz="1200" b="1" dirty="0">
                <a:latin typeface="+mn-ea"/>
              </a:rPr>
              <a:t>        </a:t>
            </a:r>
            <a:r>
              <a:rPr lang="en-US" altLang="zh-CN" sz="1200" b="1" dirty="0">
                <a:latin typeface="+mn-ea"/>
              </a:rPr>
              <a:t>prime=true;            //</a:t>
            </a:r>
            <a:r>
              <a:rPr lang="zh-CN" altLang="en-US" sz="1200" b="1" dirty="0">
                <a:latin typeface="+mn-ea"/>
              </a:rPr>
              <a:t>对每个数，先认为是素数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k=int(sqrt(m));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for(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=2;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&lt;=k;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++)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        if (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m%i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==0) {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prime=false;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break;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               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if (prime) {</a:t>
            </a:r>
          </a:p>
          <a:p>
            <a:r>
              <a:rPr lang="en-US" altLang="zh-CN" sz="1200" b="1" dirty="0">
                <a:latin typeface="+mn-ea"/>
              </a:rPr>
              <a:t>    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(5) &lt;&lt; m;</a:t>
            </a:r>
          </a:p>
          <a:p>
            <a:r>
              <a:rPr lang="en-US" altLang="zh-CN" sz="1200" b="1" dirty="0">
                <a:latin typeface="+mn-ea"/>
              </a:rPr>
              <a:t>            n=n+1;      //</a:t>
            </a:r>
            <a:r>
              <a:rPr lang="zh-CN" altLang="en-US" sz="1200" b="1" dirty="0">
                <a:latin typeface="+mn-ea"/>
              </a:rPr>
              <a:t>计数器，只为了加输出换行</a:t>
            </a:r>
          </a:p>
          <a:p>
            <a:r>
              <a:rPr lang="zh-CN" altLang="en-US" sz="1200" b="1" dirty="0">
                <a:latin typeface="+mn-ea"/>
              </a:rPr>
              <a:t>            </a:t>
            </a:r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if (n%10==0)    //</a:t>
            </a:r>
            <a:r>
              <a:rPr lang="zh-CN" altLang="en-US" sz="1200" b="1" dirty="0">
                <a:latin typeface="+mn-ea"/>
              </a:rPr>
              <a:t>每</a:t>
            </a:r>
            <a:r>
              <a:rPr lang="en-US" altLang="zh-CN" sz="1200" b="1" dirty="0">
                <a:latin typeface="+mn-ea"/>
              </a:rPr>
              <a:t>10</a:t>
            </a:r>
            <a:r>
              <a:rPr lang="zh-CN" altLang="en-US" sz="1200" b="1" dirty="0">
                <a:latin typeface="+mn-ea"/>
              </a:rPr>
              <a:t>个数输出一行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&lt;&lt;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    } //end of for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5" name="Object 3"/>
          <p:cNvSpPr txBox="1"/>
          <p:nvPr/>
        </p:nvSpPr>
        <p:spPr bwMode="auto">
          <a:xfrm>
            <a:off x="2325249" y="1323975"/>
            <a:ext cx="3035028" cy="441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>
            <a:norm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100" b="1" dirty="0">
                <a:solidFill>
                  <a:srgbClr val="000000"/>
                </a:solidFill>
                <a:latin typeface="+mn-ea"/>
              </a:rPr>
              <a:t>打印</a:t>
            </a:r>
            <a:r>
              <a:rPr kumimoji="1" lang="en-US" altLang="zh-CN" sz="2100" b="1" dirty="0">
                <a:solidFill>
                  <a:srgbClr val="000000"/>
                </a:solidFill>
                <a:latin typeface="+mn-ea"/>
              </a:rPr>
              <a:t>100-200</a:t>
            </a:r>
            <a:r>
              <a:rPr kumimoji="1" lang="zh-CN" altLang="en-US" sz="2100" b="1" dirty="0">
                <a:solidFill>
                  <a:srgbClr val="000000"/>
                </a:solidFill>
                <a:latin typeface="+mn-ea"/>
              </a:rPr>
              <a:t>之间的素数</a:t>
            </a:r>
            <a:endParaRPr kumimoji="1" lang="en-US" altLang="zh-CN" sz="21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360276" y="1323975"/>
            <a:ext cx="547917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(1) </a:t>
            </a:r>
            <a:r>
              <a:rPr lang="zh-CN" altLang="en-US" sz="1600" b="1" dirty="0">
                <a:latin typeface="+mn-ea"/>
              </a:rPr>
              <a:t>目前输出结果：一共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个，每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个一行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(2) </a:t>
            </a:r>
            <a:r>
              <a:rPr lang="zh-CN" altLang="en-US" sz="1600" b="1" dirty="0">
                <a:latin typeface="+mn-ea"/>
              </a:rPr>
              <a:t>将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的初值从</a:t>
            </a:r>
            <a:r>
              <a:rPr lang="en-US" altLang="zh-CN" sz="1600" b="1" dirty="0">
                <a:latin typeface="+mn-ea"/>
              </a:rPr>
              <a:t>101</a:t>
            </a:r>
            <a:r>
              <a:rPr lang="zh-CN" altLang="en-US" sz="1600" b="1" dirty="0">
                <a:latin typeface="+mn-ea"/>
              </a:rPr>
              <a:t>改为</a:t>
            </a:r>
            <a:r>
              <a:rPr lang="en-US" altLang="zh-CN" sz="1600" b="1" dirty="0">
                <a:latin typeface="+mn-ea"/>
              </a:rPr>
              <a:t>103</a:t>
            </a:r>
            <a:r>
              <a:rPr lang="zh-CN" altLang="en-US" sz="1600" b="1" dirty="0">
                <a:latin typeface="+mn-ea"/>
              </a:rPr>
              <a:t>，应该是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个，共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实际呢？为什么？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实际是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个，共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行，第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行和第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行之间空了两行。判断输出</a:t>
            </a:r>
            <a:r>
              <a:rPr lang="en-US" altLang="zh-CN" sz="1600" b="1" dirty="0">
                <a:latin typeface="+mn-ea"/>
              </a:rPr>
              <a:t>endl</a:t>
            </a:r>
            <a:r>
              <a:rPr lang="zh-CN" altLang="en-US" sz="1600" b="1" dirty="0">
                <a:latin typeface="+mn-ea"/>
              </a:rPr>
              <a:t>的条件是</a:t>
            </a:r>
            <a:r>
              <a:rPr lang="en-US" altLang="zh-CN" sz="1600" b="1" dirty="0">
                <a:latin typeface="+mn-ea"/>
              </a:rPr>
              <a:t>n%10==0,</a:t>
            </a:r>
            <a:r>
              <a:rPr lang="zh-CN" altLang="en-US" sz="1600" b="1" dirty="0">
                <a:latin typeface="+mn-ea"/>
              </a:rPr>
              <a:t>和当前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是否为素数无关，但实际应当只在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为素数时换行。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从</a:t>
            </a:r>
            <a:r>
              <a:rPr lang="en-US" altLang="zh-CN" sz="1600" b="1" dirty="0">
                <a:latin typeface="+mn-ea"/>
              </a:rPr>
              <a:t>101</a:t>
            </a:r>
            <a:r>
              <a:rPr lang="zh-CN" altLang="en-US" sz="1600" b="1" dirty="0">
                <a:latin typeface="+mn-ea"/>
              </a:rPr>
              <a:t>开始时，换行处的两个数字分别为</a:t>
            </a:r>
            <a:r>
              <a:rPr lang="en-US" altLang="zh-CN" sz="1600" b="1" dirty="0">
                <a:latin typeface="+mn-ea"/>
              </a:rPr>
              <a:t>149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151,197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199</a:t>
            </a:r>
            <a:r>
              <a:rPr lang="zh-CN" altLang="en-US" sz="1600" b="1" dirty="0">
                <a:latin typeface="+mn-ea"/>
              </a:rPr>
              <a:t>，其中没有夹杂非素数奇数，换行时没有问题；但当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从</a:t>
            </a:r>
            <a:r>
              <a:rPr lang="en-US" altLang="zh-CN" sz="1600" b="1" dirty="0">
                <a:latin typeface="+mn-ea"/>
              </a:rPr>
              <a:t>103</a:t>
            </a:r>
            <a:r>
              <a:rPr lang="zh-CN" altLang="en-US" sz="1600" b="1" dirty="0">
                <a:latin typeface="+mn-ea"/>
              </a:rPr>
              <a:t>开始，换行处的两个数位</a:t>
            </a:r>
            <a:r>
              <a:rPr lang="en-US" altLang="zh-CN" sz="1600" b="1" dirty="0">
                <a:latin typeface="+mn-ea"/>
              </a:rPr>
              <a:t>151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157</a:t>
            </a:r>
            <a:r>
              <a:rPr lang="zh-CN" altLang="en-US" sz="1600" b="1" dirty="0">
                <a:latin typeface="+mn-ea"/>
              </a:rPr>
              <a:t>，之间的</a:t>
            </a:r>
            <a:r>
              <a:rPr lang="en-US" altLang="zh-CN" sz="1600" b="1" dirty="0">
                <a:latin typeface="+mn-ea"/>
              </a:rPr>
              <a:t>153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155</a:t>
            </a:r>
            <a:r>
              <a:rPr lang="zh-CN" altLang="en-US" sz="1600" b="1" dirty="0">
                <a:latin typeface="+mn-ea"/>
              </a:rPr>
              <a:t>都不是素数，但在</a:t>
            </a:r>
            <a:r>
              <a:rPr lang="en-US" altLang="zh-CN" sz="1600" b="1" dirty="0">
                <a:latin typeface="+mn-ea"/>
              </a:rPr>
              <a:t>m</a:t>
            </a:r>
            <a:r>
              <a:rPr lang="zh-CN" altLang="en-US" sz="1600" b="1" dirty="0">
                <a:latin typeface="+mn-ea"/>
              </a:rPr>
              <a:t>为这两个数字时，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也还是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，还是会输出</a:t>
            </a:r>
            <a:r>
              <a:rPr lang="en-US" altLang="zh-CN" sz="1600" b="1" dirty="0">
                <a:latin typeface="+mn-ea"/>
              </a:rPr>
              <a:t>endl</a:t>
            </a:r>
            <a:r>
              <a:rPr lang="zh-CN" altLang="en-US" sz="1600" b="1" dirty="0">
                <a:latin typeface="+mn-ea"/>
              </a:rPr>
              <a:t>，因此多换行了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次。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(3) </a:t>
            </a:r>
            <a:r>
              <a:rPr lang="zh-CN" altLang="en-US" sz="1600" b="1" dirty="0">
                <a:latin typeface="+mn-ea"/>
              </a:rPr>
              <a:t>将左侧程序改正确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(</a:t>
            </a:r>
            <a:r>
              <a:rPr lang="zh-CN" altLang="en-US" sz="1600" b="1" dirty="0">
                <a:latin typeface="+mn-ea"/>
              </a:rPr>
              <a:t>正确程序贴图在左侧，覆盖现有内容即可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702" y="1617236"/>
            <a:ext cx="6819048" cy="11142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935" y="3373120"/>
            <a:ext cx="5693410" cy="13944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63195" y="1411605"/>
            <a:ext cx="5485130" cy="51225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循环结构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FkYTAzODc1OTI4MjVhMmUxM2FjNmFjZGNmZmI0ZTQ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2296</Words>
  <Application>Microsoft Office PowerPoint</Application>
  <PresentationFormat>宽屏</PresentationFormat>
  <Paragraphs>299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宋体</vt:lpstr>
      <vt:lpstr>Cambria Math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215</cp:revision>
  <dcterms:created xsi:type="dcterms:W3CDTF">2020-08-13T13:39:00Z</dcterms:created>
  <dcterms:modified xsi:type="dcterms:W3CDTF">2024-06-22T12:57:24Z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CB11E9EBD48F444E9142E8395CA548AF_12</vt:lpwstr>
  </property>
  <property fmtid="{D5CDD505-2E9C-101B-9397-08002B2CF9AE}" pid="3" name="KSOProductBuildVer">
    <vt:lpwstr>2052-12.1.0.16417</vt:lpwstr>
  </property>
</Properties>
</file>