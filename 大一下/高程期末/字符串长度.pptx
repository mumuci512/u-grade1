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11"/>
  </p:notesMasterIdLst>
  <p:sldIdLst>
    <p:sldId id="449" r:id="rId2"/>
    <p:sldId id="1237" r:id="rId3"/>
    <p:sldId id="1238" r:id="rId4"/>
    <p:sldId id="528" r:id="rId5"/>
    <p:sldId id="529" r:id="rId6"/>
    <p:sldId id="530" r:id="rId7"/>
    <p:sldId id="1239" r:id="rId8"/>
    <p:sldId id="532" r:id="rId9"/>
    <p:sldId id="1240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rry" initials="L" lastIdx="1" clrIdx="0">
    <p:extLst>
      <p:ext uri="{19B8F6BF-5375-455C-9EA6-DF929625EA0E}">
        <p15:presenceInfo xmlns:p15="http://schemas.microsoft.com/office/powerpoint/2012/main" userId="Larr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2B0A62-8FB6-4F64-9247-9FD9CCC493C2}" v="92" dt="2024-06-22T11:20:24.8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844" autoAdjust="0"/>
    <p:restoredTop sz="86411" autoAdjust="0"/>
  </p:normalViewPr>
  <p:slideViewPr>
    <p:cSldViewPr snapToGrid="0">
      <p:cViewPr varScale="1">
        <p:scale>
          <a:sx n="76" d="100"/>
          <a:sy n="76" d="100"/>
        </p:scale>
        <p:origin x="87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  <a:t>2024/6/22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755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49300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109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115B22-8194-4FC8-9614-86C592EEAB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6460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5F2CA6-A39B-48F7-84D1-AF91BD07D67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8223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C41597-7941-4461-A03D-7D307C3317F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7330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7E5104-8735-46A8-9820-8BD5C44B645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9038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BB04D0-EC69-4E34-9026-1132273F6FE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9773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34D7FE-E00D-4DCA-A0A7-A306174DC0C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3834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E46EFE-F103-4F45-8883-0DE6C66B1B8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8583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75AF18-52E2-4048-A908-642605843C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1156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2A61F9-4BE0-4887-A67C-4D288CA5699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273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7B2B09-852B-4EAA-A08A-0953A9F6334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4775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1CDC42-DFEF-458F-BD1B-2EFAEEF6801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0059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F534AEE-0681-4001-91D8-DF8F111160F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90EEA7F-39F9-4B97-AF58-835331598C9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9806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§2.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、完成本文档中所有的题目并写出分析、运行结果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、无特殊说明，均使用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编译即可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、直接在本文件上作答，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写出答案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截图（不允许手写、手写拍照截图）</a:t>
            </a:r>
            <a:r>
              <a:rPr lang="zh-CN" altLang="en-US" sz="1600" b="1" dirty="0">
                <a:latin typeface="+mn-ea"/>
              </a:rPr>
              <a:t>即可；填写答案时，为适应所填内容或贴图，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允许调整</a:t>
            </a:r>
            <a:r>
              <a:rPr lang="zh-CN" altLang="en-US" sz="1600" b="1" dirty="0">
                <a:latin typeface="+mn-ea"/>
              </a:rPr>
              <a:t>页面的字体大小、颜色、文本框的位置等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贴图要有效部分即可，不需要全部内容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在保证一页一题的前提下，具体页面布局可以自行发挥，简单易读即可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手写在纸上，再拍照贴图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</a:t>
            </a:r>
            <a:r>
              <a:rPr lang="zh-CN" altLang="en-US" sz="1600" b="1" dirty="0">
                <a:latin typeface="+mn-ea"/>
              </a:rPr>
              <a:t>在各种软件工具上完成（不含手写），再截图贴图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后提交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14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日前</a:t>
            </a:r>
            <a:r>
              <a:rPr lang="zh-CN" altLang="en-US" sz="1600" b="1" dirty="0">
                <a:latin typeface="+mn-ea"/>
              </a:rPr>
              <a:t>网上提交本次作业（在“文档作业”中提交）</a:t>
            </a:r>
          </a:p>
        </p:txBody>
      </p:sp>
    </p:spTree>
    <p:extLst>
      <p:ext uri="{BB962C8B-B14F-4D97-AF65-F5344CB8AC3E}">
        <p14:creationId xmlns:p14="http://schemas.microsoft.com/office/powerpoint/2010/main" val="3982000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贴图要求：只需要截取输出窗口中的有效部分即可，如果全部截取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截取过大，则视为无效贴图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 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例：无效贴图                                                                       例：有效贴图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F2BCB20-A7D3-4325-B240-F17B741FF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853" y="1614221"/>
            <a:ext cx="8291512" cy="489989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DC82EAA-7133-41BE-BA1F-9E1E13399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5148" y="1614221"/>
            <a:ext cx="2257143" cy="6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28297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附：用</a:t>
            </a:r>
            <a:r>
              <a:rPr lang="en-US" altLang="zh-CN" sz="1600" b="1" dirty="0">
                <a:latin typeface="+mn-ea"/>
              </a:rPr>
              <a:t>WPS</a:t>
            </a:r>
            <a:r>
              <a:rPr lang="zh-CN" altLang="en-US" sz="1600" b="1" dirty="0">
                <a:latin typeface="+mn-ea"/>
              </a:rPr>
              <a:t>等其他第三方软件打开</a:t>
            </a:r>
            <a:r>
              <a:rPr lang="en-US" altLang="zh-CN" sz="1600" b="1" dirty="0">
                <a:latin typeface="+mn-ea"/>
              </a:rPr>
              <a:t>PPT</a:t>
            </a:r>
            <a:r>
              <a:rPr lang="zh-CN" altLang="en-US" sz="1600" b="1" dirty="0">
                <a:latin typeface="+mn-ea"/>
              </a:rPr>
              <a:t>，将代码复制到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中后，如果出现类似下面的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r>
              <a:rPr lang="zh-CN" altLang="en-US" sz="1600" b="1" dirty="0">
                <a:latin typeface="+mn-ea"/>
              </a:rPr>
              <a:t>，则观察源程序编辑窗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的右下角是否为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，如果是，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单击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，在弹出中选择</a:t>
            </a:r>
            <a:r>
              <a:rPr lang="en-US" altLang="zh-CN" sz="1600" b="1" dirty="0">
                <a:latin typeface="+mn-ea"/>
              </a:rPr>
              <a:t>CRLF</a:t>
            </a:r>
            <a:r>
              <a:rPr lang="zh-CN" altLang="en-US" sz="1600" b="1" dirty="0">
                <a:latin typeface="+mn-ea"/>
              </a:rPr>
              <a:t>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再次</a:t>
            </a:r>
            <a:r>
              <a:rPr lang="en-US" altLang="zh-CN" sz="1600" b="1" dirty="0">
                <a:latin typeface="+mn-ea"/>
              </a:rPr>
              <a:t>CTRL+F5</a:t>
            </a:r>
            <a:r>
              <a:rPr lang="zh-CN" altLang="en-US" sz="1600" b="1" dirty="0">
                <a:latin typeface="+mn-ea"/>
              </a:rPr>
              <a:t>运行即可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44F729A-2D3C-4354-85A0-5C9158A13B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1635" y="3090983"/>
            <a:ext cx="2123810" cy="193333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DD2CE91-BE2A-4B86-AC07-767012B397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958" y="1329084"/>
            <a:ext cx="7914286" cy="5314286"/>
          </a:xfrm>
          <a:prstGeom prst="rect">
            <a:avLst/>
          </a:prstGeom>
        </p:spPr>
      </p:pic>
      <p:sp>
        <p:nvSpPr>
          <p:cNvPr id="5" name="箭头: 右 4">
            <a:extLst>
              <a:ext uri="{FF2B5EF4-FFF2-40B4-BE49-F238E27FC236}">
                <a16:creationId xmlns:a16="http://schemas.microsoft.com/office/drawing/2014/main" id="{83A95833-2AE8-4AB2-8186-65B0BE7B5B20}"/>
              </a:ext>
            </a:extLst>
          </p:cNvPr>
          <p:cNvSpPr/>
          <p:nvPr/>
        </p:nvSpPr>
        <p:spPr bwMode="auto">
          <a:xfrm>
            <a:off x="8023460" y="4571893"/>
            <a:ext cx="638175" cy="452423"/>
          </a:xfrm>
          <a:prstGeom prst="rightArrow">
            <a:avLst/>
          </a:prstGeom>
          <a:solidFill>
            <a:srgbClr val="FF000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05433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、求出下列字符串的长度（要求仿照图例标出具体的字符分解）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A."\</a:t>
            </a:r>
            <a:r>
              <a:rPr lang="en-US" altLang="zh-CN" sz="1600" b="1" dirty="0" err="1">
                <a:latin typeface="+mn-ea"/>
              </a:rPr>
              <a:t>bvt</a:t>
            </a:r>
            <a:r>
              <a:rPr lang="en-US" altLang="zh-CN" sz="1600" b="1" dirty="0">
                <a:latin typeface="+mn-ea"/>
              </a:rPr>
              <a:t>\\t\</a:t>
            </a:r>
            <a:r>
              <a:rPr lang="en-US" altLang="zh-CN" sz="1600" b="1" dirty="0" err="1">
                <a:latin typeface="+mn-ea"/>
              </a:rPr>
              <a:t>nc</a:t>
            </a:r>
            <a:r>
              <a:rPr lang="en-US" altLang="zh-CN" sz="1600" b="1" dirty="0">
                <a:latin typeface="+mn-ea"/>
              </a:rPr>
              <a:t>\4391\x3fs\2a\"\r\v\\a\f"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6F3619E-C145-4D59-92F7-04BFAB68DAA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114" y="1081263"/>
            <a:ext cx="5105400" cy="4762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92CD8CA-899A-DEB8-2C3A-4C426545FED8}"/>
              </a:ext>
            </a:extLst>
          </p:cNvPr>
          <p:cNvSpPr txBox="1"/>
          <p:nvPr/>
        </p:nvSpPr>
        <p:spPr>
          <a:xfrm>
            <a:off x="756745" y="2301766"/>
            <a:ext cx="99827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+mn-ea"/>
              </a:rPr>
              <a:t>“</a:t>
            </a:r>
            <a:r>
              <a:rPr lang="en-US" altLang="zh-CN" sz="1600" b="1" u="sng" dirty="0">
                <a:latin typeface="+mn-ea"/>
              </a:rPr>
              <a:t>\b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u="sng" dirty="0">
                <a:latin typeface="+mn-ea"/>
              </a:rPr>
              <a:t>v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u="sng" dirty="0">
                <a:latin typeface="+mn-ea"/>
              </a:rPr>
              <a:t>t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u="sng" dirty="0">
                <a:highlight>
                  <a:srgbClr val="FF0000"/>
                </a:highlight>
                <a:latin typeface="+mn-ea"/>
              </a:rPr>
              <a:t>\\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u="sng" dirty="0">
                <a:latin typeface="+mn-ea"/>
              </a:rPr>
              <a:t>t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u="sng" dirty="0">
                <a:latin typeface="+mn-ea"/>
              </a:rPr>
              <a:t>\n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u="sng" dirty="0">
                <a:latin typeface="+mn-ea"/>
              </a:rPr>
              <a:t>c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u="sng" dirty="0">
                <a:latin typeface="+mn-ea"/>
              </a:rPr>
              <a:t>\43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u="sng" dirty="0">
                <a:latin typeface="+mn-ea"/>
              </a:rPr>
              <a:t>9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u="sng" dirty="0">
                <a:latin typeface="+mn-ea"/>
              </a:rPr>
              <a:t>1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u="sng" dirty="0">
                <a:latin typeface="+mn-ea"/>
              </a:rPr>
              <a:t>\x3f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u="sng" dirty="0">
                <a:latin typeface="+mn-ea"/>
              </a:rPr>
              <a:t>s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u="sng" dirty="0">
                <a:latin typeface="+mn-ea"/>
              </a:rPr>
              <a:t>\2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u="sng" dirty="0">
                <a:latin typeface="+mn-ea"/>
              </a:rPr>
              <a:t>a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u="sng" dirty="0">
                <a:latin typeface="+mn-ea"/>
              </a:rPr>
              <a:t>\”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u="sng" dirty="0">
                <a:latin typeface="+mn-ea"/>
              </a:rPr>
              <a:t>\r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u="sng" dirty="0">
                <a:latin typeface="+mn-ea"/>
              </a:rPr>
              <a:t>\v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u="sng" dirty="0">
                <a:latin typeface="+mn-ea"/>
              </a:rPr>
              <a:t>\\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u="sng" dirty="0">
                <a:latin typeface="+mn-ea"/>
              </a:rPr>
              <a:t>a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u="sng" dirty="0">
                <a:latin typeface="+mn-ea"/>
              </a:rPr>
              <a:t>\f</a:t>
            </a:r>
            <a:r>
              <a:rPr lang="en-US" altLang="zh-CN" sz="1600" b="1" dirty="0">
                <a:latin typeface="+mn-ea"/>
              </a:rPr>
              <a:t>“ =20</a:t>
            </a:r>
            <a:endParaRPr lang="zh-CN" altLang="en-US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00478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、求出下列字符串的长度（要求仿照图例标出具体的字符分解）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B."</a:t>
            </a:r>
            <a:r>
              <a:rPr lang="pt-BR" altLang="zh-CN" sz="1600" b="1" dirty="0">
                <a:latin typeface="+mn-ea"/>
              </a:rPr>
              <a:t>\18\x2e\43\x8x\596\x6a\010\xd5\231\xe3\1325\x6c</a:t>
            </a:r>
            <a:r>
              <a:rPr lang="en-US" altLang="zh-CN" sz="1600" b="1" dirty="0">
                <a:latin typeface="+mn-ea"/>
              </a:rPr>
              <a:t>"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6F3619E-C145-4D59-92F7-04BFAB68DAA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114" y="1081263"/>
            <a:ext cx="5105400" cy="4762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5448D83E-5FFC-AB17-F81F-47B2B3A68220}"/>
              </a:ext>
            </a:extLst>
          </p:cNvPr>
          <p:cNvSpPr txBox="1"/>
          <p:nvPr/>
        </p:nvSpPr>
        <p:spPr>
          <a:xfrm>
            <a:off x="756745" y="2301766"/>
            <a:ext cx="99827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+mn-ea"/>
              </a:rPr>
              <a:t>"</a:t>
            </a:r>
            <a:r>
              <a:rPr lang="pt-BR" altLang="zh-CN" sz="1600" b="1" u="sng" dirty="0">
                <a:latin typeface="+mn-ea"/>
              </a:rPr>
              <a:t>\1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pt-BR" altLang="zh-CN" sz="1600" b="1" u="sng" dirty="0">
                <a:latin typeface="+mn-ea"/>
              </a:rPr>
              <a:t>8</a:t>
            </a:r>
            <a:r>
              <a:rPr lang="pt-BR" altLang="zh-CN" sz="1600" dirty="0">
                <a:latin typeface="+mn-ea"/>
              </a:rPr>
              <a:t> </a:t>
            </a:r>
            <a:r>
              <a:rPr lang="pt-BR" altLang="zh-CN" sz="1600" b="1" u="sng" dirty="0">
                <a:latin typeface="+mn-ea"/>
              </a:rPr>
              <a:t>\x2e</a:t>
            </a:r>
            <a:r>
              <a:rPr lang="pt-BR" altLang="zh-CN" sz="1600" dirty="0">
                <a:latin typeface="+mn-ea"/>
              </a:rPr>
              <a:t> </a:t>
            </a:r>
            <a:r>
              <a:rPr lang="pt-BR" altLang="zh-CN" sz="1600" b="1" u="sng" dirty="0">
                <a:latin typeface="+mn-ea"/>
              </a:rPr>
              <a:t>\43</a:t>
            </a:r>
            <a:r>
              <a:rPr lang="pt-BR" altLang="zh-CN" sz="1600" dirty="0">
                <a:latin typeface="+mn-ea"/>
              </a:rPr>
              <a:t> </a:t>
            </a:r>
            <a:r>
              <a:rPr lang="pt-BR" altLang="zh-CN" sz="1600" b="1" u="sng" dirty="0">
                <a:latin typeface="+mn-ea"/>
              </a:rPr>
              <a:t>\x8</a:t>
            </a:r>
            <a:r>
              <a:rPr lang="pt-BR" altLang="zh-CN" sz="1600" b="1" dirty="0">
                <a:latin typeface="+mn-ea"/>
              </a:rPr>
              <a:t> </a:t>
            </a:r>
            <a:r>
              <a:rPr lang="pt-BR" altLang="zh-CN" sz="1600" b="1" u="sng" dirty="0">
                <a:latin typeface="+mn-ea"/>
              </a:rPr>
              <a:t>x</a:t>
            </a:r>
            <a:r>
              <a:rPr lang="pt-BR" altLang="zh-CN" sz="1600" b="1" dirty="0">
                <a:latin typeface="+mn-ea"/>
              </a:rPr>
              <a:t> </a:t>
            </a:r>
            <a:r>
              <a:rPr lang="pt-BR" altLang="zh-CN" sz="1600" b="1" u="sng" dirty="0">
                <a:latin typeface="+mn-ea"/>
              </a:rPr>
              <a:t>\5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pt-BR" altLang="zh-CN" sz="1600" b="1" u="sng" dirty="0">
                <a:latin typeface="+mn-ea"/>
              </a:rPr>
              <a:t>9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pt-BR" altLang="zh-CN" sz="1600" b="1" u="sng" dirty="0">
                <a:latin typeface="+mn-ea"/>
              </a:rPr>
              <a:t>6</a:t>
            </a:r>
            <a:r>
              <a:rPr lang="pt-BR" altLang="zh-CN" sz="1600" dirty="0">
                <a:latin typeface="+mn-ea"/>
              </a:rPr>
              <a:t> </a:t>
            </a:r>
            <a:r>
              <a:rPr lang="pt-BR" altLang="zh-CN" sz="1600" b="1" u="sng" dirty="0">
                <a:latin typeface="+mn-ea"/>
              </a:rPr>
              <a:t>\x6a</a:t>
            </a:r>
            <a:r>
              <a:rPr lang="pt-BR" altLang="zh-CN" sz="1600" dirty="0">
                <a:latin typeface="+mn-ea"/>
              </a:rPr>
              <a:t> </a:t>
            </a:r>
            <a:r>
              <a:rPr lang="pt-BR" altLang="zh-CN" sz="1600" b="1" u="sng" dirty="0">
                <a:latin typeface="+mn-ea"/>
              </a:rPr>
              <a:t>\010</a:t>
            </a:r>
            <a:r>
              <a:rPr lang="pt-BR" altLang="zh-CN" sz="1600" dirty="0">
                <a:latin typeface="+mn-ea"/>
              </a:rPr>
              <a:t> </a:t>
            </a:r>
            <a:r>
              <a:rPr lang="pt-BR" altLang="zh-CN" sz="1600" b="1" u="sng" dirty="0">
                <a:latin typeface="+mn-ea"/>
              </a:rPr>
              <a:t>\xd5</a:t>
            </a:r>
            <a:r>
              <a:rPr lang="pt-BR" altLang="zh-CN" sz="1600" dirty="0">
                <a:latin typeface="+mn-ea"/>
              </a:rPr>
              <a:t> </a:t>
            </a:r>
            <a:r>
              <a:rPr lang="pt-BR" altLang="zh-CN" sz="1600" b="1" u="sng" dirty="0">
                <a:latin typeface="+mn-ea"/>
              </a:rPr>
              <a:t>\231</a:t>
            </a:r>
            <a:r>
              <a:rPr lang="pt-BR" altLang="zh-CN" sz="1600" dirty="0">
                <a:latin typeface="+mn-ea"/>
              </a:rPr>
              <a:t> </a:t>
            </a:r>
            <a:r>
              <a:rPr lang="pt-BR" altLang="zh-CN" sz="1600" b="1" u="sng" dirty="0">
                <a:latin typeface="+mn-ea"/>
              </a:rPr>
              <a:t>\xe3</a:t>
            </a:r>
            <a:r>
              <a:rPr lang="pt-BR" altLang="zh-CN" sz="1600" dirty="0">
                <a:latin typeface="+mn-ea"/>
              </a:rPr>
              <a:t> </a:t>
            </a:r>
            <a:r>
              <a:rPr lang="pt-BR" altLang="zh-CN" sz="1600" b="1" u="sng" dirty="0">
                <a:latin typeface="+mn-ea"/>
              </a:rPr>
              <a:t>\132</a:t>
            </a:r>
            <a:r>
              <a:rPr lang="pt-BR" altLang="zh-CN" sz="1600" dirty="0">
                <a:latin typeface="+mn-ea"/>
              </a:rPr>
              <a:t> </a:t>
            </a:r>
            <a:r>
              <a:rPr lang="pt-BR" altLang="zh-CN" sz="1600" b="1" u="sng" dirty="0">
                <a:latin typeface="+mn-ea"/>
              </a:rPr>
              <a:t>5</a:t>
            </a:r>
            <a:r>
              <a:rPr lang="pt-BR" altLang="zh-CN" sz="1600" dirty="0">
                <a:latin typeface="+mn-ea"/>
              </a:rPr>
              <a:t> </a:t>
            </a:r>
            <a:r>
              <a:rPr lang="pt-BR" altLang="zh-CN" sz="1600" b="1" u="sng" dirty="0">
                <a:latin typeface="+mn-ea"/>
              </a:rPr>
              <a:t>\x6c</a:t>
            </a:r>
            <a:r>
              <a:rPr lang="en-US" altLang="zh-CN" sz="1600" b="1" dirty="0">
                <a:latin typeface="+mn-ea"/>
              </a:rPr>
              <a:t>“ =17</a:t>
            </a:r>
            <a:endParaRPr lang="zh-CN" altLang="en-US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20632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、求出下列字符串的长度（要求仿照图例标出具体的字符分解）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C.</a:t>
            </a:r>
            <a:r>
              <a:rPr lang="zh-CN" altLang="en-US" sz="1600" b="1" dirty="0">
                <a:latin typeface="+mn-ea"/>
              </a:rPr>
              <a:t>运行上面的程序，贴含本人学号的源程序</a:t>
            </a:r>
            <a:r>
              <a:rPr lang="en-US" altLang="zh-CN" sz="1600" b="1" dirty="0">
                <a:latin typeface="+mn-ea"/>
              </a:rPr>
              <a:t>+</a:t>
            </a:r>
            <a:r>
              <a:rPr lang="zh-CN" altLang="en-US" sz="1600" b="1" dirty="0">
                <a:latin typeface="+mn-ea"/>
              </a:rPr>
              <a:t>编译器的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</a:t>
            </a:r>
            <a:r>
              <a:rPr lang="zh-CN" altLang="en-US" sz="1600" b="1" dirty="0">
                <a:latin typeface="+mn-ea"/>
              </a:rPr>
              <a:t>错误信息截图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观察编译信息，得到结论如下：</a:t>
            </a:r>
            <a:endParaRPr lang="en-US" altLang="zh-CN" sz="1600" b="1" dirty="0"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、</a:t>
            </a:r>
            <a:r>
              <a:rPr kumimoji="1" lang="zh-CN" altLang="en-US" sz="1600" b="1" dirty="0">
                <a:solidFill>
                  <a:srgbClr val="000000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转义符</a:t>
            </a:r>
            <a:r>
              <a:rPr kumimoji="1" lang="en-US" altLang="zh-CN" sz="1600" b="1" dirty="0">
                <a:solidFill>
                  <a:srgbClr val="000000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\</a:t>
            </a:r>
            <a:r>
              <a:rPr kumimoji="1" lang="zh-CN" altLang="en-US" sz="1600" b="1" dirty="0">
                <a:solidFill>
                  <a:srgbClr val="000000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后的合法</a:t>
            </a:r>
            <a:r>
              <a:rPr kumimoji="1" lang="en-US" altLang="zh-CN" sz="1600" b="1" dirty="0">
                <a:solidFill>
                  <a:srgbClr val="000000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8</a:t>
            </a:r>
            <a:r>
              <a:rPr kumimoji="1" lang="zh-CN" altLang="en-US" sz="1600" b="1" dirty="0">
                <a:solidFill>
                  <a:srgbClr val="000000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进制数</a:t>
            </a:r>
            <a:r>
              <a:rPr kumimoji="1" lang="en-US" altLang="zh-CN" sz="1600" b="1" dirty="0">
                <a:solidFill>
                  <a:srgbClr val="000000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&gt;3</a:t>
            </a:r>
            <a:r>
              <a:rPr kumimoji="1" lang="zh-CN" altLang="en-US" sz="1600" b="1" dirty="0">
                <a:solidFill>
                  <a:srgbClr val="000000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个，则</a:t>
            </a:r>
            <a:r>
              <a:rPr kumimoji="1" lang="en-US" altLang="zh-CN" sz="1600" b="1" dirty="0">
                <a:solidFill>
                  <a:srgbClr val="000000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____</a:t>
            </a:r>
            <a:r>
              <a:rPr kumimoji="1" lang="zh-CN" altLang="en-US" sz="1600" b="1" dirty="0">
                <a:solidFill>
                  <a:srgbClr val="000000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在第</a:t>
            </a:r>
            <a:r>
              <a:rPr kumimoji="1" lang="en-US" altLang="zh-CN" sz="1600" b="1" dirty="0">
                <a:solidFill>
                  <a:srgbClr val="000000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3</a:t>
            </a:r>
            <a:r>
              <a:rPr kumimoji="1" lang="zh-CN" altLang="en-US" sz="1600" b="1" dirty="0">
                <a:solidFill>
                  <a:srgbClr val="000000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个后截断</a:t>
            </a:r>
            <a:r>
              <a:rPr kumimoji="1" lang="en-US" altLang="zh-CN" sz="1600" b="1" dirty="0">
                <a:solidFill>
                  <a:srgbClr val="000000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________</a:t>
            </a:r>
            <a:r>
              <a:rPr kumimoji="1" lang="zh-CN" altLang="en-US" sz="1600" b="1" dirty="0">
                <a:solidFill>
                  <a:srgbClr val="000000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。</a:t>
            </a:r>
            <a:endParaRPr kumimoji="1" lang="en-US" altLang="zh-CN" sz="1600" b="1" dirty="0">
              <a:solidFill>
                <a:srgbClr val="000000"/>
              </a:solidFill>
              <a:highlight>
                <a:srgbClr val="FF0000"/>
              </a:highlight>
              <a:latin typeface="宋体" pitchFamily="2" charset="-122"/>
              <a:ea typeface="宋体" pitchFamily="2" charset="-122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、</a:t>
            </a:r>
            <a:r>
              <a:rPr kumimoji="1" lang="zh-CN" altLang="en-US" sz="1600" b="1" dirty="0">
                <a:solidFill>
                  <a:srgbClr val="000000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转义符</a:t>
            </a:r>
            <a:r>
              <a:rPr kumimoji="1" lang="en-US" altLang="zh-CN" sz="1600" b="1" dirty="0">
                <a:solidFill>
                  <a:srgbClr val="000000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\</a:t>
            </a:r>
            <a:r>
              <a:rPr kumimoji="1" lang="zh-CN" altLang="en-US" sz="1600" b="1" dirty="0">
                <a:solidFill>
                  <a:srgbClr val="000000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后的合法</a:t>
            </a:r>
            <a:r>
              <a:rPr kumimoji="1" lang="en-US" altLang="zh-CN" sz="1600" b="1" dirty="0">
                <a:solidFill>
                  <a:srgbClr val="000000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8</a:t>
            </a:r>
            <a:r>
              <a:rPr kumimoji="1" lang="zh-CN" altLang="en-US" sz="1600" b="1" dirty="0">
                <a:solidFill>
                  <a:srgbClr val="000000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进制数</a:t>
            </a:r>
            <a:r>
              <a:rPr kumimoji="1" lang="en-US" altLang="zh-CN" sz="1600" b="1" dirty="0">
                <a:solidFill>
                  <a:srgbClr val="000000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≤3</a:t>
            </a:r>
            <a:r>
              <a:rPr kumimoji="1" lang="zh-CN" altLang="en-US" sz="1600" b="1" dirty="0">
                <a:solidFill>
                  <a:srgbClr val="000000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个但超出上限</a:t>
            </a:r>
            <a:r>
              <a:rPr kumimoji="1" lang="en-US" altLang="zh-CN" sz="1600" b="1" dirty="0">
                <a:solidFill>
                  <a:srgbClr val="000000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377</a:t>
            </a:r>
            <a:r>
              <a:rPr kumimoji="1" lang="zh-CN" altLang="en-US" sz="1600" b="1" dirty="0">
                <a:solidFill>
                  <a:srgbClr val="000000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，则</a:t>
            </a:r>
            <a:r>
              <a:rPr kumimoji="1" lang="en-US" altLang="zh-CN" sz="1600" b="1" dirty="0">
                <a:solidFill>
                  <a:srgbClr val="000000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____</a:t>
            </a:r>
            <a:r>
              <a:rPr kumimoji="1" lang="zh-CN" altLang="en-US" sz="1600" b="1" dirty="0">
                <a:solidFill>
                  <a:srgbClr val="000000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报</a:t>
            </a:r>
            <a:r>
              <a:rPr kumimoji="1" lang="en-US" altLang="zh-CN" sz="1600" b="1" dirty="0">
                <a:solidFill>
                  <a:srgbClr val="000000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error</a:t>
            </a:r>
            <a:r>
              <a:rPr kumimoji="1" lang="zh-CN" altLang="en-US" sz="1600" b="1" dirty="0">
                <a:solidFill>
                  <a:srgbClr val="000000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错</a:t>
            </a:r>
            <a:r>
              <a:rPr kumimoji="1" lang="en-US" altLang="zh-CN" sz="1600" b="1" dirty="0">
                <a:solidFill>
                  <a:srgbClr val="000000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________</a:t>
            </a:r>
            <a:r>
              <a:rPr kumimoji="1" lang="zh-CN" altLang="en-US" sz="1600" b="1" dirty="0">
                <a:solidFill>
                  <a:srgbClr val="000000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。</a:t>
            </a:r>
            <a:endParaRPr kumimoji="1" lang="en-US" altLang="zh-CN" sz="1600" b="1" dirty="0">
              <a:solidFill>
                <a:srgbClr val="000000"/>
              </a:solidFill>
              <a:highlight>
                <a:srgbClr val="FF0000"/>
              </a:highlight>
              <a:latin typeface="宋体" pitchFamily="2" charset="-122"/>
              <a:ea typeface="宋体" pitchFamily="2" charset="-122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   </a:t>
            </a:r>
            <a:r>
              <a:rPr kumimoji="1" lang="zh-CN" altLang="en-US" sz="1600" b="1" dirty="0">
                <a:solidFill>
                  <a:srgbClr val="000000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编译提示中的那个数字是怎么来的？：“</a:t>
            </a:r>
            <a:r>
              <a:rPr kumimoji="1" lang="en-US" altLang="zh-CN" sz="1600" b="1" dirty="0">
                <a:solidFill>
                  <a:srgbClr val="000000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\43456f</a:t>
            </a:r>
            <a:r>
              <a:rPr kumimoji="1" lang="zh-CN" altLang="en-US" sz="1600" b="1" dirty="0">
                <a:solidFill>
                  <a:srgbClr val="000000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”中转义符</a:t>
            </a:r>
            <a:r>
              <a:rPr kumimoji="1" lang="en-US" altLang="zh-CN" sz="1600" b="1" dirty="0">
                <a:solidFill>
                  <a:srgbClr val="000000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\</a:t>
            </a:r>
            <a:r>
              <a:rPr kumimoji="1" lang="zh-CN" altLang="en-US" sz="1600" b="1" dirty="0">
                <a:solidFill>
                  <a:srgbClr val="000000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后的三位八进制</a:t>
            </a:r>
            <a:r>
              <a:rPr kumimoji="1" lang="en-US" altLang="zh-CN" sz="1600" b="1" dirty="0">
                <a:solidFill>
                  <a:srgbClr val="000000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434</a:t>
            </a:r>
            <a:r>
              <a:rPr kumimoji="1" lang="zh-CN" altLang="en-US" sz="1600" b="1" dirty="0">
                <a:solidFill>
                  <a:srgbClr val="000000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数转化为的十进制数为</a:t>
            </a:r>
            <a:r>
              <a:rPr kumimoji="1" lang="en-US" altLang="zh-CN" sz="1600" b="1" dirty="0">
                <a:solidFill>
                  <a:srgbClr val="000000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284</a:t>
            </a:r>
            <a:endParaRPr lang="en-US" altLang="zh-CN" sz="1600" b="1" dirty="0">
              <a:highlight>
                <a:srgbClr val="FF0000"/>
              </a:highlight>
              <a:latin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AE7EA3B-20CD-4F30-9C78-438C56EDDA9A}"/>
              </a:ext>
            </a:extLst>
          </p:cNvPr>
          <p:cNvSpPr/>
          <p:nvPr/>
        </p:nvSpPr>
        <p:spPr bwMode="auto">
          <a:xfrm>
            <a:off x="9407236" y="5971309"/>
            <a:ext cx="1432214" cy="56284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认真阅读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课件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P.32-37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1E59B50-7369-416C-BAA0-96CC478E6C66}"/>
              </a:ext>
            </a:extLst>
          </p:cNvPr>
          <p:cNvSpPr/>
          <p:nvPr/>
        </p:nvSpPr>
        <p:spPr bwMode="auto">
          <a:xfrm>
            <a:off x="592114" y="1081262"/>
            <a:ext cx="10247336" cy="261790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zh-CN" altLang="en-US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"1234567"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此处必须改为你的学号，否则本作业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0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分（后续含学号的所有作业要求相同）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en-US" altLang="zh-CN" sz="1600" b="1" dirty="0" err="1">
                <a:latin typeface="+mn-ea"/>
              </a:rPr>
              <a:t>strlen</a:t>
            </a:r>
            <a:r>
              <a:rPr lang="en-US" altLang="zh-CN" sz="1600" b="1" dirty="0">
                <a:latin typeface="+mn-ea"/>
              </a:rPr>
              <a:t>("\23456f")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en-US" altLang="zh-CN" sz="1600" b="1" dirty="0" err="1">
                <a:latin typeface="+mn-ea"/>
              </a:rPr>
              <a:t>strlen</a:t>
            </a:r>
            <a:r>
              <a:rPr lang="en-US" altLang="zh-CN" sz="1600" b="1" dirty="0">
                <a:latin typeface="+mn-ea"/>
              </a:rPr>
              <a:t>("\43456f")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BCF620D-A8F5-6C4A-2E11-F239D0D73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06" y="2748185"/>
            <a:ext cx="3338537" cy="175261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5D5B2B0-2993-560F-AC99-95E98590D0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5409" y="4632495"/>
            <a:ext cx="2228866" cy="166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431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、求出下列字符串的长度（要求仿照图例标出具体的字符分解）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D.</a:t>
            </a:r>
            <a:r>
              <a:rPr lang="zh-CN" altLang="en-US" sz="1600" b="1" dirty="0">
                <a:latin typeface="+mn-ea"/>
              </a:rPr>
              <a:t>运行上面的程序，贴含本人学号的源程序</a:t>
            </a:r>
            <a:r>
              <a:rPr lang="en-US" altLang="zh-CN" sz="1600" b="1" dirty="0">
                <a:latin typeface="+mn-ea"/>
              </a:rPr>
              <a:t>+</a:t>
            </a:r>
            <a:r>
              <a:rPr lang="zh-CN" altLang="en-US" sz="1600" b="1" dirty="0">
                <a:latin typeface="+mn-ea"/>
              </a:rPr>
              <a:t>编译器的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</a:t>
            </a:r>
            <a:r>
              <a:rPr lang="zh-CN" altLang="en-US" sz="1600" b="1" dirty="0">
                <a:latin typeface="+mn-ea"/>
              </a:rPr>
              <a:t>错误信息截图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观察编译信息，得到结论如下：</a:t>
            </a:r>
            <a:endParaRPr lang="en-US" altLang="zh-CN" sz="1600" b="1" dirty="0"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zh-CN" altLang="en-US" sz="1600" b="1" dirty="0">
                <a:solidFill>
                  <a:srgbClr val="000000"/>
                </a:solidFill>
                <a:highlight>
                  <a:srgbClr val="FF0000"/>
                </a:highlight>
                <a:latin typeface="+mn-ea"/>
              </a:rPr>
              <a:t>转义符</a:t>
            </a:r>
            <a:r>
              <a:rPr kumimoji="1" lang="en-US" altLang="zh-CN" sz="1600" b="1" dirty="0">
                <a:solidFill>
                  <a:srgbClr val="000000"/>
                </a:solidFill>
                <a:highlight>
                  <a:srgbClr val="FF0000"/>
                </a:highlight>
                <a:latin typeface="+mn-ea"/>
              </a:rPr>
              <a:t>\x</a:t>
            </a:r>
            <a:r>
              <a:rPr kumimoji="1" lang="zh-CN" altLang="en-US" sz="1600" b="1" dirty="0">
                <a:solidFill>
                  <a:srgbClr val="000000"/>
                </a:solidFill>
                <a:highlight>
                  <a:srgbClr val="FF0000"/>
                </a:highlight>
                <a:latin typeface="+mn-ea"/>
              </a:rPr>
              <a:t>后的合法</a:t>
            </a:r>
            <a:r>
              <a:rPr kumimoji="1" lang="en-US" altLang="zh-CN" sz="1600" b="1" dirty="0">
                <a:solidFill>
                  <a:srgbClr val="000000"/>
                </a:solidFill>
                <a:highlight>
                  <a:srgbClr val="FF0000"/>
                </a:highlight>
                <a:latin typeface="+mn-ea"/>
              </a:rPr>
              <a:t>16</a:t>
            </a:r>
            <a:r>
              <a:rPr kumimoji="1" lang="zh-CN" altLang="en-US" sz="1600" b="1" dirty="0">
                <a:solidFill>
                  <a:srgbClr val="000000"/>
                </a:solidFill>
                <a:highlight>
                  <a:srgbClr val="FF0000"/>
                </a:highlight>
                <a:latin typeface="+mn-ea"/>
              </a:rPr>
              <a:t>进制数</a:t>
            </a:r>
            <a:r>
              <a:rPr kumimoji="1" lang="en-US" altLang="zh-CN" sz="1600" b="1" dirty="0">
                <a:solidFill>
                  <a:srgbClr val="000000"/>
                </a:solidFill>
                <a:highlight>
                  <a:srgbClr val="FF0000"/>
                </a:highlight>
                <a:latin typeface="+mn-ea"/>
              </a:rPr>
              <a:t>&gt;2</a:t>
            </a:r>
            <a:r>
              <a:rPr kumimoji="1" lang="zh-CN" altLang="en-US" sz="1600" b="1" dirty="0">
                <a:solidFill>
                  <a:srgbClr val="000000"/>
                </a:solidFill>
                <a:highlight>
                  <a:srgbClr val="FF0000"/>
                </a:highlight>
                <a:latin typeface="+mn-ea"/>
              </a:rPr>
              <a:t>个，则</a:t>
            </a:r>
            <a:r>
              <a:rPr kumimoji="1" lang="en-US" altLang="zh-CN" sz="1600" b="1" dirty="0">
                <a:solidFill>
                  <a:srgbClr val="000000"/>
                </a:solidFill>
                <a:highlight>
                  <a:srgbClr val="FF0000"/>
                </a:highlight>
                <a:latin typeface="+mn-ea"/>
              </a:rPr>
              <a:t>____</a:t>
            </a:r>
            <a:r>
              <a:rPr kumimoji="1" lang="zh-CN" altLang="en-US" sz="1600" b="1" dirty="0">
                <a:solidFill>
                  <a:srgbClr val="000000"/>
                </a:solidFill>
                <a:highlight>
                  <a:srgbClr val="FF0000"/>
                </a:highlight>
                <a:latin typeface="+mn-ea"/>
              </a:rPr>
              <a:t>报</a:t>
            </a:r>
            <a:r>
              <a:rPr kumimoji="1" lang="en-US" altLang="zh-CN" sz="1600" b="1" dirty="0">
                <a:solidFill>
                  <a:srgbClr val="000000"/>
                </a:solidFill>
                <a:highlight>
                  <a:srgbClr val="FF0000"/>
                </a:highlight>
                <a:latin typeface="+mn-ea"/>
              </a:rPr>
              <a:t>error</a:t>
            </a:r>
            <a:r>
              <a:rPr kumimoji="1" lang="zh-CN" altLang="en-US" sz="1600" b="1" dirty="0">
                <a:solidFill>
                  <a:srgbClr val="000000"/>
                </a:solidFill>
                <a:highlight>
                  <a:srgbClr val="FF0000"/>
                </a:highlight>
                <a:latin typeface="+mn-ea"/>
              </a:rPr>
              <a:t>错</a:t>
            </a:r>
            <a:r>
              <a:rPr kumimoji="1" lang="en-US" altLang="zh-CN" sz="1600" b="1" dirty="0">
                <a:solidFill>
                  <a:srgbClr val="000000"/>
                </a:solidFill>
                <a:highlight>
                  <a:srgbClr val="FF0000"/>
                </a:highlight>
                <a:latin typeface="+mn-ea"/>
              </a:rPr>
              <a:t>________</a:t>
            </a:r>
            <a:r>
              <a:rPr kumimoji="1" lang="zh-CN" altLang="en-US" sz="1600" b="1" dirty="0">
                <a:solidFill>
                  <a:srgbClr val="000000"/>
                </a:solidFill>
                <a:highlight>
                  <a:srgbClr val="FF0000"/>
                </a:highlight>
                <a:latin typeface="+mn-ea"/>
              </a:rPr>
              <a:t>。</a:t>
            </a:r>
            <a:endParaRPr kumimoji="1" lang="en-US" altLang="zh-CN" sz="1600" b="1" dirty="0">
              <a:solidFill>
                <a:srgbClr val="000000"/>
              </a:solidFill>
              <a:highlight>
                <a:srgbClr val="FF0000"/>
              </a:highlight>
              <a:latin typeface="+mn-ea"/>
            </a:endParaRPr>
          </a:p>
          <a:p>
            <a:r>
              <a:rPr kumimoji="1" lang="zh-CN" altLang="en-US" sz="1600" b="1" dirty="0">
                <a:solidFill>
                  <a:srgbClr val="000000"/>
                </a:solidFill>
                <a:highlight>
                  <a:srgbClr val="FF0000"/>
                </a:highlight>
                <a:latin typeface="+mn-ea"/>
              </a:rPr>
              <a:t>   编译提示中的那个数值是怎么来的？：“</a:t>
            </a:r>
            <a:r>
              <a:rPr kumimoji="1" lang="en-US" altLang="zh-CN" sz="1600" b="1" dirty="0">
                <a:solidFill>
                  <a:srgbClr val="000000"/>
                </a:solidFill>
                <a:highlight>
                  <a:srgbClr val="FF0000"/>
                </a:highlight>
                <a:latin typeface="+mn-ea"/>
              </a:rPr>
              <a:t>\x234</a:t>
            </a:r>
            <a:r>
              <a:rPr kumimoji="1" lang="zh-CN" altLang="en-US" sz="1600" b="1" dirty="0">
                <a:solidFill>
                  <a:srgbClr val="000000"/>
                </a:solidFill>
                <a:highlight>
                  <a:srgbClr val="FF0000"/>
                </a:highlight>
                <a:latin typeface="+mn-ea"/>
              </a:rPr>
              <a:t>”中十六进制数</a:t>
            </a:r>
            <a:r>
              <a:rPr kumimoji="1" lang="en-US" altLang="zh-CN" sz="1600" b="1" dirty="0">
                <a:solidFill>
                  <a:srgbClr val="000000"/>
                </a:solidFill>
                <a:highlight>
                  <a:srgbClr val="FF0000"/>
                </a:highlight>
                <a:latin typeface="+mn-ea"/>
              </a:rPr>
              <a:t>234</a:t>
            </a:r>
            <a:r>
              <a:rPr kumimoji="1" lang="zh-CN" altLang="en-US" sz="1600" b="1" dirty="0">
                <a:solidFill>
                  <a:srgbClr val="000000"/>
                </a:solidFill>
                <a:highlight>
                  <a:srgbClr val="FF0000"/>
                </a:highlight>
                <a:latin typeface="+mn-ea"/>
              </a:rPr>
              <a:t>转化为的十进制数为</a:t>
            </a:r>
            <a:r>
              <a:rPr kumimoji="1" lang="en-US" altLang="zh-CN" sz="1600" b="1" dirty="0">
                <a:solidFill>
                  <a:srgbClr val="000000"/>
                </a:solidFill>
                <a:highlight>
                  <a:srgbClr val="FF0000"/>
                </a:highlight>
                <a:latin typeface="+mn-ea"/>
              </a:rPr>
              <a:t>564</a:t>
            </a: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、综合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CD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，在用转义符表示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8/16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进制时，超过限定的长度的错误处理是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__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不一致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___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（一致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/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不一致）的。</a:t>
            </a:r>
            <a:endParaRPr lang="en-US" altLang="zh-CN" sz="1600" b="1" dirty="0"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AE7EA3B-20CD-4F30-9C78-438C56EDDA9A}"/>
              </a:ext>
            </a:extLst>
          </p:cNvPr>
          <p:cNvSpPr/>
          <p:nvPr/>
        </p:nvSpPr>
        <p:spPr bwMode="auto">
          <a:xfrm>
            <a:off x="9407236" y="5971309"/>
            <a:ext cx="1432214" cy="56284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认真阅读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课件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P.32-37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1E59B50-7369-416C-BAA0-96CC478E6C66}"/>
              </a:ext>
            </a:extLst>
          </p:cNvPr>
          <p:cNvSpPr/>
          <p:nvPr/>
        </p:nvSpPr>
        <p:spPr bwMode="auto">
          <a:xfrm>
            <a:off x="592114" y="1081262"/>
            <a:ext cx="10247336" cy="261790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zh-CN" altLang="en-US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"1234567"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此处必须改为你的学号，否则本作业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0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分（后续含学号的所有作业要求相同）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en-US" altLang="zh-CN" sz="1600" b="1" dirty="0" err="1">
                <a:latin typeface="+mn-ea"/>
              </a:rPr>
              <a:t>strlen</a:t>
            </a:r>
            <a:r>
              <a:rPr lang="en-US" altLang="zh-CN" sz="1600" b="1" dirty="0">
                <a:latin typeface="+mn-ea"/>
              </a:rPr>
              <a:t>("\x23")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en-US" altLang="zh-CN" sz="1600" b="1" dirty="0" err="1">
                <a:latin typeface="+mn-ea"/>
              </a:rPr>
              <a:t>strlen</a:t>
            </a:r>
            <a:r>
              <a:rPr lang="en-US" altLang="zh-CN" sz="1600" b="1" dirty="0">
                <a:latin typeface="+mn-ea"/>
              </a:rPr>
              <a:t>("\x234")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DE2CD57-F3EE-584D-84FD-427DC13DF6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2072" y="2832383"/>
            <a:ext cx="3176611" cy="173356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C1DFABE-BF17-524C-83F5-8B1ECD9FA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4572" y="4734616"/>
            <a:ext cx="2243154" cy="14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481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、求出下列字符串的长度（要求仿照图例标出具体的字符分解）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E.</a:t>
            </a:r>
            <a:r>
              <a:rPr lang="zh-CN" altLang="en-US" sz="1600" b="1" dirty="0">
                <a:latin typeface="+mn-ea"/>
              </a:rPr>
              <a:t>运行上面的程序，贴含本人学号的源程序</a:t>
            </a:r>
            <a:r>
              <a:rPr lang="en-US" altLang="zh-CN" sz="1600" b="1" dirty="0">
                <a:latin typeface="+mn-ea"/>
              </a:rPr>
              <a:t>+</a:t>
            </a:r>
            <a:r>
              <a:rPr lang="zh-CN" altLang="en-US" sz="1600" b="1" dirty="0">
                <a:latin typeface="+mn-ea"/>
              </a:rPr>
              <a:t>编译器的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</a:t>
            </a:r>
            <a:r>
              <a:rPr lang="zh-CN" altLang="en-US" sz="1600" b="1" dirty="0">
                <a:latin typeface="+mn-ea"/>
              </a:rPr>
              <a:t>错误信息截图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观察编译信息，得到结论如下：</a:t>
            </a:r>
            <a:endParaRPr lang="en-US" altLang="zh-CN" sz="1600" b="1" dirty="0"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、</a:t>
            </a:r>
            <a:r>
              <a:rPr kumimoji="1"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转义符</a:t>
            </a:r>
            <a:r>
              <a:rPr kumimoji="1" lang="en-US" altLang="zh-CN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\</a:t>
            </a:r>
            <a:r>
              <a:rPr kumimoji="1"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后直接跟非法的</a:t>
            </a:r>
            <a:r>
              <a:rPr kumimoji="1" lang="en-US" altLang="zh-CN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8</a:t>
            </a:r>
            <a:r>
              <a:rPr kumimoji="1"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进制，则</a:t>
            </a:r>
            <a:r>
              <a:rPr kumimoji="1" lang="en-US" altLang="zh-CN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___</a:t>
            </a:r>
            <a:r>
              <a:rPr kumimoji="1"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报</a:t>
            </a:r>
            <a:r>
              <a:rPr kumimoji="1" lang="en-US" altLang="zh-CN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warning</a:t>
            </a:r>
            <a:r>
              <a:rPr kumimoji="1"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错</a:t>
            </a:r>
            <a:r>
              <a:rPr kumimoji="1" lang="en-US" altLang="zh-CN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_________</a:t>
            </a:r>
            <a:r>
              <a:rPr kumimoji="1"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。</a:t>
            </a:r>
            <a:endParaRPr kumimoji="1" lang="en-US" altLang="zh-CN" sz="1600" b="1" dirty="0">
              <a:solidFill>
                <a:schemeClr val="accent3">
                  <a:lumMod val="95000"/>
                </a:schemeClr>
              </a:solidFill>
              <a:highlight>
                <a:srgbClr val="FF0000"/>
              </a:highlight>
              <a:latin typeface="宋体" pitchFamily="2" charset="-122"/>
              <a:ea typeface="宋体" pitchFamily="2" charset="-122"/>
            </a:endParaRPr>
          </a:p>
          <a:p>
            <a:r>
              <a:rPr kumimoji="1" lang="en-US" altLang="zh-CN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2</a:t>
            </a:r>
            <a:r>
              <a:rPr kumimoji="1"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、对两个</a:t>
            </a:r>
            <a:r>
              <a:rPr kumimoji="1" lang="en-US" altLang="zh-CN" sz="1600" b="1" dirty="0" err="1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strlen</a:t>
            </a:r>
            <a:r>
              <a:rPr kumimoji="1"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的输出结果进行分析（合理猜测）</a:t>
            </a:r>
            <a:r>
              <a:rPr kumimoji="1"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  <a:ea typeface="宋体" pitchFamily="2" charset="-122"/>
              </a:rPr>
              <a:t>：第一个：在</a:t>
            </a:r>
            <a:r>
              <a:rPr kumimoji="1" lang="en-US" altLang="zh-CN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  <a:ea typeface="宋体" pitchFamily="2" charset="-122"/>
              </a:rPr>
              <a:t>\</a:t>
            </a:r>
            <a:r>
              <a:rPr kumimoji="1"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  <a:ea typeface="宋体" pitchFamily="2" charset="-122"/>
              </a:rPr>
              <a:t>和</a:t>
            </a:r>
            <a:r>
              <a:rPr kumimoji="1" lang="en-US" altLang="zh-CN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  <a:ea typeface="宋体" pitchFamily="2" charset="-122"/>
              </a:rPr>
              <a:t>9</a:t>
            </a:r>
            <a:r>
              <a:rPr kumimoji="1"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  <a:ea typeface="宋体" pitchFamily="2" charset="-122"/>
              </a:rPr>
              <a:t>之间截断，变为</a:t>
            </a:r>
            <a:r>
              <a:rPr kumimoji="1" lang="en-US" altLang="zh-CN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  <a:ea typeface="宋体" pitchFamily="2" charset="-122"/>
              </a:rPr>
              <a:t>\0</a:t>
            </a:r>
            <a:r>
              <a:rPr kumimoji="1"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  <a:ea typeface="宋体" pitchFamily="2" charset="-122"/>
              </a:rPr>
              <a:t>和</a:t>
            </a:r>
            <a:r>
              <a:rPr kumimoji="1" lang="en-US" altLang="zh-CN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  <a:ea typeface="宋体" pitchFamily="2" charset="-122"/>
              </a:rPr>
              <a:t>9</a:t>
            </a:r>
            <a:r>
              <a:rPr kumimoji="1"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  <a:ea typeface="宋体" pitchFamily="2" charset="-122"/>
              </a:rPr>
              <a:t>，</a:t>
            </a:r>
            <a:r>
              <a:rPr kumimoji="1" lang="en-US" altLang="zh-CN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  <a:ea typeface="宋体" pitchFamily="2" charset="-122"/>
              </a:rPr>
              <a:t>\0</a:t>
            </a:r>
            <a:r>
              <a:rPr kumimoji="1"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  <a:ea typeface="宋体" pitchFamily="2" charset="-122"/>
              </a:rPr>
              <a:t>不算在字符串长度内，因此字符串长度结果为“</a:t>
            </a:r>
            <a:r>
              <a:rPr kumimoji="1" lang="en-US" altLang="zh-CN" sz="1600" b="1" u="sng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  <a:ea typeface="宋体" pitchFamily="2" charset="-122"/>
              </a:rPr>
              <a:t>9</a:t>
            </a:r>
            <a:r>
              <a:rPr kumimoji="1" lang="en-US" altLang="zh-CN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  <a:ea typeface="宋体" pitchFamily="2" charset="-122"/>
              </a:rPr>
              <a:t> </a:t>
            </a:r>
            <a:r>
              <a:rPr kumimoji="1" lang="en-US" altLang="zh-CN" sz="1600" b="1" u="sng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  <a:ea typeface="宋体" pitchFamily="2" charset="-122"/>
              </a:rPr>
              <a:t>8</a:t>
            </a:r>
            <a:r>
              <a:rPr kumimoji="1" lang="en-US" altLang="zh-CN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  <a:ea typeface="宋体" pitchFamily="2" charset="-122"/>
              </a:rPr>
              <a:t> </a:t>
            </a:r>
            <a:r>
              <a:rPr kumimoji="1" lang="en-US" altLang="zh-CN" sz="1600" b="1" u="sng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  <a:ea typeface="宋体" pitchFamily="2" charset="-122"/>
              </a:rPr>
              <a:t>7</a:t>
            </a:r>
            <a:r>
              <a:rPr kumimoji="1" lang="en-US" altLang="zh-CN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  <a:ea typeface="宋体" pitchFamily="2" charset="-122"/>
              </a:rPr>
              <a:t> </a:t>
            </a:r>
            <a:r>
              <a:rPr kumimoji="1" lang="en-US" altLang="zh-CN" sz="1600" b="1" u="sng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  <a:ea typeface="宋体" pitchFamily="2" charset="-122"/>
              </a:rPr>
              <a:t>6</a:t>
            </a:r>
            <a:r>
              <a:rPr kumimoji="1"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  <a:ea typeface="宋体" pitchFamily="2" charset="-122"/>
              </a:rPr>
              <a:t>”</a:t>
            </a:r>
            <a:r>
              <a:rPr kumimoji="1" lang="en-US" altLang="zh-CN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  <a:ea typeface="宋体" pitchFamily="2" charset="-122"/>
              </a:rPr>
              <a:t>=4</a:t>
            </a:r>
            <a:r>
              <a:rPr kumimoji="1"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  <a:ea typeface="宋体" pitchFamily="2" charset="-122"/>
              </a:rPr>
              <a:t>；第二个：同理，在</a:t>
            </a:r>
            <a:r>
              <a:rPr kumimoji="1" lang="en-US" altLang="zh-CN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  <a:ea typeface="宋体" pitchFamily="2" charset="-122"/>
              </a:rPr>
              <a:t>\*</a:t>
            </a:r>
            <a:r>
              <a:rPr kumimoji="1"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  <a:ea typeface="宋体" pitchFamily="2" charset="-122"/>
              </a:rPr>
              <a:t>之间截断为</a:t>
            </a:r>
            <a:r>
              <a:rPr kumimoji="1" lang="en-US" altLang="zh-CN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  <a:ea typeface="宋体" pitchFamily="2" charset="-122"/>
              </a:rPr>
              <a:t>\0</a:t>
            </a:r>
            <a:r>
              <a:rPr kumimoji="1"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  <a:ea typeface="宋体" pitchFamily="2" charset="-122"/>
              </a:rPr>
              <a:t>和</a:t>
            </a:r>
            <a:r>
              <a:rPr kumimoji="1" lang="en-US" altLang="zh-CN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  <a:ea typeface="宋体" pitchFamily="2" charset="-122"/>
              </a:rPr>
              <a:t>*</a:t>
            </a:r>
            <a:r>
              <a:rPr kumimoji="1"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  <a:ea typeface="宋体" pitchFamily="2" charset="-122"/>
              </a:rPr>
              <a:t>，</a:t>
            </a:r>
            <a:r>
              <a:rPr kumimoji="1" lang="en-US" altLang="zh-CN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  <a:ea typeface="宋体" pitchFamily="2" charset="-122"/>
              </a:rPr>
              <a:t> \0</a:t>
            </a:r>
            <a:r>
              <a:rPr kumimoji="1"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  <a:ea typeface="宋体" pitchFamily="2" charset="-122"/>
              </a:rPr>
              <a:t>不算在字符串长度内，因此结果为</a:t>
            </a:r>
            <a:r>
              <a:rPr kumimoji="1" lang="en-US" altLang="zh-CN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  <a:ea typeface="宋体" pitchFamily="2" charset="-122"/>
              </a:rPr>
              <a:t>4</a:t>
            </a:r>
            <a:endParaRPr kumimoji="1" lang="en-US" altLang="zh-CN" sz="1600" b="1" dirty="0">
              <a:solidFill>
                <a:schemeClr val="accent3">
                  <a:lumMod val="95000"/>
                </a:schemeClr>
              </a:solidFill>
              <a:highlight>
                <a:srgbClr val="FF0000"/>
              </a:highlight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A16C09C-6EC8-462E-A324-6356C589E965}"/>
              </a:ext>
            </a:extLst>
          </p:cNvPr>
          <p:cNvSpPr/>
          <p:nvPr/>
        </p:nvSpPr>
        <p:spPr bwMode="auto">
          <a:xfrm>
            <a:off x="592114" y="1081262"/>
            <a:ext cx="10247336" cy="261790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zh-CN" altLang="en-US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"1234567"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此处必须改为你的学号，否则本作业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0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分（后续含学号的所有作业要求相同）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en-US" altLang="zh-CN" sz="1600" b="1" dirty="0" err="1">
                <a:latin typeface="+mn-ea"/>
              </a:rPr>
              <a:t>strlen</a:t>
            </a:r>
            <a:r>
              <a:rPr lang="en-US" altLang="zh-CN" sz="1600" b="1" dirty="0">
                <a:latin typeface="+mn-ea"/>
              </a:rPr>
              <a:t>("\9876")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en-US" altLang="zh-CN" sz="1600" b="1" dirty="0" err="1">
                <a:latin typeface="+mn-ea"/>
              </a:rPr>
              <a:t>strlen</a:t>
            </a:r>
            <a:r>
              <a:rPr lang="en-US" altLang="zh-CN" sz="1600" b="1" dirty="0">
                <a:latin typeface="+mn-ea"/>
              </a:rPr>
              <a:t>("\*321")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EB550E8-EE4B-ED97-D8E5-8D20AA5BA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2197" y="2902824"/>
            <a:ext cx="3448075" cy="180976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8716F94-C738-42CF-2ACE-AA499C1FE2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2197" y="4887769"/>
            <a:ext cx="2643207" cy="323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174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、求出下列字符串的长度（要求仿照图例标出具体的字符分解）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F.</a:t>
            </a:r>
            <a:r>
              <a:rPr lang="zh-CN" altLang="en-US" sz="1600" b="1" dirty="0">
                <a:latin typeface="+mn-ea"/>
              </a:rPr>
              <a:t>运行上面的程序，贴含本人学号的源程序</a:t>
            </a:r>
            <a:r>
              <a:rPr lang="en-US" altLang="zh-CN" sz="1600" b="1" dirty="0">
                <a:latin typeface="+mn-ea"/>
              </a:rPr>
              <a:t>+</a:t>
            </a:r>
            <a:r>
              <a:rPr lang="zh-CN" altLang="en-US" sz="1600" b="1" dirty="0">
                <a:latin typeface="+mn-ea"/>
              </a:rPr>
              <a:t>编译器的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</a:t>
            </a:r>
            <a:r>
              <a:rPr lang="zh-CN" altLang="en-US" sz="1600" b="1" dirty="0">
                <a:latin typeface="+mn-ea"/>
              </a:rPr>
              <a:t>错误信息截图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观察编译信息，得到结论如下：</a:t>
            </a:r>
            <a:endParaRPr lang="en-US" altLang="zh-CN" sz="1600" b="1" dirty="0"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、</a:t>
            </a:r>
            <a:r>
              <a:rPr kumimoji="1"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转义符</a:t>
            </a:r>
            <a:r>
              <a:rPr kumimoji="1" lang="en-US" altLang="zh-CN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\x</a:t>
            </a:r>
            <a:r>
              <a:rPr kumimoji="1"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后直接跟非法的</a:t>
            </a:r>
            <a:r>
              <a:rPr kumimoji="1" lang="en-US" altLang="zh-CN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16</a:t>
            </a:r>
            <a:r>
              <a:rPr kumimoji="1"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进制，则</a:t>
            </a:r>
            <a:r>
              <a:rPr kumimoji="1" lang="en-US" altLang="zh-CN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___</a:t>
            </a:r>
            <a:r>
              <a:rPr kumimoji="1"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报</a:t>
            </a:r>
            <a:r>
              <a:rPr kumimoji="1" lang="en-US" altLang="zh-CN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error</a:t>
            </a:r>
            <a:r>
              <a:rPr kumimoji="1"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错</a:t>
            </a:r>
            <a:r>
              <a:rPr kumimoji="1" lang="en-US" altLang="zh-CN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_________</a:t>
            </a:r>
            <a:r>
              <a:rPr kumimoji="1" lang="zh-CN" altLang="en-US" sz="1600" b="1" dirty="0">
                <a:solidFill>
                  <a:schemeClr val="accent3">
                    <a:lumMod val="95000"/>
                  </a:schemeClr>
                </a:solidFill>
                <a:latin typeface="宋体" pitchFamily="2" charset="-122"/>
                <a:ea typeface="宋体" pitchFamily="2" charset="-122"/>
              </a:rPr>
              <a:t>。</a:t>
            </a:r>
            <a:endParaRPr kumimoji="1" lang="en-US" altLang="zh-CN" sz="1600" b="1" dirty="0">
              <a:solidFill>
                <a:schemeClr val="accent3">
                  <a:lumMod val="95000"/>
                </a:schemeClr>
              </a:solidFill>
              <a:latin typeface="宋体" pitchFamily="2" charset="-122"/>
              <a:ea typeface="宋体" pitchFamily="2" charset="-122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、综合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EF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，在用转义符表示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8/16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进制时，直接跟非法字符的错误处理是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不一致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（一致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/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不一致）的。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A16C09C-6EC8-462E-A324-6356C589E965}"/>
              </a:ext>
            </a:extLst>
          </p:cNvPr>
          <p:cNvSpPr/>
          <p:nvPr/>
        </p:nvSpPr>
        <p:spPr bwMode="auto">
          <a:xfrm>
            <a:off x="592114" y="1081262"/>
            <a:ext cx="10247336" cy="261790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zh-CN" altLang="en-US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"1234567"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此处必须改为你的学号，否则本作业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0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分（后续含学号的所有作业要求相同）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en-US" altLang="zh-CN" sz="1600" b="1" dirty="0" err="1">
                <a:latin typeface="+mn-ea"/>
              </a:rPr>
              <a:t>strlen</a:t>
            </a:r>
            <a:r>
              <a:rPr lang="en-US" altLang="zh-CN" sz="1600" b="1" dirty="0">
                <a:latin typeface="+mn-ea"/>
              </a:rPr>
              <a:t>("\xg231")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en-US" altLang="zh-CN" sz="1600" b="1" dirty="0" err="1">
                <a:latin typeface="+mn-ea"/>
              </a:rPr>
              <a:t>strlen</a:t>
            </a:r>
            <a:r>
              <a:rPr lang="en-US" altLang="zh-CN" sz="1600" b="1" dirty="0">
                <a:latin typeface="+mn-ea"/>
              </a:rPr>
              <a:t>("\x*231")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E566716-C910-0B5B-5344-1451A94A7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866" y="2801426"/>
            <a:ext cx="3295674" cy="179547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6B1DE74-A6C2-DB05-F4F8-C79BE1878C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2184" y="4668371"/>
            <a:ext cx="2347930" cy="2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652408"/>
      </p:ext>
    </p:extLst>
  </p:cSld>
  <p:clrMapOvr>
    <a:masterClrMapping/>
  </p:clrMapOvr>
</p:sld>
</file>

<file path=ppt/theme/theme1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1025</TotalTime>
  <Words>1279</Words>
  <Application>Microsoft Office PowerPoint</Application>
  <PresentationFormat>宽屏</PresentationFormat>
  <Paragraphs>169</Paragraphs>
  <Slides>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宋体</vt:lpstr>
      <vt:lpstr>Times New Roman</vt:lpstr>
      <vt:lpstr>等线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 Y</dc:creator>
  <cp:lastModifiedBy>xi sheng</cp:lastModifiedBy>
  <cp:revision>146</cp:revision>
  <dcterms:created xsi:type="dcterms:W3CDTF">2020-08-13T13:39:53Z</dcterms:created>
  <dcterms:modified xsi:type="dcterms:W3CDTF">2024-06-22T11:25:58Z</dcterms:modified>
</cp:coreProperties>
</file>