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6"/>
  </p:notesMasterIdLst>
  <p:sldIdLst>
    <p:sldId id="1182" r:id="rId2"/>
    <p:sldId id="1226" r:id="rId3"/>
    <p:sldId id="1227" r:id="rId4"/>
    <p:sldId id="1198" r:id="rId5"/>
    <p:sldId id="1183" r:id="rId6"/>
    <p:sldId id="1228" r:id="rId7"/>
    <p:sldId id="1229" r:id="rId8"/>
    <p:sldId id="1231" r:id="rId9"/>
    <p:sldId id="1232" r:id="rId10"/>
    <p:sldId id="1233" r:id="rId11"/>
    <p:sldId id="1199" r:id="rId12"/>
    <p:sldId id="1234" r:id="rId13"/>
    <p:sldId id="1235" r:id="rId14"/>
    <p:sldId id="1200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A50CFF-AFEC-4B0A-8869-AAF6508574A0}" v="134" dt="2024-03-20T11:36:22.4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44" autoAdjust="0"/>
    <p:restoredTop sz="86411" autoAdjust="0"/>
  </p:normalViewPr>
  <p:slideViewPr>
    <p:cSldViewPr snapToGrid="0">
      <p:cViewPr varScale="1">
        <p:scale>
          <a:sx n="74" d="100"/>
          <a:sy n="74" d="100"/>
        </p:scale>
        <p:origin x="147" y="2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2024/6/22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putchar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C22382F-6E46-4451-870C-F0803B889691}"/>
              </a:ext>
            </a:extLst>
          </p:cNvPr>
          <p:cNvGrpSpPr/>
          <p:nvPr/>
        </p:nvGrpSpPr>
        <p:grpSpPr>
          <a:xfrm>
            <a:off x="525517" y="998484"/>
            <a:ext cx="10247586" cy="3678620"/>
            <a:chOff x="515007" y="1198180"/>
            <a:chExt cx="10247586" cy="367862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25F13F3-3C2E-451A-BCEB-5CA6DBD88DFB}"/>
                </a:ext>
              </a:extLst>
            </p:cNvPr>
            <p:cNvSpPr/>
            <p:nvPr/>
          </p:nvSpPr>
          <p:spPr bwMode="auto">
            <a:xfrm>
              <a:off x="515007" y="1198180"/>
              <a:ext cx="10247586" cy="36786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spcBef>
                  <a:spcPts val="384"/>
                </a:spcBef>
              </a:pPr>
              <a:r>
                <a:rPr lang="zh-CN" altLang="en-US" sz="1600" b="1" dirty="0">
                  <a:latin typeface="+mn-ea"/>
                </a:rPr>
                <a:t>字符输出函数</a:t>
              </a:r>
              <a:r>
                <a:rPr lang="en-US" altLang="zh-CN" sz="1600" b="1" dirty="0" err="1">
                  <a:latin typeface="+mn-ea"/>
                </a:rPr>
                <a:t>putchar</a:t>
              </a:r>
              <a:r>
                <a:rPr lang="zh-CN" altLang="en-US" sz="1600" b="1" dirty="0">
                  <a:latin typeface="+mn-ea"/>
                </a:rPr>
                <a:t>的基本知识：</a:t>
              </a:r>
              <a:endParaRPr lang="en-US" altLang="zh-CN" sz="1600" b="1" dirty="0">
                <a:latin typeface="+mn-ea"/>
              </a:endParaRPr>
            </a:p>
            <a:p>
              <a:pPr>
                <a:spcBef>
                  <a:spcPts val="384"/>
                </a:spcBef>
              </a:pPr>
              <a:endParaRPr lang="en-US" altLang="zh-CN" sz="1600" b="1" dirty="0">
                <a:latin typeface="+mn-ea"/>
              </a:endParaRPr>
            </a:p>
            <a:p>
              <a:pPr>
                <a:spcBef>
                  <a:spcPts val="384"/>
                </a:spcBef>
              </a:pPr>
              <a:r>
                <a:rPr lang="zh-CN" altLang="en-US" sz="1600" b="1" dirty="0">
                  <a:latin typeface="+mn-ea"/>
                </a:rPr>
                <a:t>形式：</a:t>
              </a:r>
              <a:r>
                <a:rPr lang="en-US" altLang="zh-CN" sz="1600" b="1" dirty="0" err="1">
                  <a:latin typeface="+mn-ea"/>
                </a:rPr>
                <a:t>putchar</a:t>
              </a:r>
              <a:r>
                <a:rPr lang="en-US" altLang="zh-CN" sz="1600" b="1" dirty="0">
                  <a:latin typeface="+mn-ea"/>
                </a:rPr>
                <a:t>(</a:t>
              </a:r>
              <a:r>
                <a:rPr lang="zh-CN" altLang="en-US" sz="1600" b="1" dirty="0">
                  <a:latin typeface="+mn-ea"/>
                </a:rPr>
                <a:t>字符变量</a:t>
              </a:r>
              <a:r>
                <a:rPr lang="en-US" altLang="zh-CN" sz="1600" b="1" dirty="0">
                  <a:latin typeface="+mn-ea"/>
                </a:rPr>
                <a:t>/</a:t>
              </a:r>
              <a:r>
                <a:rPr lang="zh-CN" altLang="en-US" sz="1600" b="1" dirty="0">
                  <a:latin typeface="+mn-ea"/>
                </a:rPr>
                <a:t>常量</a:t>
              </a:r>
              <a:r>
                <a:rPr lang="en-US" altLang="zh-CN" sz="1600" b="1" dirty="0">
                  <a:latin typeface="+mn-ea"/>
                </a:rPr>
                <a:t>)</a:t>
              </a:r>
            </a:p>
            <a:p>
              <a:pPr>
                <a:spcBef>
                  <a:spcPts val="384"/>
                </a:spcBef>
              </a:pPr>
              <a:r>
                <a:rPr lang="zh-CN" altLang="en-US" sz="1600" b="1" dirty="0">
                  <a:latin typeface="+mn-ea"/>
                </a:rPr>
                <a:t>功能：输出一个字符</a:t>
              </a:r>
            </a:p>
            <a:p>
              <a:pPr>
                <a:spcBef>
                  <a:spcPts val="384"/>
                </a:spcBef>
              </a:pPr>
              <a:r>
                <a:rPr lang="zh-CN" altLang="en-US" sz="1600" b="1" dirty="0">
                  <a:latin typeface="+mn-ea"/>
                </a:rPr>
                <a:t>      </a:t>
              </a:r>
              <a:r>
                <a:rPr lang="en-US" altLang="zh-CN" sz="1600" b="1" dirty="0">
                  <a:latin typeface="+mn-ea"/>
                </a:rPr>
                <a:t>char a='A';</a:t>
              </a:r>
            </a:p>
            <a:p>
              <a:pPr>
                <a:spcBef>
                  <a:spcPts val="384"/>
                </a:spcBef>
              </a:pPr>
              <a:r>
                <a:rPr lang="en-US" altLang="zh-CN" sz="1600" b="1" dirty="0">
                  <a:latin typeface="+mn-ea"/>
                </a:rPr>
                <a:t>      </a:t>
              </a:r>
              <a:r>
                <a:rPr lang="en-US" altLang="zh-CN" sz="1600" b="1" dirty="0" err="1">
                  <a:solidFill>
                    <a:schemeClr val="bg1"/>
                  </a:solidFill>
                  <a:highlight>
                    <a:srgbClr val="FF0000"/>
                  </a:highlight>
                  <a:latin typeface="+mn-ea"/>
                </a:rPr>
                <a:t>putchar</a:t>
              </a:r>
              <a:r>
                <a:rPr lang="en-US" altLang="zh-CN" sz="1600" b="1" dirty="0">
                  <a:solidFill>
                    <a:schemeClr val="bg1"/>
                  </a:solidFill>
                  <a:highlight>
                    <a:srgbClr val="FF0000"/>
                  </a:highlight>
                  <a:latin typeface="+mn-ea"/>
                </a:rPr>
                <a:t>(a);</a:t>
              </a:r>
            </a:p>
            <a:p>
              <a:pPr>
                <a:spcBef>
                  <a:spcPts val="384"/>
                </a:spcBef>
              </a:pPr>
              <a:r>
                <a:rPr lang="en-US" altLang="zh-CN" sz="1600" b="1" dirty="0">
                  <a:solidFill>
                    <a:schemeClr val="bg1"/>
                  </a:solidFill>
                  <a:highlight>
                    <a:srgbClr val="FF0000"/>
                  </a:highlight>
                  <a:latin typeface="+mn-ea"/>
                </a:rPr>
                <a:t>      </a:t>
              </a:r>
              <a:r>
                <a:rPr lang="en-US" altLang="zh-CN" sz="1600" b="1" dirty="0" err="1">
                  <a:solidFill>
                    <a:schemeClr val="bg1"/>
                  </a:solidFill>
                  <a:highlight>
                    <a:srgbClr val="FF0000"/>
                  </a:highlight>
                  <a:latin typeface="+mn-ea"/>
                </a:rPr>
                <a:t>putchar</a:t>
              </a:r>
              <a:r>
                <a:rPr lang="en-US" altLang="zh-CN" sz="1600" b="1" dirty="0">
                  <a:solidFill>
                    <a:schemeClr val="bg1"/>
                  </a:solidFill>
                  <a:highlight>
                    <a:srgbClr val="FF0000"/>
                  </a:highlight>
                  <a:latin typeface="+mn-ea"/>
                </a:rPr>
                <a:t>('A') ;</a:t>
              </a:r>
            </a:p>
            <a:p>
              <a:pPr>
                <a:spcBef>
                  <a:spcPts val="384"/>
                </a:spcBef>
              </a:pPr>
              <a:r>
                <a:rPr lang="en-US" altLang="zh-CN" sz="1600" b="1" dirty="0">
                  <a:solidFill>
                    <a:schemeClr val="bg1"/>
                  </a:solidFill>
                  <a:highlight>
                    <a:srgbClr val="FF0000"/>
                  </a:highlight>
                  <a:latin typeface="+mn-ea"/>
                </a:rPr>
                <a:t>      </a:t>
              </a:r>
              <a:r>
                <a:rPr lang="en-US" altLang="zh-CN" sz="1600" b="1" dirty="0" err="1">
                  <a:solidFill>
                    <a:schemeClr val="bg1"/>
                  </a:solidFill>
                  <a:highlight>
                    <a:srgbClr val="FF0000"/>
                  </a:highlight>
                  <a:latin typeface="+mn-ea"/>
                </a:rPr>
                <a:t>putchar</a:t>
              </a:r>
              <a:r>
                <a:rPr lang="en-US" altLang="zh-CN" sz="1600" b="1" dirty="0">
                  <a:solidFill>
                    <a:schemeClr val="bg1"/>
                  </a:solidFill>
                  <a:highlight>
                    <a:srgbClr val="FF0000"/>
                  </a:highlight>
                  <a:latin typeface="+mn-ea"/>
                </a:rPr>
                <a:t>('\x41');</a:t>
              </a:r>
            </a:p>
            <a:p>
              <a:pPr>
                <a:spcBef>
                  <a:spcPts val="384"/>
                </a:spcBef>
              </a:pPr>
              <a:r>
                <a:rPr lang="en-US" altLang="zh-CN" sz="1600" b="1" dirty="0">
                  <a:solidFill>
                    <a:schemeClr val="bg1"/>
                  </a:solidFill>
                  <a:highlight>
                    <a:srgbClr val="FF0000"/>
                  </a:highlight>
                  <a:latin typeface="+mn-ea"/>
                </a:rPr>
                <a:t>      </a:t>
              </a:r>
              <a:r>
                <a:rPr lang="en-US" altLang="zh-CN" sz="1600" b="1" dirty="0" err="1">
                  <a:solidFill>
                    <a:schemeClr val="bg1"/>
                  </a:solidFill>
                  <a:highlight>
                    <a:srgbClr val="FF0000"/>
                  </a:highlight>
                  <a:latin typeface="+mn-ea"/>
                </a:rPr>
                <a:t>putchar</a:t>
              </a:r>
              <a:r>
                <a:rPr lang="en-US" altLang="zh-CN" sz="1600" b="1" dirty="0">
                  <a:solidFill>
                    <a:schemeClr val="bg1"/>
                  </a:solidFill>
                  <a:highlight>
                    <a:srgbClr val="FF0000"/>
                  </a:highlight>
                  <a:latin typeface="+mn-ea"/>
                </a:rPr>
                <a:t>('\101');</a:t>
              </a:r>
            </a:p>
            <a:p>
              <a:pPr>
                <a:spcBef>
                  <a:spcPts val="384"/>
                </a:spcBef>
              </a:pPr>
              <a:endParaRPr lang="en-US" altLang="zh-CN" sz="1600" b="1" dirty="0">
                <a:latin typeface="+mn-ea"/>
              </a:endParaRPr>
            </a:p>
            <a:p>
              <a:pPr>
                <a:spcBef>
                  <a:spcPts val="384"/>
                </a:spcBef>
              </a:pPr>
              <a:r>
                <a:rPr lang="en-US" altLang="zh-CN" sz="1600" b="1" dirty="0">
                  <a:latin typeface="+mn-ea"/>
                </a:rPr>
                <a:t>★ </a:t>
              </a:r>
              <a:r>
                <a:rPr lang="zh-CN" altLang="en-US" sz="1600" b="1" dirty="0">
                  <a:latin typeface="+mn-ea"/>
                </a:rPr>
                <a:t>某些编译器需要 </a:t>
              </a:r>
              <a:r>
                <a:rPr lang="en-US" altLang="zh-CN" sz="1600" b="1" dirty="0">
                  <a:latin typeface="+mn-ea"/>
                </a:rPr>
                <a:t>#include &lt;</a:t>
              </a:r>
              <a:r>
                <a:rPr lang="en-US" altLang="zh-CN" sz="1600" b="1" dirty="0" err="1">
                  <a:latin typeface="+mn-ea"/>
                </a:rPr>
                <a:t>cstdio</a:t>
              </a:r>
              <a:r>
                <a:rPr lang="en-US" altLang="zh-CN" sz="1600" b="1" dirty="0">
                  <a:latin typeface="+mn-ea"/>
                </a:rPr>
                <a:t>&gt; </a:t>
              </a:r>
              <a:r>
                <a:rPr lang="zh-CN" altLang="en-US" sz="1600" b="1" dirty="0">
                  <a:latin typeface="+mn-ea"/>
                </a:rPr>
                <a:t>或 </a:t>
              </a:r>
              <a:r>
                <a:rPr lang="en-US" altLang="zh-CN" sz="1600" b="1" dirty="0">
                  <a:latin typeface="+mn-ea"/>
                </a:rPr>
                <a:t>#include &lt;</a:t>
              </a:r>
              <a:r>
                <a:rPr lang="en-US" altLang="zh-CN" sz="1600" b="1" dirty="0" err="1">
                  <a:latin typeface="+mn-ea"/>
                </a:rPr>
                <a:t>stdio.h</a:t>
              </a:r>
              <a:r>
                <a:rPr lang="en-US" altLang="zh-CN" sz="1600" b="1" dirty="0">
                  <a:latin typeface="+mn-ea"/>
                </a:rPr>
                <a:t>&gt; </a:t>
              </a:r>
              <a:r>
                <a:rPr lang="en-US" altLang="zh-CN" sz="1600" b="1" dirty="0">
                  <a:solidFill>
                    <a:srgbClr val="FF0000"/>
                  </a:solidFill>
                  <a:latin typeface="+mn-ea"/>
                </a:rPr>
                <a:t>(</a:t>
              </a:r>
              <a:r>
                <a:rPr lang="zh-CN" altLang="en-US" sz="1600" b="1" dirty="0">
                  <a:solidFill>
                    <a:srgbClr val="FF0000"/>
                  </a:solidFill>
                  <a:latin typeface="+mn-ea"/>
                </a:rPr>
                <a:t>目前所用的双编译器均不需要</a:t>
              </a:r>
              <a:r>
                <a:rPr lang="en-US" altLang="zh-CN" sz="1600" b="1" dirty="0">
                  <a:solidFill>
                    <a:srgbClr val="FF0000"/>
                  </a:solidFill>
                  <a:latin typeface="+mn-ea"/>
                </a:rPr>
                <a:t>)</a:t>
              </a:r>
            </a:p>
            <a:p>
              <a:pPr>
                <a:spcBef>
                  <a:spcPts val="384"/>
                </a:spcBef>
              </a:pPr>
              <a:r>
                <a:rPr lang="en-US" altLang="zh-CN" sz="1600" b="1" dirty="0">
                  <a:latin typeface="+mn-ea"/>
                </a:rPr>
                <a:t>★ </a:t>
              </a:r>
              <a:r>
                <a:rPr lang="zh-CN" altLang="en-US" sz="1600" b="1" dirty="0">
                  <a:latin typeface="+mn-ea"/>
                </a:rPr>
                <a:t>返回值是</a:t>
              </a:r>
              <a:r>
                <a:rPr lang="en-US" altLang="zh-CN" sz="1600" b="1" dirty="0">
                  <a:latin typeface="+mn-ea"/>
                </a:rPr>
                <a:t>int</a:t>
              </a:r>
              <a:r>
                <a:rPr lang="zh-CN" altLang="en-US" sz="1600" b="1" dirty="0">
                  <a:latin typeface="+mn-ea"/>
                </a:rPr>
                <a:t>型，是输出字符的</a:t>
              </a:r>
              <a:r>
                <a:rPr lang="en-US" altLang="zh-CN" sz="1600" b="1" dirty="0">
                  <a:latin typeface="+mn-ea"/>
                </a:rPr>
                <a:t>ASCII</a:t>
              </a:r>
              <a:r>
                <a:rPr lang="zh-CN" altLang="en-US" sz="1600" b="1" dirty="0">
                  <a:latin typeface="+mn-ea"/>
                </a:rPr>
                <a:t>码，可赋值给字符型</a:t>
              </a:r>
              <a:r>
                <a:rPr lang="en-US" altLang="zh-CN" sz="1600" b="1" dirty="0">
                  <a:latin typeface="+mn-ea"/>
                </a:rPr>
                <a:t>/</a:t>
              </a:r>
              <a:r>
                <a:rPr lang="zh-CN" altLang="en-US" sz="1600" b="1" dirty="0">
                  <a:latin typeface="+mn-ea"/>
                </a:rPr>
                <a:t>整型变量</a:t>
              </a:r>
              <a:endParaRPr lang="en-US" altLang="zh-CN" sz="1600" b="1" dirty="0">
                <a:latin typeface="+mn-ea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B0CE02B-3593-457B-B4F7-CD0409F679C3}"/>
                </a:ext>
              </a:extLst>
            </p:cNvPr>
            <p:cNvGrpSpPr/>
            <p:nvPr/>
          </p:nvGrpSpPr>
          <p:grpSpPr>
            <a:xfrm>
              <a:off x="2942894" y="2716923"/>
              <a:ext cx="2007476" cy="1082566"/>
              <a:chOff x="2575034" y="2469931"/>
              <a:chExt cx="2007476" cy="1082566"/>
            </a:xfrm>
          </p:grpSpPr>
          <p:sp>
            <p:nvSpPr>
              <p:cNvPr id="2" name="右大括号 1">
                <a:extLst>
                  <a:ext uri="{FF2B5EF4-FFF2-40B4-BE49-F238E27FC236}">
                    <a16:creationId xmlns:a16="http://schemas.microsoft.com/office/drawing/2014/main" id="{32EB0604-C928-4B33-9EBB-3976229256CA}"/>
                  </a:ext>
                </a:extLst>
              </p:cNvPr>
              <p:cNvSpPr/>
              <p:nvPr/>
            </p:nvSpPr>
            <p:spPr bwMode="auto">
              <a:xfrm>
                <a:off x="2575034" y="2469931"/>
                <a:ext cx="210207" cy="1082566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B930F164-CA60-4FCA-9A93-A62D4BC319BA}"/>
                  </a:ext>
                </a:extLst>
              </p:cNvPr>
              <p:cNvSpPr/>
              <p:nvPr/>
            </p:nvSpPr>
            <p:spPr bwMode="auto">
              <a:xfrm>
                <a:off x="2858813" y="2853559"/>
                <a:ext cx="1723697" cy="31531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zh-CN" altLang="en-US" sz="1600" b="1" dirty="0">
                    <a:solidFill>
                      <a:srgbClr val="FF0000"/>
                    </a:solidFill>
                    <a:latin typeface="+mn-ea"/>
                  </a:rPr>
                  <a:t>均表示输出</a:t>
                </a:r>
                <a:r>
                  <a:rPr kumimoji="1" lang="en-US" altLang="zh-CN" sz="1600" b="1" dirty="0">
                    <a:solidFill>
                      <a:srgbClr val="FF0000"/>
                    </a:solidFill>
                    <a:latin typeface="+mn-ea"/>
                  </a:rPr>
                  <a:t>'A'</a:t>
                </a:r>
                <a:endParaRPr kumimoji="1" lang="zh-CN" altLang="en-US" sz="16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+mn-ea"/>
                </a:endParaRPr>
              </a:p>
            </p:txBody>
          </p:sp>
        </p:grpSp>
      </p:grpSp>
      <p:sp>
        <p:nvSpPr>
          <p:cNvPr id="8" name="椭圆 7">
            <a:extLst>
              <a:ext uri="{FF2B5EF4-FFF2-40B4-BE49-F238E27FC236}">
                <a16:creationId xmlns:a16="http://schemas.microsoft.com/office/drawing/2014/main" id="{EF2E77F1-ED0B-4A39-BEEF-33CF244A372F}"/>
              </a:ext>
            </a:extLst>
          </p:cNvPr>
          <p:cNvSpPr/>
          <p:nvPr/>
        </p:nvSpPr>
        <p:spPr bwMode="auto">
          <a:xfrm>
            <a:off x="9730937" y="606249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9748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putchar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464203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&lt;iostream&gt;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</a:rPr>
              <a:t>cstdio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&gt;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using namespace std;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    char ret1;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(</a:t>
            </a:r>
            <a:r>
              <a:rPr kumimoji="1" lang="en-US" altLang="zh-CN" sz="1600" b="1" dirty="0">
                <a:solidFill>
                  <a:srgbClr val="0000FF"/>
                </a:solidFill>
                <a:latin typeface="宋体"/>
              </a:rPr>
              <a:t>ret1 = </a:t>
            </a:r>
            <a:r>
              <a:rPr kumimoji="1" lang="en-US" altLang="zh-CN" sz="1600" b="1" dirty="0" err="1">
                <a:solidFill>
                  <a:srgbClr val="0000FF"/>
                </a:solidFill>
                <a:latin typeface="宋体"/>
              </a:rPr>
              <a:t>putchar</a:t>
            </a:r>
            <a:r>
              <a:rPr kumimoji="1" lang="en-US" altLang="zh-CN" sz="1600" b="1" dirty="0">
                <a:solidFill>
                  <a:srgbClr val="0000FF"/>
                </a:solidFill>
                <a:latin typeface="宋体"/>
              </a:rPr>
              <a:t>('A')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    int ret2;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(</a:t>
            </a:r>
            <a:r>
              <a:rPr kumimoji="1" lang="en-US" altLang="zh-CN" sz="1600" b="1" dirty="0">
                <a:solidFill>
                  <a:srgbClr val="0000FF"/>
                </a:solidFill>
                <a:latin typeface="宋体"/>
                <a:ea typeface="宋体" pitchFamily="2" charset="-122"/>
              </a:rPr>
              <a:t>ret2 = </a:t>
            </a:r>
            <a:r>
              <a:rPr kumimoji="1" lang="en-US" altLang="zh-CN" sz="1600" b="1" dirty="0" err="1">
                <a:solidFill>
                  <a:srgbClr val="0000FF"/>
                </a:solidFill>
                <a:latin typeface="宋体"/>
                <a:ea typeface="宋体" pitchFamily="2" charset="-122"/>
              </a:rPr>
              <a:t>putchar</a:t>
            </a:r>
            <a:r>
              <a:rPr kumimoji="1" lang="en-US" altLang="zh-CN" sz="1600" b="1" dirty="0">
                <a:solidFill>
                  <a:srgbClr val="0000FF"/>
                </a:solidFill>
                <a:latin typeface="宋体"/>
                <a:ea typeface="宋体" pitchFamily="2" charset="-122"/>
              </a:rPr>
              <a:t>('B')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234152" y="1323974"/>
            <a:ext cx="560125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、观察运行结果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、分析运行结果中各输出是哪个语句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函数造成的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可选：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en-US" altLang="zh-CN" sz="1600" b="1" dirty="0" err="1">
                <a:latin typeface="+mn-ea"/>
              </a:rPr>
              <a:t>putchar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第一个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A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是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putchar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造成的，第二个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A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是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cout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造成的</a:t>
            </a: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B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是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putchar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造成的，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66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是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cout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造成的</a:t>
            </a: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、这个例子能确认上个</a:t>
            </a:r>
            <a:r>
              <a:rPr kumimoji="1" lang="en-US" altLang="zh-CN" sz="1600" b="1" dirty="0">
                <a:latin typeface="+mn-ea"/>
              </a:rPr>
              <a:t>Page</a:t>
            </a:r>
            <a:r>
              <a:rPr kumimoji="1" lang="zh-CN" altLang="en-US" sz="1600" b="1" dirty="0">
                <a:latin typeface="+mn-ea"/>
              </a:rPr>
              <a:t>的基本知识中的说法：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</a:t>
            </a:r>
            <a:r>
              <a:rPr kumimoji="1" lang="en-US" altLang="zh-CN" sz="1600" b="1" dirty="0">
                <a:solidFill>
                  <a:srgbClr val="0000CC"/>
                </a:solidFill>
                <a:latin typeface="+mn-ea"/>
              </a:rPr>
              <a:t>"</a:t>
            </a:r>
            <a:r>
              <a:rPr lang="zh-CN" altLang="en-US" sz="1600" b="1" dirty="0">
                <a:solidFill>
                  <a:srgbClr val="0000CC"/>
                </a:solidFill>
                <a:latin typeface="+mn-ea"/>
              </a:rPr>
              <a:t>返回值是</a:t>
            </a:r>
            <a:r>
              <a:rPr lang="en-US" altLang="zh-CN" sz="1600" b="1" dirty="0">
                <a:solidFill>
                  <a:srgbClr val="0000CC"/>
                </a:solidFill>
                <a:latin typeface="+mn-ea"/>
              </a:rPr>
              <a:t>int</a:t>
            </a:r>
            <a:r>
              <a:rPr lang="zh-CN" altLang="en-US" sz="1600" b="1" dirty="0">
                <a:solidFill>
                  <a:srgbClr val="0000CC"/>
                </a:solidFill>
                <a:latin typeface="+mn-ea"/>
              </a:rPr>
              <a:t>型，是输出字符的</a:t>
            </a:r>
            <a:r>
              <a:rPr lang="en-US" altLang="zh-CN" sz="1600" b="1" dirty="0">
                <a:solidFill>
                  <a:srgbClr val="0000CC"/>
                </a:solidFill>
                <a:latin typeface="+mn-ea"/>
              </a:rPr>
              <a:t>ASCII</a:t>
            </a:r>
            <a:r>
              <a:rPr lang="zh-CN" altLang="en-US" sz="1600" b="1" dirty="0">
                <a:solidFill>
                  <a:srgbClr val="0000CC"/>
                </a:solidFill>
                <a:latin typeface="+mn-ea"/>
              </a:rPr>
              <a:t>码</a:t>
            </a:r>
            <a:r>
              <a:rPr kumimoji="1" lang="en-US" altLang="zh-CN" sz="1600" b="1" dirty="0">
                <a:solidFill>
                  <a:srgbClr val="0000CC"/>
                </a:solidFill>
                <a:latin typeface="+mn-ea"/>
              </a:rPr>
              <a:t>"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完全正确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部分正确吗？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只能证明是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ASCII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码，不能证明返回值是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int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型，因为无论是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int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还是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char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，第一个赋值给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char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后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cout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都会输出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A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，第二个赋值给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int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后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cout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都会输出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66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EE96C6F-2B7D-F3C2-21B9-9EA8860B7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288" y="1626370"/>
            <a:ext cx="2679475" cy="98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462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putchar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自行构造测试程序，证明</a:t>
            </a:r>
            <a:r>
              <a:rPr lang="en-US" altLang="zh-CN" sz="1600" b="1" dirty="0" err="1">
                <a:latin typeface="+mn-ea"/>
              </a:rPr>
              <a:t>putchar</a:t>
            </a:r>
            <a:r>
              <a:rPr lang="zh-CN" altLang="en-US" sz="1600" b="1" dirty="0">
                <a:latin typeface="+mn-ea"/>
              </a:rPr>
              <a:t>的返回值是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型而不是</a:t>
            </a:r>
            <a:r>
              <a:rPr lang="en-US" altLang="zh-CN" sz="1600" b="1" dirty="0">
                <a:latin typeface="+mn-ea"/>
              </a:rPr>
              <a:t>char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要求两种方法，可以从课件找，也可以自行构造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50500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</a:rPr>
              <a:t>方法一</a:t>
            </a: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宋体"/>
              </a:rPr>
              <a:t>typeid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/>
              </a:rPr>
              <a:t>().name</a:t>
            </a:r>
            <a:endParaRPr kumimoji="1" lang="zh-CN" altLang="en-US" sz="1600" b="1" dirty="0">
              <a:solidFill>
                <a:schemeClr val="bg1"/>
              </a:solidFill>
              <a:highlight>
                <a:srgbClr val="FF0000"/>
              </a:highlight>
              <a:latin typeface="宋体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642140" y="1323974"/>
            <a:ext cx="519327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//</a:t>
            </a:r>
            <a:r>
              <a:rPr kumimoji="1" lang="zh-CN" altLang="en-US" sz="1600" b="1" dirty="0">
                <a:latin typeface="+mn-ea"/>
              </a:rPr>
              <a:t>方法</a:t>
            </a:r>
            <a:r>
              <a:rPr kumimoji="1" lang="en-US" altLang="zh-CN" sz="1600" b="1" dirty="0">
                <a:latin typeface="+mn-ea"/>
              </a:rPr>
              <a:t>2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9B99F06-BD23-6B29-C823-C20AD2B76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308" y="1711644"/>
            <a:ext cx="5832447" cy="232702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02E3D95-993A-0F63-B988-DA08ABAE4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914" y="1695964"/>
            <a:ext cx="5433349" cy="234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397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66691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8BE06C-1167-4CA6-A8A4-89EAB35A31A6}"/>
              </a:ext>
            </a:extLst>
          </p:cNvPr>
          <p:cNvSpPr/>
          <p:nvPr/>
        </p:nvSpPr>
        <p:spPr bwMode="auto">
          <a:xfrm>
            <a:off x="525517" y="998484"/>
            <a:ext cx="10247586" cy="36786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字符输入函数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的基本知识：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384"/>
              </a:spcBef>
            </a:pPr>
            <a:endParaRPr lang="en-US" altLang="zh-CN" sz="1600" b="1" dirty="0">
              <a:latin typeface="+mn-ea"/>
            </a:endParaRPr>
          </a:p>
          <a:p>
            <a:pPr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形式：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en-US" altLang="zh-CN" sz="1600" b="1" dirty="0">
                <a:latin typeface="+mn-ea"/>
              </a:rPr>
              <a:t>()</a:t>
            </a:r>
          </a:p>
          <a:p>
            <a:pPr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功能：输入一个字符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给指定的变量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>
              <a:spcBef>
                <a:spcPts val="384"/>
              </a:spcBef>
            </a:pP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某些编译器需要 </a:t>
            </a:r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cstdio</a:t>
            </a:r>
            <a:r>
              <a:rPr lang="en-US" altLang="zh-CN" sz="1600" b="1" dirty="0">
                <a:latin typeface="+mn-ea"/>
              </a:rPr>
              <a:t>&gt;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目前所用的双编译器均不需要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>
              <a:spcBef>
                <a:spcPts val="384"/>
              </a:spcBef>
            </a:pP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返回值是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int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型，是输入字符的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ASCII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码</a:t>
            </a:r>
            <a:r>
              <a:rPr lang="zh-CN" altLang="en-US" sz="1600" b="1" dirty="0">
                <a:latin typeface="+mn-ea"/>
              </a:rPr>
              <a:t>，可赋值给字符型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整型变量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384"/>
              </a:spcBef>
            </a:pP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输入有回显，而且不是键盘输入一个字符后立即执行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，必须要等按回车后才执行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384"/>
              </a:spcBef>
            </a:pPr>
            <a:r>
              <a:rPr lang="en-US" altLang="zh-CN" sz="1600" b="1" dirty="0">
                <a:latin typeface="+mn-ea"/>
              </a:rPr>
              <a:t>  (</a:t>
            </a:r>
            <a:r>
              <a:rPr lang="zh-CN" altLang="en-US" sz="1600" b="1" dirty="0">
                <a:latin typeface="+mn-ea"/>
              </a:rPr>
              <a:t>弄清楚上课课件中的输入缓冲区的概念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>
              <a:spcBef>
                <a:spcPts val="384"/>
              </a:spcBef>
            </a:pP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可以输入空格，回车等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无法处理的非图形字符，但仍不能处理转义符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等每次仅从输入缓冲区中取需要的字节，多余的字节仍保留在输入缓冲区中供下次读取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815AFA2-89BE-4B1A-A198-5FCA5682287D}"/>
              </a:ext>
            </a:extLst>
          </p:cNvPr>
          <p:cNvSpPr/>
          <p:nvPr/>
        </p:nvSpPr>
        <p:spPr bwMode="auto">
          <a:xfrm>
            <a:off x="9730937" y="606249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2704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程序如下，观察编译及运行结果（可手填，如果贴图，要求在清晰可辨的情况下尽可能小）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1C96DA-53F5-450B-B1E2-D013C9CFFEDB}"/>
              </a:ext>
            </a:extLst>
          </p:cNvPr>
          <p:cNvSpPr/>
          <p:nvPr/>
        </p:nvSpPr>
        <p:spPr bwMode="auto">
          <a:xfrm>
            <a:off x="4042440" y="1323974"/>
            <a:ext cx="400444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#include &lt;</a:t>
            </a:r>
            <a:r>
              <a:rPr kumimoji="1" lang="en-US" altLang="zh-CN" sz="1600" b="1" dirty="0" err="1">
                <a:latin typeface="宋体"/>
              </a:rPr>
              <a:t>cstdio</a:t>
            </a:r>
            <a:r>
              <a:rPr kumimoji="1" lang="en-US" altLang="zh-CN" sz="1600" b="1" dirty="0"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    char </a:t>
            </a:r>
            <a:r>
              <a:rPr kumimoji="1" lang="en-US" altLang="zh-CN" sz="1600" b="1" dirty="0" err="1">
                <a:latin typeface="宋体"/>
              </a:rPr>
              <a:t>ch</a:t>
            </a:r>
            <a:r>
              <a:rPr kumimoji="1" lang="en-US" altLang="zh-CN" sz="1600" b="1" dirty="0"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    </a:t>
            </a:r>
            <a:r>
              <a:rPr kumimoji="1" lang="en-US" altLang="zh-CN" sz="1600" b="1" dirty="0" err="1">
                <a:latin typeface="宋体"/>
              </a:rPr>
              <a:t>cout</a:t>
            </a:r>
            <a:r>
              <a:rPr kumimoji="1" lang="en-US" altLang="zh-CN" sz="1600" b="1" dirty="0">
                <a:latin typeface="宋体"/>
              </a:rPr>
              <a:t> &lt;&lt; (</a:t>
            </a:r>
            <a:r>
              <a:rPr kumimoji="1" lang="en-US" altLang="zh-CN" sz="1600" b="1" dirty="0" err="1">
                <a:latin typeface="宋体"/>
              </a:rPr>
              <a:t>ch</a:t>
            </a:r>
            <a:r>
              <a:rPr kumimoji="1" lang="en-US" altLang="zh-CN" sz="1600" b="1" dirty="0">
                <a:latin typeface="宋体"/>
              </a:rPr>
              <a:t> = </a:t>
            </a:r>
            <a:r>
              <a:rPr kumimoji="1" lang="en-US" altLang="zh-CN" sz="1600" b="1" dirty="0" err="1">
                <a:latin typeface="宋体"/>
              </a:rPr>
              <a:t>getchar</a:t>
            </a:r>
            <a:r>
              <a:rPr kumimoji="1" lang="en-US" altLang="zh-CN" sz="1600" b="1" dirty="0">
                <a:latin typeface="宋体"/>
              </a:rPr>
              <a:t>()) &lt;&lt; </a:t>
            </a:r>
            <a:r>
              <a:rPr kumimoji="1" lang="en-US" altLang="zh-CN" sz="1600" b="1" dirty="0" err="1">
                <a:latin typeface="宋体"/>
              </a:rPr>
              <a:t>endl</a:t>
            </a:r>
            <a:r>
              <a:rPr kumimoji="1" lang="en-US" altLang="zh-CN" sz="1600" b="1" dirty="0"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}</a:t>
            </a:r>
            <a:endParaRPr kumimoji="1" lang="zh-CN" altLang="en-US" sz="1600" b="1" dirty="0">
              <a:latin typeface="宋体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FDFE6E-92AB-4C0D-BB59-3E8A1961153B}"/>
              </a:ext>
            </a:extLst>
          </p:cNvPr>
          <p:cNvSpPr/>
          <p:nvPr/>
        </p:nvSpPr>
        <p:spPr bwMode="auto">
          <a:xfrm>
            <a:off x="8050924" y="1323974"/>
            <a:ext cx="278448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92113" y="5152127"/>
            <a:ext cx="3450327" cy="13820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输入：</a:t>
            </a:r>
            <a:r>
              <a:rPr kumimoji="1" lang="en-US" altLang="zh-CN" sz="1600" b="1" dirty="0">
                <a:latin typeface="+mn-ea"/>
              </a:rPr>
              <a:t>a↙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输出：</a:t>
            </a:r>
            <a:r>
              <a:rPr kumimoji="1" lang="en-US" altLang="zh-CN" sz="1600" b="1" dirty="0">
                <a:latin typeface="+mn-ea"/>
              </a:rPr>
              <a:t>_____a____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输出的是：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en-US" altLang="zh-CN" sz="1600" b="1" dirty="0" err="1">
                <a:latin typeface="+mn-ea"/>
              </a:rPr>
              <a:t>ch</a:t>
            </a:r>
            <a:r>
              <a:rPr kumimoji="1" lang="zh-CN" altLang="en-US" sz="1600" b="1" dirty="0">
                <a:latin typeface="+mn-ea"/>
              </a:rPr>
              <a:t>的值</a:t>
            </a:r>
            <a:r>
              <a:rPr kumimoji="1" lang="en-US" altLang="zh-CN" sz="1600" b="1" dirty="0">
                <a:latin typeface="+mn-ea"/>
              </a:rPr>
              <a:t>_____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(</a:t>
            </a:r>
            <a:r>
              <a:rPr kumimoji="1" lang="en-US" altLang="zh-CN" sz="1600" b="1" dirty="0" err="1">
                <a:latin typeface="+mn-ea"/>
              </a:rPr>
              <a:t>ch</a:t>
            </a:r>
            <a:r>
              <a:rPr kumimoji="1" lang="zh-CN" altLang="en-US" sz="1600" b="1" dirty="0">
                <a:latin typeface="+mn-ea"/>
              </a:rPr>
              <a:t>的值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赋值表达式值</a:t>
            </a:r>
            <a:r>
              <a:rPr kumimoji="1" lang="en-US" altLang="zh-CN" sz="1600" b="1" dirty="0">
                <a:latin typeface="+mn-ea"/>
              </a:rPr>
              <a:t>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0C78E6E-56A7-4620-824B-8079A84E6F94}"/>
              </a:ext>
            </a:extLst>
          </p:cNvPr>
          <p:cNvSpPr/>
          <p:nvPr/>
        </p:nvSpPr>
        <p:spPr bwMode="auto">
          <a:xfrm>
            <a:off x="4038399" y="5152127"/>
            <a:ext cx="4008483" cy="13820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输入：</a:t>
            </a:r>
            <a:r>
              <a:rPr kumimoji="1" lang="en-US" altLang="zh-CN" sz="1600" b="1" dirty="0">
                <a:latin typeface="+mn-ea"/>
              </a:rPr>
              <a:t>a↙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输出：</a:t>
            </a:r>
            <a:r>
              <a:rPr kumimoji="1" lang="en-US" altLang="zh-CN" sz="1600" b="1" dirty="0">
                <a:latin typeface="+mn-ea"/>
              </a:rPr>
              <a:t>____a_____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输出的是：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赋值表达式的值</a:t>
            </a:r>
            <a:r>
              <a:rPr kumimoji="1" lang="en-US" altLang="zh-CN" sz="1600" b="1" dirty="0">
                <a:latin typeface="+mn-ea"/>
              </a:rPr>
              <a:t>_____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(</a:t>
            </a:r>
            <a:r>
              <a:rPr kumimoji="1" lang="en-US" altLang="zh-CN" sz="1600" b="1" dirty="0" err="1">
                <a:latin typeface="+mn-ea"/>
              </a:rPr>
              <a:t>ch</a:t>
            </a:r>
            <a:r>
              <a:rPr kumimoji="1" lang="zh-CN" altLang="en-US" sz="1600" b="1" dirty="0">
                <a:latin typeface="+mn-ea"/>
              </a:rPr>
              <a:t>的值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赋值表达式值</a:t>
            </a:r>
            <a:r>
              <a:rPr kumimoji="1" lang="en-US" altLang="zh-CN" sz="1600" b="1" dirty="0">
                <a:latin typeface="+mn-ea"/>
              </a:rPr>
              <a:t>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777592-F44C-4656-8164-DB4DF5D32A2D}"/>
              </a:ext>
            </a:extLst>
          </p:cNvPr>
          <p:cNvSpPr/>
          <p:nvPr/>
        </p:nvSpPr>
        <p:spPr bwMode="auto">
          <a:xfrm>
            <a:off x="8050923" y="5152127"/>
            <a:ext cx="2784487" cy="13820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输入：</a:t>
            </a:r>
            <a:r>
              <a:rPr kumimoji="1" lang="en-US" altLang="zh-CN" sz="1600" b="1" dirty="0">
                <a:latin typeface="+mn-ea"/>
              </a:rPr>
              <a:t>a↙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输出：</a:t>
            </a:r>
            <a:r>
              <a:rPr kumimoji="1" lang="en-US" altLang="zh-CN" sz="1600" b="1" dirty="0">
                <a:latin typeface="+mn-ea"/>
              </a:rPr>
              <a:t>_____97____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EA51E80-4539-ED46-F362-5D32E2B59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93" y="3929061"/>
            <a:ext cx="3042389" cy="105914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F18EB0E-6B04-208E-EF1D-1FDD173C2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7839" y="3860981"/>
            <a:ext cx="3509601" cy="112722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F8FDC5F-88CF-4A11-A65C-F495F726B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9099" y="3941321"/>
            <a:ext cx="3179074" cy="110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821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自行构造测试程序，证明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的返回值是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型而不是</a:t>
            </a:r>
            <a:r>
              <a:rPr lang="en-US" altLang="zh-CN" sz="1600" b="1" dirty="0">
                <a:latin typeface="+mn-ea"/>
              </a:rPr>
              <a:t>char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要求两种方法，可以从课件找，也可以自行构造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50500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</a:rPr>
              <a:t>方法一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642140" y="1323974"/>
            <a:ext cx="519327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//</a:t>
            </a:r>
            <a:r>
              <a:rPr kumimoji="1" lang="zh-CN" altLang="en-US" sz="1600" b="1" dirty="0">
                <a:latin typeface="+mn-ea"/>
              </a:rPr>
              <a:t>方法</a:t>
            </a:r>
            <a:r>
              <a:rPr kumimoji="1" lang="en-US" altLang="zh-CN" sz="1600" b="1" dirty="0">
                <a:latin typeface="+mn-ea"/>
              </a:rPr>
              <a:t>2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3E5438A-1603-9544-9031-AB416BAE9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782" y="1695813"/>
            <a:ext cx="5968974" cy="270565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AADE434-0EFD-655D-19CB-279B0968D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84922"/>
            <a:ext cx="5705555" cy="249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16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程序如下，观察编译及运行结果（可手填，如果贴图，要求在清晰可辨的情况下尽可能小）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1C96DA-53F5-450B-B1E2-D013C9CFFEDB}"/>
              </a:ext>
            </a:extLst>
          </p:cNvPr>
          <p:cNvSpPr/>
          <p:nvPr/>
        </p:nvSpPr>
        <p:spPr bwMode="auto">
          <a:xfrm>
            <a:off x="4042440" y="1323974"/>
            <a:ext cx="679701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1</a:t>
            </a:r>
            <a:r>
              <a:rPr kumimoji="1" lang="zh-CN" altLang="en-US" sz="1600" b="1" dirty="0">
                <a:latin typeface="宋体"/>
              </a:rPr>
              <a:t>、键盘输入：</a:t>
            </a:r>
            <a:r>
              <a:rPr kumimoji="1" lang="en-US" altLang="zh-CN" sz="1600" b="1" dirty="0">
                <a:latin typeface="宋体"/>
              </a:rPr>
              <a:t>Hello</a:t>
            </a:r>
            <a:r>
              <a:rPr kumimoji="1" lang="en-US" altLang="zh-CN" sz="1600" b="1" dirty="0">
                <a:latin typeface="+mn-ea"/>
              </a:rPr>
              <a:t>↙ (5</a:t>
            </a:r>
            <a:r>
              <a:rPr kumimoji="1" lang="zh-CN" altLang="en-US" sz="1600" b="1" dirty="0">
                <a:latin typeface="+mn-ea"/>
              </a:rPr>
              <a:t>个字母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、键盘输入：</a:t>
            </a:r>
            <a:r>
              <a:rPr kumimoji="1" lang="en-US" altLang="zh-CN" sz="1600" b="1" dirty="0">
                <a:latin typeface="+mn-ea"/>
              </a:rPr>
              <a:t>↙      (</a:t>
            </a:r>
            <a:r>
              <a:rPr kumimoji="1" lang="zh-CN" altLang="en-US" sz="1600" b="1" dirty="0">
                <a:latin typeface="+mn-ea"/>
              </a:rPr>
              <a:t>空回车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、键盘输入：</a:t>
            </a:r>
            <a:r>
              <a:rPr kumimoji="1" lang="en-US" altLang="zh-CN" sz="1600" b="1" dirty="0">
                <a:latin typeface="宋体"/>
              </a:rPr>
              <a:t>︺</a:t>
            </a:r>
            <a:r>
              <a:rPr kumimoji="1" lang="en-US" altLang="zh-CN" sz="1600" b="1" dirty="0">
                <a:latin typeface="+mn-ea"/>
              </a:rPr>
              <a:t>↙    (</a:t>
            </a:r>
            <a:r>
              <a:rPr kumimoji="1" lang="zh-CN" altLang="en-US" sz="1600" b="1" dirty="0">
                <a:latin typeface="+mn-ea"/>
              </a:rPr>
              <a:t>空格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、键盘输入：</a:t>
            </a:r>
            <a:r>
              <a:rPr kumimoji="1" lang="en-US" altLang="zh-CN" sz="1600" b="1" dirty="0">
                <a:latin typeface="+mn-ea"/>
              </a:rPr>
              <a:t>\n↙    (2</a:t>
            </a:r>
            <a:r>
              <a:rPr kumimoji="1" lang="zh-CN" altLang="en-US" sz="1600" b="1" dirty="0">
                <a:latin typeface="+mn-ea"/>
              </a:rPr>
              <a:t>个字符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、键盘输入：</a:t>
            </a:r>
            <a:r>
              <a:rPr kumimoji="1" lang="en-US" altLang="zh-CN" sz="1600" b="1" dirty="0">
                <a:latin typeface="+mn-ea"/>
              </a:rPr>
              <a:t>\101↙  (4</a:t>
            </a:r>
            <a:r>
              <a:rPr kumimoji="1" lang="zh-CN" altLang="en-US" sz="1600" b="1" dirty="0">
                <a:latin typeface="+mn-ea"/>
              </a:rPr>
              <a:t>个字符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600" b="1" dirty="0">
                <a:latin typeface="+mn-ea"/>
              </a:rPr>
              <a:t>结论：可以输入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a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___c____</a:t>
            </a:r>
            <a:r>
              <a:rPr kumimoji="1" lang="zh-CN" altLang="en-US" sz="1600" b="1" dirty="0">
                <a:latin typeface="+mn-ea"/>
              </a:rPr>
              <a:t>等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无法处理的非图形字符，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      </a:t>
            </a:r>
            <a:r>
              <a:rPr kumimoji="1" lang="zh-CN" altLang="en-US" sz="1600" b="1" dirty="0">
                <a:latin typeface="+mn-ea"/>
              </a:rPr>
              <a:t>但仍不能处理</a:t>
            </a:r>
            <a:r>
              <a:rPr kumimoji="1" lang="en-US" altLang="zh-CN" sz="1600" b="1" dirty="0">
                <a:latin typeface="+mn-ea"/>
              </a:rPr>
              <a:t>___b____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      a) </a:t>
            </a:r>
            <a:r>
              <a:rPr kumimoji="1" lang="zh-CN" altLang="en-US" sz="1600" b="1" dirty="0">
                <a:latin typeface="+mn-ea"/>
              </a:rPr>
              <a:t>空格  </a:t>
            </a:r>
            <a:r>
              <a:rPr kumimoji="1" lang="en-US" altLang="zh-CN" sz="1600" b="1" dirty="0">
                <a:latin typeface="+mn-ea"/>
              </a:rPr>
              <a:t>b) </a:t>
            </a:r>
            <a:r>
              <a:rPr kumimoji="1" lang="zh-CN" altLang="en-US" sz="1600" b="1" dirty="0">
                <a:latin typeface="+mn-ea"/>
              </a:rPr>
              <a:t>转义符   </a:t>
            </a:r>
            <a:r>
              <a:rPr kumimoji="1" lang="en-US" altLang="zh-CN" sz="1600" b="1" dirty="0">
                <a:latin typeface="+mn-ea"/>
              </a:rPr>
              <a:t>c) </a:t>
            </a:r>
            <a:r>
              <a:rPr kumimoji="1" lang="zh-CN" altLang="en-US" sz="1600" b="1" dirty="0">
                <a:latin typeface="+mn-ea"/>
              </a:rPr>
              <a:t>回车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1600" b="1" dirty="0">
              <a:latin typeface="宋体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6D8469F-2379-419B-B345-9E8D1B875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660" y="1214755"/>
            <a:ext cx="2910992" cy="112903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2583B86-13CE-C676-7B55-C9C743BA1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974" y="2401160"/>
            <a:ext cx="2521685" cy="81325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2737ABE-434F-FE31-97F0-05F84B3A6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0945" y="3089945"/>
            <a:ext cx="2958491" cy="98161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397604E-B5E1-BF52-A770-BCEA97DA4B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796" y="3884974"/>
            <a:ext cx="2603640" cy="81325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49FEFC9-93B2-F06F-AA04-ECC0A4FEA2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3828" y="4514216"/>
            <a:ext cx="2818077" cy="94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666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程序如下，观察编译及运行结果（可手填，如果贴图，要求在清晰可辨的情况下尽可能小）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"--Step1--"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"--Step2--"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"--Step3--"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"--Step4--"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1C96DA-53F5-450B-B1E2-D013C9CFFEDB}"/>
              </a:ext>
            </a:extLst>
          </p:cNvPr>
          <p:cNvSpPr/>
          <p:nvPr/>
        </p:nvSpPr>
        <p:spPr bwMode="auto">
          <a:xfrm>
            <a:off x="4042440" y="1323974"/>
            <a:ext cx="6797010" cy="542366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本次要求仔细观察运行现象及结果，特别是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Step1~4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出现的时机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!!!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、每次输入一个回车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程序从开始执行到结束，共停顿了</a:t>
            </a:r>
            <a:r>
              <a:rPr kumimoji="1" lang="en-US" altLang="zh-CN" sz="1200" b="1" dirty="0">
                <a:latin typeface="+mn-ea"/>
              </a:rPr>
              <a:t>__4___</a:t>
            </a:r>
            <a:r>
              <a:rPr kumimoji="1" lang="zh-CN" altLang="en-US" sz="1200" b="1" dirty="0">
                <a:latin typeface="+mn-ea"/>
              </a:rPr>
              <a:t>次来等待输入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Step__1____ 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Step___2___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Step___3___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Step___4___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、第一次输入一个字母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回车，以后每次停顿，均输入一个字母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程序从开始执行到结束，共停顿了</a:t>
            </a:r>
            <a:r>
              <a:rPr kumimoji="1" lang="en-US" altLang="zh-CN" sz="1200" b="1" dirty="0">
                <a:latin typeface="+mn-ea"/>
              </a:rPr>
              <a:t>__2___</a:t>
            </a:r>
            <a:r>
              <a:rPr kumimoji="1" lang="zh-CN" altLang="en-US" sz="1200" b="1" dirty="0">
                <a:latin typeface="+mn-ea"/>
              </a:rPr>
              <a:t>次来等待输入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Step___1___ 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Step___3___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、第一次即输入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个以上的字母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程序从开始执行到结束，共停顿了</a:t>
            </a:r>
            <a:r>
              <a:rPr kumimoji="1" lang="en-US" altLang="zh-CN" sz="1200" b="1" dirty="0">
                <a:latin typeface="+mn-ea"/>
              </a:rPr>
              <a:t>__1___</a:t>
            </a:r>
            <a:r>
              <a:rPr kumimoji="1" lang="zh-CN" altLang="en-US" sz="1200" b="1" dirty="0">
                <a:latin typeface="+mn-ea"/>
              </a:rPr>
              <a:t>次来等待输入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Step___1___ 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latin typeface="+mn-ea"/>
              </a:rPr>
              <a:t>结论：</a:t>
            </a:r>
            <a:r>
              <a:rPr kumimoji="1" lang="en-US" altLang="zh-CN" sz="1200" b="1" dirty="0" err="1">
                <a:latin typeface="+mn-ea"/>
              </a:rPr>
              <a:t>getchar</a:t>
            </a:r>
            <a:r>
              <a:rPr kumimoji="1" lang="zh-CN" altLang="en-US" sz="1200" b="1" dirty="0">
                <a:latin typeface="+mn-ea"/>
              </a:rPr>
              <a:t>每次仅从输入缓冲区中取需要的字节，多余的字节仍保留在输入缓冲区中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   </a:t>
            </a:r>
            <a:r>
              <a:rPr kumimoji="1" lang="zh-CN" altLang="en-US" sz="1200" b="1" dirty="0">
                <a:latin typeface="+mn-ea"/>
              </a:rPr>
              <a:t>供下次读取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思考：结合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"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与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的基本使用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"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中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3.c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的例子，考虑一下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3.c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中非法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m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对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int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的影响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错在第几个数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 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与输入缓冲区的关系，为什么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latin typeface="+mn-ea"/>
              </a:rPr>
              <a:t>输入的数存放在输入缓冲区中，输入缓冲区</a:t>
            </a:r>
            <a:r>
              <a:rPr kumimoji="1" lang="zh-CN" altLang="en-US" sz="1200" b="1">
                <a:latin typeface="+mn-ea"/>
              </a:rPr>
              <a:t>中，计算机按照顺序读取，非法</a:t>
            </a:r>
            <a:r>
              <a:rPr kumimoji="1" lang="zh-CN" altLang="en-US" sz="1200" b="1" dirty="0">
                <a:latin typeface="+mn-ea"/>
              </a:rPr>
              <a:t>输入的前面部分输入的数被读入时不受影响，但是后面的会受影响</a:t>
            </a:r>
          </a:p>
        </p:txBody>
      </p:sp>
    </p:spTree>
    <p:extLst>
      <p:ext uri="{BB962C8B-B14F-4D97-AF65-F5344CB8AC3E}">
        <p14:creationId xmlns:p14="http://schemas.microsoft.com/office/powerpoint/2010/main" val="566121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自行构造证明</a:t>
            </a:r>
            <a:r>
              <a:rPr lang="en-US" altLang="zh-CN" sz="1600" b="1" dirty="0">
                <a:latin typeface="+mn-ea"/>
              </a:rPr>
              <a:t>D</a:t>
            </a:r>
            <a:r>
              <a:rPr lang="zh-CN" altLang="en-US" sz="1600" b="1" dirty="0">
                <a:latin typeface="+mn-ea"/>
              </a:rPr>
              <a:t>结论的使用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读入的测试程序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pt-BR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char a, b, c, d;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"--Step1--"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a;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"--Step2--"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b;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"--Step3--"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c;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"--Step4--"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d;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1C96DA-53F5-450B-B1E2-D013C9CFFEDB}"/>
              </a:ext>
            </a:extLst>
          </p:cNvPr>
          <p:cNvSpPr/>
          <p:nvPr/>
        </p:nvSpPr>
        <p:spPr bwMode="auto">
          <a:xfrm>
            <a:off x="4042440" y="1323974"/>
            <a:ext cx="679701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本次要求仔细观察运行现象及结果，特别是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Stepx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出现的时机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!!!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latin typeface="+mn-ea"/>
              </a:rPr>
              <a:t>因为</a:t>
            </a:r>
            <a:r>
              <a:rPr kumimoji="1" lang="en-US" altLang="zh-CN" sz="1200" b="1" dirty="0" err="1">
                <a:latin typeface="+mn-ea"/>
              </a:rPr>
              <a:t>cin</a:t>
            </a:r>
            <a:r>
              <a:rPr kumimoji="1" lang="zh-CN" altLang="en-US" sz="1200" b="1" dirty="0">
                <a:latin typeface="+mn-ea"/>
              </a:rPr>
              <a:t>不能读取空格、回车（有特殊方法可读，先忽略），因此测试有所不同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、第一次输入两个字母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回车，以后每次停顿，均输入两个字母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程序从开始执行到结束，共停顿了</a:t>
            </a:r>
            <a:r>
              <a:rPr kumimoji="1" lang="en-US" altLang="zh-CN" sz="1200" b="1" dirty="0">
                <a:latin typeface="+mn-ea"/>
              </a:rPr>
              <a:t>__2___</a:t>
            </a:r>
            <a:r>
              <a:rPr kumimoji="1" lang="zh-CN" altLang="en-US" sz="1200" b="1" dirty="0">
                <a:latin typeface="+mn-ea"/>
              </a:rPr>
              <a:t>次来等待输入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Step___1___ 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Step___3___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、第一次即输入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个以上的字母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程序从开始执行到结束，共停顿了</a:t>
            </a:r>
            <a:r>
              <a:rPr kumimoji="1" lang="en-US" altLang="zh-CN" sz="1200" b="1" dirty="0">
                <a:latin typeface="+mn-ea"/>
              </a:rPr>
              <a:t>__1___</a:t>
            </a:r>
            <a:r>
              <a:rPr kumimoji="1" lang="zh-CN" altLang="en-US" sz="1200" b="1" dirty="0">
                <a:latin typeface="+mn-ea"/>
              </a:rPr>
              <a:t>次来等待输入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Step____1__ 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latin typeface="+mn-ea"/>
              </a:rPr>
              <a:t>结论：</a:t>
            </a:r>
            <a:r>
              <a:rPr kumimoji="1" lang="en-US" altLang="zh-CN" sz="1200" b="1" dirty="0" err="1">
                <a:latin typeface="+mn-ea"/>
              </a:rPr>
              <a:t>cin</a:t>
            </a:r>
            <a:r>
              <a:rPr kumimoji="1" lang="zh-CN" altLang="en-US" sz="1200" b="1" dirty="0">
                <a:latin typeface="+mn-ea"/>
              </a:rPr>
              <a:t>每次仅从输入缓冲区中取需要的字节，多余的字节仍保留在输入缓冲区中供下次读取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BA3F357-1B28-782C-679E-F999DA59B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778" y="162559"/>
            <a:ext cx="2569158" cy="428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568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51280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dirty="0" err="1">
                <a:latin typeface="+mn-ea"/>
              </a:rPr>
              <a:t>getch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dirty="0" err="1">
                <a:latin typeface="+mn-ea"/>
              </a:rPr>
              <a:t>getche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();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(int)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1778D4-3869-47E1-B4AF-ED85DD20E55B}"/>
              </a:ext>
            </a:extLst>
          </p:cNvPr>
          <p:cNvSpPr/>
          <p:nvPr/>
        </p:nvSpPr>
        <p:spPr bwMode="auto">
          <a:xfrm>
            <a:off x="4042440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conio.h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_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();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(int)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471D705-CED0-483E-A2B5-BE7B6D92D86E}"/>
              </a:ext>
            </a:extLst>
          </p:cNvPr>
          <p:cNvSpPr/>
          <p:nvPr/>
        </p:nvSpPr>
        <p:spPr bwMode="auto">
          <a:xfrm>
            <a:off x="7492767" y="1326603"/>
            <a:ext cx="334668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conio.h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_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();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(int)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C1EA6D-E078-4E03-B916-40014A6CF200}"/>
              </a:ext>
            </a:extLst>
          </p:cNvPr>
          <p:cNvSpPr/>
          <p:nvPr/>
        </p:nvSpPr>
        <p:spPr bwMode="auto">
          <a:xfrm>
            <a:off x="7234400" y="681529"/>
            <a:ext cx="3605050" cy="48347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、测试时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cmd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窗口下面不能是中文输入法</a:t>
            </a:r>
            <a:endParaRPr kumimoji="1" lang="en-US" altLang="zh-CN" sz="12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、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&lt;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conio.h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&gt;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是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_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getch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()/_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getche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()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需要的头文件</a:t>
            </a:r>
            <a:endParaRPr kumimoji="1" lang="en-US" altLang="zh-CN" sz="12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C0474E8-13A1-4EA0-9A3A-C87838C5F9A3}"/>
              </a:ext>
            </a:extLst>
          </p:cNvPr>
          <p:cNvSpPr/>
          <p:nvPr/>
        </p:nvSpPr>
        <p:spPr bwMode="auto">
          <a:xfrm>
            <a:off x="592112" y="4414345"/>
            <a:ext cx="3450327" cy="211980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____97_________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输入回显：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_____(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按回车生效：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↙(</a:t>
            </a:r>
            <a:r>
              <a:rPr kumimoji="1" lang="zh-CN" altLang="en-US" sz="1600" b="1" dirty="0">
                <a:latin typeface="+mn-ea"/>
              </a:rPr>
              <a:t>直接回车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____10_____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5601AF-2D9F-4607-8CE5-7A252F946460}"/>
              </a:ext>
            </a:extLst>
          </p:cNvPr>
          <p:cNvSpPr/>
          <p:nvPr/>
        </p:nvSpPr>
        <p:spPr bwMode="auto">
          <a:xfrm>
            <a:off x="4042439" y="4414345"/>
            <a:ext cx="3450327" cy="211980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______97_______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输入回显：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______(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按回车生效：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↙(</a:t>
            </a:r>
            <a:r>
              <a:rPr kumimoji="1" lang="zh-CN" altLang="en-US" sz="1600" b="1" dirty="0">
                <a:latin typeface="+mn-ea"/>
              </a:rPr>
              <a:t>直接回车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____13_____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D0A122-61BB-4EE5-859C-432099C8CB6D}"/>
              </a:ext>
            </a:extLst>
          </p:cNvPr>
          <p:cNvSpPr/>
          <p:nvPr/>
        </p:nvSpPr>
        <p:spPr bwMode="auto">
          <a:xfrm>
            <a:off x="7492766" y="4414345"/>
            <a:ext cx="3346684" cy="211980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______97_______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输入回显：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______(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按回车生效：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↙(</a:t>
            </a:r>
            <a:r>
              <a:rPr kumimoji="1" lang="zh-CN" altLang="en-US" sz="1600" b="1" dirty="0">
                <a:latin typeface="+mn-ea"/>
              </a:rPr>
              <a:t>直接回车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_____13____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65AE2D-EA83-441E-AE98-97FBD7CF17EF}"/>
              </a:ext>
            </a:extLst>
          </p:cNvPr>
          <p:cNvSpPr/>
          <p:nvPr/>
        </p:nvSpPr>
        <p:spPr bwMode="auto">
          <a:xfrm>
            <a:off x="592112" y="6239531"/>
            <a:ext cx="10247336" cy="2946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注：直接按回车时的差异，了解即可，具体原因有兴趣自己课外查阅，不提供技术支持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9508E7A-2335-4A00-82B2-03EC2447EDCA}"/>
              </a:ext>
            </a:extLst>
          </p:cNvPr>
          <p:cNvSpPr/>
          <p:nvPr/>
        </p:nvSpPr>
        <p:spPr bwMode="auto">
          <a:xfrm>
            <a:off x="10839448" y="1683973"/>
            <a:ext cx="1221488" cy="75968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1173DFB-D817-D266-0A68-0498A80BB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124" y="5463672"/>
            <a:ext cx="1723280" cy="52429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FBCCE37-9234-2861-BA97-4E911E117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096" y="3338736"/>
            <a:ext cx="2071866" cy="65243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19EB8E7-5AF5-D05D-1972-19EFB1B6E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9735" y="3993802"/>
            <a:ext cx="2162703" cy="71184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95A3F1E-EE0B-CACB-0BA4-FD385F22D1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0953" y="5758664"/>
            <a:ext cx="1598662" cy="52481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F0540AA-5995-88C3-A146-61F2A00528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0059" y="3988574"/>
            <a:ext cx="2240174" cy="52834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052963CE-56A8-347C-ECD1-2B0EDD1C19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7602" y="5463242"/>
            <a:ext cx="2049398" cy="480783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79B60186-896D-CD11-DCF6-94F346CF98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8822" y="4252746"/>
            <a:ext cx="1978220" cy="480783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016030A7-77F4-B050-97A1-98DFCE812F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2411" y="5775106"/>
            <a:ext cx="1875940" cy="432909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65796B54-5F4A-6374-FEB4-20AD1EBEF9B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03670" y="3636899"/>
            <a:ext cx="3129403" cy="681281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B52F53F0-0672-3E93-ACF2-07E6D791928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2728" y="5501736"/>
            <a:ext cx="2922017" cy="628163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976D6412-B235-67B6-B3FA-67335DA554B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87452" y="4134250"/>
            <a:ext cx="2645622" cy="664797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414D8B38-F784-939F-312C-20566043619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82296" y="6168652"/>
            <a:ext cx="2748911" cy="64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344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dirty="0" err="1">
                <a:latin typeface="+mn-ea"/>
              </a:rPr>
              <a:t>getch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dirty="0" err="1">
                <a:latin typeface="+mn-ea"/>
              </a:rPr>
              <a:t>getche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哪个编译器报错？</a:t>
            </a:r>
            <a:r>
              <a:rPr kumimoji="1" lang="en-US" altLang="zh-CN" sz="2000" b="1" dirty="0">
                <a:latin typeface="宋体" pitchFamily="2" charset="-122"/>
                <a:ea typeface="宋体" pitchFamily="2" charset="-122"/>
              </a:rPr>
              <a:t>VS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latin typeface="宋体" pitchFamily="2" charset="-122"/>
                <a:ea typeface="宋体" pitchFamily="2" charset="-122"/>
              </a:rPr>
              <a:t>两个程序在</a:t>
            </a:r>
            <a:r>
              <a:rPr kumimoji="1" lang="en-US" altLang="zh-CN" sz="2000" b="1" dirty="0">
                <a:latin typeface="宋体" pitchFamily="2" charset="-122"/>
                <a:ea typeface="宋体" pitchFamily="2" charset="-122"/>
              </a:rPr>
              <a:t>VS</a:t>
            </a:r>
            <a:r>
              <a:rPr kumimoji="1" lang="zh-CN" altLang="en-US" sz="2000" b="1" dirty="0">
                <a:latin typeface="宋体" pitchFamily="2" charset="-122"/>
                <a:ea typeface="宋体" pitchFamily="2" charset="-122"/>
              </a:rPr>
              <a:t>都是这个</a:t>
            </a:r>
            <a:r>
              <a:rPr kumimoji="1" lang="en-US" altLang="zh-CN" sz="2000" b="1" dirty="0">
                <a:latin typeface="宋体" pitchFamily="2" charset="-122"/>
                <a:ea typeface="宋体" pitchFamily="2" charset="-122"/>
              </a:rPr>
              <a:t>error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哪个编译器下结果同</a:t>
            </a:r>
            <a:r>
              <a:rPr kumimoji="1" lang="en-US" altLang="zh-CN" sz="2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A</a:t>
            </a:r>
            <a:r>
              <a:rPr kumimoji="1" lang="zh-CN" altLang="en-US" sz="2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？</a:t>
            </a:r>
            <a:r>
              <a:rPr kumimoji="1" lang="en-US" altLang="zh-CN" sz="2000" b="1" dirty="0">
                <a:latin typeface="宋体" pitchFamily="2" charset="-122"/>
                <a:ea typeface="宋体" pitchFamily="2" charset="-122"/>
              </a:rPr>
              <a:t>Dev</a:t>
            </a:r>
            <a:endParaRPr kumimoji="1" lang="zh-CN" altLang="en-US" sz="20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1778D4-3869-47E1-B4AF-ED85DD20E55B}"/>
              </a:ext>
            </a:extLst>
          </p:cNvPr>
          <p:cNvSpPr/>
          <p:nvPr/>
        </p:nvSpPr>
        <p:spPr bwMode="auto">
          <a:xfrm>
            <a:off x="4042440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conio.h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getch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();</a:t>
            </a:r>
            <a:endParaRPr kumimoji="1" lang="zh-CN" altLang="en-US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(int)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471D705-CED0-483E-A2B5-BE7B6D92D86E}"/>
              </a:ext>
            </a:extLst>
          </p:cNvPr>
          <p:cNvSpPr/>
          <p:nvPr/>
        </p:nvSpPr>
        <p:spPr bwMode="auto">
          <a:xfrm>
            <a:off x="7492767" y="1326603"/>
            <a:ext cx="334668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conio.h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getche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();</a:t>
            </a:r>
            <a:endParaRPr kumimoji="1" lang="zh-CN" altLang="en-US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(int)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C1EA6D-E078-4E03-B916-40014A6CF200}"/>
              </a:ext>
            </a:extLst>
          </p:cNvPr>
          <p:cNvSpPr/>
          <p:nvPr/>
        </p:nvSpPr>
        <p:spPr bwMode="auto">
          <a:xfrm>
            <a:off x="7234400" y="681529"/>
            <a:ext cx="3605050" cy="48347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、测试时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cmd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窗口下面不能是中文输入法</a:t>
            </a:r>
            <a:endParaRPr kumimoji="1" lang="en-US" altLang="zh-CN" sz="12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、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&lt;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conio.h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&gt;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是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_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getch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()/_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getche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()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需要的头文件</a:t>
            </a:r>
            <a:endParaRPr kumimoji="1" lang="en-US" altLang="zh-CN" sz="12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5601AF-2D9F-4607-8CE5-7A252F946460}"/>
              </a:ext>
            </a:extLst>
          </p:cNvPr>
          <p:cNvSpPr/>
          <p:nvPr/>
        </p:nvSpPr>
        <p:spPr bwMode="auto">
          <a:xfrm>
            <a:off x="4042439" y="4414345"/>
            <a:ext cx="3450327" cy="211980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_______97______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输入回显：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_____(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按回车生效：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↙(</a:t>
            </a:r>
            <a:r>
              <a:rPr kumimoji="1" lang="zh-CN" altLang="en-US" sz="1600" b="1" dirty="0">
                <a:latin typeface="+mn-ea"/>
              </a:rPr>
              <a:t>直接回车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___13______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D0A122-61BB-4EE5-859C-432099C8CB6D}"/>
              </a:ext>
            </a:extLst>
          </p:cNvPr>
          <p:cNvSpPr/>
          <p:nvPr/>
        </p:nvSpPr>
        <p:spPr bwMode="auto">
          <a:xfrm>
            <a:off x="7492766" y="4414345"/>
            <a:ext cx="3346684" cy="211980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__97___________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输入回显：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______(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按回车生效：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↙(</a:t>
            </a:r>
            <a:r>
              <a:rPr kumimoji="1" lang="zh-CN" altLang="en-US" sz="1600" b="1" dirty="0">
                <a:latin typeface="+mn-ea"/>
              </a:rPr>
              <a:t>直接回车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>
                <a:latin typeface="+mn-ea"/>
              </a:rPr>
              <a:t>__13_______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823A1A-0AA8-4685-B25A-268E4AB4986D}"/>
              </a:ext>
            </a:extLst>
          </p:cNvPr>
          <p:cNvSpPr/>
          <p:nvPr/>
        </p:nvSpPr>
        <p:spPr bwMode="auto">
          <a:xfrm>
            <a:off x="1211971" y="2135918"/>
            <a:ext cx="2340525" cy="43911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4225629-0FB7-520A-4220-395ED4AEE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0" y="3628675"/>
            <a:ext cx="11978955" cy="21178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FB388AC-66C2-307F-BDCC-41341FE96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835" y="3999428"/>
            <a:ext cx="2499037" cy="55317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6D72D3B-D164-6A33-670D-9E30A970C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197" y="6144287"/>
            <a:ext cx="3081464" cy="67680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2383232-9A30-FAD8-9914-82E056AD08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2615" y="4033613"/>
            <a:ext cx="3146427" cy="76912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795CDC8-161D-70A8-C35D-06A8BB569A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3743" y="6178760"/>
            <a:ext cx="3013887" cy="75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383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32116563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1360</TotalTime>
  <Words>2890</Words>
  <Application>Microsoft Office PowerPoint</Application>
  <PresentationFormat>宽屏</PresentationFormat>
  <Paragraphs>388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宋体</vt:lpstr>
      <vt:lpstr>Times New Roman</vt:lpstr>
      <vt:lpstr>等线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xi sheng</cp:lastModifiedBy>
  <cp:revision>184</cp:revision>
  <dcterms:created xsi:type="dcterms:W3CDTF">2020-08-13T13:39:53Z</dcterms:created>
  <dcterms:modified xsi:type="dcterms:W3CDTF">2024-06-22T12:16:19Z</dcterms:modified>
</cp:coreProperties>
</file>