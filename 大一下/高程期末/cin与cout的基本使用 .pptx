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9"/>
  </p:notesMasterIdLst>
  <p:sldIdLst>
    <p:sldId id="1236" r:id="rId2"/>
    <p:sldId id="1268" r:id="rId3"/>
    <p:sldId id="1237" r:id="rId4"/>
    <p:sldId id="1230" r:id="rId5"/>
    <p:sldId id="449" r:id="rId6"/>
    <p:sldId id="492" r:id="rId7"/>
    <p:sldId id="1186" r:id="rId8"/>
    <p:sldId id="1188" r:id="rId9"/>
    <p:sldId id="1189" r:id="rId10"/>
    <p:sldId id="1190" r:id="rId11"/>
    <p:sldId id="1194" r:id="rId12"/>
    <p:sldId id="1193" r:id="rId13"/>
    <p:sldId id="1202" r:id="rId14"/>
    <p:sldId id="1213" r:id="rId15"/>
    <p:sldId id="1203" r:id="rId16"/>
    <p:sldId id="1214" r:id="rId17"/>
    <p:sldId id="1204" r:id="rId18"/>
    <p:sldId id="1269" r:id="rId19"/>
    <p:sldId id="1205" r:id="rId20"/>
    <p:sldId id="1216" r:id="rId21"/>
    <p:sldId id="1206" r:id="rId22"/>
    <p:sldId id="1210" r:id="rId23"/>
    <p:sldId id="1270" r:id="rId24"/>
    <p:sldId id="1209" r:id="rId25"/>
    <p:sldId id="1191" r:id="rId26"/>
    <p:sldId id="1192" r:id="rId27"/>
    <p:sldId id="1207" r:id="rId28"/>
    <p:sldId id="1208" r:id="rId29"/>
    <p:sldId id="1212" r:id="rId30"/>
    <p:sldId id="1217" r:id="rId31"/>
    <p:sldId id="1218" r:id="rId32"/>
    <p:sldId id="1221" r:id="rId33"/>
    <p:sldId id="1219" r:id="rId34"/>
    <p:sldId id="1220" r:id="rId35"/>
    <p:sldId id="1222" r:id="rId36"/>
    <p:sldId id="1224" r:id="rId37"/>
    <p:sldId id="1200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5DD89-C52A-463E-AB61-1A7F0262637A}" v="704" dt="2024-06-22T11:41:46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87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1:08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24575,'207'-18'0,"-49"2"0,181 14 0,-183 3 0,256-1 0,-395 1 0,-1 1 0,21 4 0,-19-3 0,32 3 0,-18-6 0,-12 0 0,0 0 0,0 1 0,1 1 0,-1 1 0,-1 1 0,25 8 0,-28-7 0,0-1 0,22 3 0,-20-4 0,26 8 0,204 60 0,-70-17 0,-41-10 0,-109-36 0,0 1 0,46 22 0,-39-16 0,2-1 0,54 12 0,13 4 0,-66-17 0,-14-6 0,31 15 0,-8 3 0,22 10 0,-39-22 0,-1 2 0,0 1 0,-1 2 0,0 0 0,42 40 0,-61-52 0,0 0 0,0 0 0,15 7 0,11 7 0,-33-19-114,0 1 1,0 0-1,0-1 0,0 1 0,0 0 1,0 0-1,-1 0 0,1 0 0,-1 1 1,0-1-1,2 4 0,3 10-6712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1:10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1 527 24575,'547'0'0,"-546"0"0,0 0 0,0 0 0,0 0 0,0 0 0,0 0 0,0 0 0,0 0 0,0 0 0,0 0 0,0 0 0,0-1 0,0 1 0,0 0 0,0-1 0,0 1 0,-1-1 0,1 1 0,0-1 0,0 1 0,0-1 0,-1 0 0,1 1 0,0-1 0,0-1 0,0 1 0,-1-1 0,0 1 0,0-1 0,0 0 0,0 1 0,0-1 0,0 1 0,0-1 0,-1 1 0,1-1 0,0 1 0,-1-1 0,1 1 0,-1-1 0,-1-1 0,-15-39 0,1-2 0,2 0 0,-8-48 0,21 85 0,0-1 0,-1 1 0,0 0 0,0 0 0,0 0 0,-1 0 0,0 0 0,0 0 0,-5-7 0,3 8 0,1-1 0,0 1 0,1-1 0,0 0 0,0 0 0,0 0 0,1 0 0,0 0 0,-1-12 0,1 9 0,-1-1 0,1 1 0,-9-19 0,4 11 0,6 15 0,0 0 0,0 0 0,0 0 0,-1 0 0,1 0 0,-1 0 0,0 0 0,-3-4 0,0 5-1365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2:33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24575,'79'1'0,"91"-2"0,-84-7 0,15-1 0,40 10 0,59-2 0,-125-8 0,14-1 0,-81 9 0,0 0 0,0 0 0,0-1 0,-1 0 0,1-1 0,9-4 0,-7 3 0,0 0 0,21-5 0,-20 7-227,0-2-1,0 1 1,-1-1-1,1-1 1,15-9-1,-9 5-6598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2:36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24575,'7'1'0,"-1"-1"0,0 1 0,0 1 0,7 1 0,13 4 0,-18-6 0,10 1 0,29 8 0,-41-8 0,0 0 0,0 0 0,0 1 0,-1-1 0,1 1 0,-1 1 0,0-1 0,8 8 0,-7-7 0,-1 0 0,1 0 0,0 0 0,0-1 0,13 6 0,-11-6 0,0 0 0,-1 1 0,8 6 0,-13-8 0,0-1 0,0 1 0,-1 0 0,1 0 0,-1 1 0,1-1 0,-1 0 0,0 0 0,0 1 0,0-1 0,0 1 0,0-1 0,0 1 0,-1-1 0,1 1 0,-1 0 0,0-1 0,0 1 0,0-1 0,0 6 0,-1 0 0,0 0 0,-1 0 0,1 0 0,-2-1 0,-3 12 0,2-9 0,-1 0 0,1-1 0,-1 0 0,-1 0 0,-8 11 0,11-15 0,-1 0 0,1 0 0,0 1 0,0-1 0,1 1 0,-1 0 0,-1 8 0,2-7 0,-1 1 0,1-1 0,-8 13 0,-18 21-1365,19-32-5461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4:49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24575,'48'0'0,"45"0"0,-80 1 0,0 0 0,0 1 0,0 1 0,23 7 0,159 51 0,-161-53 0,53 12 0,-79-18 0,0 0 0,0 1 0,0 0 0,0 0 0,13 8 0,10 5 0,-24-13 0,0 1 0,0 0 0,-1 0 0,11 10 0,-13-10 0,1-1 0,-1 1 0,1-1 0,0 1 0,0-2 0,0 1 0,0 0 0,1-1 0,-1 0 0,7 1 0,-6-1-112,2-1-139,-1 0 1,0 1-1,0 0 1,12 5-1,-6 0-6575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08:04:5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0 24575,'1'8'0,"0"-1"0,0 0 0,3 12 0,3 11 0,-6-19 0,0 1 0,1 0 0,1-1 0,0 0 0,1 0 0,0 0 0,0 0 0,1 0 0,12 17 0,-6-11 0,14 30 0,-9-17 0,-16-29 0,1 1 0,0-1 0,0 0 0,-1 0 0,1 1 0,-1-1 0,1 0 0,-1 1 0,0-1 0,1 0 0,-1 1 0,0-1 0,0 1 0,0-1 0,0 0 0,0 1 0,0-1 0,-1 1 0,1-1 0,0 0 0,-1 1 0,1-1 0,-1 0 0,0 3 0,-1-2 0,0-1 0,1 1 0,-1 0 0,0-1 0,0 1 0,0-1 0,0 0 0,-1 0 0,1 0 0,0 0 0,0 0 0,-1 0 0,-2 0 0,-12 4 0,0 0 0,-1-2 0,0 0 0,-31 1 0,38-4 0,0 1 0,-1 0 0,1 1 0,0 0 0,0 1 0,1 0 0,-1 0 0,1 1 0,-12 6 0,7-3 0,-1-2 0,1 0 0,-1-1 0,0-1 0,0 0 0,-28 0 0,0 2 0,-48 1-1365,84-6-5461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7:28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1016 24575,'12'-3'0,"0"-2"0,-1 1 0,14-9 0,5-1 0,3-1 0,196-93 0,-215 100 0,-1-1 0,1 0 0,-1 0 0,-1-2 0,0 1 0,13-16 0,-17 17 0,-2 1 0,1-1 0,-1-1 0,-1 1 0,0-1 0,0 0 0,-1 0 0,0-1 0,4-20 0,2-31 0,-7 34 0,13-45 0,-12 61 0,1 2 0,0-1 0,0 1 0,10-13 0,5-10 0,-9 14 0,1 1 0,1 0 0,0 1 0,2 0 0,0 1 0,1 0 0,0 2 0,1 0 0,27-17 0,-13 12 0,1 2 0,1 1 0,1 1 0,65-18 0,-90 30 0,-1-1 0,1 0 0,-1 0 0,0-1 0,-1 1 0,1-2 0,-1 1 0,9-9 0,13-10 0,-23 20 0,-1 1 0,0 0 0,1 1 0,0-1 0,0 1 0,0 0 0,-1 0 0,12-1 0,6 0 0,24 1 0,-3 0 0,79-6-1365,-99 7-5461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7:29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24575,'0'3'0,"0"-1"0,1 1 0,-1 0 0,1 0 0,0-1 0,0 1 0,0 0 0,0-1 0,0 1 0,0-1 0,1 1 0,-1-1 0,1 0 0,-1 1 0,1-1 0,0 0 0,3 2 0,3 3 0,1 0 0,0-1 0,11 6 0,-10-6 0,278 136 0,-195-101 0,-90-40 0,0 0 0,-1 1 0,1-1 0,-1 1 0,0-1 0,1 1 0,-1 0 0,0 0 0,0 0 0,0 0 0,0 0 0,-1 0 0,1 1 0,0-1 0,-1 1 0,0-1 0,1 1 0,-1-1 0,0 1 0,0 0 0,-1 0 0,1-1 0,-1 1 0,1 0 0,-1 0 0,0 0 0,0 0 0,0 5 0,-2 8 0,0-1 0,-1 1 0,0-1 0,-7 17 0,-26 59 0,-6 20 0,36-93-1365,1-3-5461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7:32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24575,'7'0'0,"-1"0"0,0 0 0,1 1 0,-1 0 0,0 0 0,1 1 0,-1-1 0,0 1 0,0 1 0,0-1 0,0 1 0,-1 0 0,1 0 0,-1 1 0,0 0 0,0 0 0,0 0 0,0 0 0,-1 1 0,1 0 0,-1 0 0,3 6 0,68 99 0,76 105 0,-73-129 0,-34-39 0,74 68 0,-107-105 0,17 17 0,-15-14 0,1 0 0,24 17 0,10 0 0,33 24 0,-70-47 0,0 0 0,0 0 0,1-1 0,-1-1 0,1 0 0,20 5 0,-14-6 0,1 0 0,0-2 0,35 1 0,-44-3 0,-2-1 0,1 1 0,0 1 0,0-1 0,-1 1 0,1 1 0,0-1 0,-1 1 0,0 1 0,9 3 0,103 64 0,-99-61-1365,-2-2-5461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7:34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1030 1 24575,'-1'57'0,"2"68"0,1-111 0,1-1 0,-1 0 0,2 0 0,0 0 0,1-1 0,9 20 0,-6-15 0,-1 0 0,7 25 0,-11-31 0,-1 0 0,0 0 0,0 0 0,-1 15 0,-1-24 0,0-1 0,-1 0 0,1 0 0,0 1 0,-1-1 0,1 0 0,-1 0 0,1 0 0,-1 0 0,1 0 0,-1 1 0,0-1 0,0 0 0,1 0 0,-1-1 0,0 1 0,0 0 0,0 0 0,0 0 0,0-1 0,0 1 0,0 0 0,-3 0 0,-2 2 0,0-1 0,-1 0 0,-11 1 0,13-2 0,-69 9-17,1-4 0,-84-3 0,89-3-123,-548-2-1991,562 1-3738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8:41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24575,'36'10'0,"-21"-6"0,27 10 0,-22-5 0,1-1 0,0-2 0,0 0 0,1-1 0,0-1 0,0-2 0,0 0 0,33-1 0,250-3-1365,-281 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8:43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24575,'10'11'0,"0"-1"0,-1 1 0,0 1 0,0 0 0,-1 0 0,-1 1 0,0 0 0,-1 0 0,6 19 0,-1 9 0,-1 0 0,6 61 0,-9-71 0,-4-21 0,-1 0 0,2 15 0,-4-22 0,0 0 0,0-1 0,0 1 0,0 0 0,-1 0 0,1 0 0,-1-1 0,0 1 0,1 0 0,-1-1 0,-1 1 0,1-1 0,-3 5 0,-1 0 0,-1 0 0,0-1 0,0 0 0,-1 0 0,-13 9 0,-41 22 0,23-15 0,-106 64 0,118-71-1365,6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8:44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24575,'-1'205'0,"3"235"0,33-66 0,0 13 0,-32-232 0,4 109 0,-2-131 0,7 114 0,-8-226 0,0-1 0,1 1 0,1-1 0,14 31 0,8 24 0,-16-34 0,3 0 0,1-2 0,2 0 0,37 60 0,-36-74 0,1-1 0,1-1 0,40 34 0,-33-31 0,53 48-1365,-59-54-5461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08:46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1 24575,'-4'11'0,"1"0"0,0 1 0,1-1 0,0 1 0,1-1 0,0 1 0,2 16 0,-1-21 0,-1 25 0,2 1 0,2 0 0,1 0 0,2 0 0,0-1 0,19 51 0,-21-73 0,14 34 0,-1 1 0,19 88 0,-33-118 0,3 16 0,-6-29 0,0-1 0,0 1 0,-1 0 0,1-1 0,0 1 0,-1 0 0,1-1 0,-1 1 0,1-1 0,-1 1 0,0 0 0,1-1 0,-1 0 0,0 1 0,0-1 0,-2 2 0,-4 3 0,-1 0 0,0 0 0,0-1 0,-1-1 0,0 1 0,1-2 0,-11 4 0,13-4 0,-118 36-3,4-1 73,102-30-356,0-1-1,1 2 1,0 1-1,-24 17 1,16-6-6540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36:25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14 143 24575,'-1'-2'0,"-1"0"0,1 0 0,0 0 0,-1 0 0,1 0 0,0-1 0,0 1 0,1 0 0,-1-1 0,0 1 0,1-1 0,-1 1 0,1 0 0,0-1 0,0 1 0,0-1 0,0 1 0,0-1 0,1 1 0,-1-1 0,1 1 0,-1 0 0,1-1 0,0 1 0,0 0 0,0-1 0,0 1 0,0 0 0,1 0 0,-1 0 0,1 0 0,-1 0 0,1 0 0,0 1 0,0-1 0,2-2 0,6 0 0,-1-1 0,1 1 0,0 1 0,0 0 0,1 0 0,16-2 0,5-1 0,13-4 0,1 3 0,-1 2 0,1 2 0,76 4 0,-107-1 0,1 2 0,-1 0 0,1 0 0,-1 2 0,0 0 0,0 0 0,0 2 0,-1 0 0,1 0 0,-2 1 0,17 11 0,48 34-1365,-56-39-5461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36:27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24575,'1'-1'0,"0"0"0,1 1 0,-1-1 0,0 0 0,1 0 0,-1 1 0,1-1 0,-1 1 0,1-1 0,-1 1 0,1 0 0,-1 0 0,1 0 0,-1 0 0,1 0 0,-1 0 0,1 0 0,-1 0 0,1 0 0,-1 1 0,1-1 0,-1 0 0,1 1 0,-1 0 0,0-1 0,1 1 0,-1 0 0,0-1 0,2 2 0,5 4 0,0-1 0,-1 1 0,10 8 0,-17-13 0,9 7 0,-2 0 0,1 1 0,-1 0 0,-1 1 0,1-1 0,-2 1 0,1 0 0,-2 0 0,7 19 0,-7-19 0,1-1 0,0 0 0,0 0 0,1 0 0,0 0 0,1-1 0,0 0 0,9 9 0,-5-7 0,-2 1 0,1 0 0,8 14 0,-16-21-52,0 0-1,0-1 1,-1 1-1,1 0 1,-1 0-1,0 0 1,0 0-1,0 0 1,0 0-1,-1 1 1,0-1-1,0 0 1,0 0-1,0 0 1,-1 0-1,1 1 1,-1-1-1,0 0 1,0 0-1,-1 0 0,1 0 1,-1-1-1,0 1 1,0 0-1,-3 3 1,-14 17-6774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36:28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24575,'-2'3'0,"-1"0"0,1 0 0,0 0 0,1 0 0,-1 0 0,0 0 0,1 0 0,0 1 0,0-1 0,0 1 0,0-1 0,0 1 0,0 4 0,0 4 0,1 1 0,2 16 0,-2-25 0,24 149 0,-14-99 0,22 92 0,-17-82 0,14 111 0,25 162 0,-32-202 0,-1-4 0,-13-104 0,1-1 0,1 1 0,27 48 0,-21-43 0,-4-10-682,24 37-1,-21-39-6143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2:36:30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1 500 24575,'61'0'0,"133"3"0,-185-2 0,-2 0 0,0-1 0,0 0 0,0 0 0,12-2 0,-17 2 0,0-1 0,-1 1 0,1-1 0,0 0 0,0 0 0,0 1 0,-1-1 0,1 0 0,-1 0 0,1 0 0,-1-1 0,1 1 0,-1 0 0,1-1 0,-1 1 0,0-1 0,0 1 0,0-1 0,0 1 0,0-1 0,0 0 0,1-2 0,-1-2 0,1 1 0,-1 0 0,0-1 0,-1 1 0,1-1 0,-1 1 0,0-7 0,-7-40 0,3 28 0,-36-298-1365,38 297-5461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0:49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24575,'1418'0'-1365,"-1389"0"-5461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0:50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0 24575,'87'28'0,"132"63"0,-145-56 0,79 23 0,-133-50 0,1 2 0,-1 0 0,-1 1 0,0 1 0,23 19 0,-39-29 0,0 0 0,-1 0 0,1 1 0,-1-1 0,1 1 0,-1 0 0,0 0 0,0 0 0,0 0 0,2 5 0,-3-6 0,-1 0 0,1 1 0,-1-1 0,0 0 0,0 1 0,1-1 0,-1 0 0,-1 1 0,1-1 0,0 1 0,-1-1 0,1 0 0,-1 0 0,1 1 0,-1-1 0,0 0 0,-2 3 0,-4 8 0,-1-1 0,0-1 0,-1 1 0,0-1 0,-16 14 0,-59 47 0,67-59 0,0-1 0,-1-1 0,-1 0 0,-32 13 0,-86 20 0,-152 43 0,258-78 0,-39 14-1365,14-3-5461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1:16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24575,'6'0'0,"20"0"0,17 0 0,13 0 0,7 0 0,-2 0 0,-5 0 0,-10 0 0,-9 0 0,-8-3 0,-6-1 0,-4 0 0,-2-3 0,-1-2 0,-4 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1:23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24575,'16'12'0,"0"0"0,0-1 0,31 16 0,20 12 0,-60-33 0,0-1 0,0 1 0,0 0 0,-1 1 0,0-1 0,7 11 0,-10-13 0,-1-1 0,0 1 0,0 0 0,0 0 0,0 0 0,-1 0 0,0 0 0,0 0 0,0 0 0,0 1 0,-1-1 0,1 0 0,-1 1 0,0-1 0,0 0 0,-1 1 0,1-1 0,-1 0 0,0 0 0,0 0 0,-1 0 0,1 1 0,-3 3 0,-4 6 0,0 0 0,-2 0 0,0-1 0,-19 21 0,-3 4 0,13-14-1365,3-3-5461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2:19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24575,'0'0'0,"0"0"0,0 0 0,0 0 0,0-1 0,0 1 0,0 0 0,1 0 0,-1 0 0,0 0 0,0-1 0,0 1 0,0 0 0,0 0 0,0 0 0,0 0 0,1 0 0,-1-1 0,0 1 0,0 0 0,0 0 0,0 0 0,0 0 0,1 0 0,-1 0 0,0 0 0,0 0 0,0 0 0,0 0 0,1 0 0,-1 0 0,0 0 0,0 0 0,0 0 0,1 0 0,-1 0 0,0 0 0,0 0 0,0 0 0,0 0 0,1 0 0,-1 0 0,0 0 0,0 0 0,0 0 0,0 0 0,1 0 0,-1 0 0,0 0 0,0 1 0,0-1 0,11 6 0,-1 3 0,-1 1 0,0 0 0,-1 0 0,12 18 0,-10-12 0,20 21 0,-26-32 0,1-1 0,0 0 0,0 0 0,0 0 0,1 0 0,-1-1 0,1 0 0,8 4 0,6-1 0,0-1 0,1-1 0,-1-1 0,1-1 0,31 0 0,-12-1 0,6 1 0,0 2 0,-1 2 0,46 11 0,-62-8 0,1-1 0,0-2 0,1-1 0,52 2 0,-58-7 0,9-1 0,56 6 0,-39 3-70,99 11-1225,-122-17-5531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32:20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 24575,'18'0'0,"18"9"0,18 12 0,11 5 0,-2 4 0,-9 0 0,-23-1 0,-28-4 0,-26-6 0,-22-5 0,-12 0 0,-8-3 0,1-2 0,8-3 0,2 0 0,7 2 0,12 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5:14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24575,'806'0'-1365,"-779"0"-5461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5:15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24575,'3'0'0,"9"-1"0,0 1 0,0 1 0,0 0 0,1 0 0,-1 2 0,19 5 0,-22-5 0,1 1 0,-1 0 0,0 1 0,0 0 0,12 9 0,-19-13 0,0 1 0,0 0 0,0 0 0,-1 0 0,1 0 0,0 0 0,-1 0 0,0 1 0,1-1 0,-1 1 0,0-1 0,0 1 0,0-1 0,-1 1 0,1-1 0,0 1 0,-1 0 0,0-1 0,0 1 0,0 0 0,0-1 0,0 1 0,0 0 0,-1-1 0,0 5 0,-1-3 0,1 0 0,0 0 0,-1-1 0,0 1 0,0-1 0,0 1 0,0-1 0,-1 0 0,1 0 0,-1 0 0,-4 3 0,-4 4 0,-22 13 0,20-14 0,-33 24-455,2 1 0,-59 60 0,86-76-6371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5:49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24575,'1'-1'0,"1"1"0,-1-1 0,1 1 0,-1-1 0,1 1 0,-1 0 0,1 0 0,-1 0 0,1 0 0,-1 0 0,1 0 0,-1 0 0,4 1 0,21 8 0,-13-4 0,32 11 0,0 2 0,-1 2 0,-1 2 0,-1 2 0,-1 2 0,42 34 0,57 59 0,-111-92 0,-2 2 0,39 51 0,-22-26 134,-9-12-1633,-17-18-5327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5:50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24575,'0'3'0,"0"10"0,3 15 0,4 8 0,1 1 0,2 0 0,-1-2 0,-5-3 0,-11-5 0,-24-8 0,-17-7 0,-10-3 0,1-3 0,12-2-8191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6:16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24575,'0'0'0,"0"-1"0,0 1 0,0-1 0,0 1 0,0 0 0,0-1 0,0 1 0,1-1 0,-1 1 0,0-1 0,0 1 0,0 0 0,1-1 0,-1 1 0,0 0 0,1-1 0,-1 1 0,0 0 0,1-1 0,-1 1 0,1 0 0,-1 0 0,0-1 0,1 1 0,0 0 0,15-4 0,15 2 0,0 2 0,61 7 0,-52-3 0,46 3 0,194 21 0,-195-17-682,145 0-1,-209-11-6143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3T13:46:17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28 24575,'0'-1'0,"-1"1"0,1-1 0,0 0 0,0 1 0,-1-1 0,1 0 0,0 1 0,0-1 0,0 0 0,0 0 0,0 1 0,0-1 0,0 0 0,0 0 0,0 1 0,0-1 0,0 0 0,1 1 0,-1-1 0,0 0 0,1 0 0,-1 1 0,0-1 0,1 1 0,-1-1 0,1 0 0,-1 1 0,0-1 0,1 1 0,0-1 0,-1 1 0,1-1 0,-1 1 0,1-1 0,0 1 0,-1 0 0,1-1 0,0 1 0,-1 0 0,1 0 0,0-1 0,-1 1 0,1 0 0,1 0 0,0-1 0,0 1 0,1-1 0,-1 1 0,0 0 0,1 0 0,-1 0 0,0 0 0,1 0 0,-1 0 0,0 1 0,1-1 0,-1 1 0,3 0 0,-2 1 0,0 0 0,-1 0 0,1 1 0,-1-1 0,1 0 0,-1 1 0,0 0 0,0-1 0,0 1 0,0 0 0,0 0 0,0 0 0,-1 0 0,0 1 0,1-1 0,-1 0 0,-1 1 0,1-1 0,0 5 0,0-3 0,-1 0 0,1-1 0,-1 1 0,0 0 0,-1 0 0,1-1 0,-1 1 0,0 0 0,0-1 0,-1 1 0,1-1 0,-1 1 0,-4 7 0,-1-3 0,0 0 0,-1 0 0,0-1 0,0 0 0,-16 12 0,-53 31 0,43-29 0,-11 6-455,3 2 0,-63 58 0,82-66-6371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64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5.xml"/><Relationship Id="rId3" Type="http://schemas.openxmlformats.org/officeDocument/2006/relationships/customXml" Target="../ink/ink1.xml"/><Relationship Id="rId7" Type="http://schemas.openxmlformats.org/officeDocument/2006/relationships/image" Target="../media/image20.png"/><Relationship Id="rId12" Type="http://schemas.openxmlformats.org/officeDocument/2006/relationships/image" Target="../media/image23.png"/><Relationship Id="rId2" Type="http://schemas.openxmlformats.org/officeDocument/2006/relationships/image" Target="../media/image17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customXml" Target="../ink/ink2.xml"/><Relationship Id="rId15" Type="http://schemas.openxmlformats.org/officeDocument/2006/relationships/customXml" Target="../ink/ink6.xml"/><Relationship Id="rId10" Type="http://schemas.openxmlformats.org/officeDocument/2006/relationships/customXml" Target="../ink/ink4.xml"/><Relationship Id="rId4" Type="http://schemas.openxmlformats.org/officeDocument/2006/relationships/image" Target="../media/image18.png"/><Relationship Id="rId9" Type="http://schemas.openxmlformats.org/officeDocument/2006/relationships/image" Target="../media/image21.png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33.png"/><Relationship Id="rId18" Type="http://schemas.openxmlformats.org/officeDocument/2006/relationships/customXml" Target="../ink/ink13.xml"/><Relationship Id="rId3" Type="http://schemas.openxmlformats.org/officeDocument/2006/relationships/image" Target="../media/image27.png"/><Relationship Id="rId21" Type="http://schemas.openxmlformats.org/officeDocument/2006/relationships/image" Target="../media/image37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17" Type="http://schemas.openxmlformats.org/officeDocument/2006/relationships/image" Target="../media/image35.png"/><Relationship Id="rId2" Type="http://schemas.openxmlformats.org/officeDocument/2006/relationships/image" Target="../media/image26.png"/><Relationship Id="rId16" Type="http://schemas.openxmlformats.org/officeDocument/2006/relationships/customXml" Target="../ink/ink12.xml"/><Relationship Id="rId20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34.png"/><Relationship Id="rId10" Type="http://schemas.openxmlformats.org/officeDocument/2006/relationships/customXml" Target="../ink/ink10.xml"/><Relationship Id="rId19" Type="http://schemas.openxmlformats.org/officeDocument/2006/relationships/image" Target="../media/image36.png"/><Relationship Id="rId4" Type="http://schemas.openxmlformats.org/officeDocument/2006/relationships/customXml" Target="../ink/ink7.xml"/><Relationship Id="rId9" Type="http://schemas.openxmlformats.org/officeDocument/2006/relationships/image" Target="../media/image30.png"/><Relationship Id="rId14" Type="http://schemas.openxmlformats.org/officeDocument/2006/relationships/customXml" Target="../ink/ink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49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.xml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customXml" Target="../ink/ink18.xml"/><Relationship Id="rId4" Type="http://schemas.openxmlformats.org/officeDocument/2006/relationships/customXml" Target="../ink/ink15.xml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customXml" Target="../ink/ink23.xml"/><Relationship Id="rId3" Type="http://schemas.openxmlformats.org/officeDocument/2006/relationships/customXml" Target="../ink/ink19.xml"/><Relationship Id="rId7" Type="http://schemas.openxmlformats.org/officeDocument/2006/relationships/image" Target="../media/image63.png"/><Relationship Id="rId12" Type="http://schemas.openxmlformats.org/officeDocument/2006/relationships/image" Target="../media/image64.png"/><Relationship Id="rId2" Type="http://schemas.openxmlformats.org/officeDocument/2006/relationships/image" Target="../media/image62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7.png"/><Relationship Id="rId5" Type="http://schemas.openxmlformats.org/officeDocument/2006/relationships/customXml" Target="../ink/ink20.xml"/><Relationship Id="rId15" Type="http://schemas.openxmlformats.org/officeDocument/2006/relationships/customXml" Target="../ink/ink24.xml"/><Relationship Id="rId10" Type="http://schemas.openxmlformats.org/officeDocument/2006/relationships/customXml" Target="../ink/ink22.xml"/><Relationship Id="rId4" Type="http://schemas.openxmlformats.org/officeDocument/2006/relationships/image" Target="../media/image73.png"/><Relationship Id="rId9" Type="http://schemas.openxmlformats.org/officeDocument/2006/relationships/image" Target="../media/image76.png"/><Relationship Id="rId14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customXml" Target="../ink/ink29.xml"/><Relationship Id="rId3" Type="http://schemas.openxmlformats.org/officeDocument/2006/relationships/customXml" Target="../ink/ink25.xml"/><Relationship Id="rId7" Type="http://schemas.openxmlformats.org/officeDocument/2006/relationships/image" Target="../media/image81.png"/><Relationship Id="rId12" Type="http://schemas.openxmlformats.org/officeDocument/2006/relationships/image" Target="../media/image82.png"/><Relationship Id="rId2" Type="http://schemas.openxmlformats.org/officeDocument/2006/relationships/image" Target="../media/image78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5.png"/><Relationship Id="rId5" Type="http://schemas.openxmlformats.org/officeDocument/2006/relationships/customXml" Target="../ink/ink26.xml"/><Relationship Id="rId15" Type="http://schemas.openxmlformats.org/officeDocument/2006/relationships/customXml" Target="../ink/ink30.xml"/><Relationship Id="rId10" Type="http://schemas.openxmlformats.org/officeDocument/2006/relationships/customXml" Target="../ink/ink28.xml"/><Relationship Id="rId4" Type="http://schemas.openxmlformats.org/officeDocument/2006/relationships/image" Target="../media/image91.png"/><Relationship Id="rId9" Type="http://schemas.openxmlformats.org/officeDocument/2006/relationships/image" Target="../media/image94.png"/><Relationship Id="rId14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6.png"/><Relationship Id="rId7" Type="http://schemas.openxmlformats.org/officeDocument/2006/relationships/image" Target="../media/image10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特别说明：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、本次作业是预习作业，在下周上课前完成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、对于作业过程中不清楚的问题或不会的内容，先不要问（不清楚的位置可以先做个标记，结合听课再去理解）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要求一个程序多次运行的，不要自以为是的修改程序，放在一次去运行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</a:p>
          <a:p>
            <a:pPr algn="l"/>
            <a:r>
              <a:rPr lang="en-US" altLang="zh-CN" sz="2800" b="1" dirty="0">
                <a:latin typeface="+mn-ea"/>
              </a:rPr>
              <a:t>7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基本知识点：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是按格式读入，到空格、回车、非法为止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的输入必须以回车结束，输入的内容放在输入缓冲区中，从输入缓冲区去取得所需要的内容后，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多余的内容还放在输入缓冲区中，等待下次读入（如果程序结束，则操作系统会清空输入缓冲区）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、系统会自动根据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后变量的类型按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最长原则</a:t>
            </a:r>
            <a:r>
              <a:rPr lang="zh-CN" altLang="en-US" sz="1600" b="1" dirty="0">
                <a:latin typeface="+mn-ea"/>
              </a:rPr>
              <a:t>来读取合理数据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、变量读取后，系统会判断输入数据是否超过变量的范围，若超过则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置内部的错误标记</a:t>
            </a:r>
            <a:r>
              <a:rPr lang="zh-CN" altLang="en-US" sz="1600" b="1" dirty="0">
                <a:latin typeface="+mn-ea"/>
              </a:rPr>
              <a:t>并返回一个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不可信</a:t>
            </a:r>
            <a:r>
              <a:rPr lang="zh-CN" altLang="en-US" sz="1600" b="1" dirty="0">
                <a:latin typeface="+mn-ea"/>
              </a:rPr>
              <a:t>的值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（不同编译器处理不同）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输入完成后，通过</a:t>
            </a:r>
            <a:r>
              <a:rPr lang="en-US" altLang="zh-CN" sz="1600" b="1" dirty="0" err="1">
                <a:latin typeface="+mn-ea"/>
              </a:rPr>
              <a:t>cin.good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cin.fail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可判断本次输入是否正确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碰到非法字符后会置错误标记位，后面会一直错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（如何恢复还未学到，先放着）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连续输入多个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时，碰到非法字符，下一个是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，再下面才是随机值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超范围后，不同类型的数据处理不同，如果细节记不清，问题不大，但一定要知道有这回事，别奇怪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超范围和赋值超范围是不同的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根据数据类型决定输出形式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3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6000" b="1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6000" b="1" dirty="0">
                <a:solidFill>
                  <a:srgbClr val="FF0000"/>
                </a:solidFill>
                <a:latin typeface="+mn-ea"/>
              </a:rPr>
              <a:t>、先认真看课件</a:t>
            </a:r>
            <a:r>
              <a:rPr lang="en-US" altLang="zh-CN" sz="6000" b="1" dirty="0">
                <a:solidFill>
                  <a:srgbClr val="FF0000"/>
                </a:solidFill>
                <a:latin typeface="+mn-ea"/>
              </a:rPr>
              <a:t>!!!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C8EE9E-1435-4B4F-87E4-892D898B3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387" y="4234030"/>
            <a:ext cx="6202120" cy="113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6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a C++ program."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 &lt;&lt; "a C++ " &lt;&lt; "program."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</a:t>
            </a:r>
          </a:p>
          <a:p>
            <a:r>
              <a:rPr lang="en-US" altLang="zh-CN" sz="1200" b="1" dirty="0">
                <a:latin typeface="+mn-ea"/>
              </a:rPr>
              <a:t>         &lt;&lt; "a C++ "</a:t>
            </a:r>
          </a:p>
          <a:p>
            <a:r>
              <a:rPr lang="en-US" altLang="zh-CN" sz="1200" b="1" dirty="0">
                <a:latin typeface="+mn-ea"/>
              </a:rPr>
              <a:t>         &lt;&lt; "program."</a:t>
            </a:r>
          </a:p>
          <a:p>
            <a:r>
              <a:rPr lang="en-US" altLang="zh-CN" sz="1200" b="1" dirty="0">
                <a:latin typeface="+mn-ea"/>
              </a:rPr>
              <a:t>        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 C++ ";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"program.";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  <a:endParaRPr lang="zh-CN" altLang="zh-CN" sz="12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190875" y="5665076"/>
            <a:ext cx="7648575" cy="86907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组和第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4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组在语句上的区别是：</a:t>
            </a:r>
            <a:r>
              <a:rPr kumimoji="1" lang="zh-CN" altLang="en-US" sz="1600" b="1" dirty="0">
                <a:latin typeface="+mn-ea"/>
              </a:rPr>
              <a:t>第三组有一个语句分了四行，第四组有四个语句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FE293C-C4EA-F9E7-97C1-BD93409B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759" y="3630777"/>
            <a:ext cx="2490806" cy="114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5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25855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b &lt;&lt;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3177656" y="1323975"/>
            <a:ext cx="238231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F42479-BADA-4FA0-A5C5-86FA280CFD24}"/>
              </a:ext>
            </a:extLst>
          </p:cNvPr>
          <p:cNvSpPr/>
          <p:nvPr/>
        </p:nvSpPr>
        <p:spPr bwMode="auto">
          <a:xfrm>
            <a:off x="5559972" y="1323974"/>
            <a:ext cx="271166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(a, b, c)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BE4779-7CC8-43BD-A3F5-76B4716D7F0A}"/>
              </a:ext>
            </a:extLst>
          </p:cNvPr>
          <p:cNvSpPr/>
          <p:nvPr/>
        </p:nvSpPr>
        <p:spPr bwMode="auto">
          <a:xfrm>
            <a:off x="8271641" y="1323974"/>
            <a:ext cx="25637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a, b,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771798-5FB6-4D6E-BD6E-6DE4376B0A50}"/>
              </a:ext>
            </a:extLst>
          </p:cNvPr>
          <p:cNvSpPr/>
          <p:nvPr/>
        </p:nvSpPr>
        <p:spPr bwMode="auto">
          <a:xfrm>
            <a:off x="588075" y="4796001"/>
            <a:ext cx="7683562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解释这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个程序输出不同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原因：</a:t>
            </a: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第一个程序依次输出了</a:t>
            </a:r>
            <a:r>
              <a:rPr kumimoji="1" lang="en-US" altLang="zh-CN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abc</a:t>
            </a: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的值（是最原始数据）；</a:t>
            </a: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第二个程序中</a:t>
            </a:r>
            <a:r>
              <a:rPr kumimoji="1" lang="en-US" altLang="zh-CN" sz="1400" b="1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cout</a:t>
            </a:r>
            <a:r>
              <a:rPr kumimoji="1" lang="zh-CN" altLang="en-US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那一行是逗号表达式，逗号的优先级最低，</a:t>
            </a:r>
            <a:r>
              <a:rPr kumimoji="1" lang="en-US" altLang="zh-CN" sz="14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kumimoji="1" lang="en-US" altLang="zh-CN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 &lt;&lt; a</a:t>
            </a:r>
            <a:r>
              <a:rPr kumimoji="1" lang="zh-CN" altLang="en-US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是第一个，先执行，因此只有</a:t>
            </a:r>
            <a:r>
              <a:rPr kumimoji="1" lang="en-US" altLang="zh-CN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kumimoji="1" lang="zh-CN" altLang="en-US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被</a:t>
            </a:r>
            <a:r>
              <a:rPr kumimoji="1" lang="en-US" altLang="zh-CN" sz="14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kumimoji="1" lang="zh-CN" altLang="en-US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了，只输出</a:t>
            </a:r>
            <a:r>
              <a:rPr kumimoji="1" lang="en-US" altLang="zh-CN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kumimoji="1" lang="zh-CN" altLang="en-US" sz="14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的值</a:t>
            </a:r>
            <a:r>
              <a:rPr kumimoji="1" lang="zh-CN" altLang="en-US" sz="1400" b="1" dirty="0">
                <a:latin typeface="+mn-ea"/>
              </a:rPr>
              <a:t>；第三个程序输出了逗号表达式的值，即（）中最后一个表达式的值</a:t>
            </a:r>
            <a:r>
              <a:rPr kumimoji="1" lang="en-US" altLang="zh-CN" sz="1400" b="1" dirty="0">
                <a:latin typeface="+mn-ea"/>
              </a:rPr>
              <a:t>c</a:t>
            </a:r>
            <a:r>
              <a:rPr kumimoji="1" lang="zh-CN" altLang="en-US" sz="1400" b="1" dirty="0">
                <a:latin typeface="+mn-ea"/>
              </a:rPr>
              <a:t>的值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B1F99A-53FD-4593-B0C5-87126B93BA0E}"/>
              </a:ext>
            </a:extLst>
          </p:cNvPr>
          <p:cNvSpPr/>
          <p:nvPr/>
        </p:nvSpPr>
        <p:spPr bwMode="auto">
          <a:xfrm>
            <a:off x="8271639" y="4796001"/>
            <a:ext cx="2567809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解释错误原因：</a:t>
            </a:r>
            <a:r>
              <a:rPr kumimoji="1" lang="en-US" altLang="zh-CN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cout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那一行为逗号表达式，逗号</a:t>
            </a:r>
            <a:r>
              <a:rPr kumimoji="1" lang="zh-CN" altLang="en-US" sz="1200" b="1" dirty="0">
                <a:latin typeface="+mn-ea"/>
              </a:rPr>
              <a:t>将这行分为了三段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“</a:t>
            </a:r>
            <a:r>
              <a:rPr kumimoji="1" lang="en-US" altLang="zh-CN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cout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&lt;&lt;a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”“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”“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 &lt;&lt; </a:t>
            </a:r>
            <a:r>
              <a:rPr kumimoji="1" lang="en-US" altLang="zh-CN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endl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”，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其中“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c &lt;&lt; </a:t>
            </a:r>
            <a:r>
              <a:rPr kumimoji="1" lang="en-US" altLang="zh-CN" sz="1200" b="1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endl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95000"/>
                  </a:schemeClr>
                </a:solidFill>
                <a:effectLst/>
                <a:highlight>
                  <a:srgbClr val="FF0000"/>
                </a:highlight>
                <a:latin typeface="+mn-ea"/>
              </a:rPr>
              <a:t>”是语法错误的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5" y="5665075"/>
            <a:ext cx="10247336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1" dirty="0">
                <a:latin typeface="+mn-ea"/>
              </a:rPr>
              <a:t>结论：一个流插入运算符 </a:t>
            </a:r>
            <a:r>
              <a:rPr kumimoji="1" lang="en-US" altLang="zh-CN" sz="2400" b="1" dirty="0">
                <a:latin typeface="+mn-ea"/>
              </a:rPr>
              <a:t>&lt;&lt; </a:t>
            </a:r>
            <a:r>
              <a:rPr kumimoji="1" lang="zh-CN" altLang="en-US" sz="2400" b="1" dirty="0">
                <a:latin typeface="+mn-ea"/>
              </a:rPr>
              <a:t>只能输出</a:t>
            </a:r>
            <a:r>
              <a:rPr kumimoji="1" lang="en-US" altLang="zh-CN" sz="2400" b="1" dirty="0">
                <a:latin typeface="+mn-ea"/>
              </a:rPr>
              <a:t>___1____</a:t>
            </a:r>
            <a:r>
              <a:rPr kumimoji="1" lang="zh-CN" altLang="en-US" sz="2400" b="1" dirty="0">
                <a:latin typeface="+mn-ea"/>
              </a:rPr>
              <a:t>个数据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E28DBF-C87E-0086-0E1B-713777A3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3" y="3429000"/>
            <a:ext cx="2143141" cy="4667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FA701A4-3ECA-9313-AB39-A4543821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127" y="3324010"/>
            <a:ext cx="2347930" cy="50006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81E3112-7D16-00B9-BBCB-90CC76038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276" y="3357562"/>
            <a:ext cx="2309829" cy="53816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5F78A44-9932-08DA-27FA-89BB5E697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568" y="3585079"/>
            <a:ext cx="2247916" cy="19526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C519AF4-4BCC-E537-092C-A0D8683F60A6}"/>
              </a:ext>
            </a:extLst>
          </p:cNvPr>
          <p:cNvSpPr txBox="1"/>
          <p:nvPr/>
        </p:nvSpPr>
        <p:spPr>
          <a:xfrm>
            <a:off x="8271636" y="5927834"/>
            <a:ext cx="378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</a:rPr>
              <a:t>cout</a:t>
            </a:r>
            <a:r>
              <a:rPr lang="en-US" altLang="zh-CN" sz="2800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</a:rPr>
              <a:t>&lt;&lt;a,</a:t>
            </a:r>
            <a:r>
              <a:rPr lang="zh-CN" altLang="en-US" sz="2800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</a:rPr>
              <a:t>不是语法错误</a:t>
            </a:r>
          </a:p>
        </p:txBody>
      </p:sp>
    </p:spTree>
    <p:extLst>
      <p:ext uri="{BB962C8B-B14F-4D97-AF65-F5344CB8AC3E}">
        <p14:creationId xmlns:p14="http://schemas.microsoft.com/office/powerpoint/2010/main" val="44127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5749158" y="1323975"/>
            <a:ext cx="509028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4" y="5665075"/>
            <a:ext cx="1024733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解释这两个程序输出不同的原因：第一个程序定义的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型的，所以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代表的是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ascii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码为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的字符，即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；第二个程序定义的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型的，因此输出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时直接输出了数值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65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22A55C-9CE6-7A98-37D7-D02F886D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74" y="3629022"/>
            <a:ext cx="2400318" cy="6000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669C315-7CE6-78EC-61E0-F8FE44EBA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913" y="3595914"/>
            <a:ext cx="2333642" cy="52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53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，将修改后符合要求的程序及运行结果贴上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5749159" y="1323975"/>
            <a:ext cx="509029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4" y="5665075"/>
            <a:ext cx="515704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65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（不允许添加其它变量）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ABF044-5243-4B33-8F2F-8B05865F01E8}"/>
              </a:ext>
            </a:extLst>
          </p:cNvPr>
          <p:cNvSpPr/>
          <p:nvPr/>
        </p:nvSpPr>
        <p:spPr bwMode="auto">
          <a:xfrm>
            <a:off x="5745119" y="5665075"/>
            <a:ext cx="5094331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（不允许添加其它变量）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529B5A4-352F-811E-A589-3F41E4EB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018" y="3162817"/>
            <a:ext cx="3281386" cy="22717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A2059C9-8BB6-12E1-CC66-D23A7D2C1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176" y="3162817"/>
            <a:ext cx="3452838" cy="220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74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，将修改后符合要求的程序及运行结果贴上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92113" y="5665075"/>
            <a:ext cx="515704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65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（不允许添加其它变量，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不允许使用任何方式的强制类型转换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216581-DF7A-1ED7-A629-004D8363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24" y="3281178"/>
            <a:ext cx="3262336" cy="22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98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9131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</a:t>
            </a:r>
            <a:r>
              <a:rPr lang="en-US" altLang="zh-CN" sz="1600" b="1" dirty="0">
                <a:latin typeface="+mn-ea"/>
              </a:rPr>
              <a:t> 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 k="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(↙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代表回车键，下同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123 456↙(</a:t>
            </a:r>
            <a:r>
              <a:rPr kumimoji="1" lang="zh-CN" altLang="en-US" sz="1200" b="1" dirty="0">
                <a:latin typeface="+mn-ea"/>
              </a:rPr>
              <a:t>一个空格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123    456↙(</a:t>
            </a:r>
            <a:r>
              <a:rPr kumimoji="1" lang="zh-CN" altLang="en-US" sz="1200" b="1" dirty="0">
                <a:latin typeface="+mn-ea"/>
              </a:rPr>
              <a:t>多个空格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123m↙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m↙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     </a:t>
            </a:r>
            <a:r>
              <a:rPr kumimoji="1" lang="en-US" altLang="zh-CN" sz="1200" b="1" dirty="0">
                <a:latin typeface="+mn-ea"/>
              </a:rPr>
              <a:t>123↙ (</a:t>
            </a:r>
            <a:r>
              <a:rPr kumimoji="1" lang="zh-CN" altLang="en-US" sz="1200" b="1" dirty="0">
                <a:latin typeface="+mn-ea"/>
              </a:rPr>
              <a:t>持续多个空格后，再输入</a:t>
            </a:r>
            <a:r>
              <a:rPr kumimoji="1" lang="en-US" altLang="zh-CN" sz="1200" b="1" dirty="0">
                <a:latin typeface="+mn-ea"/>
              </a:rPr>
              <a:t>123</a:t>
            </a:r>
            <a:r>
              <a:rPr kumimoji="1" lang="zh-CN" altLang="en-US" sz="1200" b="1" dirty="0">
                <a:latin typeface="+mn-ea"/>
              </a:rPr>
              <a:t>，按回车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     </a:t>
            </a:r>
            <a:r>
              <a:rPr kumimoji="1" lang="en-US" altLang="zh-CN" sz="1200" b="1" dirty="0">
                <a:latin typeface="+mn-ea"/>
              </a:rPr>
              <a:t>↙ (</a:t>
            </a:r>
            <a:r>
              <a:rPr kumimoji="1" lang="zh-CN" altLang="en-US" sz="1200" b="1" dirty="0">
                <a:latin typeface="+mn-ea"/>
              </a:rPr>
              <a:t>持续多个空格后，按回车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123↙   (</a:t>
            </a:r>
            <a:r>
              <a:rPr kumimoji="1" lang="zh-CN" altLang="en-US" sz="1200" b="1" dirty="0">
                <a:latin typeface="+mn-ea"/>
              </a:rPr>
              <a:t>再输入</a:t>
            </a:r>
            <a:r>
              <a:rPr kumimoji="1" lang="en-US" altLang="zh-CN" sz="1200" b="1" dirty="0">
                <a:latin typeface="+mn-ea"/>
              </a:rPr>
              <a:t>123</a:t>
            </a:r>
            <a:r>
              <a:rPr kumimoji="1" lang="zh-CN" altLang="en-US" sz="1200" b="1" dirty="0">
                <a:latin typeface="+mn-ea"/>
              </a:rPr>
              <a:t>，按回车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...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↙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123↙ (</a:t>
            </a:r>
            <a:r>
              <a:rPr kumimoji="1" lang="zh-CN" altLang="en-US" sz="1200" b="1" dirty="0">
                <a:latin typeface="+mn-ea"/>
              </a:rPr>
              <a:t>持续多个空回车后，输入</a:t>
            </a:r>
            <a:r>
              <a:rPr kumimoji="1" lang="en-US" altLang="zh-CN" sz="1200" b="1" dirty="0">
                <a:latin typeface="+mn-ea"/>
              </a:rPr>
              <a:t>123)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分析结果：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、在前面有正确输入的情况下，回车、空格、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型而言是非法的字符</a:t>
            </a:r>
            <a:r>
              <a:rPr kumimoji="1" lang="en-US" altLang="zh-CN" sz="1200" b="1" dirty="0">
                <a:latin typeface="+mn-ea"/>
              </a:rPr>
              <a:t>)m</a:t>
            </a:r>
            <a:r>
              <a:rPr kumimoji="1" lang="zh-CN" altLang="en-US" sz="1200" b="1" dirty="0">
                <a:latin typeface="+mn-ea"/>
              </a:rPr>
              <a:t>的作用是？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使输入终止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、直接输入若干空格和回车后，再输入正确，变量是否能得到正确的值？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是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、直接输入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型而言是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非法的数据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，输出是？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latin typeface="+mn-ea"/>
              </a:rPr>
              <a:t>cin.good</a:t>
            </a:r>
            <a:r>
              <a:rPr kumimoji="1" lang="zh-CN" altLang="en-US" sz="1200" b="1" dirty="0">
                <a:latin typeface="+mn-ea"/>
              </a:rPr>
              <a:t>为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k</a:t>
            </a:r>
            <a:r>
              <a:rPr kumimoji="1" lang="zh-CN" altLang="en-US" sz="1200" b="1" dirty="0">
                <a:latin typeface="+mn-ea"/>
              </a:rPr>
              <a:t>为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（不可信，不可预知值）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21AF31-BE79-4BB8-8590-5C87B2AC4A36}"/>
              </a:ext>
            </a:extLst>
          </p:cNvPr>
          <p:cNvSpPr/>
          <p:nvPr/>
        </p:nvSpPr>
        <p:spPr bwMode="auto">
          <a:xfrm>
            <a:off x="592114" y="4391025"/>
            <a:ext cx="3356644" cy="2143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基础知识：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的最小值是：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___-2</a:t>
            </a:r>
            <a:r>
              <a:rPr kumimoji="1" lang="en-US" altLang="zh-CN" sz="1600" b="1" baseline="300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的最大值是：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___2</a:t>
            </a:r>
            <a:r>
              <a:rPr kumimoji="1" lang="en-US" altLang="zh-CN" sz="1600" b="1" baseline="300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-1____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327E85-6E34-4AD6-910C-9A271A3BD709}"/>
              </a:ext>
            </a:extLst>
          </p:cNvPr>
          <p:cNvSpPr/>
          <p:nvPr/>
        </p:nvSpPr>
        <p:spPr bwMode="auto">
          <a:xfrm>
            <a:off x="592114" y="5948516"/>
            <a:ext cx="3356644" cy="58563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1984D14-A58E-8FD8-7590-E95B082BE2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184" t="75542"/>
          <a:stretch/>
        </p:blipFill>
        <p:spPr>
          <a:xfrm>
            <a:off x="8020241" y="1462394"/>
            <a:ext cx="2393896" cy="720979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2196835A-18F5-A8B7-C8BD-67B7942748AB}"/>
              </a:ext>
            </a:extLst>
          </p:cNvPr>
          <p:cNvGrpSpPr/>
          <p:nvPr/>
        </p:nvGrpSpPr>
        <p:grpSpPr>
          <a:xfrm>
            <a:off x="6734731" y="1462394"/>
            <a:ext cx="1195920" cy="259560"/>
            <a:chOff x="6734731" y="1462394"/>
            <a:chExt cx="119592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AE13AC29-35F9-A2A5-CD78-4C28C468ECB9}"/>
                    </a:ext>
                  </a:extLst>
                </p14:cNvPr>
                <p14:cNvContentPartPr/>
                <p14:nvPr/>
              </p14:nvContentPartPr>
              <p14:xfrm>
                <a:off x="6734731" y="1462394"/>
                <a:ext cx="1173960" cy="25488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AE13AC29-35F9-A2A5-CD78-4C28C468ECB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28611" y="1456274"/>
                  <a:ext cx="11862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326E8BB8-1EDB-7017-EFDD-7ED774870B11}"/>
                    </a:ext>
                  </a:extLst>
                </p14:cNvPr>
                <p14:cNvContentPartPr/>
                <p14:nvPr/>
              </p14:nvContentPartPr>
              <p14:xfrm>
                <a:off x="7724731" y="1531874"/>
                <a:ext cx="205920" cy="1900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326E8BB8-1EDB-7017-EFDD-7ED774870B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18611" y="1525754"/>
                  <a:ext cx="218160" cy="202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C0DDE94-DEE7-9C41-AE7E-E328BFD1FDC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8751" t="73105"/>
          <a:stretch/>
        </p:blipFill>
        <p:spPr>
          <a:xfrm>
            <a:off x="5597670" y="2578773"/>
            <a:ext cx="1975787" cy="568762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FAD916-D607-E84D-6724-CF2FF28DE3D8}"/>
              </a:ext>
            </a:extLst>
          </p:cNvPr>
          <p:cNvGrpSpPr/>
          <p:nvPr/>
        </p:nvGrpSpPr>
        <p:grpSpPr>
          <a:xfrm>
            <a:off x="4962811" y="2863154"/>
            <a:ext cx="474480" cy="155160"/>
            <a:chOff x="4962811" y="2863154"/>
            <a:chExt cx="47448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DA51A7C8-47AF-5C35-79E0-76CF3FC4808B}"/>
                    </a:ext>
                  </a:extLst>
                </p14:cNvPr>
                <p14:cNvContentPartPr/>
                <p14:nvPr/>
              </p14:nvContentPartPr>
              <p14:xfrm>
                <a:off x="4962811" y="2917154"/>
                <a:ext cx="415440" cy="4068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DA51A7C8-47AF-5C35-79E0-76CF3FC4808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56691" y="2911034"/>
                  <a:ext cx="427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9C419992-760C-B571-EB5D-D735D88E896F}"/>
                    </a:ext>
                  </a:extLst>
                </p14:cNvPr>
                <p14:cNvContentPartPr/>
                <p14:nvPr/>
              </p14:nvContentPartPr>
              <p14:xfrm>
                <a:off x="5328571" y="2863154"/>
                <a:ext cx="108720" cy="1551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9C419992-760C-B571-EB5D-D735D88E89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22451" y="2857034"/>
                  <a:ext cx="120960" cy="167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0FC9352F-4819-E3C0-3981-7BB0E61CE65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1235" t="74551"/>
          <a:stretch/>
        </p:blipFill>
        <p:spPr>
          <a:xfrm>
            <a:off x="8696731" y="3084757"/>
            <a:ext cx="2276261" cy="705194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41B49E-B307-2B85-07E0-A9EAD322CD41}"/>
              </a:ext>
            </a:extLst>
          </p:cNvPr>
          <p:cNvGrpSpPr/>
          <p:nvPr/>
        </p:nvGrpSpPr>
        <p:grpSpPr>
          <a:xfrm>
            <a:off x="8305051" y="3279314"/>
            <a:ext cx="300960" cy="158040"/>
            <a:chOff x="8305051" y="3279314"/>
            <a:chExt cx="30096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D7758FA2-EB9C-402C-0D9F-1F7E454D948C}"/>
                    </a:ext>
                  </a:extLst>
                </p14:cNvPr>
                <p14:cNvContentPartPr/>
                <p14:nvPr/>
              </p14:nvContentPartPr>
              <p14:xfrm>
                <a:off x="8305051" y="3304154"/>
                <a:ext cx="291600" cy="831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D7758FA2-EB9C-402C-0D9F-1F7E454D948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98931" y="3298034"/>
                  <a:ext cx="3038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2FDCEC14-BD4A-EBAB-EFAB-FA1152C112AF}"/>
                    </a:ext>
                  </a:extLst>
                </p14:cNvPr>
                <p14:cNvContentPartPr/>
                <p14:nvPr/>
              </p14:nvContentPartPr>
              <p14:xfrm>
                <a:off x="8405131" y="3279314"/>
                <a:ext cx="200880" cy="15804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2FDCEC14-BD4A-EBAB-EFAB-FA1152C112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99011" y="3273194"/>
                  <a:ext cx="213120" cy="17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94760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520457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short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5" y="1323974"/>
            <a:ext cx="503872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123↙     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123︺456↙(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-123m↙   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非法字符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m↙       (</a:t>
            </a:r>
            <a:r>
              <a:rPr kumimoji="1" lang="zh-CN" altLang="en-US" sz="1600" b="1" dirty="0">
                <a:latin typeface="+mn-ea"/>
              </a:rPr>
              <a:t>直接非法字符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54321↙   (</a:t>
            </a:r>
            <a:r>
              <a:rPr kumimoji="1" lang="zh-CN" altLang="en-US" sz="1600" b="1" dirty="0">
                <a:latin typeface="+mn-ea"/>
              </a:rPr>
              <a:t>超上限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-40000↙  (</a:t>
            </a:r>
            <a:r>
              <a:rPr kumimoji="1" lang="zh-CN" altLang="en-US" sz="1600" b="1" dirty="0">
                <a:latin typeface="+mn-ea"/>
              </a:rPr>
              <a:t>超下限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5241CA-1237-4906-8FCC-E5E9EEA00A32}"/>
              </a:ext>
            </a:extLst>
          </p:cNvPr>
          <p:cNvSpPr/>
          <p:nvPr/>
        </p:nvSpPr>
        <p:spPr bwMode="auto">
          <a:xfrm>
            <a:off x="592113" y="4857749"/>
            <a:ext cx="5204572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__4,5,6__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5FD7E2-D4AE-49A7-A008-4D13B52E1631}"/>
              </a:ext>
            </a:extLst>
          </p:cNvPr>
          <p:cNvSpPr/>
          <p:nvPr/>
        </p:nvSpPr>
        <p:spPr bwMode="auto">
          <a:xfrm>
            <a:off x="592114" y="6184490"/>
            <a:ext cx="5204570" cy="34966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32B2D5-827E-2474-6C23-4CE25C66D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58" t="70039"/>
          <a:stretch/>
        </p:blipFill>
        <p:spPr>
          <a:xfrm>
            <a:off x="9541039" y="1076400"/>
            <a:ext cx="2577935" cy="7274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71C2F0-E0F6-6121-9AE5-7711A023CF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382" t="58015"/>
          <a:stretch/>
        </p:blipFill>
        <p:spPr>
          <a:xfrm>
            <a:off x="9522571" y="1963360"/>
            <a:ext cx="2242742" cy="944948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B89F5E71-D20C-4161-9018-9879F62F3B4E}"/>
              </a:ext>
            </a:extLst>
          </p:cNvPr>
          <p:cNvGrpSpPr/>
          <p:nvPr/>
        </p:nvGrpSpPr>
        <p:grpSpPr>
          <a:xfrm>
            <a:off x="8948371" y="1519634"/>
            <a:ext cx="515520" cy="473400"/>
            <a:chOff x="8948371" y="1519634"/>
            <a:chExt cx="51552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693FF2AD-5A19-68F7-042B-EC0D26EBED7C}"/>
                    </a:ext>
                  </a:extLst>
                </p14:cNvPr>
                <p14:cNvContentPartPr/>
                <p14:nvPr/>
              </p14:nvContentPartPr>
              <p14:xfrm>
                <a:off x="8948371" y="1626914"/>
                <a:ext cx="514800" cy="36612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693FF2AD-5A19-68F7-042B-EC0D26EBED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42251" y="1620794"/>
                  <a:ext cx="52704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451624A-616F-D411-821E-5BEC80B677E0}"/>
                    </a:ext>
                  </a:extLst>
                </p14:cNvPr>
                <p14:cNvContentPartPr/>
                <p14:nvPr/>
              </p14:nvContentPartPr>
              <p14:xfrm>
                <a:off x="9282811" y="1519634"/>
                <a:ext cx="181080" cy="24084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451624A-616F-D411-821E-5BEC80B677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76691" y="1513514"/>
                  <a:ext cx="19332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938D027-D5C9-4D3A-FC5A-3B436CAD6CA0}"/>
              </a:ext>
            </a:extLst>
          </p:cNvPr>
          <p:cNvGrpSpPr/>
          <p:nvPr/>
        </p:nvGrpSpPr>
        <p:grpSpPr>
          <a:xfrm>
            <a:off x="8935771" y="2004914"/>
            <a:ext cx="524880" cy="430920"/>
            <a:chOff x="8935771" y="2004914"/>
            <a:chExt cx="52488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04988AD6-717D-01C4-6E78-42FDF5CB9A9D}"/>
                    </a:ext>
                  </a:extLst>
                </p14:cNvPr>
                <p14:cNvContentPartPr/>
                <p14:nvPr/>
              </p14:nvContentPartPr>
              <p14:xfrm>
                <a:off x="8935771" y="2004914"/>
                <a:ext cx="469800" cy="35280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04988AD6-717D-01C4-6E78-42FDF5CB9A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29651" y="1998794"/>
                  <a:ext cx="4820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FAA3618A-7DEF-4AFF-6BCF-003D7CE3C616}"/>
                    </a:ext>
                  </a:extLst>
                </p14:cNvPr>
                <p14:cNvContentPartPr/>
                <p14:nvPr/>
              </p14:nvContentPartPr>
              <p14:xfrm>
                <a:off x="9063211" y="2257634"/>
                <a:ext cx="397440" cy="17820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FAA3618A-7DEF-4AFF-6BCF-003D7CE3C6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57091" y="2251514"/>
                  <a:ext cx="409680" cy="190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06CB25D4-C962-9E88-B59D-F6C8FC2634B0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6664" t="65599"/>
          <a:stretch/>
        </p:blipFill>
        <p:spPr>
          <a:xfrm>
            <a:off x="9484591" y="4984526"/>
            <a:ext cx="2791419" cy="85355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405F552-B685-C799-0CF4-0BCAC4543497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22836" t="69936"/>
          <a:stretch/>
        </p:blipFill>
        <p:spPr>
          <a:xfrm>
            <a:off x="9655051" y="3713545"/>
            <a:ext cx="3083703" cy="834338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8BAA6898-FFF5-154F-D350-AE03558D1018}"/>
              </a:ext>
            </a:extLst>
          </p:cNvPr>
          <p:cNvGrpSpPr/>
          <p:nvPr/>
        </p:nvGrpSpPr>
        <p:grpSpPr>
          <a:xfrm>
            <a:off x="9263011" y="4130714"/>
            <a:ext cx="284760" cy="1397160"/>
            <a:chOff x="9263011" y="4130714"/>
            <a:chExt cx="284760" cy="139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1438B9D8-C334-0434-F606-EEABD8A48E33}"/>
                    </a:ext>
                  </a:extLst>
                </p14:cNvPr>
                <p14:cNvContentPartPr/>
                <p14:nvPr/>
              </p14:nvContentPartPr>
              <p14:xfrm>
                <a:off x="9288931" y="4212434"/>
                <a:ext cx="233640" cy="2592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1438B9D8-C334-0434-F606-EEABD8A48E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82811" y="4206314"/>
                  <a:ext cx="245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FAF84DC9-2103-9658-403C-2C5CEE1D1280}"/>
                    </a:ext>
                  </a:extLst>
                </p14:cNvPr>
                <p14:cNvContentPartPr/>
                <p14:nvPr/>
              </p14:nvContentPartPr>
              <p14:xfrm>
                <a:off x="9421411" y="4130714"/>
                <a:ext cx="126360" cy="23868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FAF84DC9-2103-9658-403C-2C5CEE1D128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15291" y="4124594"/>
                  <a:ext cx="138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B50A9DC9-7691-9EDF-6F2F-07E7AED87CB2}"/>
                    </a:ext>
                  </a:extLst>
                </p14:cNvPr>
                <p14:cNvContentPartPr/>
                <p14:nvPr/>
              </p14:nvContentPartPr>
              <p14:xfrm>
                <a:off x="9263011" y="4313234"/>
                <a:ext cx="192600" cy="105156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B50A9DC9-7691-9EDF-6F2F-07E7AED87C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56891" y="4307114"/>
                  <a:ext cx="204840" cy="10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E93505FC-A66B-E859-D337-C79EB4851F29}"/>
                    </a:ext>
                  </a:extLst>
                </p14:cNvPr>
                <p14:cNvContentPartPr/>
                <p14:nvPr/>
              </p14:nvContentPartPr>
              <p14:xfrm>
                <a:off x="9317011" y="5202074"/>
                <a:ext cx="170640" cy="32580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E93505FC-A66B-E859-D337-C79EB4851F2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10891" y="5195954"/>
                  <a:ext cx="182880" cy="33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62163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B-Compare.</a:t>
            </a:r>
            <a:r>
              <a:rPr lang="zh-CN" altLang="en-US" sz="1600" b="1" dirty="0">
                <a:latin typeface="+mn-ea"/>
              </a:rPr>
              <a:t>运行下面的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输入与赋值），观察运行结果并与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k1, k2, k3, k4, k5;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k1 = 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k2 = 54321;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k3 = 70000;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k4 = -12345;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k5 = -54321;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k4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k5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的输入：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k1=12345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54321↙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k2=-11215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k3=4464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k4=-12345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-54321↙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k5=11215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F6BE96-F3B0-4B1D-9558-EDFED6F0D798}"/>
              </a:ext>
            </a:extLst>
          </p:cNvPr>
          <p:cNvSpPr/>
          <p:nvPr/>
        </p:nvSpPr>
        <p:spPr bwMode="auto">
          <a:xfrm>
            <a:off x="8103477" y="1323974"/>
            <a:ext cx="2731934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8240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520457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5" y="1323974"/>
            <a:ext cx="56999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_123_↙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3333333333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9999999999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__-123___↙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__-9999999999___↙ 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92F46C-FE53-4D34-AE8C-AE64662F528C}"/>
              </a:ext>
            </a:extLst>
          </p:cNvPr>
          <p:cNvSpPr/>
          <p:nvPr/>
        </p:nvSpPr>
        <p:spPr bwMode="auto">
          <a:xfrm>
            <a:off x="920114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7E1F94-6592-46B5-81D6-0F55B7927B1C}"/>
              </a:ext>
            </a:extLst>
          </p:cNvPr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___2,3,5____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C4B18B-D58E-412B-92BA-22E5005D8056}"/>
              </a:ext>
            </a:extLst>
          </p:cNvPr>
          <p:cNvSpPr/>
          <p:nvPr/>
        </p:nvSpPr>
        <p:spPr bwMode="auto">
          <a:xfrm>
            <a:off x="9201149" y="1323974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A51B11-1A8C-46B1-9C03-F3061FD54745}"/>
              </a:ext>
            </a:extLst>
          </p:cNvPr>
          <p:cNvSpPr/>
          <p:nvPr/>
        </p:nvSpPr>
        <p:spPr bwMode="auto">
          <a:xfrm>
            <a:off x="592114" y="6174658"/>
            <a:ext cx="5204570" cy="35949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4ED815-1AEB-E03B-A64C-38C78F3CD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616" y="1714500"/>
            <a:ext cx="1684669" cy="7627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B73AC33-6BBA-2DA5-73A5-8E0F7621C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782" y="3820851"/>
            <a:ext cx="1606870" cy="74212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6FB14BD-C795-614F-6CBD-6D9C3449D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0285" y="1714500"/>
            <a:ext cx="1565820" cy="74930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2BE3035-4A10-12D9-F4F4-AA9A23E46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6094" y="3876141"/>
            <a:ext cx="1565820" cy="65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9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，构造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注：具体对比程序及输出结果等不要再贴图，自行完成即可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需要回答下列问题（回答问题不是完成作业，而是自己真的弄懂了概念后的总结） 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0DC1C6-A67F-44AD-A386-BE09259C34B7}"/>
              </a:ext>
            </a:extLst>
          </p:cNvPr>
          <p:cNvSpPr/>
          <p:nvPr/>
        </p:nvSpPr>
        <p:spPr bwMode="auto">
          <a:xfrm>
            <a:off x="589541" y="2199872"/>
            <a:ext cx="10604640" cy="43645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上限但未超同类型的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不一致。输入时是</a:t>
            </a:r>
            <a:r>
              <a:rPr kumimoji="1" lang="en-US" altLang="zh-CN" sz="1600" b="1" dirty="0">
                <a:latin typeface="+mn-ea"/>
              </a:rPr>
              <a:t>good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返回一个不可信的值，赋值时会将</a:t>
            </a:r>
            <a:r>
              <a:rPr kumimoji="1" lang="en-US" altLang="zh-CN" sz="1600" b="1" dirty="0" err="1">
                <a:latin typeface="+mn-ea"/>
              </a:rPr>
              <a:t>usigned</a:t>
            </a:r>
            <a:r>
              <a:rPr kumimoji="1" lang="zh-CN" altLang="en-US" sz="1600" b="1" dirty="0">
                <a:latin typeface="+mn-ea"/>
              </a:rPr>
              <a:t>型的数据的第一位视为符号位得到一个</a:t>
            </a:r>
            <a:r>
              <a:rPr kumimoji="1" lang="en-US" altLang="zh-CN" sz="1600" b="1" dirty="0">
                <a:latin typeface="+mn-ea"/>
              </a:rPr>
              <a:t>signed</a:t>
            </a:r>
            <a:r>
              <a:rPr kumimoji="1" lang="zh-CN" altLang="en-US" sz="1600" b="1" dirty="0">
                <a:latin typeface="+mn-ea"/>
              </a:rPr>
              <a:t>型的数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上限且超同类型的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不一致。输入时是</a:t>
            </a:r>
            <a:r>
              <a:rPr kumimoji="1" lang="en-US" altLang="zh-CN" sz="1600" b="1" dirty="0">
                <a:latin typeface="+mn-ea"/>
              </a:rPr>
              <a:t>good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返回一个不可信的值，赋值时会丢弃高位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不一致。输入时是</a:t>
            </a:r>
            <a:r>
              <a:rPr kumimoji="1" lang="en-US" altLang="zh-CN" sz="1600" b="1" dirty="0">
                <a:latin typeface="+mn-ea"/>
              </a:rPr>
              <a:t>good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返回一个不可信的值，赋值时会丢弃高位</a:t>
            </a:r>
            <a:endParaRPr kumimoji="1"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4925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2045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unsigned 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"k=" &lt;&lt;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good="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fail="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3" y="1323974"/>
            <a:ext cx="610004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（负数但未超过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-1↙    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-65535↙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-65536↙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960119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2D72D9-0DBE-429E-AE09-870F3A1DBFFF}"/>
              </a:ext>
            </a:extLst>
          </p:cNvPr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6_____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6D54AF-7A00-44D3-BEAC-B2CCE0B4EBC8}"/>
              </a:ext>
            </a:extLst>
          </p:cNvPr>
          <p:cNvSpPr/>
          <p:nvPr/>
        </p:nvSpPr>
        <p:spPr bwMode="auto">
          <a:xfrm>
            <a:off x="9270124" y="1323973"/>
            <a:ext cx="26361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A5E09D-3EE8-4DFB-B602-502BF8A98474}"/>
              </a:ext>
            </a:extLst>
          </p:cNvPr>
          <p:cNvSpPr/>
          <p:nvPr/>
        </p:nvSpPr>
        <p:spPr bwMode="auto">
          <a:xfrm>
            <a:off x="592112" y="6154993"/>
            <a:ext cx="5204569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0EEF56-760B-9050-D97B-4299BD02A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735" y="1647888"/>
            <a:ext cx="1663428" cy="5908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2AB1CF4-D275-E50E-C19D-0747C3BBA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163" y="2248747"/>
            <a:ext cx="1820571" cy="627165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1D042C61-1EFF-8CA6-16C9-DA7968249AEE}"/>
              </a:ext>
            </a:extLst>
          </p:cNvPr>
          <p:cNvGrpSpPr/>
          <p:nvPr/>
        </p:nvGrpSpPr>
        <p:grpSpPr>
          <a:xfrm>
            <a:off x="8741371" y="1876394"/>
            <a:ext cx="307080" cy="752400"/>
            <a:chOff x="8741371" y="1876394"/>
            <a:chExt cx="307080" cy="75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02AC7510-518F-C378-4A60-3B340B2E101C}"/>
                    </a:ext>
                  </a:extLst>
                </p14:cNvPr>
                <p14:cNvContentPartPr/>
                <p14:nvPr/>
              </p14:nvContentPartPr>
              <p14:xfrm>
                <a:off x="8741371" y="1909874"/>
                <a:ext cx="267120" cy="5148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02AC7510-518F-C378-4A60-3B340B2E101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35251" y="1903754"/>
                  <a:ext cx="279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82BA00C9-9F57-35BE-CD9A-730FA97CC1C8}"/>
                    </a:ext>
                  </a:extLst>
                </p14:cNvPr>
                <p14:cNvContentPartPr/>
                <p14:nvPr/>
              </p14:nvContentPartPr>
              <p14:xfrm>
                <a:off x="8948371" y="1876394"/>
                <a:ext cx="100080" cy="15444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82BA00C9-9F57-35BE-CD9A-730FA97CC1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42251" y="1870274"/>
                  <a:ext cx="112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650F2E4A-9BFE-3FB0-5C78-9C3C3BC1CF54}"/>
                    </a:ext>
                  </a:extLst>
                </p14:cNvPr>
                <p14:cNvContentPartPr/>
                <p14:nvPr/>
              </p14:nvContentPartPr>
              <p14:xfrm>
                <a:off x="8814451" y="2055674"/>
                <a:ext cx="126720" cy="57312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650F2E4A-9BFE-3FB0-5C78-9C3C3BC1CF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08331" y="2049554"/>
                  <a:ext cx="13896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3F062A55-7BF2-D485-D75A-BCE8C1147F35}"/>
                    </a:ext>
                  </a:extLst>
                </p14:cNvPr>
                <p14:cNvContentPartPr/>
                <p14:nvPr/>
              </p14:nvContentPartPr>
              <p14:xfrm>
                <a:off x="8878891" y="2437274"/>
                <a:ext cx="127080" cy="1821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3F062A55-7BF2-D485-D75A-BCE8C1147F3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72771" y="2431154"/>
                  <a:ext cx="139320" cy="194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27D8010C-A421-A785-0AE0-12CE1AE05A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0950" y="4615155"/>
            <a:ext cx="2243154" cy="74295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D9DE77C-BF5B-C624-3337-A0C16EC0B9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4940" y="5345362"/>
            <a:ext cx="2281254" cy="8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79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构造的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 err="1">
                <a:latin typeface="+mn-ea"/>
              </a:rPr>
              <a:t>u_short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2045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unsigned 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k1, k2, k3, k4, k5, k6;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k1 = 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k2 = 70000;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k3 = -12345;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k4 = -1;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k5 = -65535;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k6 = -65536;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k4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k5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k6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3" y="1323974"/>
            <a:ext cx="610004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贴图即可（有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还有贴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），不需要写分析结果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k1=12345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k2=4464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（负数但未超过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k3=53191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-1↙    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k4=65535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-65535↙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k5=1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-65536↙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k6=0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960119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6D54AF-7A00-44D3-BEAC-B2CCE0B4EBC8}"/>
              </a:ext>
            </a:extLst>
          </p:cNvPr>
          <p:cNvSpPr/>
          <p:nvPr/>
        </p:nvSpPr>
        <p:spPr bwMode="auto">
          <a:xfrm>
            <a:off x="3160557" y="1323973"/>
            <a:ext cx="26361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6EB460-C1FF-46FF-405F-09856B690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355" y="1721082"/>
            <a:ext cx="1989088" cy="6158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C2DCE24-2E98-5184-629F-A729A5C8B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110" y="2551350"/>
            <a:ext cx="1888936" cy="6158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D7089D3-39D0-539C-9F66-8FF9DB340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355" y="3343237"/>
            <a:ext cx="1982002" cy="6419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E3A1EFC-D262-335A-D21E-422D0BAD8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766" y="4128984"/>
            <a:ext cx="1800828" cy="6158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2E8BF8D-A587-0B0E-B422-9667C920C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813" y="4899960"/>
            <a:ext cx="2022027" cy="64542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539708E-77E0-9673-6DFB-869BC9BF0A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4742" y="5981994"/>
            <a:ext cx="2356726" cy="87286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94945FF-2C5A-342B-08AE-11EA5531C4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0801" y="1753262"/>
            <a:ext cx="1870989" cy="61586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14B2284-8262-6026-4C1D-55BE5FC1C1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0594" y="2509605"/>
            <a:ext cx="1891650" cy="65761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C897567-BFBD-7D38-9559-6FA359C242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4903" y="3333321"/>
            <a:ext cx="2066429" cy="68293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EEE5F57-E60F-5CA4-1DDA-DFB3C6BE71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1036" y="4131410"/>
            <a:ext cx="2192006" cy="65293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44AC41C-7D6F-178B-4419-DEEE21DFA6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6640" y="4893386"/>
            <a:ext cx="2108339" cy="65857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EF1C981-7575-74A3-EAF3-686A64EFD2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5511" y="5784683"/>
            <a:ext cx="2581501" cy="80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42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52045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unsigned 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good()="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fail()="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4" y="1323974"/>
            <a:ext cx="610956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（负数但未超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9610725" y="5919018"/>
            <a:ext cx="2295525" cy="61513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FAA866-F2A8-4472-9C38-3DD113F17631}"/>
              </a:ext>
            </a:extLst>
          </p:cNvPr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F3CD21-A63C-4612-8061-61AC09EEECA7}"/>
              </a:ext>
            </a:extLst>
          </p:cNvPr>
          <p:cNvSpPr/>
          <p:nvPr/>
        </p:nvSpPr>
        <p:spPr bwMode="auto">
          <a:xfrm>
            <a:off x="9610724" y="1323973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A3F899-4F11-4204-B58C-4B1C2C6F2E27}"/>
              </a:ext>
            </a:extLst>
          </p:cNvPr>
          <p:cNvSpPr/>
          <p:nvPr/>
        </p:nvSpPr>
        <p:spPr bwMode="auto">
          <a:xfrm>
            <a:off x="592111" y="5919019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int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基本同 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short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，弄懂即可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本页可以不做，空着不扣分</a:t>
            </a:r>
          </a:p>
        </p:txBody>
      </p:sp>
    </p:spTree>
    <p:extLst>
      <p:ext uri="{BB962C8B-B14F-4D97-AF65-F5344CB8AC3E}">
        <p14:creationId xmlns:p14="http://schemas.microsoft.com/office/powerpoint/2010/main" val="681092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，构造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 err="1">
                <a:latin typeface="+mn-ea"/>
              </a:rPr>
              <a:t>u_int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E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注：具体对比程序及输出结果等不要再贴图，自行完成即可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需要回答下列问题（回答问题不是完成作业，而是自己真的弄懂了概念后的总结） 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ED788C-5E8E-4501-B358-D977B6DCCC97}"/>
              </a:ext>
            </a:extLst>
          </p:cNvPr>
          <p:cNvSpPr/>
          <p:nvPr/>
        </p:nvSpPr>
        <p:spPr bwMode="auto">
          <a:xfrm>
            <a:off x="589541" y="2199872"/>
            <a:ext cx="10604640" cy="43645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A3C1E-E76B-4667-9911-ECC541F32751}"/>
              </a:ext>
            </a:extLst>
          </p:cNvPr>
          <p:cNvSpPr/>
          <p:nvPr/>
        </p:nvSpPr>
        <p:spPr bwMode="auto">
          <a:xfrm>
            <a:off x="592111" y="5948515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unsigned int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基本同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unsigned short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，弄懂即可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本页可以不做，空着不扣分</a:t>
            </a:r>
          </a:p>
        </p:txBody>
      </p:sp>
    </p:spTree>
    <p:extLst>
      <p:ext uri="{BB962C8B-B14F-4D97-AF65-F5344CB8AC3E}">
        <p14:creationId xmlns:p14="http://schemas.microsoft.com/office/powerpoint/2010/main" val="637495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§.</a:t>
            </a:r>
            <a:r>
              <a:rPr lang="zh-CN" altLang="en-US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- </a:t>
            </a:r>
            <a:r>
              <a:rPr lang="en-US" altLang="zh-CN" sz="28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lang="zh-CN" altLang="en-US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与</a:t>
            </a:r>
            <a:r>
              <a:rPr lang="en-US" altLang="zh-CN" sz="28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cout</a:t>
            </a:r>
            <a:r>
              <a:rPr lang="zh-CN" altLang="en-US" sz="28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的基本使用</a:t>
            </a:r>
            <a:endParaRPr lang="en-US" altLang="zh-CN" sz="28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 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本页中，可信代表</a:t>
            </a:r>
            <a:r>
              <a:rPr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。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Good=1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，不可信代表</a:t>
            </a:r>
            <a:r>
              <a:rPr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。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Good=0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B-E.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名词解释：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输入正确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指数学上合法的数，但不代表一定在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C/C++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的某类型数据的数据范围内（下同）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2.B~2.E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，给出下列问题的分析及结论：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数据在输入正确且范围合理的情况下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返回数可信且正确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数据在输入正确但超上限（未超同类型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数据在输入正确且超上限（超过同类型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数据在输入正确但超下限范围的情况下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数据在输入正确且范围合理的情况下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返回数可信且正确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数据在输入正确且超上限的情况下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数据在输入正确但为负数（未超同类型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返回数可信但是错误，返回一个未超</a:t>
            </a: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上限的正数，该数</a:t>
            </a: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+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输入数绝对值</a:t>
            </a: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=unsigned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数据的上限</a:t>
            </a: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+1  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此处的“错误”表示数据错误，但是</a:t>
            </a:r>
            <a:r>
              <a:rPr kumimoji="1" lang="en-US" altLang="zh-CN" sz="12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cin.good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是</a:t>
            </a: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8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上限加负号后的下限）的情况下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返回数不可信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对比：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右值超范围的情况下，表现是否相同？总结规律：</a:t>
            </a:r>
            <a:r>
              <a:rPr kumimoji="1" lang="zh-CN" altLang="en-US" sz="1400" b="1" dirty="0">
                <a:latin typeface="+mn-ea"/>
              </a:rPr>
              <a:t>不同。输入时，一般超范围的输入会返回不可信值，不同编译器处理不同；只有在</a:t>
            </a:r>
            <a:r>
              <a:rPr kumimoji="1" lang="en-US" altLang="zh-CN" sz="1400" b="1" dirty="0">
                <a:latin typeface="+mn-ea"/>
              </a:rPr>
              <a:t>unsigned</a:t>
            </a:r>
            <a:r>
              <a:rPr kumimoji="1" lang="zh-CN" altLang="en-US" sz="1400" b="1" dirty="0">
                <a:latin typeface="+mn-ea"/>
              </a:rPr>
              <a:t>数据在输入正确但为负数（未超同类型</a:t>
            </a:r>
            <a:r>
              <a:rPr kumimoji="1" lang="en-US" altLang="zh-CN" sz="1400" b="1" dirty="0">
                <a:latin typeface="+mn-ea"/>
              </a:rPr>
              <a:t>signed</a:t>
            </a:r>
            <a:r>
              <a:rPr kumimoji="1" lang="zh-CN" altLang="en-US" sz="1400" b="1" dirty="0">
                <a:latin typeface="+mn-ea"/>
              </a:rPr>
              <a:t>下限）的情况下，超范围的输入会返回可信的值，返回一个未超</a:t>
            </a:r>
            <a:r>
              <a:rPr kumimoji="1" lang="en-US" altLang="zh-CN" sz="1400" b="1" dirty="0">
                <a:latin typeface="+mn-ea"/>
              </a:rPr>
              <a:t>unsigned</a:t>
            </a:r>
            <a:r>
              <a:rPr kumimoji="1" lang="zh-CN" altLang="en-US" sz="1400" b="1" dirty="0">
                <a:latin typeface="+mn-ea"/>
              </a:rPr>
              <a:t>上限的正数，该数</a:t>
            </a:r>
            <a:r>
              <a:rPr kumimoji="1" lang="en-US" altLang="zh-CN" sz="1400" b="1" dirty="0">
                <a:latin typeface="+mn-ea"/>
              </a:rPr>
              <a:t>+</a:t>
            </a:r>
            <a:r>
              <a:rPr kumimoji="1" lang="zh-CN" altLang="en-US" sz="1400" b="1" dirty="0">
                <a:latin typeface="+mn-ea"/>
              </a:rPr>
              <a:t>输入数绝对值</a:t>
            </a:r>
            <a:r>
              <a:rPr kumimoji="1" lang="en-US" altLang="zh-CN" sz="1400" b="1" dirty="0">
                <a:latin typeface="+mn-ea"/>
              </a:rPr>
              <a:t>=unsigned</a:t>
            </a:r>
            <a:r>
              <a:rPr kumimoji="1" lang="zh-CN" altLang="en-US" sz="1400" b="1" dirty="0">
                <a:latin typeface="+mn-ea"/>
              </a:rPr>
              <a:t>数据的上限</a:t>
            </a:r>
            <a:r>
              <a:rPr kumimoji="1" lang="en-US" altLang="zh-CN" sz="1400" b="1" dirty="0">
                <a:latin typeface="+mn-ea"/>
              </a:rPr>
              <a:t>+1</a:t>
            </a:r>
            <a:r>
              <a:rPr kumimoji="1" lang="zh-CN" altLang="en-US" sz="1400" b="1" dirty="0">
                <a:latin typeface="+mn-ea"/>
              </a:rPr>
              <a:t>。赋值时，超范围的数在同长度的</a:t>
            </a:r>
            <a:r>
              <a:rPr kumimoji="1" lang="en-US" altLang="zh-CN" sz="1400" b="1" dirty="0">
                <a:latin typeface="+mn-ea"/>
              </a:rPr>
              <a:t>signed</a:t>
            </a:r>
            <a:r>
              <a:rPr kumimoji="1" lang="zh-CN" altLang="en-US" sz="1400" b="1" dirty="0">
                <a:latin typeface="+mn-ea"/>
              </a:rPr>
              <a:t>和</a:t>
            </a:r>
            <a:r>
              <a:rPr kumimoji="1" lang="en-US" altLang="zh-CN" sz="1400" b="1" dirty="0">
                <a:latin typeface="+mn-ea"/>
              </a:rPr>
              <a:t>unsigned</a:t>
            </a:r>
            <a:r>
              <a:rPr kumimoji="1" lang="zh-CN" altLang="en-US" sz="1400" b="1" dirty="0">
                <a:latin typeface="+mn-ea"/>
              </a:rPr>
              <a:t>之间赋值可能会导致错误，不同长度赋值时，短赋给长会高位填充，长赋给短会高位丢弃</a:t>
            </a:r>
            <a:endParaRPr kumimoji="1" lang="en-US" altLang="zh-CN" sz="14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右值合理范围的情况下，表现是否相同？总结规律：</a:t>
            </a:r>
            <a:r>
              <a:rPr kumimoji="1" lang="zh-CN" altLang="en-US" sz="1400" b="1" dirty="0">
                <a:latin typeface="+mn-ea"/>
              </a:rPr>
              <a:t>相同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4811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12FC54-E1BA-4398-BA3F-4548284A6D55}"/>
              </a:ext>
            </a:extLst>
          </p:cNvPr>
          <p:cNvSpPr/>
          <p:nvPr/>
        </p:nvSpPr>
        <p:spPr bwMode="auto">
          <a:xfrm>
            <a:off x="592113" y="1323975"/>
            <a:ext cx="401838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="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BE0F45-262C-4875-BBD6-52A6431F363D}"/>
              </a:ext>
            </a:extLst>
          </p:cNvPr>
          <p:cNvSpPr/>
          <p:nvPr/>
        </p:nvSpPr>
        <p:spPr bwMode="auto">
          <a:xfrm>
            <a:off x="4610501" y="1323974"/>
            <a:ext cx="62249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（单个图形字符）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\b</a:t>
            </a:r>
            <a:r>
              <a:rPr lang="zh-CN" altLang="en-US" sz="1200" b="1" dirty="0">
                <a:latin typeface="+mn-ea"/>
              </a:rPr>
              <a:t>（退格键的转义符）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\101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</a:t>
            </a:r>
            <a:r>
              <a:rPr lang="en-US" altLang="zh-CN" sz="1200" b="1" dirty="0">
                <a:latin typeface="+mn-ea"/>
              </a:rPr>
              <a:t>8</a:t>
            </a:r>
            <a:r>
              <a:rPr lang="zh-CN" altLang="en-US" sz="1200" b="1" dirty="0">
                <a:latin typeface="+mn-ea"/>
              </a:rPr>
              <a:t>进制转义表示）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\x41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</a:t>
            </a:r>
            <a:r>
              <a:rPr lang="en-US" altLang="zh-CN" sz="1200" b="1" dirty="0">
                <a:latin typeface="+mn-ea"/>
              </a:rPr>
              <a:t>16</a:t>
            </a:r>
            <a:r>
              <a:rPr lang="zh-CN" altLang="en-US" sz="1200" b="1" dirty="0">
                <a:latin typeface="+mn-ea"/>
              </a:rPr>
              <a:t>进制转义表示）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5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65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码的十进制整数形式表示）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6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 err="1">
                <a:latin typeface="+mn-ea"/>
              </a:rPr>
              <a:t>CtrL+C</a:t>
            </a:r>
            <a:r>
              <a:rPr lang="zh-CN" altLang="en-US" sz="1200" b="1" dirty="0">
                <a:latin typeface="+mn-ea"/>
              </a:rPr>
              <a:t>（注意：是</a:t>
            </a:r>
            <a:r>
              <a:rPr lang="en-US" altLang="zh-CN" sz="1200" b="1" dirty="0" err="1">
                <a:latin typeface="+mn-ea"/>
              </a:rPr>
              <a:t>Ctrl+C</a:t>
            </a:r>
            <a:r>
              <a:rPr lang="zh-CN" altLang="en-US" sz="1200" b="1" dirty="0">
                <a:latin typeface="+mn-ea"/>
              </a:rPr>
              <a:t>组合键，注意不要有输入法栏）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 err="1">
                <a:latin typeface="+mn-ea"/>
              </a:rPr>
              <a:t>CtrL+z</a:t>
            </a:r>
            <a:r>
              <a:rPr lang="zh-CN" altLang="en-US" sz="1200" b="1" dirty="0">
                <a:latin typeface="+mn-ea"/>
              </a:rPr>
              <a:t>（注意：是</a:t>
            </a:r>
            <a:r>
              <a:rPr lang="en-US" altLang="zh-CN" sz="1200" b="1" dirty="0" err="1">
                <a:latin typeface="+mn-ea"/>
              </a:rPr>
              <a:t>Ctrl+z</a:t>
            </a:r>
            <a:r>
              <a:rPr lang="zh-CN" altLang="en-US" sz="1200" b="1" dirty="0">
                <a:latin typeface="+mn-ea"/>
              </a:rPr>
              <a:t>组合键，注意不要有输入法栏）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08B77F-13F5-402A-BF18-DA9CC95FC05F}"/>
              </a:ext>
            </a:extLst>
          </p:cNvPr>
          <p:cNvSpPr/>
          <p:nvPr/>
        </p:nvSpPr>
        <p:spPr bwMode="auto">
          <a:xfrm>
            <a:off x="592114" y="6154994"/>
            <a:ext cx="4018387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29ACE6-CF89-7806-D8AA-2148CEE4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217" y="1214753"/>
            <a:ext cx="1700457" cy="667776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53EAB2DE-4545-47F5-BC78-091064B197C4}"/>
              </a:ext>
            </a:extLst>
          </p:cNvPr>
          <p:cNvGrpSpPr/>
          <p:nvPr/>
        </p:nvGrpSpPr>
        <p:grpSpPr>
          <a:xfrm>
            <a:off x="6829771" y="1418834"/>
            <a:ext cx="631800" cy="281880"/>
            <a:chOff x="6829771" y="1418834"/>
            <a:chExt cx="63180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BEB50D3E-2DF3-6DC5-F302-BA79D78375F6}"/>
                    </a:ext>
                  </a:extLst>
                </p14:cNvPr>
                <p14:cNvContentPartPr/>
                <p14:nvPr/>
              </p14:nvContentPartPr>
              <p14:xfrm>
                <a:off x="6829771" y="1538354"/>
                <a:ext cx="521280" cy="36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BEB50D3E-2DF3-6DC5-F302-BA79D78375F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23651" y="1532234"/>
                  <a:ext cx="533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8DC1C817-E9A0-00E8-BBA6-A0A9D0C7879A}"/>
                    </a:ext>
                  </a:extLst>
                </p14:cNvPr>
                <p14:cNvContentPartPr/>
                <p14:nvPr/>
              </p14:nvContentPartPr>
              <p14:xfrm>
                <a:off x="7150531" y="1418834"/>
                <a:ext cx="311040" cy="28188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8DC1C817-E9A0-00E8-BBA6-A0A9D0C7879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44411" y="1412714"/>
                  <a:ext cx="323280" cy="2941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DBBCE9E5-7A61-5C52-6DBA-7D73EA242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8887" y="3138490"/>
            <a:ext cx="2252679" cy="9001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EBEDE6AB-65A0-15EC-0817-70AEFBFF0C2F}"/>
                  </a:ext>
                </a:extLst>
              </p14:cNvPr>
              <p14:cNvContentPartPr/>
              <p14:nvPr/>
            </p14:nvContentPartPr>
            <p14:xfrm>
              <a:off x="8336371" y="3651194"/>
              <a:ext cx="184320" cy="1332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EBEDE6AB-65A0-15EC-0817-70AEFBFF0C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30251" y="3645074"/>
                <a:ext cx="196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837F58B2-EF4D-92FF-1015-E781C59CD440}"/>
                  </a:ext>
                </a:extLst>
              </p14:cNvPr>
              <p14:cNvContentPartPr/>
              <p14:nvPr/>
            </p14:nvContentPartPr>
            <p14:xfrm>
              <a:off x="8475331" y="3619514"/>
              <a:ext cx="84600" cy="1551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837F58B2-EF4D-92FF-1015-E781C59CD44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69211" y="3613394"/>
                <a:ext cx="96840" cy="1674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649DFCA7-B617-968F-5E16-16E085864E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1612" y="1882529"/>
            <a:ext cx="1531257" cy="555698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295B211A-EEB7-6580-A646-562BB45BCE2E}"/>
              </a:ext>
            </a:extLst>
          </p:cNvPr>
          <p:cNvGrpSpPr/>
          <p:nvPr/>
        </p:nvGrpSpPr>
        <p:grpSpPr>
          <a:xfrm>
            <a:off x="6463651" y="2167634"/>
            <a:ext cx="532800" cy="173160"/>
            <a:chOff x="6463651" y="2167634"/>
            <a:chExt cx="53280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D35A7292-874E-3268-8B42-04A03207DDF8}"/>
                    </a:ext>
                  </a:extLst>
                </p14:cNvPr>
                <p14:cNvContentPartPr/>
                <p14:nvPr/>
              </p14:nvContentPartPr>
              <p14:xfrm>
                <a:off x="6463651" y="2167634"/>
                <a:ext cx="422280" cy="1029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D35A7292-874E-3268-8B42-04A03207DDF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57531" y="2161514"/>
                  <a:ext cx="434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1A2D14DD-6349-350C-F4F5-ECF0199B891A}"/>
                    </a:ext>
                  </a:extLst>
                </p14:cNvPr>
                <p14:cNvContentPartPr/>
                <p14:nvPr/>
              </p14:nvContentPartPr>
              <p14:xfrm>
                <a:off x="6835531" y="2244674"/>
                <a:ext cx="160920" cy="9612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1A2D14DD-6349-350C-F4F5-ECF0199B891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29411" y="2238554"/>
                  <a:ext cx="173160" cy="10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50081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12FC54-E1BA-4398-BA3F-4548284A6D55}"/>
              </a:ext>
            </a:extLst>
          </p:cNvPr>
          <p:cNvSpPr/>
          <p:nvPr/>
        </p:nvSpPr>
        <p:spPr bwMode="auto">
          <a:xfrm>
            <a:off x="592113" y="1323975"/>
            <a:ext cx="455740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float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&lt;&lt; f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f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注：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setprecision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(20)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表示输出时保留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    20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位有效位数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  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（已超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float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double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的有效位数）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BE0F45-262C-4875-BBD6-52A6431F363D}"/>
              </a:ext>
            </a:extLst>
          </p:cNvPr>
          <p:cNvSpPr/>
          <p:nvPr/>
        </p:nvSpPr>
        <p:spPr bwMode="auto">
          <a:xfrm>
            <a:off x="5149516" y="1323974"/>
            <a:ext cx="568589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123.456</a:t>
            </a:r>
            <a:r>
              <a:rPr lang="zh-CN" altLang="en-US" sz="1200" b="1" dirty="0">
                <a:latin typeface="+mn-ea"/>
              </a:rPr>
              <a:t> （合理范围正数，小数形式）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1.23456e2</a:t>
            </a:r>
            <a:r>
              <a:rPr lang="zh-CN" altLang="en-US" sz="1200" b="1" dirty="0">
                <a:latin typeface="+mn-ea"/>
              </a:rPr>
              <a:t> （合理范围正数，指数形式）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-123.456</a:t>
            </a:r>
            <a:r>
              <a:rPr lang="zh-CN" altLang="en-US" sz="1200" b="1" dirty="0">
                <a:latin typeface="+mn-ea"/>
              </a:rPr>
              <a:t>（合理范围负数，小数形式）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-1.23456e2</a:t>
            </a:r>
            <a:r>
              <a:rPr lang="zh-CN" altLang="en-US" sz="1200" b="1" dirty="0">
                <a:latin typeface="+mn-ea"/>
              </a:rPr>
              <a:t> （合理范围负数，指数形式）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5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123.456789</a:t>
            </a:r>
            <a:r>
              <a:rPr lang="zh-CN" altLang="en-US" sz="1200" b="1" dirty="0">
                <a:latin typeface="+mn-ea"/>
              </a:rPr>
              <a:t>（合理范围，但超有效位数）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6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6.7e38</a:t>
            </a:r>
            <a:r>
              <a:rPr lang="zh-CN" altLang="en-US" sz="1200" b="1" dirty="0">
                <a:latin typeface="+mn-ea"/>
              </a:rPr>
              <a:t>（尾数超上限但数量级未超，仍是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1.7e39</a:t>
            </a:r>
            <a:r>
              <a:rPr lang="zh-CN" altLang="en-US" sz="1200" b="1" dirty="0">
                <a:latin typeface="+mn-ea"/>
              </a:rPr>
              <a:t>（超上限且数量级已超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8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-2.3e39</a:t>
            </a:r>
            <a:r>
              <a:rPr lang="zh-CN" altLang="en-US" sz="1200" b="1" dirty="0">
                <a:latin typeface="+mn-ea"/>
              </a:rPr>
              <a:t>（超上限且数量级已超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9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1.23e-30</a:t>
            </a:r>
            <a:r>
              <a:rPr lang="zh-CN" altLang="en-US" sz="1200" b="1" dirty="0">
                <a:latin typeface="+mn-ea"/>
              </a:rPr>
              <a:t>（合理范围整数但指数很小）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10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-1.23e-30</a:t>
            </a:r>
            <a:r>
              <a:rPr lang="zh-CN" altLang="en-US" sz="1200" b="1" dirty="0">
                <a:latin typeface="+mn-ea"/>
              </a:rPr>
              <a:t>（合理范围负数但指数很小）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000F5E-C221-4C0D-B4F7-5C8AC62F384A}"/>
              </a:ext>
            </a:extLst>
          </p:cNvPr>
          <p:cNvSpPr/>
          <p:nvPr/>
        </p:nvSpPr>
        <p:spPr bwMode="auto">
          <a:xfrm>
            <a:off x="592114" y="6154994"/>
            <a:ext cx="4557402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D3F912-83F1-C7DC-1393-CE811EF34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787" y="983768"/>
            <a:ext cx="1848937" cy="7219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D42607-89C8-DEFD-BA9E-BBA71D3DB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787" y="1908547"/>
            <a:ext cx="1955011" cy="8094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AD5C5E-EBA5-E905-3714-4F614DC8A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145" y="3399462"/>
            <a:ext cx="1729235" cy="7405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11A8C6E-DC2D-692A-D275-2328945F2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543" y="4893777"/>
            <a:ext cx="2338405" cy="86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05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2779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3948760" y="1323975"/>
            <a:ext cx="314572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&gt;&gt;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&gt;&gt;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F42479-BADA-4FA0-A5C5-86FA280CFD24}"/>
              </a:ext>
            </a:extLst>
          </p:cNvPr>
          <p:cNvSpPr/>
          <p:nvPr/>
        </p:nvSpPr>
        <p:spPr bwMode="auto">
          <a:xfrm>
            <a:off x="7094482" y="1323974"/>
            <a:ext cx="374496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5" y="5665075"/>
            <a:ext cx="10247336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、程序运行后，输入：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</a:t>
            </a:r>
            <a:r>
              <a:rPr kumimoji="1" lang="en-US" altLang="zh-CN" sz="1600" b="1" dirty="0">
                <a:latin typeface="宋体"/>
              </a:rPr>
              <a:t>↙</a:t>
            </a:r>
            <a:r>
              <a:rPr kumimoji="1" lang="zh-CN" altLang="en-US" sz="1600" b="1" dirty="0">
                <a:latin typeface="宋体"/>
              </a:rPr>
              <a:t>，观察输出结果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、解释第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个和第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个程序的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语句的使用区别：第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是一个语句分成了四行；第三个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是四个语句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413116-F197-0433-1FA5-73FC251C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19" y="4570678"/>
            <a:ext cx="1662735" cy="8690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859F84D-CE30-B5AD-C220-C2DA73146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675" y="4894923"/>
            <a:ext cx="1323671" cy="6574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525C2CA-ED15-C7B3-9F1F-7797C8834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337" y="4867785"/>
            <a:ext cx="1398377" cy="77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62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1   2   3   4</a:t>
            </a:r>
            <a:r>
              <a:rPr kumimoji="1" lang="en-US" altLang="zh-CN" sz="1600" b="1" dirty="0">
                <a:latin typeface="宋体"/>
              </a:rPr>
              <a:t>↙(</a:t>
            </a:r>
            <a:r>
              <a:rPr kumimoji="1" lang="zh-CN" altLang="en-US" sz="1600" b="1" dirty="0">
                <a:latin typeface="宋体"/>
              </a:rPr>
              <a:t>每个数字间多于一个空格</a:t>
            </a:r>
            <a:r>
              <a:rPr kumimoji="1" lang="en-US" altLang="zh-CN" sz="1600" b="1" dirty="0"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3↙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4</a:t>
            </a:r>
            <a:r>
              <a:rPr kumimoji="1" lang="en-US" altLang="zh-CN" sz="1600" b="1" dirty="0">
                <a:latin typeface="宋体"/>
              </a:rPr>
              <a:t>↙ (</a:t>
            </a:r>
            <a:r>
              <a:rPr kumimoji="1" lang="zh-CN" altLang="en-US" sz="1600" b="1" dirty="0">
                <a:latin typeface="宋体"/>
              </a:rPr>
              <a:t>每个数字后立即加回车</a:t>
            </a:r>
            <a:r>
              <a:rPr kumimoji="1" lang="en-US" altLang="zh-CN" sz="1600" b="1" dirty="0"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3↙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4</a:t>
            </a:r>
            <a:r>
              <a:rPr kumimoji="1" lang="en-US" altLang="zh-CN" sz="1600" b="1" dirty="0">
                <a:latin typeface="宋体"/>
              </a:rPr>
              <a:t>↙ (</a:t>
            </a:r>
            <a:r>
              <a:rPr kumimoji="1" lang="zh-CN" altLang="en-US" sz="1600" b="1" dirty="0">
                <a:latin typeface="宋体"/>
              </a:rPr>
              <a:t>每个数字后立即加回车 </a:t>
            </a:r>
            <a:r>
              <a:rPr kumimoji="1" lang="en-US" altLang="zh-CN" sz="1600" b="1" dirty="0">
                <a:latin typeface="宋体"/>
              </a:rPr>
              <a:t>+ </a:t>
            </a:r>
            <a:r>
              <a:rPr kumimoji="1" lang="zh-CN" altLang="en-US" sz="1600" b="1" dirty="0">
                <a:latin typeface="宋体"/>
              </a:rPr>
              <a:t>多个空回车</a:t>
            </a:r>
            <a:r>
              <a:rPr kumimoji="1" lang="en-US" altLang="zh-CN" sz="1600" b="1" dirty="0"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/>
              </a:rPr>
              <a:t>结论：在输入正确的情况下，回车和空格的作用？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/>
              </a:rPr>
              <a:t>使输入终止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ED2216-CA2C-47F1-AE0D-5A13693DCB2F}"/>
              </a:ext>
            </a:extLst>
          </p:cNvPr>
          <p:cNvSpPr/>
          <p:nvPr/>
        </p:nvSpPr>
        <p:spPr bwMode="auto">
          <a:xfrm>
            <a:off x="592114" y="5899355"/>
            <a:ext cx="3362437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BC87778-7E6C-5A21-766A-DF0F59057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378" y="1214754"/>
            <a:ext cx="1743052" cy="8508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0FAFC6E-C771-A687-B74A-4E2A4DBE7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232" y="1699977"/>
            <a:ext cx="1990069" cy="10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71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4m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3m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2m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1m 2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3 m↙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m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m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m 2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总结：多个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输入时，错误输入出现在不同位置对输入正确性的影响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出现错误输入的位置处，</a:t>
            </a:r>
            <a:r>
              <a:rPr kumimoji="1" lang="en-US" altLang="zh-CN" sz="1600" b="1" dirty="0">
                <a:latin typeface="+mn-ea"/>
              </a:rPr>
              <a:t>good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从这个位置开始往后值就不可信了</a:t>
            </a:r>
            <a:endParaRPr kumimoji="1"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要求：综合观察运行结果，加上自己的思考，给出总结性的结论，这个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结论要能对多个输入情况下不同位置的错误情况有普遍适应性，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      而不仅仅是简单的根据结论说错在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1/2/3/4</a:t>
            </a: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位置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 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（提示：从什么位置开始值不可信？）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578CC7-F3C0-4CC1-9EC8-7E50B139F8D9}"/>
              </a:ext>
            </a:extLst>
          </p:cNvPr>
          <p:cNvSpPr/>
          <p:nvPr/>
        </p:nvSpPr>
        <p:spPr bwMode="auto">
          <a:xfrm>
            <a:off x="592114" y="5899355"/>
            <a:ext cx="3362437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9BCD0F-F7F3-CBFD-9D94-E341AA42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205" y="1214754"/>
            <a:ext cx="1506436" cy="81584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D37A875-066E-3AA4-72AA-9D0D66C82B40}"/>
              </a:ext>
            </a:extLst>
          </p:cNvPr>
          <p:cNvGrpSpPr/>
          <p:nvPr/>
        </p:nvGrpSpPr>
        <p:grpSpPr>
          <a:xfrm>
            <a:off x="5467171" y="1431434"/>
            <a:ext cx="374400" cy="137160"/>
            <a:chOff x="5467171" y="1431434"/>
            <a:chExt cx="37440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29F6BCF8-A225-D911-D0FC-E8BDE4087FC5}"/>
                    </a:ext>
                  </a:extLst>
                </p14:cNvPr>
                <p14:cNvContentPartPr/>
                <p14:nvPr/>
              </p14:nvContentPartPr>
              <p14:xfrm>
                <a:off x="5467171" y="1488314"/>
                <a:ext cx="300600" cy="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29F6BCF8-A225-D911-D0FC-E8BDE4087FC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61051" y="1482194"/>
                  <a:ext cx="312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395211FB-3272-CBB2-6DF8-CA2EE90B67D5}"/>
                    </a:ext>
                  </a:extLst>
                </p14:cNvPr>
                <p14:cNvContentPartPr/>
                <p14:nvPr/>
              </p14:nvContentPartPr>
              <p14:xfrm>
                <a:off x="5733571" y="1431434"/>
                <a:ext cx="108000" cy="1371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395211FB-3272-CBB2-6DF8-CA2EE90B67D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27451" y="1425314"/>
                  <a:ext cx="120240" cy="149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47B14A9-1A68-4830-1BD7-94397B40F1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4628" y="2102738"/>
            <a:ext cx="1555589" cy="87606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BAD8B7-EA5E-2F60-DD84-C589044A4AF3}"/>
              </a:ext>
            </a:extLst>
          </p:cNvPr>
          <p:cNvGrpSpPr/>
          <p:nvPr/>
        </p:nvGrpSpPr>
        <p:grpSpPr>
          <a:xfrm>
            <a:off x="5492371" y="2149274"/>
            <a:ext cx="311760" cy="253800"/>
            <a:chOff x="5492371" y="2149274"/>
            <a:chExt cx="31176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67FC9D0E-A8D6-8985-9576-916368E85347}"/>
                    </a:ext>
                  </a:extLst>
                </p14:cNvPr>
                <p14:cNvContentPartPr/>
                <p14:nvPr/>
              </p14:nvContentPartPr>
              <p14:xfrm>
                <a:off x="5492371" y="2149274"/>
                <a:ext cx="275760" cy="20772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67FC9D0E-A8D6-8985-9576-916368E853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86251" y="2143154"/>
                  <a:ext cx="288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929FA526-AC12-9C9D-4DDC-8139CAA5F1FC}"/>
                    </a:ext>
                  </a:extLst>
                </p14:cNvPr>
                <p14:cNvContentPartPr/>
                <p14:nvPr/>
              </p14:nvContentPartPr>
              <p14:xfrm>
                <a:off x="5714851" y="2295434"/>
                <a:ext cx="89280" cy="10764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929FA526-AC12-9C9D-4DDC-8139CAA5F1F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08731" y="2289314"/>
                  <a:ext cx="101520" cy="1198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9DD3467A-6A7D-7DBE-C587-840A7F0CD0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4628" y="3192014"/>
            <a:ext cx="1511982" cy="778801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860F6F3D-B2C4-9413-8FA0-71CF7703A54B}"/>
              </a:ext>
            </a:extLst>
          </p:cNvPr>
          <p:cNvGrpSpPr/>
          <p:nvPr/>
        </p:nvGrpSpPr>
        <p:grpSpPr>
          <a:xfrm>
            <a:off x="5372851" y="3660194"/>
            <a:ext cx="372240" cy="159120"/>
            <a:chOff x="5372851" y="3660194"/>
            <a:chExt cx="37224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4C8AAD45-F6A5-7448-C2DE-CBF51F0D0587}"/>
                    </a:ext>
                  </a:extLst>
                </p14:cNvPr>
                <p14:cNvContentPartPr/>
                <p14:nvPr/>
              </p14:nvContentPartPr>
              <p14:xfrm>
                <a:off x="5372851" y="3689714"/>
                <a:ext cx="331560" cy="2484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4C8AAD45-F6A5-7448-C2DE-CBF51F0D058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66731" y="3683594"/>
                  <a:ext cx="343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8A2FEC2C-DF25-3CD2-DD69-F06F37E9DE2D}"/>
                    </a:ext>
                  </a:extLst>
                </p14:cNvPr>
                <p14:cNvContentPartPr/>
                <p14:nvPr/>
              </p14:nvContentPartPr>
              <p14:xfrm>
                <a:off x="5600011" y="3660194"/>
                <a:ext cx="145080" cy="15912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8A2FEC2C-DF25-3CD2-DD69-F06F37E9DE2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93891" y="3654074"/>
                  <a:ext cx="157320" cy="171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70816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F2AA7E-8DB2-427E-B681-F6EB24E58864}"/>
              </a:ext>
            </a:extLst>
          </p:cNvPr>
          <p:cNvSpPr/>
          <p:nvPr/>
        </p:nvSpPr>
        <p:spPr bwMode="auto">
          <a:xfrm>
            <a:off x="592114" y="1323975"/>
            <a:ext cx="385475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"a=" &lt;&lt; int(a)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"b=" &lt;&lt; int(b)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"c=" &lt;&lt; int(c)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F31801-29C7-4DED-9652-F1280D13187E}"/>
              </a:ext>
            </a:extLst>
          </p:cNvPr>
          <p:cNvSpPr/>
          <p:nvPr/>
        </p:nvSpPr>
        <p:spPr bwMode="auto">
          <a:xfrm>
            <a:off x="4446872" y="1323974"/>
            <a:ext cx="638853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XYZ↙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 YZ↙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  (</a:t>
            </a:r>
            <a:r>
              <a:rPr kumimoji="1" lang="zh-CN" altLang="en-US" sz="1200" b="1" dirty="0">
                <a:latin typeface="+mn-ea"/>
              </a:rPr>
              <a:t>表示按</a:t>
            </a:r>
            <a:r>
              <a:rPr kumimoji="1" lang="en-US" altLang="zh-CN" sz="1200" b="1" dirty="0" err="1">
                <a:latin typeface="+mn-ea"/>
              </a:rPr>
              <a:t>Ctrl+C</a:t>
            </a:r>
            <a:r>
              <a:rPr kumimoji="1" lang="zh-CN" altLang="en-US" sz="1200" b="1" dirty="0">
                <a:latin typeface="+mn-ea"/>
              </a:rPr>
              <a:t>组合键，注意不要有输入法栏，下同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XY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XYZ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200" b="1" dirty="0">
                <a:latin typeface="+mn-ea"/>
              </a:rPr>
              <a:t>↙   </a:t>
            </a:r>
            <a:r>
              <a:rPr kumimoji="1" lang="zh-CN" altLang="en-US" sz="1200" b="1" dirty="0">
                <a:latin typeface="+mn-ea"/>
              </a:rPr>
              <a:t>（若未出结果则继续输入，可以按回车后多行输入，打印后观察结果）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200" b="1" dirty="0" err="1">
                <a:latin typeface="+mn-ea"/>
              </a:rPr>
              <a:t>XYZ</a:t>
            </a:r>
            <a:r>
              <a:rPr kumimoji="1" lang="en-US" altLang="zh-CN" sz="1200" b="1" dirty="0">
                <a:latin typeface="+mn-ea"/>
              </a:rPr>
              <a:t>↙</a:t>
            </a:r>
            <a:r>
              <a:rPr kumimoji="1" lang="zh-CN" altLang="en-US" sz="1200" b="1" dirty="0">
                <a:latin typeface="+mn-ea"/>
              </a:rPr>
              <a:t>（若未出结果则继续输入，可以按回车后多行输入，打印后观察结果）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总结：多个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输入时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型数据时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、能否输入空格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能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Ctrl+C</a:t>
            </a:r>
            <a:r>
              <a:rPr kumimoji="1" lang="zh-CN" altLang="en-US" sz="1200" b="1" dirty="0">
                <a:latin typeface="+mn-ea"/>
              </a:rPr>
              <a:t>在输入中表示什么？（可自行查阅资料，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若资料与表现不符，信哪个？</a:t>
            </a:r>
            <a:r>
              <a:rPr kumimoji="1" lang="zh-CN" altLang="en-US" sz="1200" b="1" dirty="0">
                <a:latin typeface="+mn-ea"/>
              </a:rPr>
              <a:t>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输入终止，本次执行的所有数据均不可信。相信程序执行结果</a:t>
            </a:r>
            <a:endParaRPr kumimoji="1" lang="en-US" altLang="zh-CN" sz="12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3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、</a:t>
            </a:r>
            <a:r>
              <a:rPr kumimoji="1" lang="en-US" altLang="zh-CN" sz="12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Ctrl+z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在输入中表示什么？（可自行查阅资料，若资料与表现不符，信哪个？）</a:t>
            </a:r>
            <a:endParaRPr kumimoji="1" lang="en-US" altLang="zh-CN" sz="12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输入结束，后续数据不可信。相信程序执行结果</a:t>
            </a:r>
            <a:endParaRPr kumimoji="1" lang="en-US" altLang="zh-CN" sz="12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4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、</a:t>
            </a:r>
            <a:r>
              <a:rPr kumimoji="1" lang="en-US" altLang="zh-CN" sz="12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Ctrl+z</a:t>
            </a: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后不按回车而继续输入的其它字符，能否被读入？</a:t>
            </a:r>
            <a:endParaRPr kumimoji="1" lang="en-US" altLang="zh-CN" sz="12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否</a:t>
            </a:r>
            <a:endParaRPr kumimoji="1" lang="en-US" altLang="zh-CN" sz="12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800CF5-54BC-44DE-B243-1DA188E08382}"/>
              </a:ext>
            </a:extLst>
          </p:cNvPr>
          <p:cNvSpPr/>
          <p:nvPr/>
        </p:nvSpPr>
        <p:spPr bwMode="auto">
          <a:xfrm>
            <a:off x="592113" y="5899355"/>
            <a:ext cx="3854759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32EA45-5AAE-4367-31CF-6FB2C3BCA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861" y="1214753"/>
            <a:ext cx="1362977" cy="6392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8F867D-47A4-9D56-E547-E1FD781EC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392" y="1415444"/>
            <a:ext cx="1397266" cy="6392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F1392BE-B0D7-9BA7-04BC-6A3E4CF0E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270" y="1956400"/>
            <a:ext cx="2286017" cy="48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96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自行构造测试数据，观察不同输入下的运行结果（贴图在清晰可辨的情况下尽可能小）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6D4EED-E461-4B7D-BD56-DA9F1A3BA43A}"/>
              </a:ext>
            </a:extLst>
          </p:cNvPr>
          <p:cNvSpPr/>
          <p:nvPr/>
        </p:nvSpPr>
        <p:spPr bwMode="auto">
          <a:xfrm>
            <a:off x="592113" y="1323975"/>
            <a:ext cx="45285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float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"a="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"b="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"c="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c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A52329-F404-4190-A468-7F166A5A5AD4}"/>
              </a:ext>
            </a:extLst>
          </p:cNvPr>
          <p:cNvSpPr/>
          <p:nvPr/>
        </p:nvSpPr>
        <p:spPr bwMode="auto">
          <a:xfrm>
            <a:off x="5120640" y="1323974"/>
            <a:ext cx="57147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_6e40_1.23_2.34____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（第</a:t>
            </a:r>
            <a:r>
              <a:rPr kumimoji="1" lang="en-US" altLang="zh-CN" sz="1200" b="1" dirty="0">
                <a:latin typeface="宋体"/>
              </a:rPr>
              <a:t>1</a:t>
            </a:r>
            <a:r>
              <a:rPr kumimoji="1" lang="zh-CN" altLang="en-US" sz="1200" b="1" dirty="0">
                <a:latin typeface="宋体"/>
              </a:rPr>
              <a:t>个超上限，</a:t>
            </a:r>
            <a:r>
              <a:rPr kumimoji="1" lang="en-US" altLang="zh-CN" sz="1200" b="1" dirty="0">
                <a:latin typeface="宋体"/>
              </a:rPr>
              <a:t>2/3</a:t>
            </a:r>
            <a:r>
              <a:rPr kumimoji="1" lang="zh-CN" altLang="en-US" sz="1200" b="1" dirty="0">
                <a:latin typeface="宋体"/>
              </a:rPr>
              <a:t>正常）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__-6e40_1.23_2.34___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（第</a:t>
            </a:r>
            <a:r>
              <a:rPr kumimoji="1" lang="en-US" altLang="zh-CN" sz="1200" b="1" dirty="0">
                <a:latin typeface="宋体"/>
              </a:rPr>
              <a:t>1</a:t>
            </a:r>
            <a:r>
              <a:rPr kumimoji="1" lang="zh-CN" altLang="en-US" sz="1200" b="1" dirty="0">
                <a:latin typeface="宋体"/>
              </a:rPr>
              <a:t>个超下限，</a:t>
            </a:r>
            <a:r>
              <a:rPr kumimoji="1" lang="en-US" altLang="zh-CN" sz="1200" b="1" dirty="0">
                <a:latin typeface="宋体"/>
              </a:rPr>
              <a:t>2/3</a:t>
            </a:r>
            <a:r>
              <a:rPr kumimoji="1" lang="zh-CN" altLang="en-US" sz="1200" b="1" dirty="0">
                <a:latin typeface="宋体"/>
              </a:rPr>
              <a:t>正常）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___1.23_6e40_2.34__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1/3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2</a:t>
            </a:r>
            <a:r>
              <a:rPr kumimoji="1" lang="zh-CN" altLang="en-US" sz="1200" b="1" dirty="0">
                <a:latin typeface="宋体"/>
              </a:rPr>
              <a:t>个超上限）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_1.23_-6e40_2.34____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1/3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2</a:t>
            </a:r>
            <a:r>
              <a:rPr kumimoji="1" lang="zh-CN" altLang="en-US" sz="1200" b="1" dirty="0">
                <a:latin typeface="宋体"/>
              </a:rPr>
              <a:t>个超下限）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__1.23_2.34_6e40___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1/2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3</a:t>
            </a:r>
            <a:r>
              <a:rPr kumimoji="1" lang="zh-CN" altLang="en-US" sz="1200" b="1" dirty="0">
                <a:latin typeface="宋体"/>
              </a:rPr>
              <a:t>个超上限）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__1.23_2.34_-6e40___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1/2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3</a:t>
            </a:r>
            <a:r>
              <a:rPr kumimoji="1" lang="zh-CN" altLang="en-US" sz="1200" b="1" dirty="0">
                <a:latin typeface="宋体"/>
              </a:rPr>
              <a:t>个超下限）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总结：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、多个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输入时，错误输入出现在不同位置对输入正确性的影响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出现错误输入的位置处，</a:t>
            </a:r>
            <a:r>
              <a:rPr kumimoji="1" lang="en-US" altLang="zh-CN" sz="1200" b="1" dirty="0">
                <a:latin typeface="+mn-ea"/>
              </a:rPr>
              <a:t>good</a:t>
            </a:r>
            <a:r>
              <a:rPr kumimoji="1" lang="zh-CN" altLang="en-US" sz="1200" b="1" dirty="0">
                <a:latin typeface="+mn-ea"/>
              </a:rPr>
              <a:t>为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，从这个位置开始往后值就不可信了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   要求：综合观察运行结果，加上自己的思考，给出总结性的结论，这个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         </a:t>
            </a: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结论要能对多个输入情况下不同位置的错误情况有普遍适应性，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         而不仅仅是简单的根据结论说错在</a:t>
            </a: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1/2/3</a:t>
            </a: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位置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     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（提示：从什么位置开始值不可信？）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、将</a:t>
            </a:r>
            <a:r>
              <a:rPr kumimoji="1" lang="en-US" altLang="zh-CN" sz="1200" b="1" dirty="0">
                <a:latin typeface="+mn-ea"/>
              </a:rPr>
              <a:t>float</a:t>
            </a:r>
            <a:r>
              <a:rPr kumimoji="1" lang="zh-CN" altLang="en-US" sz="1200" b="1" dirty="0">
                <a:latin typeface="+mn-ea"/>
              </a:rPr>
              <a:t>替换为</a:t>
            </a:r>
            <a:r>
              <a:rPr kumimoji="1" lang="en-US" altLang="zh-CN" sz="1200" b="1" dirty="0">
                <a:latin typeface="+mn-ea"/>
              </a:rPr>
              <a:t>double</a:t>
            </a:r>
            <a:r>
              <a:rPr kumimoji="1" lang="zh-CN" altLang="en-US" sz="1200" b="1" dirty="0">
                <a:latin typeface="+mn-ea"/>
              </a:rPr>
              <a:t>，上述结论是否仍然成立？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成立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673423-433A-4315-B2A4-DADF5ABFC8AB}"/>
              </a:ext>
            </a:extLst>
          </p:cNvPr>
          <p:cNvSpPr/>
          <p:nvPr/>
        </p:nvSpPr>
        <p:spPr bwMode="auto">
          <a:xfrm>
            <a:off x="592113" y="6223819"/>
            <a:ext cx="4528527" cy="310331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全部做一遍，任选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题截图即可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多截不限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0E1A3E-BC83-7704-B3D7-B314CCAFE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457" y="991350"/>
            <a:ext cx="1616948" cy="11069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62C31ED-CC15-B1B8-99A1-1D4480426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918" y="2508945"/>
            <a:ext cx="1530487" cy="103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54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8352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1</a:t>
            </a:r>
            <a:r>
              <a:rPr kumimoji="1" lang="zh-CN" altLang="en-US" sz="1600" b="1" dirty="0">
                <a:latin typeface="宋体"/>
              </a:rPr>
              <a:t>、如果编译有</a:t>
            </a:r>
            <a:r>
              <a:rPr kumimoji="1" lang="en-US" altLang="zh-CN" sz="1600" b="1" dirty="0">
                <a:latin typeface="宋体"/>
              </a:rPr>
              <a:t>error</a:t>
            </a:r>
            <a:r>
              <a:rPr kumimoji="1" lang="zh-CN" altLang="en-US" sz="1600" b="1" dirty="0">
                <a:latin typeface="宋体"/>
              </a:rPr>
              <a:t>或</a:t>
            </a:r>
            <a:r>
              <a:rPr kumimoji="1" lang="en-US" altLang="zh-CN" sz="1600" b="1" dirty="0">
                <a:latin typeface="宋体"/>
              </a:rPr>
              <a:t>warning</a:t>
            </a:r>
            <a:r>
              <a:rPr kumimoji="1" lang="zh-CN" altLang="en-US" sz="1600" b="1" dirty="0">
                <a:latin typeface="宋体"/>
              </a:rPr>
              <a:t>，则贴相应信息的截图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2</a:t>
            </a:r>
            <a:r>
              <a:rPr kumimoji="1" lang="zh-CN" altLang="en-US" sz="1600" b="1" dirty="0">
                <a:latin typeface="宋体"/>
              </a:rPr>
              <a:t>、如果能运行</a:t>
            </a:r>
            <a:r>
              <a:rPr kumimoji="1" lang="en-US" altLang="zh-CN" sz="1600" b="1" dirty="0">
                <a:latin typeface="宋体"/>
              </a:rPr>
              <a:t>(</a:t>
            </a:r>
            <a:r>
              <a:rPr kumimoji="1" lang="zh-CN" altLang="en-US" sz="1600" b="1" dirty="0">
                <a:latin typeface="宋体"/>
              </a:rPr>
              <a:t>包括有</a:t>
            </a:r>
            <a:r>
              <a:rPr kumimoji="1" lang="en-US" altLang="zh-CN" sz="1600" b="1" dirty="0">
                <a:latin typeface="宋体"/>
              </a:rPr>
              <a:t>warning)</a:t>
            </a:r>
            <a:r>
              <a:rPr kumimoji="1" lang="zh-CN" altLang="en-US" sz="1600" b="1" dirty="0">
                <a:latin typeface="宋体"/>
              </a:rPr>
              <a:t>，则输入三个正确的</a:t>
            </a:r>
            <a:r>
              <a:rPr kumimoji="1" lang="en-US" altLang="zh-CN" sz="1600" b="1" dirty="0">
                <a:latin typeface="宋体"/>
              </a:rPr>
              <a:t>int</a:t>
            </a:r>
            <a:r>
              <a:rPr kumimoji="1" lang="zh-CN" altLang="en-US" sz="1600" b="1" dirty="0">
                <a:latin typeface="宋体"/>
              </a:rPr>
              <a:t>型数据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(</a:t>
            </a:r>
            <a:r>
              <a:rPr kumimoji="1" lang="zh-CN" altLang="en-US" sz="1600" b="1" dirty="0">
                <a:latin typeface="宋体"/>
              </a:rPr>
              <a:t>例</a:t>
            </a:r>
            <a:r>
              <a:rPr kumimoji="1" lang="en-US" altLang="zh-CN" sz="1600" b="1" dirty="0">
                <a:latin typeface="宋体"/>
              </a:rPr>
              <a:t> :1 2 3↙)</a:t>
            </a:r>
            <a:r>
              <a:rPr kumimoji="1" lang="zh-CN" altLang="en-US" sz="1600" b="1" dirty="0">
                <a:latin typeface="宋体"/>
              </a:rPr>
              <a:t>，观察输出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3</a:t>
            </a:r>
            <a:r>
              <a:rPr kumimoji="1" lang="zh-CN" altLang="en-US" sz="1600" b="1" dirty="0">
                <a:latin typeface="宋体"/>
              </a:rPr>
              <a:t>、分析为什么只有某个变量的结果是正确的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/>
              </a:rPr>
              <a:t>因为</a:t>
            </a:r>
            <a:r>
              <a:rPr kumimoji="1" lang="en-US" altLang="zh-CN" sz="1600" b="1" dirty="0" err="1">
                <a:latin typeface="宋体"/>
              </a:rPr>
              <a:t>cin</a:t>
            </a:r>
            <a:r>
              <a:rPr kumimoji="1" lang="zh-CN" altLang="en-US" sz="1600" b="1" dirty="0">
                <a:latin typeface="宋体"/>
              </a:rPr>
              <a:t>那一行为逗号表达式，</a:t>
            </a:r>
            <a:r>
              <a:rPr kumimoji="1" lang="zh-CN" altLang="en-US" sz="1600" b="1" dirty="0">
                <a:latin typeface="+mn-ea"/>
              </a:rPr>
              <a:t> 逗号的优先级最低，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a</a:t>
            </a:r>
            <a:r>
              <a:rPr kumimoji="1" lang="zh-CN" altLang="en-US" sz="1600" b="1" dirty="0">
                <a:latin typeface="+mn-ea"/>
              </a:rPr>
              <a:t>是逗号分成的三段中的第一段，先执行，这个语句让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初始化了，而后面两段中的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没有被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，因此只有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的结果是正确的</a:t>
            </a:r>
            <a:endParaRPr kumimoji="1" lang="en-US" altLang="zh-CN" sz="1600" b="1" dirty="0"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2D407B-F60E-42B1-9BF5-16B982B4B761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E622568-8B61-EE48-28BC-0D68DC969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786" y="1724434"/>
            <a:ext cx="2528906" cy="3190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6D1AFA-3BA1-1876-DE1A-E89D96D70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241" y="2628485"/>
            <a:ext cx="2281254" cy="103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64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a=66, b=67, c=68;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、运行后，输入三个正确的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型数据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例</a:t>
            </a:r>
            <a:r>
              <a:rPr kumimoji="1" lang="en-US" altLang="zh-CN" sz="1600" b="1" dirty="0">
                <a:latin typeface="+mn-ea"/>
              </a:rPr>
              <a:t> :1 2 3↙</a:t>
            </a:r>
            <a:r>
              <a:rPr kumimoji="1" lang="zh-CN" altLang="en-US" sz="1600" b="1" dirty="0">
                <a:latin typeface="+mn-ea"/>
              </a:rPr>
              <a:t>，注意不要是预置值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观察输出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、通过观察三个变量的输出，你得到了什么结论？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/>
              </a:rPr>
              <a:t>因为</a:t>
            </a:r>
            <a:r>
              <a:rPr kumimoji="1" lang="en-US" altLang="zh-CN" sz="1600" b="1" dirty="0" err="1">
                <a:latin typeface="宋体"/>
              </a:rPr>
              <a:t>cin</a:t>
            </a:r>
            <a:r>
              <a:rPr kumimoji="1" lang="zh-CN" altLang="en-US" sz="1600" b="1" dirty="0">
                <a:latin typeface="宋体"/>
              </a:rPr>
              <a:t>那一行为逗号表达式，</a:t>
            </a:r>
            <a:r>
              <a:rPr kumimoji="1" lang="zh-CN" altLang="en-US" sz="1600" b="1" dirty="0">
                <a:latin typeface="+mn-ea"/>
              </a:rPr>
              <a:t> 逗号的优先级最低，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a</a:t>
            </a:r>
            <a:r>
              <a:rPr kumimoji="1" lang="zh-CN" altLang="en-US" sz="1600" b="1" dirty="0">
                <a:latin typeface="+mn-ea"/>
              </a:rPr>
              <a:t>是逗号分成的三段中的第一段，先执行，这个语句让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的值变成了我输入的第一个数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，而后面两段中的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没有被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，还是维持原来的值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6D4E96-4101-DBE0-EFD6-2D9EA81E7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859" y="1921223"/>
            <a:ext cx="2314592" cy="108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49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a+10;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、如果编译有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，则贴相应信息的截图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信息太多则前五行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、分析为什么编译有错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流提取运算符后跟了</a:t>
            </a: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，这是常量，不能被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；流提取运算符后跟了</a:t>
            </a:r>
            <a:r>
              <a:rPr kumimoji="1" lang="en-US" altLang="zh-CN" sz="1600" b="1" dirty="0">
                <a:latin typeface="+mn-ea"/>
              </a:rPr>
              <a:t>a+10</a:t>
            </a:r>
            <a:r>
              <a:rPr kumimoji="1" lang="zh-CN" altLang="en-US" sz="1600" b="1" dirty="0">
                <a:latin typeface="+mn-ea"/>
              </a:rPr>
              <a:t>，这是表达式，不能被</a:t>
            </a:r>
            <a:r>
              <a:rPr kumimoji="1" lang="en-US" altLang="zh-CN" sz="1600" b="1" dirty="0" err="1">
                <a:latin typeface="+mn-ea"/>
              </a:rPr>
              <a:t>cin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、结论：流提取运算符后面必须跟</a:t>
            </a:r>
            <a:r>
              <a:rPr kumimoji="1" lang="en-US" altLang="zh-CN" sz="1600" b="1" dirty="0">
                <a:latin typeface="+mn-ea"/>
              </a:rPr>
              <a:t>__b___</a:t>
            </a:r>
            <a:r>
              <a:rPr kumimoji="1" lang="zh-CN" altLang="en-US" sz="1600" b="1" dirty="0">
                <a:latin typeface="+mn-ea"/>
              </a:rPr>
              <a:t>，不能是</a:t>
            </a:r>
            <a:r>
              <a:rPr kumimoji="1" lang="en-US" altLang="zh-CN" sz="1600" b="1" dirty="0">
                <a:latin typeface="+mn-ea"/>
              </a:rPr>
              <a:t>___ac______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a)</a:t>
            </a:r>
            <a:r>
              <a:rPr kumimoji="1" lang="zh-CN" altLang="en-US" sz="1600" b="1" dirty="0">
                <a:latin typeface="+mn-ea"/>
              </a:rPr>
              <a:t> 常量  </a:t>
            </a:r>
            <a:r>
              <a:rPr kumimoji="1" lang="en-US" altLang="zh-CN" sz="1600" b="1" dirty="0">
                <a:latin typeface="+mn-ea"/>
              </a:rPr>
              <a:t>b) </a:t>
            </a:r>
            <a:r>
              <a:rPr kumimoji="1" lang="zh-CN" altLang="en-US" sz="1600" b="1" dirty="0">
                <a:latin typeface="+mn-ea"/>
              </a:rPr>
              <a:t>变量  </a:t>
            </a:r>
            <a:r>
              <a:rPr kumimoji="1" lang="en-US" altLang="zh-CN" sz="1600" b="1" dirty="0">
                <a:latin typeface="+mn-ea"/>
              </a:rPr>
              <a:t>c) </a:t>
            </a:r>
            <a:r>
              <a:rPr kumimoji="1" lang="zh-CN" altLang="en-US" sz="1600" b="1" dirty="0">
                <a:latin typeface="+mn-ea"/>
              </a:rPr>
              <a:t>表达式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2D407B-F60E-42B1-9BF5-16B982B4B761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15FB4D1-845A-8283-0BFE-00BBC69F0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294" y="2434354"/>
            <a:ext cx="8333673" cy="13321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460A1A-D3F7-9DC5-B0CC-5B07FC8EB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647" y="2577231"/>
            <a:ext cx="9806059" cy="19526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40809C3-4074-AD73-7A10-35153683E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777" y="2801258"/>
            <a:ext cx="4419632" cy="1952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24D3EBC-E75D-309D-12F9-0E6D3580D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466" y="3069546"/>
            <a:ext cx="4629184" cy="16668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EEB30BF-78A7-0CC4-B276-4887127F2D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673" y="1713933"/>
            <a:ext cx="5824580" cy="15716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DBB383F-85A5-4152-BA0E-F0B8CB4080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6673" y="1944656"/>
            <a:ext cx="5662654" cy="20955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1E95CE1-97A7-9430-851E-4BF724485B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2590" y="3259883"/>
            <a:ext cx="4914936" cy="20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51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a=66, b=67, c=68;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、运行后，输入三个正确的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型数据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例</a:t>
            </a:r>
            <a:r>
              <a:rPr kumimoji="1" lang="en-US" altLang="zh-CN" sz="1600" b="1" dirty="0">
                <a:latin typeface="+mn-ea"/>
              </a:rPr>
              <a:t> :1 2 3↙</a:t>
            </a:r>
            <a:r>
              <a:rPr kumimoji="1" lang="zh-CN" altLang="en-US" sz="1600" b="1" dirty="0">
                <a:latin typeface="+mn-ea"/>
              </a:rPr>
              <a:t>，注意不要是预置值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观察输出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、通过观察三个变量的输出，你得到了什么结论？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只有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被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、和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进行比较，分析为什么结果有差异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此处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那一行后面跟的是括号括住的，是一个逗号表达式，逗号表达式的值为最后一个表达式的值，即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的值，因此只有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被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进行比较，与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得出的结论矛盾吗？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不矛盾，逗号表达式中最后一个表达式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是一个变量，可以被</a:t>
            </a:r>
            <a:r>
              <a:rPr kumimoji="1" lang="en-US" altLang="zh-CN" sz="1600" b="1" dirty="0" err="1">
                <a:latin typeface="+mn-ea"/>
              </a:rPr>
              <a:t>cin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77172A-7E6D-8834-B8A6-5C058C09D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786" y="1942210"/>
            <a:ext cx="2147903" cy="94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46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611348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c1, c2;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float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c1 &gt;&gt; c2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c1 &lt;&lt; ' '&lt;&lt; c2 &lt;&lt;' '&lt;&lt; a &lt;&lt;' '&lt;&lt;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6705600" y="1323974"/>
            <a:ext cx="41298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︺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表示空格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1234︺56.78↙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1︺2︺34︺56.78↙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、分析在以上两种不同输入的情况下，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为什么输出相同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提示：空格的作用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第一种情况下，</a:t>
            </a:r>
            <a:r>
              <a:rPr kumimoji="1" lang="en-US" altLang="zh-CN" sz="1600" b="1" dirty="0">
                <a:latin typeface="+mn-ea"/>
              </a:rPr>
              <a:t>c1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c2</a:t>
            </a:r>
            <a:r>
              <a:rPr kumimoji="1" lang="zh-CN" altLang="en-US" sz="1600" b="1" dirty="0">
                <a:latin typeface="+mn-ea"/>
              </a:rPr>
              <a:t>是字符型，因此只读取了输入的前两个字符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型，读取了接下来输入的</a:t>
            </a:r>
            <a:r>
              <a:rPr kumimoji="1" lang="en-US" altLang="zh-CN" sz="1600" b="1" dirty="0">
                <a:latin typeface="+mn-ea"/>
              </a:rPr>
              <a:t>34</a:t>
            </a:r>
            <a:r>
              <a:rPr kumimoji="1" lang="zh-CN" altLang="en-US" sz="1600" b="1" dirty="0">
                <a:latin typeface="+mn-ea"/>
              </a:rPr>
              <a:t>，然后空格使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输入终止，最后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被输入</a:t>
            </a:r>
            <a:r>
              <a:rPr kumimoji="1" lang="en-US" altLang="zh-CN" sz="1600" b="1" dirty="0">
                <a:latin typeface="+mn-ea"/>
              </a:rPr>
              <a:t>56.78</a:t>
            </a:r>
            <a:r>
              <a:rPr kumimoji="1" lang="zh-CN" altLang="en-US" sz="1600" b="1" dirty="0">
                <a:latin typeface="+mn-ea"/>
              </a:rPr>
              <a:t>；第二种情况下，三个空格使输入终止，正好分开了四个数，每个数都在相应的数据类型的范围内，与第一种情况是一样的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5933F7-B04E-2D6A-DDC1-BEAB60D21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929" y="2178447"/>
            <a:ext cx="2228866" cy="7858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97B5490-3241-5838-39E6-69A4DB4FA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885" y="3449640"/>
            <a:ext cx="2181241" cy="73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220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、如果编译有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，则贴相应信息的截图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信息太多则前五行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、结论：在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中不能跟</a:t>
            </a:r>
            <a:r>
              <a:rPr kumimoji="1" lang="en-US" altLang="zh-CN" sz="1600" b="1" dirty="0">
                <a:latin typeface="+mn-ea"/>
              </a:rPr>
              <a:t>______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_________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0616B9-B2CD-47AC-BDFB-F8A3B5CA529D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CD78A3-8CDD-F22F-AB47-6850A9CB4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983" y="1642979"/>
            <a:ext cx="6029369" cy="1666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34D0A61-33C6-F987-1624-C8373FB36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952" y="2171239"/>
            <a:ext cx="9739384" cy="1571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B16A019-7B4D-D8ED-8743-B42967508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212" y="1931754"/>
            <a:ext cx="10153724" cy="19050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43F3AE-DEA3-EC78-774B-F26422CBD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719" y="2388423"/>
            <a:ext cx="4581558" cy="22383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1DF4748-F83D-0510-0938-871501669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1988" y="2672282"/>
            <a:ext cx="4586321" cy="20002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61B8853-AD49-663F-593E-E2225F212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0196" y="2971083"/>
            <a:ext cx="5014949" cy="19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90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2116563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2050</TotalTime>
  <Words>8223</Words>
  <Application>Microsoft Office PowerPoint</Application>
  <PresentationFormat>宽屏</PresentationFormat>
  <Paragraphs>1020</Paragraphs>
  <Slides>37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1" baseType="lpstr">
      <vt:lpstr>宋体</vt:lpstr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212</cp:revision>
  <dcterms:created xsi:type="dcterms:W3CDTF">2020-08-13T13:39:53Z</dcterms:created>
  <dcterms:modified xsi:type="dcterms:W3CDTF">2024-06-22T11:42:23Z</dcterms:modified>
</cp:coreProperties>
</file>