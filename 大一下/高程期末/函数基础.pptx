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4"/>
  </p:notesMasterIdLst>
  <p:sldIdLst>
    <p:sldId id="1281" r:id="rId2"/>
    <p:sldId id="1297" r:id="rId3"/>
    <p:sldId id="1251" r:id="rId4"/>
    <p:sldId id="1282" r:id="rId5"/>
    <p:sldId id="1283" r:id="rId6"/>
    <p:sldId id="1284" r:id="rId7"/>
    <p:sldId id="1298" r:id="rId8"/>
    <p:sldId id="1285" r:id="rId9"/>
    <p:sldId id="1299" r:id="rId10"/>
    <p:sldId id="1286" r:id="rId11"/>
    <p:sldId id="1287" r:id="rId12"/>
    <p:sldId id="1288" r:id="rId13"/>
    <p:sldId id="1289" r:id="rId14"/>
    <p:sldId id="1290" r:id="rId15"/>
    <p:sldId id="1291" r:id="rId16"/>
    <p:sldId id="1300" r:id="rId17"/>
    <p:sldId id="1292" r:id="rId18"/>
    <p:sldId id="1293" r:id="rId19"/>
    <p:sldId id="1294" r:id="rId20"/>
    <p:sldId id="1295" r:id="rId21"/>
    <p:sldId id="1296" r:id="rId22"/>
    <p:sldId id="130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87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("1234567-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张三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\n");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特别说明：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1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、如果输出维持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"1234567-</a:t>
            </a:r>
            <a:r>
              <a:rPr lang="zh-CN" altLang="en-US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张三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不变，得分为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2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姓名有错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非其他同学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、如果是别人的学号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姓名，按抄袭论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4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、后续有改学号姓名的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，要求相同，不再重复说明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*/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、将左侧程序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、将左侧程序贴到</a:t>
            </a:r>
            <a:r>
              <a:rPr kumimoji="1" lang="en-US" altLang="zh-CN" sz="1600" b="1" dirty="0">
                <a:latin typeface="+mn-ea"/>
              </a:rPr>
              <a:t>.</a:t>
            </a:r>
            <a:r>
              <a:rPr kumimoji="1" lang="en-US" altLang="zh-CN" sz="1600" b="1" dirty="0" err="1">
                <a:latin typeface="+mn-ea"/>
              </a:rPr>
              <a:t>cpp</a:t>
            </a:r>
            <a:r>
              <a:rPr kumimoji="1" lang="zh-CN" altLang="en-US" sz="1600" b="1" dirty="0">
                <a:latin typeface="+mn-ea"/>
              </a:rPr>
              <a:t>后缀的源程序中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如果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程序不写函数的返回类型，则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默认返回值为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int___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如果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C++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程序不写函数的返回类型，则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error____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C2A173-3B8A-9073-719F-E6C3E4C86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580" y="1604214"/>
            <a:ext cx="4153480" cy="9716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283075-1B5F-0080-640A-F9A66127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254" y="3181315"/>
            <a:ext cx="7802064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将左侧</a:t>
            </a:r>
            <a:r>
              <a:rPr kumimoji="1" lang="zh-CN" altLang="en-US" sz="1600" b="1" dirty="0">
                <a:latin typeface="+mn-ea"/>
              </a:rPr>
              <a:t>的两个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源程序中编译运行，分析为什么结果不同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因为在第一个程序中没有</a:t>
            </a:r>
            <a:r>
              <a:rPr kumimoji="1" lang="en-US" altLang="zh-CN" sz="1600" b="1" dirty="0">
                <a:latin typeface="+mn-ea"/>
              </a:rPr>
              <a:t>include&lt;</a:t>
            </a:r>
            <a:r>
              <a:rPr kumimoji="1" lang="en-US" altLang="zh-CN" sz="1600" b="1" dirty="0" err="1">
                <a:latin typeface="+mn-ea"/>
              </a:rPr>
              <a:t>math.h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头文件，导致</a:t>
            </a:r>
            <a:r>
              <a:rPr kumimoji="1" lang="en-US" altLang="zh-CN" sz="1600" b="1" dirty="0">
                <a:latin typeface="+mn-ea"/>
              </a:rPr>
              <a:t>sqrt</a:t>
            </a:r>
            <a:r>
              <a:rPr kumimoji="1" lang="zh-CN" altLang="en-US" sz="1600" b="1" dirty="0">
                <a:latin typeface="+mn-ea"/>
              </a:rPr>
              <a:t>这个函数未定义，默认返回值为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，从而出现了第二个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，返回的值也不正确。第二个程序包含了</a:t>
            </a:r>
            <a:r>
              <a:rPr kumimoji="1" lang="en-US" altLang="zh-CN" sz="1600" b="1" dirty="0">
                <a:latin typeface="+mn-ea"/>
              </a:rPr>
              <a:t>math</a:t>
            </a:r>
            <a:r>
              <a:rPr kumimoji="1" lang="zh-CN" altLang="en-US" sz="1600" b="1" dirty="0">
                <a:latin typeface="+mn-ea"/>
              </a:rPr>
              <a:t>头文件，因此不会有问题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D71480-B1AA-4DA2-B661-29F8822FFC36}"/>
              </a:ext>
            </a:extLst>
          </p:cNvPr>
          <p:cNvSpPr/>
          <p:nvPr/>
        </p:nvSpPr>
        <p:spPr bwMode="auto">
          <a:xfrm>
            <a:off x="592114" y="3845407"/>
            <a:ext cx="4941912" cy="268874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#include &lt;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math.h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F68899-6B94-A40F-C64A-2CD418DF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597" y="2020590"/>
            <a:ext cx="4163006" cy="9335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E5103B-E9BB-D712-6F7D-6AA490E1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922" y="3068087"/>
            <a:ext cx="10472592" cy="5403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8EBFC2B-3FDD-3CD4-5C37-345AAEC70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346" y="3883549"/>
            <a:ext cx="4124901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2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97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BB00F8-0DA7-2133-393B-4D7EBE392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61" y="3269596"/>
            <a:ext cx="7754432" cy="2667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242887-4012-40DF-1607-3614FA8A9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6" y="5397747"/>
            <a:ext cx="3896269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1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FD2E51-B28D-70BF-2EA5-96EE867F5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111" y="2694963"/>
            <a:ext cx="4153480" cy="9716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C1E068-5E78-903D-F8C7-0DD9EE6FE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162" y="3929062"/>
            <a:ext cx="6649378" cy="3334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501FEC-C7A3-DB16-99FA-018A95094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413" y="6162183"/>
            <a:ext cx="10879068" cy="2191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8E4C84-EEFA-6950-CAC7-3D40ABE2C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525" y="5514431"/>
            <a:ext cx="456311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3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0L;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、综合</a:t>
            </a:r>
            <a:r>
              <a:rPr kumimoji="1" lang="en-US" altLang="zh-CN" sz="1600" b="1" dirty="0">
                <a:latin typeface="+mn-ea"/>
              </a:rPr>
              <a:t>2.A/2.B/2.C</a:t>
            </a:r>
            <a:r>
              <a:rPr kumimoji="1" lang="zh-CN" altLang="en-US" sz="1600" b="1" dirty="0">
                <a:latin typeface="+mn-ea"/>
              </a:rPr>
              <a:t>三题的结论，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函数的返回类型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应定义为</a:t>
            </a:r>
            <a:r>
              <a:rPr kumimoji="1" lang="en-US" altLang="zh-CN" sz="1600" b="1" dirty="0">
                <a:latin typeface="+mn-ea"/>
              </a:rPr>
              <a:t>___int____</a:t>
            </a:r>
            <a:r>
              <a:rPr kumimoji="1" lang="zh-CN" altLang="en-US" sz="1600" b="1" dirty="0">
                <a:latin typeface="+mn-ea"/>
              </a:rPr>
              <a:t>最合适。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9B1D98-E56A-49E3-EF11-235B3F9AA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597" y="2215572"/>
            <a:ext cx="3769883" cy="10081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355973-6848-2E2C-5B75-818C7615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779" y="3223698"/>
            <a:ext cx="6392167" cy="2667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318DB26-F9C5-B8DB-4896-6E1FC4265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669" y="3934328"/>
            <a:ext cx="4486901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4670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、函数的单向传值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"x1="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x=5;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"x2="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 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k=15;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"k1="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fun(k);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"k2="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、为什么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的改变不会影响到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是实参，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是形参，实参单项传值给形参，形参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的值变化，实参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的值不会变化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866C10-E35A-1C87-AC7F-97C5B0EC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80" y="1699901"/>
            <a:ext cx="4163006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223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fun(short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k=70000;</a:t>
            </a:r>
          </a:p>
          <a:p>
            <a:r>
              <a:rPr lang="en-US" altLang="zh-CN" sz="1600" b="1" dirty="0">
                <a:latin typeface="+mn-ea"/>
              </a:rPr>
              <a:t>    fun(k);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是实参，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是形参，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实参单向传值给形参的过程可以理解为赋值运算。</a:t>
            </a:r>
            <a:r>
              <a:rPr kumimoji="1" lang="zh-CN" altLang="en-US" sz="1600" b="1" dirty="0">
                <a:latin typeface="+mn-ea"/>
              </a:rPr>
              <a:t>将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型赋值给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型，低位赋值，高位丢弃。</a:t>
            </a:r>
            <a:r>
              <a:rPr kumimoji="1" lang="en-US" altLang="zh-CN" sz="1600" b="1" dirty="0">
                <a:latin typeface="+mn-ea"/>
              </a:rPr>
              <a:t>70000</a:t>
            </a:r>
            <a:r>
              <a:rPr kumimoji="1" lang="zh-CN" altLang="en-US" sz="1600" b="1" dirty="0">
                <a:latin typeface="+mn-ea"/>
              </a:rPr>
              <a:t>补码为</a:t>
            </a:r>
            <a:r>
              <a:rPr kumimoji="1" lang="en-US" altLang="zh-CN" sz="1600" b="1" dirty="0">
                <a:latin typeface="+mn-ea"/>
              </a:rPr>
              <a:t>0000 0000 0000 0001 0001 0001 0111 0000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型只有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个字节，因此赋值给它后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成了</a:t>
            </a:r>
            <a:r>
              <a:rPr kumimoji="1" lang="en-US" altLang="zh-CN" sz="1600" b="1" dirty="0">
                <a:latin typeface="+mn-ea"/>
              </a:rPr>
              <a:t>0001 0001 0111 0000</a:t>
            </a:r>
            <a:r>
              <a:rPr kumimoji="1" lang="zh-CN" altLang="en-US" sz="1600" b="1" dirty="0">
                <a:latin typeface="+mn-ea"/>
              </a:rPr>
              <a:t>，即</a:t>
            </a:r>
            <a:r>
              <a:rPr kumimoji="1" lang="en-US" altLang="zh-CN" sz="1600" b="1" dirty="0">
                <a:latin typeface="+mn-ea"/>
              </a:rPr>
              <a:t>4464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757CE0-3D78-8A5F-C521-3372CD192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6" y="1669173"/>
            <a:ext cx="4077269" cy="1733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79D99D-3797-8131-ADA5-21707EF85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761" y="3762351"/>
            <a:ext cx="7392432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3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short fun3()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a = 70000;</a:t>
            </a:r>
          </a:p>
          <a:p>
            <a:r>
              <a:rPr lang="en-US" altLang="zh-CN" sz="1600" b="1" dirty="0">
                <a:latin typeface="+mn-ea"/>
              </a:rPr>
              <a:t>    return a;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d;</a:t>
            </a:r>
          </a:p>
          <a:p>
            <a:r>
              <a:rPr lang="en-US" altLang="zh-CN" sz="1600" b="1" dirty="0">
                <a:latin typeface="+mn-ea"/>
              </a:rPr>
              <a:t>    d = fun3();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Fun3</a:t>
            </a:r>
            <a:r>
              <a:rPr kumimoji="1" lang="zh-CN" altLang="en-US" sz="1600" b="1" dirty="0">
                <a:latin typeface="+mn-ea"/>
              </a:rPr>
              <a:t>函数</a:t>
            </a:r>
            <a:r>
              <a:rPr kumimoji="1" lang="en-US" altLang="zh-CN" sz="1600" b="1" dirty="0">
                <a:latin typeface="+mn-ea"/>
              </a:rPr>
              <a:t>return</a:t>
            </a:r>
            <a:r>
              <a:rPr kumimoji="1" lang="zh-CN" altLang="en-US" sz="1600" b="1" dirty="0">
                <a:latin typeface="+mn-ea"/>
              </a:rPr>
              <a:t>的类型和定义的返回类型不一致，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因此以返回类型为准进行数据转换</a:t>
            </a:r>
            <a:r>
              <a:rPr kumimoji="1" lang="zh-CN" altLang="en-US" sz="1600" b="1" dirty="0">
                <a:latin typeface="+mn-ea"/>
              </a:rPr>
              <a:t>，即将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型转换为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型，规则同赋值。将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型赋值给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型，低位赋值，高位丢弃。</a:t>
            </a:r>
            <a:r>
              <a:rPr kumimoji="1" lang="en-US" altLang="zh-CN" sz="1600" b="1" dirty="0">
                <a:latin typeface="+mn-ea"/>
              </a:rPr>
              <a:t>70000</a:t>
            </a:r>
            <a:r>
              <a:rPr kumimoji="1" lang="zh-CN" altLang="en-US" sz="1600" b="1" dirty="0">
                <a:latin typeface="+mn-ea"/>
              </a:rPr>
              <a:t>补码为</a:t>
            </a:r>
            <a:r>
              <a:rPr kumimoji="1" lang="en-US" altLang="zh-CN" sz="1600" b="1" dirty="0">
                <a:latin typeface="+mn-ea"/>
              </a:rPr>
              <a:t>0000 0000 0000 0001 0001 0001 0111 0000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型只有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个字节，因此赋值给它后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成了</a:t>
            </a:r>
            <a:r>
              <a:rPr kumimoji="1" lang="en-US" altLang="zh-CN" sz="1600" b="1" dirty="0">
                <a:latin typeface="+mn-ea"/>
              </a:rPr>
              <a:t>0001 0001 0111 0000</a:t>
            </a:r>
            <a:r>
              <a:rPr kumimoji="1" lang="zh-CN" altLang="en-US" sz="1600" b="1" dirty="0">
                <a:latin typeface="+mn-ea"/>
              </a:rPr>
              <a:t>，即</a:t>
            </a:r>
            <a:r>
              <a:rPr kumimoji="1" lang="en-US" altLang="zh-CN" sz="1600" b="1" dirty="0">
                <a:latin typeface="+mn-ea"/>
              </a:rPr>
              <a:t>4464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023B29-CC18-2564-5EFD-6970AEA2F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6" y="1626373"/>
            <a:ext cx="4086795" cy="1267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926B0A-4545-D109-4458-6881EC871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19" y="3152736"/>
            <a:ext cx="7735380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26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//main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函数，返回类型为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int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，无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return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fun()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"1234567-</a:t>
            </a:r>
            <a:r>
              <a:rPr kumimoji="1" lang="zh-CN" altLang="en-US" sz="1600" b="1" dirty="0">
                <a:latin typeface="+mn-ea"/>
              </a:rPr>
              <a:t>张三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fun();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函数，返回类型为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，无</a:t>
            </a:r>
            <a:r>
              <a:rPr kumimoji="1" lang="en-US" altLang="zh-CN" sz="1600" b="1" dirty="0">
                <a:latin typeface="+mn-ea"/>
              </a:rPr>
              <a:t>return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48F212-21DA-0E9F-B7B5-5C2CF270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7" y="5232008"/>
            <a:ext cx="4344006" cy="10574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9F486D-80AE-59E5-F631-5636711C9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385" y="5446350"/>
            <a:ext cx="425826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64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x=10;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k=10;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k + f();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k,f</a:t>
            </a:r>
            <a:r>
              <a:rPr lang="en-US" altLang="zh-CN" sz="1600" b="1" dirty="0">
                <a:latin typeface="+mn-ea"/>
              </a:rPr>
              <a:t>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f(), k+2)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、编译结果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、解释报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的两行为什么错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型函数无返回值，不能参与运算，因此</a:t>
            </a:r>
            <a:r>
              <a:rPr kumimoji="1" lang="en-US" altLang="zh-CN" sz="1600" b="1" dirty="0">
                <a:latin typeface="+mn-ea"/>
              </a:rPr>
              <a:t>k=</a:t>
            </a:r>
            <a:r>
              <a:rPr kumimoji="1" lang="en-US" altLang="zh-CN" sz="1600" b="1" dirty="0" err="1">
                <a:latin typeface="+mn-ea"/>
              </a:rPr>
              <a:t>k+f</a:t>
            </a:r>
            <a:r>
              <a:rPr kumimoji="1" lang="en-US" altLang="zh-CN" sz="1600" b="1" dirty="0">
                <a:latin typeface="+mn-ea"/>
              </a:rPr>
              <a:t>()</a:t>
            </a:r>
            <a:r>
              <a:rPr kumimoji="1" lang="zh-CN" altLang="en-US" sz="1600" b="1" dirty="0">
                <a:latin typeface="+mn-ea"/>
              </a:rPr>
              <a:t>错，因为逗号表达式的值是最后一个表达式的值，若最后一个为</a:t>
            </a: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则会出错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① 返回类型为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void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的函数不能出现在除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逗号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表达式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外的任何表达式中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② 若逗号表达式要参与其它运算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输出，则返回类型为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void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的函数不能做为第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__n__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个表达式出现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(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假设逗号表达式有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个表达式组成，此处填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1~n)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7A80AF-5AF0-2CB9-CA9D-DDFCFD0ED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391" y="2003206"/>
            <a:ext cx="8544087" cy="46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04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if (x&gt;10) {</a:t>
            </a:r>
          </a:p>
          <a:p>
            <a:r>
              <a:rPr lang="en-US" altLang="zh-CN" sz="1600" b="1" dirty="0">
                <a:latin typeface="+mn-ea"/>
              </a:rPr>
              <a:t>        if (x&gt;20)</a:t>
            </a:r>
          </a:p>
          <a:p>
            <a:r>
              <a:rPr lang="en-US" altLang="zh-CN" sz="1600" b="1" dirty="0">
                <a:latin typeface="+mn-ea"/>
              </a:rPr>
              <a:t>            return 1;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else</a:t>
            </a:r>
          </a:p>
          <a:p>
            <a:r>
              <a:rPr lang="en-US" altLang="zh-CN" sz="1600" b="1" dirty="0">
                <a:latin typeface="+mn-ea"/>
              </a:rPr>
              <a:t>    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fun(5)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fun(15)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&gt;10</a:t>
            </a:r>
            <a:r>
              <a:rPr kumimoji="1" lang="zh-CN" altLang="en-US" sz="1600" b="1" dirty="0">
                <a:latin typeface="+mn-ea"/>
              </a:rPr>
              <a:t>但不</a:t>
            </a:r>
            <a:r>
              <a:rPr kumimoji="1" lang="en-US" altLang="zh-CN" sz="1600" b="1" dirty="0">
                <a:latin typeface="+mn-ea"/>
              </a:rPr>
              <a:t>&lt;20</a:t>
            </a:r>
            <a:r>
              <a:rPr kumimoji="1" lang="zh-CN" altLang="en-US" sz="1600" b="1" dirty="0">
                <a:latin typeface="+mn-ea"/>
              </a:rPr>
              <a:t>，则什么都不运行直接结束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语句，进而结束了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函数内的所有语句，没有</a:t>
            </a:r>
            <a:r>
              <a:rPr kumimoji="1" lang="en-US" altLang="zh-CN" sz="1600" b="1" dirty="0" err="1">
                <a:latin typeface="+mn-ea"/>
              </a:rPr>
              <a:t>renturn</a:t>
            </a:r>
            <a:r>
              <a:rPr kumimoji="1" lang="zh-CN" altLang="en-US" sz="1600" b="1" dirty="0">
                <a:latin typeface="+mn-ea"/>
              </a:rPr>
              <a:t>一个值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3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、后三行输出中哪行不可信？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第二行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B0F9CD-A2BF-8FB4-A679-D4A4CC12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990" y="1323975"/>
            <a:ext cx="3520417" cy="1673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26D969-2CA9-06D9-A1D1-1E150F23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961" y="2846914"/>
            <a:ext cx="5877745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99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if (x&gt;1)</a:t>
            </a:r>
          </a:p>
          <a:p>
            <a:r>
              <a:rPr lang="en-US" altLang="zh-CN" sz="1600" b="1" dirty="0">
                <a:latin typeface="+mn-ea"/>
              </a:rPr>
              <a:t>        return 1;</a:t>
            </a:r>
          </a:p>
          <a:p>
            <a:r>
              <a:rPr lang="en-US" altLang="zh-CN" sz="1600" b="1" dirty="0">
                <a:latin typeface="+mn-ea"/>
              </a:rPr>
              <a:t>    else if (x&lt;=1)</a:t>
            </a:r>
          </a:p>
          <a:p>
            <a:r>
              <a:rPr lang="en-US" altLang="zh-CN" sz="1600" b="1" dirty="0">
                <a:latin typeface="+mn-ea"/>
              </a:rPr>
              <a:t>        return 0;</a:t>
            </a:r>
          </a:p>
          <a:p>
            <a:r>
              <a:rPr lang="en-US" altLang="zh-CN" sz="1600" b="1" dirty="0">
                <a:latin typeface="+mn-ea"/>
              </a:rPr>
              <a:t>}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if+else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if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已覆盖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型的全部表示范围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fun(0)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的含义（编译器是如何理解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的逻辑的）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尽管从人的逻辑看，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不是</a:t>
            </a:r>
            <a:r>
              <a:rPr kumimoji="1" lang="en-US" altLang="zh-CN" sz="1600" b="1" dirty="0">
                <a:latin typeface="+mn-ea"/>
              </a:rPr>
              <a:t>&gt;1</a:t>
            </a:r>
            <a:r>
              <a:rPr kumimoji="1" lang="zh-CN" altLang="en-US" sz="1600" b="1" dirty="0">
                <a:latin typeface="+mn-ea"/>
              </a:rPr>
              <a:t>就是</a:t>
            </a:r>
            <a:r>
              <a:rPr kumimoji="1" lang="en-US" altLang="zh-CN" sz="1600" b="1" dirty="0">
                <a:latin typeface="+mn-ea"/>
              </a:rPr>
              <a:t>&lt;=1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else if</a:t>
            </a:r>
            <a:r>
              <a:rPr kumimoji="1" lang="zh-CN" altLang="en-US" sz="1600" b="1" dirty="0">
                <a:latin typeface="+mn-ea"/>
              </a:rPr>
              <a:t>已经包含了所有情况，但是从编译器角度看，除了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（）和</a:t>
            </a:r>
            <a:r>
              <a:rPr kumimoji="1" lang="en-US" altLang="zh-CN" sz="1600" b="1" dirty="0">
                <a:latin typeface="+mn-ea"/>
              </a:rPr>
              <a:t>else if</a:t>
            </a:r>
            <a:r>
              <a:rPr kumimoji="1" lang="zh-CN" altLang="en-US" sz="1600" b="1" dirty="0">
                <a:latin typeface="+mn-ea"/>
              </a:rPr>
              <a:t>（）以外还会有剩下的第三种情况（应当再添加一个</a:t>
            </a:r>
            <a:r>
              <a:rPr kumimoji="1" lang="en-US" altLang="zh-CN" sz="1600" b="1" dirty="0">
                <a:latin typeface="+mn-ea"/>
              </a:rPr>
              <a:t>else</a:t>
            </a:r>
            <a:r>
              <a:rPr kumimoji="1" lang="zh-CN" altLang="en-US" sz="1600" b="1" dirty="0">
                <a:latin typeface="+mn-ea"/>
              </a:rPr>
              <a:t>），这第三种情况下是没有</a:t>
            </a:r>
            <a:r>
              <a:rPr kumimoji="1" lang="en-US" altLang="zh-CN" sz="1600" b="1" dirty="0">
                <a:latin typeface="+mn-ea"/>
              </a:rPr>
              <a:t>return</a:t>
            </a:r>
            <a:r>
              <a:rPr kumimoji="1" lang="zh-CN" altLang="en-US" sz="1600" b="1" dirty="0">
                <a:latin typeface="+mn-ea"/>
              </a:rPr>
              <a:t>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9975E2-2326-C58C-D411-0D3A5BCC0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845" y="1600216"/>
            <a:ext cx="4077269" cy="17242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B91CB8-4A08-D10B-20A2-A60A6DB3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412" y="3376839"/>
            <a:ext cx="6239746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7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018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0L;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k;</a:t>
            </a:r>
          </a:p>
          <a:p>
            <a:r>
              <a:rPr lang="en-US" altLang="zh-CN" sz="1600" b="1" dirty="0">
                <a:latin typeface="+mn-ea"/>
              </a:rPr>
              <a:t>    k =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long fun(void)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"1234567-</a:t>
            </a:r>
            <a:r>
              <a:rPr kumimoji="1" lang="zh-CN" altLang="en-US" sz="1600" b="1" dirty="0">
                <a:latin typeface="+mn-ea"/>
              </a:rPr>
              <a:t>张三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0L;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long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k = 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long</a:t>
            </a:r>
            <a:r>
              <a:rPr kumimoji="1" lang="en-US" altLang="zh-CN" sz="1600" b="1" dirty="0">
                <a:latin typeface="+mn-ea"/>
              </a:rPr>
              <a:t> fun();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结论：函数调用时，</a:t>
            </a:r>
            <a:r>
              <a:rPr lang="en-US" altLang="zh-CN" sz="2400" b="1" dirty="0">
                <a:latin typeface="+mn-ea"/>
              </a:rPr>
              <a:t>__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写返回类型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C11B2F-40C7-9738-8BFE-9B6E779E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69" y="4943511"/>
            <a:ext cx="4134427" cy="10574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AF7B7B-3BF3-A117-E767-0DEFE976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043" y="5170465"/>
            <a:ext cx="3639058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29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k;</a:t>
            </a:r>
          </a:p>
          <a:p>
            <a:r>
              <a:rPr lang="en-US" altLang="zh-CN" sz="1600" b="1" dirty="0">
                <a:latin typeface="+mn-ea"/>
              </a:rPr>
              <a:t>    k =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k;</a:t>
            </a: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void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结论：无参函数调用时，参数位置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不能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__(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能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不能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写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void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AA4570-D3F5-A8B9-1E07-ADC222390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85" y="4848182"/>
            <a:ext cx="4315427" cy="1095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CDC5A7F-1669-F25E-6881-D4192BBAE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724" y="4845634"/>
            <a:ext cx="623021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45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k, x=10, y=15;</a:t>
            </a:r>
          </a:p>
          <a:p>
            <a:r>
              <a:rPr lang="en-US" altLang="zh-CN" sz="1600" b="1" dirty="0">
                <a:latin typeface="+mn-ea"/>
              </a:rPr>
              <a:t>    k = fun(x,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k, x=10, y=15;</a:t>
            </a: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x,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结论：有参函数调用时，实参</a:t>
            </a:r>
            <a:r>
              <a:rPr lang="en-US" altLang="zh-CN" sz="2400" b="1" dirty="0">
                <a:latin typeface="+mn-ea"/>
              </a:rPr>
              <a:t>__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C18D81-8397-2167-BCF5-685FC633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32" y="4822440"/>
            <a:ext cx="4020111" cy="9621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9C98F2-1439-B4B9-4062-05DFA61E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1" y="5355498"/>
            <a:ext cx="5172797" cy="6192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0571E3-BBEA-9332-AE27-9D347773A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127" y="5942212"/>
            <a:ext cx="3486637" cy="5811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7A6FD0F-497F-6A81-89F8-DFDC27B62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220" y="4770761"/>
            <a:ext cx="5096586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49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"y=" &lt;&lt; 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x=10, y=15;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思考题：为什么本程序不报错但也无输出？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因为这个高亮的语句实际上是</a:t>
            </a:r>
            <a:r>
              <a:rPr lang="en-US" altLang="zh-CN" sz="1600" b="1" dirty="0">
                <a:latin typeface="+mn-ea"/>
              </a:rPr>
              <a:t>fun</a:t>
            </a:r>
            <a:r>
              <a:rPr lang="zh-CN" altLang="en-US" sz="1600" b="1" dirty="0">
                <a:latin typeface="+mn-ea"/>
              </a:rPr>
              <a:t>函数的说明，并不是调用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4BDF0F-CDB9-447F-04CA-4A1B5F558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65" y="5605273"/>
            <a:ext cx="5046061" cy="92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83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x = 10, y = 15;</a:t>
            </a:r>
          </a:p>
          <a:p>
            <a:r>
              <a:rPr lang="en-US" altLang="zh-CN" sz="1200" b="1" dirty="0">
                <a:latin typeface="+mn-ea"/>
              </a:rPr>
              <a:t>    fun(x, y);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</a:p>
          <a:p>
            <a:r>
              <a:rPr lang="en-US" altLang="zh-CN" sz="1200" b="1" dirty="0">
                <a:latin typeface="+mn-ea"/>
              </a:rPr>
              <a:t>void f()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fun(10, 15);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fun(int x, int y)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"1234567-</a:t>
            </a:r>
            <a:r>
              <a:rPr lang="zh-CN" altLang="en-US" sz="1200" b="1" dirty="0">
                <a:latin typeface="+mn-ea"/>
              </a:rPr>
              <a:t>张三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int fun(int x, int y);</a:t>
            </a:r>
          </a:p>
          <a:p>
            <a:r>
              <a:rPr lang="en-US" altLang="zh-CN" sz="1200" b="1" dirty="0">
                <a:latin typeface="+mn-ea"/>
              </a:rPr>
              <a:t>    int x = 10, y = 15;</a:t>
            </a:r>
          </a:p>
          <a:p>
            <a:r>
              <a:rPr lang="en-US" altLang="zh-CN" sz="1200" b="1" dirty="0">
                <a:latin typeface="+mn-ea"/>
              </a:rPr>
              <a:t>    fun(x, y);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void f()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fun(10, 15);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fun(int x, int y)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"1234567-</a:t>
            </a:r>
            <a:r>
              <a:rPr lang="zh-CN" altLang="en-US" sz="1200" b="1" dirty="0">
                <a:latin typeface="+mn-ea"/>
              </a:rPr>
              <a:t>张三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6DC964-B253-4081-B286-AB310AB7A587}"/>
              </a:ext>
            </a:extLst>
          </p:cNvPr>
          <p:cNvSpPr/>
          <p:nvPr/>
        </p:nvSpPr>
        <p:spPr bwMode="auto">
          <a:xfrm>
            <a:off x="592114" y="5426242"/>
            <a:ext cx="10247336" cy="1107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结论：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、函数声明如果放在函数外，则对哪些有效函数？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说明后面所有函数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2</a:t>
            </a:r>
            <a:r>
              <a:rPr lang="zh-CN" altLang="en-US" sz="1600" b="1" dirty="0">
                <a:latin typeface="+mn-ea"/>
              </a:rPr>
              <a:t>、函数声明如果放在函数内，则对哪个函数有效？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只对本函数有效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A36249-F9C4-9B8C-4071-73875FC09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81" y="5130926"/>
            <a:ext cx="3934374" cy="2953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AEED6E5-4477-4833-A098-890F5CFA2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745" y="5078864"/>
            <a:ext cx="4086795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33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7091014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1561</TotalTime>
  <Words>3515</Words>
  <Application>Microsoft Office PowerPoint</Application>
  <PresentationFormat>宽屏</PresentationFormat>
  <Paragraphs>599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228</cp:revision>
  <dcterms:created xsi:type="dcterms:W3CDTF">2020-08-13T13:39:53Z</dcterms:created>
  <dcterms:modified xsi:type="dcterms:W3CDTF">2024-06-22T13:02:27Z</dcterms:modified>
</cp:coreProperties>
</file>