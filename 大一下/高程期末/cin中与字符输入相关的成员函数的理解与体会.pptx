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2"/>
  </p:notesMasterIdLst>
  <p:sldIdLst>
    <p:sldId id="552" r:id="rId2"/>
    <p:sldId id="1237" r:id="rId3"/>
    <p:sldId id="644" r:id="rId4"/>
    <p:sldId id="643" r:id="rId5"/>
    <p:sldId id="558" r:id="rId6"/>
    <p:sldId id="645" r:id="rId7"/>
    <p:sldId id="646" r:id="rId8"/>
    <p:sldId id="632" r:id="rId9"/>
    <p:sldId id="647" r:id="rId10"/>
    <p:sldId id="648" r:id="rId11"/>
    <p:sldId id="649" r:id="rId12"/>
    <p:sldId id="633" r:id="rId13"/>
    <p:sldId id="650" r:id="rId14"/>
    <p:sldId id="634" r:id="rId15"/>
    <p:sldId id="635" r:id="rId16"/>
    <p:sldId id="651" r:id="rId17"/>
    <p:sldId id="636" r:id="rId18"/>
    <p:sldId id="591" r:id="rId19"/>
    <p:sldId id="637" r:id="rId20"/>
    <p:sldId id="638" r:id="rId21"/>
    <p:sldId id="640" r:id="rId22"/>
    <p:sldId id="653" r:id="rId23"/>
    <p:sldId id="639" r:id="rId24"/>
    <p:sldId id="654" r:id="rId25"/>
    <p:sldId id="655" r:id="rId26"/>
    <p:sldId id="641" r:id="rId27"/>
    <p:sldId id="642" r:id="rId28"/>
    <p:sldId id="656" r:id="rId29"/>
    <p:sldId id="657" r:id="rId30"/>
    <p:sldId id="658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11A60-BC7B-4243-A8B9-6D7D64FDCBBF}" v="17" dt="2024-06-25T03:47:05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A1411A60-BC7B-4243-A8B9-6D7D64FDCBBF}"/>
    <pc:docChg chg="modSld">
      <pc:chgData name="xi sheng" userId="b3919e0d8ca6a452" providerId="LiveId" clId="{A1411A60-BC7B-4243-A8B9-6D7D64FDCBBF}" dt="2024-06-25T03:47:05.473" v="55"/>
      <pc:docMkLst>
        <pc:docMk/>
      </pc:docMkLst>
      <pc:sldChg chg="modSp mod">
        <pc:chgData name="xi sheng" userId="b3919e0d8ca6a452" providerId="LiveId" clId="{A1411A60-BC7B-4243-A8B9-6D7D64FDCBBF}" dt="2024-06-25T03:41:12.876" v="13"/>
        <pc:sldMkLst>
          <pc:docMk/>
          <pc:sldMk cId="3292492155" sldId="636"/>
        </pc:sldMkLst>
        <pc:spChg chg="mod">
          <ac:chgData name="xi sheng" userId="b3919e0d8ca6a452" providerId="LiveId" clId="{A1411A60-BC7B-4243-A8B9-6D7D64FDCBBF}" dt="2024-06-25T03:41:12.876" v="13"/>
          <ac:spMkLst>
            <pc:docMk/>
            <pc:sldMk cId="3292492155" sldId="636"/>
            <ac:spMk id="120834" creationId="{00000000-0000-0000-0000-000000000000}"/>
          </ac:spMkLst>
        </pc:spChg>
      </pc:sldChg>
      <pc:sldChg chg="modSp mod">
        <pc:chgData name="xi sheng" userId="b3919e0d8ca6a452" providerId="LiveId" clId="{A1411A60-BC7B-4243-A8B9-6D7D64FDCBBF}" dt="2024-06-25T03:47:05.473" v="55"/>
        <pc:sldMkLst>
          <pc:docMk/>
          <pc:sldMk cId="2657595040" sldId="641"/>
        </pc:sldMkLst>
        <pc:spChg chg="mod">
          <ac:chgData name="xi sheng" userId="b3919e0d8ca6a452" providerId="LiveId" clId="{A1411A60-BC7B-4243-A8B9-6D7D64FDCBBF}" dt="2024-06-25T03:47:05.473" v="55"/>
          <ac:spMkLst>
            <pc:docMk/>
            <pc:sldMk cId="2657595040" sldId="641"/>
            <ac:spMk id="4" creationId="{565B8298-C585-60D2-D4DC-8806A8C1AF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255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5E6376-A889-419B-BC94-8D1A3A08F74E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98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9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22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37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10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68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9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16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60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87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119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4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A4F3C42-5715-4F86-8B48-9F106AD4D4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12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减负，不用提交，里面的成员函数学会了后续也可以用</a:t>
            </a:r>
          </a:p>
          <a:p>
            <a:pPr algn="l"/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74422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，则观察源程序编辑窗口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9439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基本概念：</a:t>
            </a: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文件结束符：表示文件结束的特殊标记</a:t>
            </a: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  ★ 一般用</a:t>
            </a:r>
            <a:r>
              <a:rPr lang="en-US" altLang="zh-CN" sz="1600" b="1" dirty="0">
                <a:latin typeface="+mn-ea"/>
              </a:rPr>
              <a:t>CTRL+Z</a:t>
            </a:r>
            <a:r>
              <a:rPr lang="zh-CN" altLang="en-US" sz="1600" b="1" dirty="0">
                <a:latin typeface="+mn-ea"/>
              </a:rPr>
              <a:t>表示键盘输入文件结束符</a:t>
            </a:r>
          </a:p>
          <a:p>
            <a:pPr algn="l"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文件结束标记：判断文件是否结束的标记，用宏定义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End Of File</a:t>
            </a:r>
            <a:r>
              <a:rPr lang="zh-CN" altLang="en-US" sz="1600" b="1" dirty="0">
                <a:latin typeface="+mn-ea"/>
              </a:rPr>
              <a:t>）来表示</a:t>
            </a:r>
          </a:p>
          <a:p>
            <a:pPr algn="l" eaLnBrk="0" hangingPunct="0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  ★ 不同系统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的值（目前双编译器都是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）可能不同，不必关心</a:t>
            </a: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  ★ 一般用于字符流输入的判断，对其它类型一般不用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21064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功能：从输入流中读一个字符并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返回该字符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功能：从输入流中读一个字符给字符变量，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返回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cin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(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流对象自身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从输入流中读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n-1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个字符</a:t>
            </a:r>
            <a:r>
              <a:rPr lang="zh-CN" altLang="en-US" sz="1600" b="1" dirty="0">
                <a:latin typeface="+mn-ea"/>
              </a:rPr>
              <a:t>，若遇到中止字符，则提前结束，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返回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cin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(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流对象自身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功能：同三个参数的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470012" y="5223015"/>
            <a:ext cx="5162128" cy="112192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关于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/>
                <a:ea typeface="宋体"/>
              </a:rPr>
              <a:t>cin.get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函数返回值的讨论：</a:t>
            </a:r>
            <a:endParaRPr kumimoji="1" lang="en-US" altLang="zh-CN" sz="1600" b="1" dirty="0">
              <a:solidFill>
                <a:schemeClr val="accent2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u="sng" dirty="0">
                <a:solidFill>
                  <a:schemeClr val="accent2"/>
                </a:solidFill>
                <a:latin typeface="宋体"/>
                <a:ea typeface="宋体"/>
              </a:rPr>
              <a:t>http://bbs.bccn.net/thread-420985-1-1.html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u="sng" dirty="0">
              <a:solidFill>
                <a:schemeClr val="accent2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看得懂就看，看不懂就放弃</a:t>
            </a:r>
          </a:p>
        </p:txBody>
      </p:sp>
    </p:spTree>
    <p:extLst>
      <p:ext uri="{BB962C8B-B14F-4D97-AF65-F5344CB8AC3E}">
        <p14:creationId xmlns:p14="http://schemas.microsoft.com/office/powerpoint/2010/main" val="19273985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输入一个字符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回车，输出：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B6CE4B-838F-7A88-E45B-7420D7AEE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563" y="1983653"/>
            <a:ext cx="4496427" cy="22005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479E01-E0DA-8365-71BC-3E495A17E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353" y="4725897"/>
            <a:ext cx="1686160" cy="15146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E6292FF-4D39-8A33-707C-617F01D38B57}"/>
              </a:ext>
            </a:extLst>
          </p:cNvPr>
          <p:cNvSpPr txBox="1"/>
          <p:nvPr/>
        </p:nvSpPr>
        <p:spPr>
          <a:xfrm>
            <a:off x="5687683" y="4439728"/>
            <a:ext cx="1489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可以读回车</a:t>
            </a:r>
          </a:p>
        </p:txBody>
      </p:sp>
    </p:spTree>
    <p:extLst>
      <p:ext uri="{BB962C8B-B14F-4D97-AF65-F5344CB8AC3E}">
        <p14:creationId xmlns:p14="http://schemas.microsoft.com/office/powerpoint/2010/main" val="253199926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FE9390-8F00-4CE2-9B02-E203FFDCBA40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8A6B79-BB0D-E660-9C24-D9920A39C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709" y="3066999"/>
            <a:ext cx="1476581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5740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BAC3F8B-A1AA-45F0-AE33-1795ADD9AA7F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AF313C-D06D-408C-B3F9-AB7C3C6A932A}"/>
              </a:ext>
            </a:extLst>
          </p:cNvPr>
          <p:cNvSpPr/>
          <p:nvPr/>
        </p:nvSpPr>
        <p:spPr bwMode="auto">
          <a:xfrm>
            <a:off x="558025" y="1244870"/>
            <a:ext cx="6408712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())!=EOF)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回车，串中可含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71CD3D-AF55-C502-A148-CDB07DC0A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519" y="1305259"/>
            <a:ext cx="2048161" cy="164805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D0AC8F9-E6AB-0108-30DA-3FE0954A7CCD}"/>
              </a:ext>
            </a:extLst>
          </p:cNvPr>
          <p:cNvSpPr/>
          <p:nvPr/>
        </p:nvSpPr>
        <p:spPr bwMode="auto">
          <a:xfrm>
            <a:off x="7694762" y="1334219"/>
            <a:ext cx="1690778" cy="41981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869659-6707-07A4-D642-2FAD9F0CEAF7}"/>
              </a:ext>
            </a:extLst>
          </p:cNvPr>
          <p:cNvSpPr/>
          <p:nvPr/>
        </p:nvSpPr>
        <p:spPr bwMode="auto">
          <a:xfrm>
            <a:off x="8436544" y="1656374"/>
            <a:ext cx="1690778" cy="41981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宋体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833CDD-2D6C-01A5-5B15-E64CF4873802}"/>
              </a:ext>
            </a:extLst>
          </p:cNvPr>
          <p:cNvSpPr txBox="1"/>
          <p:nvPr/>
        </p:nvSpPr>
        <p:spPr>
          <a:xfrm>
            <a:off x="10748513" y="2143766"/>
            <a:ext cx="1443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红框内输入的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233B48-1607-06E0-737E-1356AFF67852}"/>
              </a:ext>
            </a:extLst>
          </p:cNvPr>
          <p:cNvSpPr/>
          <p:nvPr/>
        </p:nvSpPr>
        <p:spPr bwMode="auto">
          <a:xfrm>
            <a:off x="7286045" y="2466931"/>
            <a:ext cx="1690778" cy="41981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宋体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C60B42C-3931-4767-6C4C-6535E586D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462" y="1094981"/>
            <a:ext cx="2524477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558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B284B20-AAF5-4D7D-BEC5-D32F71008A8D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17D838-5D8D-4528-A2D5-A7EB663F6757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输入一个字符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3483B5-DF22-F05C-548B-B957CC0EF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767" y="1383160"/>
            <a:ext cx="3181794" cy="17337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300C4E0-92A4-F3AD-1183-AFAC1043A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767" y="3660791"/>
            <a:ext cx="1905266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4286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C4A7C32-108C-4120-BA16-90B37654D98F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74D594-E1D0-4F76-AC5A-D39296E8EF78}"/>
              </a:ext>
            </a:extLst>
          </p:cNvPr>
          <p:cNvSpPr/>
          <p:nvPr/>
        </p:nvSpPr>
        <p:spPr bwMode="auto">
          <a:xfrm>
            <a:off x="558024" y="1244870"/>
            <a:ext cx="4620032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回车，串中可含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CTRL+Z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（能否结束？）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无法结束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问：右侧为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P.7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get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无参例子，左右两个程序的输出是否相同？是的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757933-81D6-4056-8FAB-E18B417F4C75}"/>
              </a:ext>
            </a:extLst>
          </p:cNvPr>
          <p:cNvSpPr/>
          <p:nvPr/>
        </p:nvSpPr>
        <p:spPr bwMode="auto">
          <a:xfrm>
            <a:off x="5257613" y="1244870"/>
            <a:ext cx="462003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())!=EOF 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本题同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，不需要写结果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FAB497-38E7-4B19-B884-569E06A92312}"/>
              </a:ext>
            </a:extLst>
          </p:cNvPr>
          <p:cNvSpPr/>
          <p:nvPr/>
        </p:nvSpPr>
        <p:spPr bwMode="auto">
          <a:xfrm>
            <a:off x="8612372" y="1244870"/>
            <a:ext cx="1265275" cy="4031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程序同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607859-051E-0403-EB2B-247B377C0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182" y="1370101"/>
            <a:ext cx="1916080" cy="12868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DC49765-942F-51D8-3DF1-6776A382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312" y="2582234"/>
            <a:ext cx="1935950" cy="196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54305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95D5D75-68B2-43B3-BE76-029B8F458190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C69863-60AA-4042-A9FC-CCBF7B014793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))!='\n')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编译出错，为什么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返回的不适可以与字符型常量比较的量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683674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829423-7238-4718-B011-B49AC52BC9E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CB0D81-1BCC-4451-AE97-AC2156037D19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))!=EOF)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编译出错，为什么？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返回的量无法与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比较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FC99C3-2A69-47AE-BB38-CD02857FFE68}"/>
              </a:ext>
            </a:extLst>
          </p:cNvPr>
          <p:cNvSpPr/>
          <p:nvPr/>
        </p:nvSpPr>
        <p:spPr bwMode="auto">
          <a:xfrm>
            <a:off x="5257613" y="1244870"/>
            <a:ext cx="462003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())!=EOF 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本题不需要写运行结果，回答问题即可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程序同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P.7/P.9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右，编译正确，为什么？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,.get()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和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返回的不一样，前一个返回的是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到的字符，后一个返回的是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本身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589434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4F1184D-5EA1-480C-8E71-2E4BAD96D12F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32F7A6-74D1-4F80-B001-9E95A85FD23D}"/>
              </a:ext>
            </a:extLst>
          </p:cNvPr>
          <p:cNvSpPr/>
          <p:nvPr/>
        </p:nvSpPr>
        <p:spPr bwMode="auto">
          <a:xfrm>
            <a:off x="558024" y="1244870"/>
            <a:ext cx="595361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10, '*');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个及以前位置有*，输出：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个及以后位置有*，输出：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43B8D4-D702-07D1-B7C3-EE82209A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020" y="1363798"/>
            <a:ext cx="2124371" cy="104789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80147D9-06F6-DA3A-D788-A51DD00EA9EF}"/>
              </a:ext>
            </a:extLst>
          </p:cNvPr>
          <p:cNvSpPr txBox="1"/>
          <p:nvPr/>
        </p:nvSpPr>
        <p:spPr>
          <a:xfrm>
            <a:off x="5956153" y="207609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只给</a:t>
            </a:r>
            <a:r>
              <a:rPr lang="en-US" altLang="zh-CN" dirty="0" err="1">
                <a:solidFill>
                  <a:schemeClr val="accent2"/>
                </a:solidFill>
              </a:rPr>
              <a:t>ch</a:t>
            </a:r>
            <a:r>
              <a:rPr lang="zh-CN" altLang="en-US" dirty="0">
                <a:solidFill>
                  <a:schemeClr val="accent2"/>
                </a:solidFill>
              </a:rPr>
              <a:t>赋值呃九次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106F28B-D9A4-C05B-E194-F9AD0EFE8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020" y="2530622"/>
            <a:ext cx="1096505" cy="186968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514A7FE-2B42-E10A-FFDA-EF5FDC802C46}"/>
              </a:ext>
            </a:extLst>
          </p:cNvPr>
          <p:cNvSpPr txBox="1"/>
          <p:nvPr/>
        </p:nvSpPr>
        <p:spPr>
          <a:xfrm>
            <a:off x="5106838" y="2909977"/>
            <a:ext cx="1155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回车也包含在内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82A9E71-1DC4-A97A-F2E5-E8F149C39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815" y="4418995"/>
            <a:ext cx="1590897" cy="102884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1EB73EB-3275-A095-CFAE-C2B4A1A97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525" y="5539712"/>
            <a:ext cx="2543530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7774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B391117-5C1F-4A78-BBF8-3CB91EA345B7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9A9D69-F6AF-4253-9F2E-DFBBE37D68E2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省略第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个参数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654F0B-FEAA-E576-4D3D-DE8427E2B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732" y="3729146"/>
            <a:ext cx="2829320" cy="11145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F83569-558B-F62D-4977-875231112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714" y="5113763"/>
            <a:ext cx="1305107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4811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0767672-D473-4CC7-930C-384148081659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33B3F4-E3EA-451C-98B9-75CBCFC4D405}"/>
              </a:ext>
            </a:extLst>
          </p:cNvPr>
          <p:cNvSpPr/>
          <p:nvPr/>
        </p:nvSpPr>
        <p:spPr bwMode="auto">
          <a:xfrm>
            <a:off x="558024" y="1244870"/>
            <a:ext cx="595361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10, '*');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个及以前位置有*，输出：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个及以后位置有*，输出：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是否与三个参数的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相同？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相同</a:t>
            </a:r>
          </a:p>
        </p:txBody>
      </p:sp>
    </p:spTree>
    <p:extLst>
      <p:ext uri="{BB962C8B-B14F-4D97-AF65-F5344CB8AC3E}">
        <p14:creationId xmlns:p14="http://schemas.microsoft.com/office/powerpoint/2010/main" val="7705262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3" y="1244870"/>
            <a:ext cx="4711787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{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[20];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，空格结束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, 20);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缺省是回车结束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运行结果：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宋体"/>
                <a:ea typeface="宋体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宋体"/>
                <a:ea typeface="宋体"/>
              </a:rPr>
              <a:t> like C++./I study C++./I am happy.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second part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third part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394523" y="1244870"/>
            <a:ext cx="4711787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{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[20];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，空格结束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宋体"/>
                <a:ea typeface="宋体" pitchFamily="2" charset="-122"/>
              </a:rPr>
              <a:t>cin.getline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/>
                <a:ea typeface="宋体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/>
                <a:ea typeface="宋体" pitchFamily="2" charset="-122"/>
              </a:rPr>
              <a:t>, 20, '/');</a:t>
            </a:r>
            <a:endParaRPr kumimoji="1" lang="zh-CN" altLang="en-US" sz="1200" b="1" dirty="0">
              <a:solidFill>
                <a:srgbClr val="FF33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运行结果：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宋体"/>
                <a:ea typeface="宋体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宋体"/>
                <a:ea typeface="宋体"/>
              </a:rPr>
              <a:t> like C++./I study C++./I am happy.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second part is: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third part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737642" y="3574500"/>
            <a:ext cx="1981593" cy="21069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charset="0"/>
              <a:ea typeface="宋体" pitchFamily="2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DF44DF1-261D-4BC2-9E7F-1C3C22F2FBD9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157CB1-FB5C-5CE8-4FB5-949BAAA5A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" y="5550709"/>
            <a:ext cx="5145557" cy="87768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6EE3EC-B7E7-DA16-DA53-B6826AB80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643" y="5570591"/>
            <a:ext cx="6052758" cy="108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8375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58024" y="5455990"/>
            <a:ext cx="4711786" cy="75743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getline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：遇见终止字符，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会在缓冲区把终止字符给消了，但是赋值的东西里没有终止字符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___________________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chemeClr val="bg1"/>
              </a:solidFill>
              <a:highlight>
                <a:srgbClr val="FF0000"/>
              </a:highlight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get    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：遇见终止字符，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不会在缓冲区把终止字符消了，导致下一次再读的时候终止字符还在缓冲区里，什么也没读成，无论在进行多少次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third part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		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都不会读到任何东西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宋体" pitchFamily="2" charset="-122"/>
                <a:ea typeface="宋体" pitchFamily="2" charset="-122"/>
              </a:rPr>
              <a:t>__________________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8C032AC-CA7F-44D1-94C9-6D4A1341A830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04AD04-4955-4272-BB67-CEBC5CF87253}"/>
              </a:ext>
            </a:extLst>
          </p:cNvPr>
          <p:cNvSpPr/>
          <p:nvPr/>
        </p:nvSpPr>
        <p:spPr bwMode="auto">
          <a:xfrm>
            <a:off x="558024" y="1244870"/>
            <a:ext cx="4711786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[20];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+mn-ea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，空格结束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cin.get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cin.get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和上页的差别：两句蓝色语句从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getline</a:t>
            </a: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变为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get</a:t>
            </a: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，则结果：</a:t>
            </a: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+mn-ea"/>
              </a:rPr>
              <a:t> like C++./I study C++./I am happy.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is: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second part is: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third part is:</a:t>
            </a: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A8FBD5-1326-3F9D-84AA-778D5E65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901" y="4595376"/>
            <a:ext cx="5256801" cy="75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2676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宋体"/>
                <a:ea typeface="宋体"/>
              </a:rPr>
              <a:t>  ●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输入满：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满后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继续读下一个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get______________________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/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          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getline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满后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不会再读下一个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getline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了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___________________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/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/>
              </a:rPr>
              <a:t>●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遇中止字符：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遇中止字符，下一个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___get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里不会再读了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因为上一页的没有消掉缓冲区里的终止字符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_______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/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              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getline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遇中止字符，下一个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getline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还会读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_______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/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/>
              </a:rPr>
              <a:t>  ●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未满遇回车：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get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把回车当一个普通字符读入至满，下一个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___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还会读入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________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l"/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                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getline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把回车当一个普通字符读入至满，下一个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__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不会再读了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_____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69"/>
            <a:ext cx="4176464" cy="3391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{   char ch1[10], ch2[10];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(ch1,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(ch2,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输入一串大于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个字符的字符串，输出：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输入一串字符串，每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个以内含*，输出：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的字符串，加回车，输出：</a:t>
            </a:r>
            <a:endParaRPr kumimoji="1" lang="zh-CN" altLang="en-US" sz="1600" b="1" dirty="0">
              <a:solidFill>
                <a:schemeClr val="accent2"/>
              </a:solidFill>
              <a:latin typeface="宋体"/>
              <a:ea typeface="宋体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954098" y="1244870"/>
            <a:ext cx="4176464" cy="339178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{   char ch1[10], ch2[10];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(ch1,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(ch2,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输入一串大于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个字符的字符串，输出：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输入一串字符串，每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个以内含*，输出：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的字符串，加回车，输出：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D8938F5-2E29-414C-9048-3AF07F07A7AD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37C7A8-8026-34F3-E9FA-261A8F949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65" y="1244869"/>
            <a:ext cx="2678522" cy="6181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83FD406-E9C9-7224-0F69-DC2903F36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383" y="1909963"/>
            <a:ext cx="1460910" cy="5934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46A2E90-15D7-7A30-2884-BD40F63BA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7" y="2503458"/>
            <a:ext cx="1133633" cy="20005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3040911-7214-CB80-4AA8-5BB3E6708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0452" y="891081"/>
            <a:ext cx="3513524" cy="90878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DE0EDFF-7E9E-B92D-7403-85A015735F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563" y="1909963"/>
            <a:ext cx="1651218" cy="113781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702D6F8-2284-2672-9E39-3DC39362C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964" y="3368242"/>
            <a:ext cx="1495634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9215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与</a:t>
            </a:r>
            <a:r>
              <a:rPr lang="en-US" altLang="zh-CN" sz="28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cin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cin.eof</a:t>
            </a:r>
            <a:r>
              <a:rPr lang="en-US" altLang="zh-CN" sz="1600" b="1" dirty="0">
                <a:latin typeface="+mn-ea"/>
              </a:rPr>
              <a:t>()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功能：判断是否遇到了文件结束符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，返回逻辑值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遇到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EOF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为真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cin.peek</a:t>
            </a:r>
            <a:r>
              <a:rPr lang="en-US" altLang="zh-CN" sz="1600" b="1" dirty="0">
                <a:latin typeface="+mn-ea"/>
              </a:rPr>
              <a:t>()	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peek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是偷看的意思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功能：返回输入流中的下一个字符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不提取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遇见文件结束符则返回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EOF)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功能：将字符变量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常量插入到输入流的头部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功能：跳过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个字符，或遇到中止字符时提前结束</a:t>
            </a:r>
          </a:p>
        </p:txBody>
      </p:sp>
    </p:spTree>
    <p:extLst>
      <p:ext uri="{BB962C8B-B14F-4D97-AF65-F5344CB8AC3E}">
        <p14:creationId xmlns:p14="http://schemas.microsoft.com/office/powerpoint/2010/main" val="52429407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cin.eof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E4795B7-6137-4FA9-AE11-B012E6160E9D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1ABF82-EF90-46D8-8B7D-8585F3E4630B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  //P.430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13.5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 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cin.eof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if ((c=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 ')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输入：连续多个字符串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含空格及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CTRL+Z)+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最后一行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crtlZ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需要回车，否则会等待输入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结论：回车代表终止输入开始读入，遇到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crtlZ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，读入前面的所有字符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0D2F8C-C9DA-AEA7-D716-EDC76A1D1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286" y="2471604"/>
            <a:ext cx="3953427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7408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cin.peek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881D90C-F933-4958-9E87-0EB230322215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252CA9-84A2-4BAB-A570-F20F00416E67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ab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zh-CN" altLang="en-US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zh-CN" altLang="en-US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B0FC15-B33C-0C5B-133F-39B333EE7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04" y="2752630"/>
            <a:ext cx="1914792" cy="13527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CD052D2-EFB9-4F70-5945-30AD084D5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604" y="4473204"/>
            <a:ext cx="1924319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4592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5FDDDC8-194F-4BF4-B18E-E4FAE91AADA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4AE9E7-CB29-48AF-AE41-AB04A7A7E65C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第一次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已经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了一个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因此是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putback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在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bc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前插入了一个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H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298CCE-163B-BBE7-4BED-25DC4F1D1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262" y="3066999"/>
            <a:ext cx="895475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950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D959D58-0D58-40A0-80D9-87430D1DEA5C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F78054-DA59-4493-B49D-FACAC4D63E9C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2506F8-45ED-5F69-A240-AAEB3A751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525" y="3057473"/>
            <a:ext cx="1790950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4730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4948711" y="4917278"/>
            <a:ext cx="4032448" cy="129614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上两页的正确情况，本页的错误情况，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综合起来，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/>
              </a:rPr>
              <a:t>putback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使用时要注意什么问题？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/>
                <a:ea typeface="宋体"/>
              </a:rPr>
              <a:t>要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/>
                <a:ea typeface="宋体"/>
              </a:rPr>
              <a:t>putback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/>
                <a:ea typeface="宋体"/>
              </a:rPr>
              <a:t>几个，就得在前面先用</a:t>
            </a:r>
            <a:r>
              <a:rPr kumimoji="1"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宋体"/>
                <a:ea typeface="宋体"/>
              </a:rPr>
              <a:t>cin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/>
                <a:ea typeface="宋体"/>
              </a:rPr>
              <a:t>。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/>
                <a:ea typeface="宋体"/>
              </a:rPr>
              <a:t>Get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宋体"/>
                <a:ea typeface="宋体"/>
              </a:rPr>
              <a:t>消掉几个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8314383-06AA-4E7B-A2B0-B6840536CF2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2EA033-E47E-46DF-B67B-EDDB02119A10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光标一直动，说明一直在输出一些不可见的东西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(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提示，光标一直在动，什么意思？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51C074-51F5-BE2A-F74E-24383DCD7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934" y="4653272"/>
            <a:ext cx="1352739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7838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894C10C-A33F-4B07-BF81-F9CFB4722923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CE20AB-DC44-4811-9CFA-DB2CD850064E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' ';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输出换为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疯狂输出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-1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，不就是前面遇到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crtl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Z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会输出的吗？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8C7A6D-0175-4C61-F295-74F92651A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923" y="4616155"/>
            <a:ext cx="2610214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997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DDC8397-5B05-4891-AE2C-BBB430525EC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CE1431-DB13-432A-BAC6-1E8A52C7646F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())!=EOF)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判断条件换为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!=EOF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：输出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iHbc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后等待输入，输入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ctrlZ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回车可以终止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E04244-1EA0-2496-ED12-5AEC8040F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350" y="5479895"/>
            <a:ext cx="3038899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6861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30B315C-3FFE-4ACD-973A-44F161F3C880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3F1D23-5391-409C-98A6-7C8ADCA92A80}"/>
              </a:ext>
            </a:extLst>
          </p:cNvPr>
          <p:cNvSpPr/>
          <p:nvPr/>
        </p:nvSpPr>
        <p:spPr bwMode="auto">
          <a:xfrm>
            <a:off x="558023" y="1244870"/>
            <a:ext cx="7496085" cy="53037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   char c[20];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"please enter a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sentense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(c, 15, '/');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next char(ASCII):"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(c, 15, '/');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运行结果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红色为输入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please enter a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sentense: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 am a boy./ am a student.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first part is: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next char(ASCII):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second part is: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9B07E4-4970-49D7-9726-F04ED181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934309"/>
            <a:ext cx="5189174" cy="176446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65B8298-C585-60D2-D4DC-8806A8C1AFF9}"/>
              </a:ext>
            </a:extLst>
          </p:cNvPr>
          <p:cNvSpPr txBox="1"/>
          <p:nvPr/>
        </p:nvSpPr>
        <p:spPr>
          <a:xfrm>
            <a:off x="6935638" y="4272951"/>
            <a:ext cx="3071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highlight>
                  <a:srgbClr val="FF0000"/>
                </a:highlight>
              </a:rPr>
              <a:t>Cin.peek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不会把下个字符给消，是</a:t>
            </a:r>
            <a:r>
              <a:rPr lang="en-US" altLang="zh-CN" dirty="0" err="1">
                <a:solidFill>
                  <a:schemeClr val="bg1"/>
                </a:solidFill>
                <a:highlight>
                  <a:srgbClr val="FF0000"/>
                </a:highlight>
              </a:rPr>
              <a:t>cin.getline</a:t>
            </a:r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</a:rPr>
              <a:t>把</a:t>
            </a:r>
            <a:r>
              <a:rPr lang="en-US" altLang="zh-CN" dirty="0">
                <a:solidFill>
                  <a:schemeClr val="bg1"/>
                </a:solidFill>
                <a:highlight>
                  <a:srgbClr val="FF0000"/>
                </a:highlight>
              </a:rPr>
              <a:t>/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给消了</a:t>
            </a:r>
            <a:endParaRPr lang="en-US" altLang="zh-CN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5759504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8AAADAC-3326-4EF8-9DCB-744E9A945F4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3D3F49-38CB-4FEB-9289-4AC642D5192F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(5, 'A');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abcdefghijk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</a:t>
            </a:r>
            <a:r>
              <a:rPr kumimoji="1" lang="en-US" altLang="zh-CN" sz="1600" b="1" u="sng" dirty="0" err="1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80C5D1-BBE2-0C75-4224-6427703A9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184" y="4707994"/>
            <a:ext cx="2448267" cy="7430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2D51C7D-D06F-0EF9-903C-F4976860C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184" y="5685208"/>
            <a:ext cx="2581635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876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8E65C5-435A-4BE8-9BE8-0B5279DC8319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12B400-B79D-4E3C-85F4-6ABE2D9ADA8D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   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//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缺省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个字符，中止字符为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EOF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abcdefghijk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</a:t>
            </a:r>
            <a:r>
              <a:rPr kumimoji="1" lang="en-US" altLang="zh-CN" sz="1600" b="1" u="sng" dirty="0" err="1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31ACA5-8304-1D5C-DAD6-B20140CE8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996" y="4649848"/>
            <a:ext cx="2715004" cy="84784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EF5B868-04BF-D682-D7F7-7F62E1499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017" y="5613130"/>
            <a:ext cx="2133898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2478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EF51C3F-9188-4C65-B184-B24620ED568B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30C131-A1EA-49D0-863B-C091C3A1E312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//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指针停留在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'/'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处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处取，为空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I like C++./I study C++./I am happy.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7437EF-67D2-CEC2-8BE1-61FAC9665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28" y="5054632"/>
            <a:ext cx="6954220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1873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>
                <a:latin typeface="+mn-ea"/>
              </a:rPr>
              <a:t>24</a:t>
            </a:r>
            <a:r>
              <a:rPr lang="zh-CN" altLang="en-US" sz="1600" b="1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FEA9D7B-8F61-4E9D-8412-F3081735AE6C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283190-A71B-4D92-83A8-2B6E86603F99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指针停留在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处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();      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跳过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后取，非空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I like C++./I study C++./I am happy.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796E68-BC81-9C23-8057-8112A546C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457" y="5003225"/>
            <a:ext cx="7001852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9569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</TotalTime>
  <Words>4818</Words>
  <Application>Microsoft Office PowerPoint</Application>
  <PresentationFormat>宽屏</PresentationFormat>
  <Paragraphs>691</Paragraphs>
  <Slides>30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等线</vt:lpstr>
      <vt:lpstr>宋体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48</cp:revision>
  <dcterms:created xsi:type="dcterms:W3CDTF">2020-08-13T13:39:53Z</dcterms:created>
  <dcterms:modified xsi:type="dcterms:W3CDTF">2024-06-25T03:47:07Z</dcterms:modified>
</cp:coreProperties>
</file>