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9"/>
  </p:notesMasterIdLst>
  <p:sldIdLst>
    <p:sldId id="449" r:id="rId2"/>
    <p:sldId id="1237" r:id="rId3"/>
    <p:sldId id="1238" r:id="rId4"/>
    <p:sldId id="534" r:id="rId5"/>
    <p:sldId id="535" r:id="rId6"/>
    <p:sldId id="536" r:id="rId7"/>
    <p:sldId id="537" r:id="rId8"/>
    <p:sldId id="538" r:id="rId9"/>
    <p:sldId id="539" r:id="rId10"/>
    <p:sldId id="540" r:id="rId11"/>
    <p:sldId id="543" r:id="rId12"/>
    <p:sldId id="1245" r:id="rId13"/>
    <p:sldId id="1239" r:id="rId14"/>
    <p:sldId id="1240" r:id="rId15"/>
    <p:sldId id="1246" r:id="rId16"/>
    <p:sldId id="944" r:id="rId17"/>
    <p:sldId id="1241" r:id="rId18"/>
    <p:sldId id="1242" r:id="rId19"/>
    <p:sldId id="545" r:id="rId20"/>
    <p:sldId id="1243" r:id="rId21"/>
    <p:sldId id="1247" r:id="rId22"/>
    <p:sldId id="1244" r:id="rId23"/>
    <p:sldId id="551" r:id="rId24"/>
    <p:sldId id="552" r:id="rId25"/>
    <p:sldId id="553" r:id="rId26"/>
    <p:sldId id="554" r:id="rId27"/>
    <p:sldId id="555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461B"/>
    <a:srgbClr val="F9F0EB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886A8-0C69-4263-A037-86C3C78024D6}" v="419" dt="2024-03-14T05:15:55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87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6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</a:p>
        </p:txBody>
      </p:sp>
    </p:spTree>
    <p:extLst>
      <p:ext uri="{BB962C8B-B14F-4D97-AF65-F5344CB8AC3E}">
        <p14:creationId xmlns:p14="http://schemas.microsoft.com/office/powerpoint/2010/main" val="398200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43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short a=1;</a:t>
            </a:r>
          </a:p>
          <a:p>
            <a:r>
              <a:rPr lang="en-US" altLang="zh-CN" sz="1600" b="1" dirty="0">
                <a:latin typeface="+mn-ea"/>
              </a:rPr>
              <a:t>    short b=a-2;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b=a-2</a:t>
            </a:r>
            <a:r>
              <a:rPr lang="zh-CN" altLang="en-US" sz="1600" b="1" dirty="0">
                <a:latin typeface="+mn-ea"/>
              </a:rPr>
              <a:t>，得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00000000 00000000</a:t>
            </a:r>
            <a:r>
              <a:rPr lang="en-US" altLang="zh-CN" sz="1600" b="1" dirty="0">
                <a:latin typeface="+mn-ea"/>
              </a:rPr>
              <a:t> 00000000 00000001  -&gt; a </a:t>
            </a:r>
            <a:r>
              <a:rPr lang="zh-CN" altLang="en-US" sz="1600" b="1" dirty="0">
                <a:latin typeface="+mn-ea"/>
              </a:rPr>
              <a:t>（红色表示整型提升的填充位）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-)  2 = 00000000 00000000 00000000 00000010  -&gt; 2</a:t>
            </a:r>
          </a:p>
          <a:p>
            <a:r>
              <a:rPr lang="en-US" altLang="zh-CN" sz="1600" b="1" dirty="0">
                <a:latin typeface="+mn-ea"/>
              </a:rPr>
              <a:t>  ---------------------------------------------------</a:t>
            </a:r>
          </a:p>
          <a:p>
            <a:r>
              <a:rPr lang="en-US" altLang="zh-CN" sz="1600" b="1" dirty="0">
                <a:latin typeface="+mn-ea"/>
              </a:rPr>
              <a:t>          11111111 11111111 11111111 11111111  -&gt; a-2(int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</a:rPr>
              <a:t>11111111 11111111</a:t>
            </a:r>
            <a:r>
              <a:rPr lang="en-US" altLang="zh-CN" sz="1600" b="1" dirty="0">
                <a:latin typeface="+mn-ea"/>
              </a:rPr>
              <a:t> 11111111 11111111  -&gt; b=a-2(</a:t>
            </a:r>
            <a:r>
              <a:rPr lang="zh-CN" altLang="en-US" sz="1600" b="1" dirty="0">
                <a:latin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Step2</a:t>
            </a:r>
            <a:r>
              <a:rPr lang="zh-CN" altLang="en-US" sz="1600" b="1" dirty="0">
                <a:latin typeface="+mn-ea"/>
              </a:rPr>
              <a:t>：求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）减一    </a:t>
            </a:r>
            <a:r>
              <a:rPr lang="en-US" altLang="zh-CN" sz="1600" b="1" dirty="0">
                <a:latin typeface="+mn-ea"/>
              </a:rPr>
              <a:t>11111111 11111111</a:t>
            </a:r>
          </a:p>
          <a:p>
            <a:r>
              <a:rPr lang="en-US" altLang="zh-CN" sz="1600" b="1" dirty="0">
                <a:latin typeface="+mn-ea"/>
              </a:rPr>
              <a:t>            -) 00000000 00000001</a:t>
            </a:r>
          </a:p>
          <a:p>
            <a:r>
              <a:rPr lang="en-US" altLang="zh-CN" sz="1600" b="1" dirty="0">
                <a:latin typeface="+mn-ea"/>
              </a:rPr>
              <a:t>           -----------------------</a:t>
            </a:r>
          </a:p>
          <a:p>
            <a:r>
              <a:rPr lang="en-US" altLang="zh-CN" sz="1600" b="1" dirty="0">
                <a:latin typeface="+mn-ea"/>
              </a:rPr>
              <a:t>               11111111 11111110</a:t>
            </a: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）取反    </a:t>
            </a:r>
            <a:r>
              <a:rPr lang="en-US" altLang="zh-CN" sz="1600" b="1" dirty="0">
                <a:latin typeface="+mn-ea"/>
              </a:rPr>
              <a:t>00000000 00000001</a:t>
            </a: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）绝对值  </a:t>
            </a:r>
            <a:r>
              <a:rPr lang="en-US" altLang="zh-CN" sz="1600" b="1" dirty="0">
                <a:latin typeface="+mn-ea"/>
              </a:rPr>
              <a:t>1 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）加负号  </a:t>
            </a:r>
            <a:r>
              <a:rPr lang="en-US" altLang="zh-CN" sz="1600" b="1" dirty="0">
                <a:latin typeface="+mn-ea"/>
              </a:rPr>
              <a:t>-1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4E7FCCA-3A91-49F5-8CE6-FADA6A73DF53}"/>
              </a:ext>
            </a:extLst>
          </p:cNvPr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496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A.short</a:t>
            </a:r>
            <a:r>
              <a:rPr lang="en-US" altLang="zh-CN" sz="1600" b="1" dirty="0">
                <a:latin typeface="+mn-ea"/>
              </a:rPr>
              <a:t> a=32740;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short b=a+34;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26C240-44FF-929E-1866-7F8149171313}"/>
              </a:ext>
            </a:extLst>
          </p:cNvPr>
          <p:cNvSpPr txBox="1"/>
          <p:nvPr/>
        </p:nvSpPr>
        <p:spPr>
          <a:xfrm>
            <a:off x="674764" y="1986455"/>
            <a:ext cx="100962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</a:t>
            </a:r>
            <a:r>
              <a:rPr lang="zh-CN" altLang="en-US" sz="1800" b="1" dirty="0">
                <a:latin typeface="+mn-ea"/>
              </a:rPr>
              <a:t>：</a:t>
            </a:r>
            <a:r>
              <a:rPr lang="en-US" altLang="zh-CN" sz="1800" b="1" dirty="0">
                <a:latin typeface="+mn-ea"/>
              </a:rPr>
              <a:t>b=a+34</a:t>
            </a:r>
            <a:r>
              <a:rPr lang="zh-CN" altLang="en-US" sz="1800" b="1" dirty="0">
                <a:latin typeface="+mn-ea"/>
              </a:rPr>
              <a:t>，得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二进制补码形式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a =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0000 0000 0000 0000 </a:t>
            </a:r>
            <a:r>
              <a:rPr lang="en-US" altLang="zh-CN" sz="1800" b="1" dirty="0">
                <a:latin typeface="+mn-ea"/>
              </a:rPr>
              <a:t>0111 1111 1110 0100 -&gt; a </a:t>
            </a:r>
            <a:r>
              <a:rPr lang="zh-CN" altLang="en-US" sz="1800" b="1" dirty="0">
                <a:latin typeface="+mn-ea"/>
              </a:rPr>
              <a:t>（红色表示整型提升的填充位）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-)  34= 0000 0000 0000 0000 0000 0000 0010 0010 -&gt; 2</a:t>
            </a:r>
          </a:p>
          <a:p>
            <a:r>
              <a:rPr lang="en-US" altLang="zh-CN" sz="1800" b="1" dirty="0">
                <a:latin typeface="+mn-ea"/>
              </a:rPr>
              <a:t>  ---------------------------------------------------</a:t>
            </a:r>
          </a:p>
          <a:p>
            <a:r>
              <a:rPr lang="en-US" altLang="zh-CN" sz="1800" b="1" dirty="0">
                <a:latin typeface="+mn-ea"/>
              </a:rPr>
              <a:t>	  0000 0000 0000 0000 1000 0000 0000 0110-&gt; a+34(int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      b</a:t>
            </a:r>
            <a:r>
              <a:rPr lang="zh-CN" altLang="en-US" sz="1800" b="1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= </a:t>
            </a:r>
            <a:r>
              <a:rPr lang="en-US" altLang="zh-CN" sz="1800" b="1" strike="sngStrike" dirty="0">
                <a:solidFill>
                  <a:srgbClr val="FF0000"/>
                </a:solidFill>
                <a:latin typeface="+mn-ea"/>
              </a:rPr>
              <a:t>0000 0000 0000 0000</a:t>
            </a:r>
            <a:r>
              <a:rPr lang="en-US" altLang="zh-CN" sz="1800" b="1" dirty="0">
                <a:latin typeface="+mn-ea"/>
              </a:rPr>
              <a:t> 1000 0000 0000 0110-&gt; b=a+34(</a:t>
            </a:r>
            <a:r>
              <a:rPr lang="zh-CN" altLang="en-US" sz="1800" b="1" dirty="0">
                <a:latin typeface="+mn-ea"/>
              </a:rPr>
              <a:t>二进制补码形式，删除线表示丢弃的位数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）减一    </a:t>
            </a:r>
            <a:r>
              <a:rPr lang="en-US" altLang="zh-CN" sz="1800" b="1" dirty="0">
                <a:latin typeface="+mn-ea"/>
              </a:rPr>
              <a:t>1000 0000 0000 0110</a:t>
            </a:r>
          </a:p>
          <a:p>
            <a:r>
              <a:rPr lang="en-US" altLang="zh-CN" sz="1800" b="1" dirty="0">
                <a:latin typeface="+mn-ea"/>
              </a:rPr>
              <a:t>            -) 0000 0000 0000 0001</a:t>
            </a:r>
          </a:p>
          <a:p>
            <a:r>
              <a:rPr lang="en-US" altLang="zh-CN" sz="1800" b="1" dirty="0">
                <a:latin typeface="+mn-ea"/>
              </a:rPr>
              <a:t>           -----------------------</a:t>
            </a:r>
          </a:p>
          <a:p>
            <a:r>
              <a:rPr lang="en-US" altLang="zh-CN" sz="1800" b="1" dirty="0">
                <a:latin typeface="+mn-ea"/>
              </a:rPr>
              <a:t>               1000 0000 0000 0101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zh-CN" altLang="en-US" sz="1800" b="1" dirty="0">
                <a:latin typeface="+mn-ea"/>
              </a:rPr>
              <a:t>）取反    </a:t>
            </a:r>
            <a:r>
              <a:rPr lang="en-US" altLang="zh-CN" sz="1800" b="1" dirty="0">
                <a:latin typeface="+mn-ea"/>
              </a:rPr>
              <a:t>0111 1111 1111 1010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3</a:t>
            </a:r>
            <a:r>
              <a:rPr lang="zh-CN" altLang="en-US" sz="1800" b="1" dirty="0">
                <a:latin typeface="+mn-ea"/>
              </a:rPr>
              <a:t>）绝对值  </a:t>
            </a:r>
            <a:r>
              <a:rPr lang="en-US" altLang="zh-CN" b="1" dirty="0">
                <a:latin typeface="+mn-ea"/>
              </a:rPr>
              <a:t>32762</a:t>
            </a:r>
            <a:r>
              <a:rPr lang="en-US" altLang="zh-CN" sz="1800" b="1" dirty="0">
                <a:latin typeface="+mn-ea"/>
              </a:rPr>
              <a:t> 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4</a:t>
            </a:r>
            <a:r>
              <a:rPr lang="zh-CN" altLang="en-US" sz="1800" b="1" dirty="0">
                <a:latin typeface="+mn-ea"/>
              </a:rPr>
              <a:t>）加负号  </a:t>
            </a:r>
            <a:r>
              <a:rPr lang="en-US" altLang="zh-CN" sz="1800" b="1" dirty="0">
                <a:latin typeface="+mn-ea"/>
              </a:rPr>
              <a:t>-32762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545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B.unsigned</a:t>
            </a:r>
            <a:r>
              <a:rPr lang="en-US" altLang="zh-CN" sz="1600" b="1" dirty="0">
                <a:latin typeface="+mn-ea"/>
              </a:rPr>
              <a:t> short a=65420;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short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2B63DE-E680-946E-880E-4AED411348EE}"/>
              </a:ext>
            </a:extLst>
          </p:cNvPr>
          <p:cNvSpPr txBox="1"/>
          <p:nvPr/>
        </p:nvSpPr>
        <p:spPr>
          <a:xfrm>
            <a:off x="674764" y="1986455"/>
            <a:ext cx="100962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Step1:a = 1111 1111 1000 1100 </a:t>
            </a:r>
          </a:p>
          <a:p>
            <a:r>
              <a:rPr lang="en-US" altLang="zh-CN" sz="1800" b="1" dirty="0">
                <a:latin typeface="+mn-ea"/>
              </a:rPr>
              <a:t>      b = 1111 1111 1000 1100 </a:t>
            </a:r>
          </a:p>
          <a:p>
            <a:r>
              <a:rPr lang="en-US" altLang="zh-CN" b="1" dirty="0">
                <a:latin typeface="+mn-ea"/>
              </a:rPr>
              <a:t>      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）减一    </a:t>
            </a:r>
            <a:r>
              <a:rPr lang="en-US" altLang="zh-CN" sz="1800" b="1" dirty="0">
                <a:latin typeface="+mn-ea"/>
              </a:rPr>
              <a:t>1111 1111 1000 1100</a:t>
            </a:r>
          </a:p>
          <a:p>
            <a:r>
              <a:rPr lang="en-US" altLang="zh-CN" sz="1800" b="1" dirty="0">
                <a:latin typeface="+mn-ea"/>
              </a:rPr>
              <a:t>            -) 0000 0000 0000 0001</a:t>
            </a:r>
          </a:p>
          <a:p>
            <a:r>
              <a:rPr lang="en-US" altLang="zh-CN" sz="1800" b="1" dirty="0">
                <a:latin typeface="+mn-ea"/>
              </a:rPr>
              <a:t>           -----------------------</a:t>
            </a:r>
          </a:p>
          <a:p>
            <a:r>
              <a:rPr lang="en-US" altLang="zh-CN" sz="1800" b="1" dirty="0">
                <a:latin typeface="+mn-ea"/>
              </a:rPr>
              <a:t> 	       1111 1111 1000 1011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zh-CN" altLang="en-US" sz="1800" b="1" dirty="0">
                <a:latin typeface="+mn-ea"/>
              </a:rPr>
              <a:t>）取反    </a:t>
            </a:r>
            <a:r>
              <a:rPr lang="en-US" altLang="zh-CN" sz="1800" b="1" dirty="0">
                <a:latin typeface="+mn-ea"/>
              </a:rPr>
              <a:t>0000 0000 0111 0100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3</a:t>
            </a:r>
            <a:r>
              <a:rPr lang="zh-CN" altLang="en-US" sz="1800" b="1" dirty="0">
                <a:latin typeface="+mn-ea"/>
              </a:rPr>
              <a:t>）绝对值  </a:t>
            </a:r>
            <a:r>
              <a:rPr lang="en-US" altLang="zh-CN" sz="1800" b="1" dirty="0">
                <a:latin typeface="+mn-ea"/>
              </a:rPr>
              <a:t>116 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4</a:t>
            </a:r>
            <a:r>
              <a:rPr lang="zh-CN" altLang="en-US" sz="1800" b="1" dirty="0">
                <a:latin typeface="+mn-ea"/>
              </a:rPr>
              <a:t>）加负号  </a:t>
            </a:r>
            <a:r>
              <a:rPr lang="en-US" altLang="zh-CN" sz="1800" b="1" dirty="0">
                <a:latin typeface="+mn-ea"/>
              </a:rPr>
              <a:t>-116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160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C.short</a:t>
            </a:r>
            <a:r>
              <a:rPr lang="en-US" altLang="zh-CN" sz="1600" b="1" dirty="0">
                <a:latin typeface="+mn-ea"/>
              </a:rPr>
              <a:t> a=-2047;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int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23C8D5-03DD-B549-4867-A080A0730F92}"/>
              </a:ext>
            </a:extLst>
          </p:cNvPr>
          <p:cNvSpPr txBox="1"/>
          <p:nvPr/>
        </p:nvSpPr>
        <p:spPr>
          <a:xfrm>
            <a:off x="674764" y="1986455"/>
            <a:ext cx="100962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</a:t>
            </a:r>
            <a:r>
              <a:rPr lang="zh-CN" altLang="en-US" sz="1800" b="1" dirty="0">
                <a:latin typeface="+mn-ea"/>
              </a:rPr>
              <a:t>：</a:t>
            </a:r>
            <a:r>
              <a:rPr lang="en-US" altLang="zh-CN" sz="1800" b="1" dirty="0">
                <a:latin typeface="+mn-ea"/>
              </a:rPr>
              <a:t>b=a</a:t>
            </a:r>
            <a:r>
              <a:rPr lang="zh-CN" altLang="en-US" sz="1800" b="1" dirty="0">
                <a:latin typeface="+mn-ea"/>
              </a:rPr>
              <a:t>，得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二进制补码形式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a =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1111 1111 1111 1111 </a:t>
            </a:r>
            <a:r>
              <a:rPr lang="en-US" altLang="zh-CN" b="1" dirty="0">
                <a:latin typeface="+mn-ea"/>
              </a:rPr>
              <a:t>1111 1000 0000 0001</a:t>
            </a:r>
            <a:r>
              <a:rPr lang="en-US" altLang="zh-CN" sz="1800" b="1" dirty="0">
                <a:latin typeface="+mn-ea"/>
              </a:rPr>
              <a:t>-&gt; a </a:t>
            </a:r>
            <a:r>
              <a:rPr lang="zh-CN" altLang="en-US" sz="1800" b="1" dirty="0">
                <a:latin typeface="+mn-ea"/>
              </a:rPr>
              <a:t>（红色表示整型提升的填充位）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b = 1111 1111 1111 1111 </a:t>
            </a:r>
            <a:r>
              <a:rPr lang="en-US" altLang="zh-CN" b="1" dirty="0">
                <a:latin typeface="+mn-ea"/>
              </a:rPr>
              <a:t>1111 1000 0000 0001-</a:t>
            </a:r>
            <a:r>
              <a:rPr lang="en-US" altLang="zh-CN" sz="1800" b="1" dirty="0">
                <a:latin typeface="+mn-ea"/>
              </a:rPr>
              <a:t>&gt; b(int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）减一   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1111 1111 1111 1111 </a:t>
            </a:r>
            <a:r>
              <a:rPr lang="en-US" altLang="zh-CN" b="1" dirty="0">
                <a:latin typeface="+mn-ea"/>
              </a:rPr>
              <a:t>1111 1000 0000 0001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      -) 0000 0000 0000 0000 0000 0000 0000 0001</a:t>
            </a:r>
          </a:p>
          <a:p>
            <a:r>
              <a:rPr lang="en-US" altLang="zh-CN" sz="1800" b="1" dirty="0">
                <a:latin typeface="+mn-ea"/>
              </a:rPr>
              <a:t>           ----------------------- --------------------</a:t>
            </a:r>
          </a:p>
          <a:p>
            <a:r>
              <a:rPr lang="en-US" altLang="zh-CN" sz="1800" b="1" dirty="0">
                <a:latin typeface="+mn-ea"/>
              </a:rPr>
              <a:t> 	      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1111 1111 1111 1111 </a:t>
            </a:r>
            <a:r>
              <a:rPr lang="en-US" altLang="zh-CN" b="1" dirty="0">
                <a:latin typeface="+mn-ea"/>
              </a:rPr>
              <a:t>1111 1000 0000</a:t>
            </a:r>
            <a:r>
              <a:rPr lang="en-US" altLang="zh-CN" sz="1800" b="1" dirty="0">
                <a:latin typeface="+mn-ea"/>
              </a:rPr>
              <a:t> 0000</a:t>
            </a:r>
          </a:p>
          <a:p>
            <a:r>
              <a:rPr lang="en-US" altLang="zh-CN" b="1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zh-CN" altLang="en-US" sz="1800" b="1" dirty="0">
                <a:latin typeface="+mn-ea"/>
              </a:rPr>
              <a:t>）取反    </a:t>
            </a:r>
            <a:r>
              <a:rPr lang="en-US" altLang="zh-CN" sz="1800" b="1" dirty="0">
                <a:latin typeface="+mn-ea"/>
              </a:rPr>
              <a:t>0000 0000 0000 0000 0000 0111 1111 1111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3</a:t>
            </a:r>
            <a:r>
              <a:rPr lang="zh-CN" altLang="en-US" sz="1800" b="1" dirty="0">
                <a:latin typeface="+mn-ea"/>
              </a:rPr>
              <a:t>）绝对值  </a:t>
            </a:r>
            <a:r>
              <a:rPr lang="en-US" altLang="zh-CN" sz="1800" b="1" dirty="0">
                <a:latin typeface="+mn-ea"/>
              </a:rPr>
              <a:t>2047 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4</a:t>
            </a:r>
            <a:r>
              <a:rPr lang="zh-CN" altLang="en-US" sz="1800" b="1" dirty="0">
                <a:latin typeface="+mn-ea"/>
              </a:rPr>
              <a:t>）加负号  </a:t>
            </a:r>
            <a:r>
              <a:rPr lang="en-US" altLang="zh-CN" sz="1800" b="1" dirty="0">
                <a:latin typeface="+mn-ea"/>
              </a:rPr>
              <a:t>-2047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6724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D.unsigned</a:t>
            </a:r>
            <a:r>
              <a:rPr lang="en-US" altLang="zh-CN" sz="1600" b="1" dirty="0">
                <a:latin typeface="+mn-ea"/>
              </a:rPr>
              <a:t> short a=65420;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en-US" altLang="zh-CN" sz="1600" b="1" dirty="0">
                <a:latin typeface="+mn-ea"/>
              </a:rPr>
              <a:t> int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627AB1-2F55-A965-46AE-2386CA43EBAE}"/>
              </a:ext>
            </a:extLst>
          </p:cNvPr>
          <p:cNvSpPr txBox="1"/>
          <p:nvPr/>
        </p:nvSpPr>
        <p:spPr>
          <a:xfrm>
            <a:off x="674764" y="1986455"/>
            <a:ext cx="100962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</a:t>
            </a:r>
            <a:r>
              <a:rPr lang="zh-CN" altLang="en-US" sz="1800" b="1" dirty="0">
                <a:latin typeface="+mn-ea"/>
              </a:rPr>
              <a:t>：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a =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00000000 00000000 00000000 00000000 00000000 00000000 </a:t>
            </a:r>
            <a:r>
              <a:rPr lang="en-US" altLang="zh-CN" sz="1800" b="1" dirty="0">
                <a:latin typeface="+mn-ea"/>
              </a:rPr>
              <a:t>11111111 10001100-&gt; a </a:t>
            </a:r>
            <a:r>
              <a:rPr lang="zh-CN" altLang="en-US" sz="1800" b="1" dirty="0">
                <a:latin typeface="+mn-ea"/>
              </a:rPr>
              <a:t>（红色表示整型提升的填充位）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b =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00000000 00000000 00000000 00000000 00000000 00000000 </a:t>
            </a:r>
            <a:r>
              <a:rPr lang="en-US" altLang="zh-CN" sz="1800" b="1" dirty="0">
                <a:latin typeface="+mn-ea"/>
              </a:rPr>
              <a:t>11111111 10001100-&gt;  b(long long int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b = 65420</a:t>
            </a:r>
          </a:p>
        </p:txBody>
      </p:sp>
    </p:spTree>
    <p:extLst>
      <p:ext uri="{BB962C8B-B14F-4D97-AF65-F5344CB8AC3E}">
        <p14:creationId xmlns:p14="http://schemas.microsoft.com/office/powerpoint/2010/main" val="1383855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E.long</a:t>
            </a:r>
            <a:r>
              <a:rPr lang="en-US" altLang="zh-CN" sz="1600" b="1" dirty="0">
                <a:latin typeface="+mn-ea"/>
              </a:rPr>
              <a:t> long int a=4201234567;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int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A369D2-698A-B07D-59A6-68543E9785EE}"/>
              </a:ext>
            </a:extLst>
          </p:cNvPr>
          <p:cNvSpPr txBox="1"/>
          <p:nvPr/>
        </p:nvSpPr>
        <p:spPr>
          <a:xfrm>
            <a:off x="674764" y="1986455"/>
            <a:ext cx="100962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</a:t>
            </a:r>
            <a:r>
              <a:rPr lang="zh-CN" altLang="en-US" sz="1800" b="1" dirty="0">
                <a:latin typeface="+mn-ea"/>
              </a:rPr>
              <a:t>：得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二进制补码形式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a = 00000000 00000000 00000000 00000000 11111010 01101001 11000000 10000111-&gt; a(long </a:t>
            </a:r>
            <a:r>
              <a:rPr lang="en-US" altLang="zh-CN" sz="1800" b="1" dirty="0" err="1">
                <a:latin typeface="+mn-ea"/>
              </a:rPr>
              <a:t>long</a:t>
            </a:r>
            <a:r>
              <a:rPr lang="en-US" altLang="zh-CN" sz="1800" b="1" dirty="0">
                <a:latin typeface="+mn-ea"/>
              </a:rPr>
              <a:t> int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b="1" dirty="0">
                <a:latin typeface="+mn-ea"/>
              </a:rPr>
              <a:t>      b =</a:t>
            </a:r>
            <a:r>
              <a:rPr lang="en-US" altLang="zh-CN" sz="1800" b="1" dirty="0">
                <a:latin typeface="+mn-ea"/>
              </a:rPr>
              <a:t> </a:t>
            </a:r>
            <a:r>
              <a:rPr lang="en-US" altLang="zh-CN" sz="1800" b="1" strike="sngStrike" dirty="0">
                <a:solidFill>
                  <a:srgbClr val="FF0000"/>
                </a:solidFill>
                <a:latin typeface="+mn-ea"/>
              </a:rPr>
              <a:t>00000000 00000000 00000000 00000000 </a:t>
            </a:r>
            <a:r>
              <a:rPr lang="en-US" altLang="zh-CN" sz="1800" b="1" dirty="0">
                <a:latin typeface="+mn-ea"/>
              </a:rPr>
              <a:t>11111010 01101001 11000000 10000111-&gt; b(int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)(</a:t>
            </a:r>
            <a:r>
              <a:rPr lang="zh-CN" altLang="en-US" sz="1800" b="1" dirty="0">
                <a:latin typeface="+mn-ea"/>
              </a:rPr>
              <a:t>二进制补码形式，删除线表示丢弃的位数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）减一    </a:t>
            </a:r>
            <a:r>
              <a:rPr lang="en-US" altLang="zh-CN" sz="1800" b="1" dirty="0">
                <a:latin typeface="+mn-ea"/>
              </a:rPr>
              <a:t>11111010 01101001 11000000 10000111</a:t>
            </a:r>
          </a:p>
          <a:p>
            <a:r>
              <a:rPr lang="en-US" altLang="zh-CN" sz="1800" b="1" dirty="0">
                <a:latin typeface="+mn-ea"/>
              </a:rPr>
              <a:t>            -) 00000000 00000000 00000000 00000001</a:t>
            </a:r>
          </a:p>
          <a:p>
            <a:r>
              <a:rPr lang="en-US" altLang="zh-CN" sz="1800" b="1" dirty="0">
                <a:latin typeface="+mn-ea"/>
              </a:rPr>
              <a:t>           -----------------------</a:t>
            </a:r>
          </a:p>
          <a:p>
            <a:r>
              <a:rPr lang="en-US" altLang="zh-CN" sz="1800" b="1" dirty="0">
                <a:latin typeface="+mn-ea"/>
              </a:rPr>
              <a:t>               11111010 01101001 11000000 10000110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zh-CN" altLang="en-US" sz="1800" b="1" dirty="0">
                <a:latin typeface="+mn-ea"/>
              </a:rPr>
              <a:t>）取反    </a:t>
            </a:r>
            <a:r>
              <a:rPr lang="en-US" altLang="zh-CN" sz="1800" b="1" dirty="0">
                <a:latin typeface="+mn-ea"/>
              </a:rPr>
              <a:t>00000101 10010110 00111111 01111001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3</a:t>
            </a:r>
            <a:r>
              <a:rPr lang="zh-CN" altLang="en-US" sz="1800" b="1" dirty="0">
                <a:latin typeface="+mn-ea"/>
              </a:rPr>
              <a:t>）绝对值 </a:t>
            </a:r>
            <a:r>
              <a:rPr lang="en-US" altLang="zh-CN" sz="1800" b="1" dirty="0">
                <a:latin typeface="+mn-ea"/>
              </a:rPr>
              <a:t>93732729 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4</a:t>
            </a:r>
            <a:r>
              <a:rPr lang="zh-CN" altLang="en-US" sz="1800" b="1" dirty="0">
                <a:latin typeface="+mn-ea"/>
              </a:rPr>
              <a:t>）加负号 </a:t>
            </a:r>
            <a:r>
              <a:rPr lang="en-US" altLang="zh-CN" sz="1800" b="1" dirty="0">
                <a:latin typeface="+mn-ea"/>
              </a:rPr>
              <a:t>-93732729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09278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F.long</a:t>
            </a:r>
            <a:r>
              <a:rPr lang="en-US" altLang="zh-CN" sz="1600" b="1" dirty="0">
                <a:latin typeface="+mn-ea"/>
              </a:rPr>
              <a:t> a=-4201234567;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提示：本题先确定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-4201234567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什么类型，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a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是多少，才能进行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b=a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的计算</a:t>
            </a:r>
            <a:endParaRPr lang="zh-CN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unsigned short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5CDE70-53B0-F08B-DB2C-9B2076462EC5}"/>
              </a:ext>
            </a:extLst>
          </p:cNvPr>
          <p:cNvSpPr txBox="1"/>
          <p:nvPr/>
        </p:nvSpPr>
        <p:spPr>
          <a:xfrm>
            <a:off x="674764" y="1986455"/>
            <a:ext cx="100962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</a:t>
            </a:r>
            <a:r>
              <a:rPr lang="zh-CN" altLang="en-US" sz="1800" b="1" dirty="0">
                <a:latin typeface="+mn-ea"/>
              </a:rPr>
              <a:t>：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-4201234567 =1111111111111111111111111111111100000101100101100011111101111001-&gt; (long </a:t>
            </a:r>
            <a:r>
              <a:rPr lang="en-US" altLang="zh-CN" sz="1800" b="1" dirty="0" err="1">
                <a:latin typeface="+mn-ea"/>
              </a:rPr>
              <a:t>long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b="1" dirty="0">
                <a:latin typeface="+mn-ea"/>
              </a:rPr>
              <a:t>      a = </a:t>
            </a:r>
            <a:r>
              <a:rPr lang="en-US" altLang="zh-CN" sz="1800" b="1" strike="sngStrike" dirty="0">
                <a:solidFill>
                  <a:srgbClr val="FF0000"/>
                </a:solidFill>
                <a:latin typeface="+mn-ea"/>
              </a:rPr>
              <a:t>11111111111111111111111111111111</a:t>
            </a:r>
            <a:r>
              <a:rPr lang="en-US" altLang="zh-CN" sz="1800" b="1" dirty="0">
                <a:latin typeface="+mn-ea"/>
              </a:rPr>
              <a:t> 00000101 10010110 00111111 01111001-&gt; a(long 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)(</a:t>
            </a:r>
            <a:r>
              <a:rPr lang="zh-CN" altLang="en-US" sz="1800" b="1" dirty="0">
                <a:latin typeface="+mn-ea"/>
              </a:rPr>
              <a:t>二进制补码形式，删除线表示丢弃的位数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b="1" dirty="0">
                <a:latin typeface="+mn-ea"/>
              </a:rPr>
              <a:t>      b = </a:t>
            </a:r>
            <a:r>
              <a:rPr lang="en-US" altLang="zh-CN" sz="1800" b="1" strike="sngStrike" dirty="0">
                <a:solidFill>
                  <a:srgbClr val="FF0000"/>
                </a:solidFill>
                <a:latin typeface="+mn-ea"/>
              </a:rPr>
              <a:t>00000101 10010110 </a:t>
            </a:r>
            <a:r>
              <a:rPr lang="en-US" altLang="zh-CN" sz="1800" b="1" dirty="0">
                <a:latin typeface="+mn-ea"/>
              </a:rPr>
              <a:t>00111111 01111001-&gt; b(unsigned short 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)(</a:t>
            </a:r>
            <a:r>
              <a:rPr lang="zh-CN" altLang="en-US" sz="1800" b="1" dirty="0">
                <a:latin typeface="+mn-ea"/>
              </a:rPr>
              <a:t>二进制补码形式，删除线表示丢弃的位数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endParaRPr lang="en-US" altLang="zh-CN" sz="1800" b="1" dirty="0">
              <a:latin typeface="+mn-ea"/>
            </a:endParaRPr>
          </a:p>
          <a:p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b = 16249</a:t>
            </a:r>
          </a:p>
        </p:txBody>
      </p:sp>
    </p:spTree>
    <p:extLst>
      <p:ext uri="{BB962C8B-B14F-4D97-AF65-F5344CB8AC3E}">
        <p14:creationId xmlns:p14="http://schemas.microsoft.com/office/powerpoint/2010/main" val="3176234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 + 2 + 3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个步骤分别是（仿课件</a:t>
            </a:r>
            <a:r>
              <a:rPr lang="en-US" altLang="zh-CN" sz="1600" b="1" dirty="0">
                <a:latin typeface="+mn-ea"/>
              </a:rPr>
              <a:t>P.85</a:t>
            </a:r>
            <a:r>
              <a:rPr lang="zh-CN" altLang="en-US" sz="1600" b="1" dirty="0">
                <a:latin typeface="+mn-ea"/>
              </a:rPr>
              <a:t>，本页不需要画栈，但要有栈思维，下同）：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en-US" altLang="zh-CN" sz="1600" b="1" dirty="0">
                <a:latin typeface="+mn-ea"/>
              </a:rPr>
              <a:t> 2 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步骤②：式</a:t>
            </a:r>
            <a:r>
              <a:rPr lang="en-US" altLang="zh-CN" sz="1600" b="1" dirty="0">
                <a:latin typeface="+mn-ea"/>
              </a:rPr>
              <a:t>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en-US" altLang="zh-CN" sz="1600" b="1" dirty="0">
                <a:latin typeface="+mn-ea"/>
              </a:rPr>
              <a:t> 3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6BB2FD7-445E-4037-B86D-D2885BD6F8EB}"/>
              </a:ext>
            </a:extLst>
          </p:cNvPr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0615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个步骤分别是（仿课件</a:t>
            </a:r>
            <a:r>
              <a:rPr lang="en-US" altLang="zh-CN" sz="1600" b="1" dirty="0">
                <a:latin typeface="+mn-ea"/>
              </a:rPr>
              <a:t>P.85</a:t>
            </a:r>
            <a:r>
              <a:rPr lang="zh-CN" altLang="en-US" sz="1600" b="1" dirty="0">
                <a:latin typeface="+mn-ea"/>
              </a:rPr>
              <a:t>，本页不需要画栈，但要有栈思维，下同）：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11/2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</a:t>
            </a:r>
            <a:r>
              <a:rPr lang="en-US" altLang="zh-CN" sz="1600" b="1" dirty="0">
                <a:latin typeface="+mn-ea"/>
              </a:rPr>
              <a:t>37%4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2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步骤③：式</a:t>
            </a:r>
            <a:r>
              <a:rPr lang="en-US" altLang="zh-CN" sz="1600" b="1" dirty="0">
                <a:latin typeface="+mn-ea"/>
              </a:rPr>
              <a:t>1+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2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3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步骤④：式</a:t>
            </a:r>
            <a:r>
              <a:rPr lang="en-US" altLang="zh-CN" sz="1600" b="1" dirty="0">
                <a:latin typeface="+mn-ea"/>
              </a:rPr>
              <a:t>3-3.2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4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步骤⑤：</a:t>
            </a:r>
            <a:r>
              <a:rPr lang="en-US" altLang="zh-CN" sz="1600" b="1" dirty="0">
                <a:latin typeface="+mn-ea"/>
              </a:rPr>
              <a:t>2.5*2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5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步骤⑥：式</a:t>
            </a:r>
            <a:r>
              <a:rPr lang="en-US" altLang="zh-CN" sz="1600" b="1" dirty="0">
                <a:latin typeface="+mn-ea"/>
              </a:rPr>
              <a:t>4+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57090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669A9F98-131E-429B-B1EA-39C843457C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75004" y="1616332"/>
            <a:ext cx="10758" cy="352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C18000-3FA3-C1EA-4BD0-CF3776F774AB}"/>
              </a:ext>
            </a:extLst>
          </p:cNvPr>
          <p:cNvCxnSpPr/>
          <p:nvPr/>
        </p:nvCxnSpPr>
        <p:spPr bwMode="auto">
          <a:xfrm>
            <a:off x="1936006" y="3172022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47AC345-ECCC-9267-3A31-9DBBE3D8FA75}"/>
              </a:ext>
            </a:extLst>
          </p:cNvPr>
          <p:cNvCxnSpPr/>
          <p:nvPr/>
        </p:nvCxnSpPr>
        <p:spPr bwMode="auto">
          <a:xfrm>
            <a:off x="1936006" y="5410726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A40C241-B332-A571-C93E-27BB63571252}"/>
              </a:ext>
            </a:extLst>
          </p:cNvPr>
          <p:cNvCxnSpPr/>
          <p:nvPr/>
        </p:nvCxnSpPr>
        <p:spPr bwMode="auto">
          <a:xfrm flipV="1">
            <a:off x="3619763" y="3172022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6DD92C7-B3A2-5A9B-4844-15199B48A88F}"/>
              </a:ext>
            </a:extLst>
          </p:cNvPr>
          <p:cNvCxnSpPr/>
          <p:nvPr/>
        </p:nvCxnSpPr>
        <p:spPr bwMode="auto">
          <a:xfrm>
            <a:off x="4068555" y="3178328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4B0C34A-BB6E-4780-5F51-B309290E12CC}"/>
              </a:ext>
            </a:extLst>
          </p:cNvPr>
          <p:cNvCxnSpPr/>
          <p:nvPr/>
        </p:nvCxnSpPr>
        <p:spPr bwMode="auto">
          <a:xfrm>
            <a:off x="4068555" y="5429644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EE6D8D7-AA1C-74B9-5068-0E35A89F8399}"/>
              </a:ext>
            </a:extLst>
          </p:cNvPr>
          <p:cNvCxnSpPr/>
          <p:nvPr/>
        </p:nvCxnSpPr>
        <p:spPr bwMode="auto">
          <a:xfrm flipV="1">
            <a:off x="5752312" y="3178328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FE90702-8139-CC00-AA29-6EC6604AE98B}"/>
              </a:ext>
            </a:extLst>
          </p:cNvPr>
          <p:cNvSpPr txBox="1"/>
          <p:nvPr/>
        </p:nvSpPr>
        <p:spPr>
          <a:xfrm>
            <a:off x="2398277" y="4212049"/>
            <a:ext cx="592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</a:p>
          <a:p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096A4E3-3B66-6BB6-5EE1-9C57F4E6ECB8}"/>
              </a:ext>
            </a:extLst>
          </p:cNvPr>
          <p:cNvSpPr txBox="1"/>
          <p:nvPr/>
        </p:nvSpPr>
        <p:spPr>
          <a:xfrm>
            <a:off x="4496326" y="4452181"/>
            <a:ext cx="636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/</a:t>
            </a:r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04B2BF6-6EB6-1A64-7D8B-C57C1B0D60EF}"/>
              </a:ext>
            </a:extLst>
          </p:cNvPr>
          <p:cNvCxnSpPr/>
          <p:nvPr/>
        </p:nvCxnSpPr>
        <p:spPr bwMode="auto">
          <a:xfrm>
            <a:off x="6742387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E5288F3-0855-13DD-90CC-A05448CCA3CD}"/>
              </a:ext>
            </a:extLst>
          </p:cNvPr>
          <p:cNvCxnSpPr/>
          <p:nvPr/>
        </p:nvCxnSpPr>
        <p:spPr bwMode="auto">
          <a:xfrm>
            <a:off x="6742387" y="5493759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4F2772B-062B-8DCF-F8AE-221F70160698}"/>
              </a:ext>
            </a:extLst>
          </p:cNvPr>
          <p:cNvCxnSpPr/>
          <p:nvPr/>
        </p:nvCxnSpPr>
        <p:spPr bwMode="auto">
          <a:xfrm flipV="1">
            <a:off x="8426144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19E3B10-F7D3-312F-2B1F-7D820DD4173F}"/>
              </a:ext>
            </a:extLst>
          </p:cNvPr>
          <p:cNvCxnSpPr/>
          <p:nvPr/>
        </p:nvCxnSpPr>
        <p:spPr bwMode="auto">
          <a:xfrm>
            <a:off x="8874936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9406040-C231-0473-C5E8-817056797A7C}"/>
              </a:ext>
            </a:extLst>
          </p:cNvPr>
          <p:cNvCxnSpPr/>
          <p:nvPr/>
        </p:nvCxnSpPr>
        <p:spPr bwMode="auto">
          <a:xfrm>
            <a:off x="8874936" y="5512677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22A3C79-0495-2E58-4BCD-B2B032C45E72}"/>
              </a:ext>
            </a:extLst>
          </p:cNvPr>
          <p:cNvCxnSpPr/>
          <p:nvPr/>
        </p:nvCxnSpPr>
        <p:spPr bwMode="auto">
          <a:xfrm flipV="1">
            <a:off x="10558693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A99D97F7-EA82-914E-05C8-7445F8A9A259}"/>
              </a:ext>
            </a:extLst>
          </p:cNvPr>
          <p:cNvSpPr txBox="1"/>
          <p:nvPr/>
        </p:nvSpPr>
        <p:spPr>
          <a:xfrm>
            <a:off x="7204658" y="4295082"/>
            <a:ext cx="59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11/2</a:t>
            </a:r>
            <a:endParaRPr lang="zh-CN" altLang="en-US" dirty="0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26907DBF-051E-895B-94ED-AA484862D615}"/>
              </a:ext>
            </a:extLst>
          </p:cNvPr>
          <p:cNvSpPr/>
          <p:nvPr/>
        </p:nvSpPr>
        <p:spPr bwMode="auto">
          <a:xfrm>
            <a:off x="6028734" y="4067503"/>
            <a:ext cx="410953" cy="49188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3844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917130E0-8B62-4EA3-BDEC-DC41130E97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6756" y="1616332"/>
            <a:ext cx="5174" cy="3479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E905A5B-A3BC-E6F2-7033-2DD78FC212AE}"/>
              </a:ext>
            </a:extLst>
          </p:cNvPr>
          <p:cNvCxnSpPr/>
          <p:nvPr/>
        </p:nvCxnSpPr>
        <p:spPr bwMode="auto">
          <a:xfrm>
            <a:off x="1936006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8B23E30-FB44-A986-63DC-8CFE000AFC0F}"/>
              </a:ext>
            </a:extLst>
          </p:cNvPr>
          <p:cNvCxnSpPr/>
          <p:nvPr/>
        </p:nvCxnSpPr>
        <p:spPr bwMode="auto">
          <a:xfrm>
            <a:off x="1936006" y="5410726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8E505F0-81F0-FDCD-D846-96DEACB0FB44}"/>
              </a:ext>
            </a:extLst>
          </p:cNvPr>
          <p:cNvCxnSpPr/>
          <p:nvPr/>
        </p:nvCxnSpPr>
        <p:spPr bwMode="auto">
          <a:xfrm flipV="1">
            <a:off x="3619763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6C920C3-C75F-EC13-CF4B-3837B9E0277B}"/>
              </a:ext>
            </a:extLst>
          </p:cNvPr>
          <p:cNvCxnSpPr/>
          <p:nvPr/>
        </p:nvCxnSpPr>
        <p:spPr bwMode="auto">
          <a:xfrm>
            <a:off x="4062251" y="3220923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552A3F6-481C-56F9-2F7B-7F5FA6D239E6}"/>
              </a:ext>
            </a:extLst>
          </p:cNvPr>
          <p:cNvCxnSpPr/>
          <p:nvPr/>
        </p:nvCxnSpPr>
        <p:spPr bwMode="auto">
          <a:xfrm>
            <a:off x="4062251" y="5472239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16CC6B5-07E0-D874-8C41-01F6B76898F9}"/>
              </a:ext>
            </a:extLst>
          </p:cNvPr>
          <p:cNvCxnSpPr/>
          <p:nvPr/>
        </p:nvCxnSpPr>
        <p:spPr bwMode="auto">
          <a:xfrm flipV="1">
            <a:off x="5746008" y="3220923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8B8612B-0C04-F025-0FF8-1D825D208E8E}"/>
              </a:ext>
            </a:extLst>
          </p:cNvPr>
          <p:cNvSpPr txBox="1"/>
          <p:nvPr/>
        </p:nvSpPr>
        <p:spPr>
          <a:xfrm>
            <a:off x="2125192" y="4534163"/>
            <a:ext cx="1494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11/2</a:t>
            </a:r>
          </a:p>
          <a:p>
            <a:r>
              <a:rPr lang="en-US" altLang="zh-CN" dirty="0"/>
              <a:t>37%4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B685C3-4CB0-B336-2959-21B4A9A2C011}"/>
              </a:ext>
            </a:extLst>
          </p:cNvPr>
          <p:cNvSpPr txBox="1"/>
          <p:nvPr/>
        </p:nvSpPr>
        <p:spPr>
          <a:xfrm>
            <a:off x="4685514" y="4210997"/>
            <a:ext cx="428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</a:p>
          <a:p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3107EA0-E921-01AA-029D-CC9071CC3DBB}"/>
              </a:ext>
            </a:extLst>
          </p:cNvPr>
          <p:cNvCxnSpPr/>
          <p:nvPr/>
        </p:nvCxnSpPr>
        <p:spPr bwMode="auto">
          <a:xfrm>
            <a:off x="6742387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F036FE3-8122-E261-5698-D96A237992AD}"/>
              </a:ext>
            </a:extLst>
          </p:cNvPr>
          <p:cNvCxnSpPr/>
          <p:nvPr/>
        </p:nvCxnSpPr>
        <p:spPr bwMode="auto">
          <a:xfrm>
            <a:off x="6742387" y="5493759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0F625C9-5652-E871-7A78-96451F13B759}"/>
              </a:ext>
            </a:extLst>
          </p:cNvPr>
          <p:cNvCxnSpPr/>
          <p:nvPr/>
        </p:nvCxnSpPr>
        <p:spPr bwMode="auto">
          <a:xfrm flipV="1">
            <a:off x="8426144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E6E2B45-B2E6-FD63-AE3E-AAA80F4FC25E}"/>
              </a:ext>
            </a:extLst>
          </p:cNvPr>
          <p:cNvCxnSpPr/>
          <p:nvPr/>
        </p:nvCxnSpPr>
        <p:spPr bwMode="auto">
          <a:xfrm>
            <a:off x="8874936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41FB104-2632-D073-B74A-548FA72308B6}"/>
              </a:ext>
            </a:extLst>
          </p:cNvPr>
          <p:cNvCxnSpPr/>
          <p:nvPr/>
        </p:nvCxnSpPr>
        <p:spPr bwMode="auto">
          <a:xfrm>
            <a:off x="8874936" y="5512677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F4C1746-CFF0-5220-0AFA-2B45C8F7138C}"/>
              </a:ext>
            </a:extLst>
          </p:cNvPr>
          <p:cNvCxnSpPr/>
          <p:nvPr/>
        </p:nvCxnSpPr>
        <p:spPr bwMode="auto">
          <a:xfrm flipV="1">
            <a:off x="10558693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C260CF0-098F-7751-335D-34491766CDF3}"/>
              </a:ext>
            </a:extLst>
          </p:cNvPr>
          <p:cNvSpPr txBox="1"/>
          <p:nvPr/>
        </p:nvSpPr>
        <p:spPr>
          <a:xfrm>
            <a:off x="6960266" y="4328218"/>
            <a:ext cx="1367577" cy="37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aseline="-25000"/>
              <a:t>11/2+37%4</a:t>
            </a:r>
            <a:endParaRPr lang="zh-CN" altLang="en-US" sz="2800" baseline="-25000" dirty="0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597809BD-3B26-158A-FAC5-A5023D2F0678}"/>
              </a:ext>
            </a:extLst>
          </p:cNvPr>
          <p:cNvSpPr/>
          <p:nvPr/>
        </p:nvSpPr>
        <p:spPr bwMode="auto">
          <a:xfrm>
            <a:off x="6028734" y="4067503"/>
            <a:ext cx="410953" cy="49188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6033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917130E0-8B62-4EA3-BDEC-DC41130E97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9822" y="1605043"/>
            <a:ext cx="5174" cy="3479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7BF23933-3BDB-E1EE-D2BB-D0F87B31BB1D}"/>
              </a:ext>
            </a:extLst>
          </p:cNvPr>
          <p:cNvCxnSpPr/>
          <p:nvPr/>
        </p:nvCxnSpPr>
        <p:spPr bwMode="auto">
          <a:xfrm>
            <a:off x="813501" y="3159409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C149412-E187-A952-468F-DDA4F8CA2AA9}"/>
              </a:ext>
            </a:extLst>
          </p:cNvPr>
          <p:cNvCxnSpPr>
            <a:cxnSpLocks/>
          </p:cNvCxnSpPr>
          <p:nvPr/>
        </p:nvCxnSpPr>
        <p:spPr bwMode="auto">
          <a:xfrm>
            <a:off x="813501" y="5410725"/>
            <a:ext cx="297022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EB5D86B-42D4-218F-F99F-C7AD0D323179}"/>
              </a:ext>
            </a:extLst>
          </p:cNvPr>
          <p:cNvCxnSpPr/>
          <p:nvPr/>
        </p:nvCxnSpPr>
        <p:spPr bwMode="auto">
          <a:xfrm flipV="1">
            <a:off x="3783724" y="3159409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BE507C6-2078-C271-BB68-5EB5962BCD1D}"/>
              </a:ext>
            </a:extLst>
          </p:cNvPr>
          <p:cNvCxnSpPr/>
          <p:nvPr/>
        </p:nvCxnSpPr>
        <p:spPr bwMode="auto">
          <a:xfrm>
            <a:off x="4135914" y="3159409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80E55D3-11C2-4857-1C24-9696F184F4B7}"/>
              </a:ext>
            </a:extLst>
          </p:cNvPr>
          <p:cNvCxnSpPr/>
          <p:nvPr/>
        </p:nvCxnSpPr>
        <p:spPr bwMode="auto">
          <a:xfrm>
            <a:off x="4135914" y="5410725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9EC849-DF96-3455-708E-9399D22A470E}"/>
              </a:ext>
            </a:extLst>
          </p:cNvPr>
          <p:cNvCxnSpPr/>
          <p:nvPr/>
        </p:nvCxnSpPr>
        <p:spPr bwMode="auto">
          <a:xfrm flipV="1">
            <a:off x="5819671" y="3159409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0AAFF35-E7BF-7AFC-9127-C967D85E65E5}"/>
              </a:ext>
            </a:extLst>
          </p:cNvPr>
          <p:cNvSpPr txBox="1"/>
          <p:nvPr/>
        </p:nvSpPr>
        <p:spPr>
          <a:xfrm>
            <a:off x="813501" y="4625545"/>
            <a:ext cx="2820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2.5</a:t>
            </a:r>
          </a:p>
          <a:p>
            <a:r>
              <a:rPr lang="en-US" altLang="zh-CN" dirty="0"/>
              <a:t>(11/2)+</a:t>
            </a:r>
            <a:r>
              <a:rPr lang="zh-CN" altLang="en-US" dirty="0"/>
              <a:t>（</a:t>
            </a:r>
            <a:r>
              <a:rPr lang="en-US" altLang="zh-CN" dirty="0"/>
              <a:t>37%4</a:t>
            </a:r>
            <a:r>
              <a:rPr lang="zh-CN" altLang="en-US" dirty="0"/>
              <a:t>）</a:t>
            </a:r>
            <a:r>
              <a:rPr lang="en-US" altLang="zh-CN" dirty="0"/>
              <a:t>-3.2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A188C4-910D-5F60-EBCE-68AEB69F2B93}"/>
              </a:ext>
            </a:extLst>
          </p:cNvPr>
          <p:cNvSpPr txBox="1"/>
          <p:nvPr/>
        </p:nvSpPr>
        <p:spPr>
          <a:xfrm>
            <a:off x="4746565" y="4704429"/>
            <a:ext cx="517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3064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a = 2 * 4 , a = b = 3 * 5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个步骤分别是：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2*4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2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步骤③：</a:t>
            </a:r>
            <a:r>
              <a:rPr lang="en-US" altLang="zh-CN" sz="1600" b="1" dirty="0">
                <a:latin typeface="+mn-ea"/>
              </a:rPr>
              <a:t>3*5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3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步骤④：</a:t>
            </a:r>
            <a:r>
              <a:rPr lang="en-US" altLang="zh-CN" sz="1600" b="1" dirty="0">
                <a:latin typeface="+mn-ea"/>
              </a:rPr>
              <a:t>b=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3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4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步骤⑤：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4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5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步骤⑥：式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，式</a:t>
            </a:r>
            <a:r>
              <a:rPr lang="en-US" altLang="zh-CN" sz="1600" b="1" dirty="0">
                <a:latin typeface="+mn-e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6871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a = 2 * 4 , a = b = 3 * 5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552E607C-5B90-46C7-BA60-FA8CB69DD2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4714" y="1659364"/>
            <a:ext cx="10758" cy="352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46D8EAC6-6693-B03E-B221-9C489AE2F220}"/>
              </a:ext>
            </a:extLst>
          </p:cNvPr>
          <p:cNvCxnSpPr/>
          <p:nvPr/>
        </p:nvCxnSpPr>
        <p:spPr bwMode="auto">
          <a:xfrm>
            <a:off x="725215" y="3216166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ADFA288-9F21-761D-EC5F-941B1BD677AB}"/>
              </a:ext>
            </a:extLst>
          </p:cNvPr>
          <p:cNvCxnSpPr>
            <a:cxnSpLocks/>
          </p:cNvCxnSpPr>
          <p:nvPr/>
        </p:nvCxnSpPr>
        <p:spPr bwMode="auto">
          <a:xfrm>
            <a:off x="725215" y="5467482"/>
            <a:ext cx="297022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885163-3154-377C-EC6E-EB9F1C8E09F7}"/>
              </a:ext>
            </a:extLst>
          </p:cNvPr>
          <p:cNvCxnSpPr/>
          <p:nvPr/>
        </p:nvCxnSpPr>
        <p:spPr bwMode="auto">
          <a:xfrm flipV="1">
            <a:off x="3695438" y="3216166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9E3FE60-502C-C7AF-79B2-E6399F076770}"/>
              </a:ext>
            </a:extLst>
          </p:cNvPr>
          <p:cNvCxnSpPr/>
          <p:nvPr/>
        </p:nvCxnSpPr>
        <p:spPr bwMode="auto">
          <a:xfrm>
            <a:off x="3845737" y="32603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C291C4F-C5E1-24E0-0FF2-96D4109D98BA}"/>
              </a:ext>
            </a:extLst>
          </p:cNvPr>
          <p:cNvCxnSpPr/>
          <p:nvPr/>
        </p:nvCxnSpPr>
        <p:spPr bwMode="auto">
          <a:xfrm>
            <a:off x="3845737" y="5511626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10F61A0-41A8-71BE-98EA-2F7CE37D6D97}"/>
              </a:ext>
            </a:extLst>
          </p:cNvPr>
          <p:cNvCxnSpPr/>
          <p:nvPr/>
        </p:nvCxnSpPr>
        <p:spPr bwMode="auto">
          <a:xfrm flipV="1">
            <a:off x="5529494" y="32603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25140F5-00BB-B920-E8D6-BC2244946FBF}"/>
              </a:ext>
            </a:extLst>
          </p:cNvPr>
          <p:cNvSpPr txBox="1"/>
          <p:nvPr/>
        </p:nvSpPr>
        <p:spPr>
          <a:xfrm>
            <a:off x="1185568" y="4735962"/>
            <a:ext cx="2055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</a:p>
          <a:p>
            <a:r>
              <a:rPr lang="en-US" altLang="zh-CN" dirty="0"/>
              <a:t>2*4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2E287B-263B-B5D3-56FE-4FCB300378E0}"/>
              </a:ext>
            </a:extLst>
          </p:cNvPr>
          <p:cNvSpPr txBox="1"/>
          <p:nvPr/>
        </p:nvSpPr>
        <p:spPr>
          <a:xfrm>
            <a:off x="4431163" y="4300834"/>
            <a:ext cx="45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=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8FD5DF2-A9D2-209B-A9BC-107DCDDB402F}"/>
              </a:ext>
            </a:extLst>
          </p:cNvPr>
          <p:cNvCxnSpPr/>
          <p:nvPr/>
        </p:nvCxnSpPr>
        <p:spPr bwMode="auto">
          <a:xfrm>
            <a:off x="6742387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13D592E-CB1B-C672-9E4B-3BABA92CA9D1}"/>
              </a:ext>
            </a:extLst>
          </p:cNvPr>
          <p:cNvCxnSpPr/>
          <p:nvPr/>
        </p:nvCxnSpPr>
        <p:spPr bwMode="auto">
          <a:xfrm>
            <a:off x="6742387" y="5493759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A3ED8A5-4646-64D0-865E-20B35C78FFC7}"/>
              </a:ext>
            </a:extLst>
          </p:cNvPr>
          <p:cNvCxnSpPr/>
          <p:nvPr/>
        </p:nvCxnSpPr>
        <p:spPr bwMode="auto">
          <a:xfrm flipV="1">
            <a:off x="8426144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A9E99E9-B6B5-F872-EA1E-3C2933D05B77}"/>
              </a:ext>
            </a:extLst>
          </p:cNvPr>
          <p:cNvCxnSpPr/>
          <p:nvPr/>
        </p:nvCxnSpPr>
        <p:spPr bwMode="auto">
          <a:xfrm>
            <a:off x="8874936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CA30BF9-7635-86E4-6C43-E824EE9344EE}"/>
              </a:ext>
            </a:extLst>
          </p:cNvPr>
          <p:cNvCxnSpPr/>
          <p:nvPr/>
        </p:nvCxnSpPr>
        <p:spPr bwMode="auto">
          <a:xfrm>
            <a:off x="8874936" y="5512677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16D5C0B-ABC9-0351-EB25-F6B466DE5C87}"/>
              </a:ext>
            </a:extLst>
          </p:cNvPr>
          <p:cNvCxnSpPr/>
          <p:nvPr/>
        </p:nvCxnSpPr>
        <p:spPr bwMode="auto">
          <a:xfrm flipV="1">
            <a:off x="10558693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箭头: 右 18">
            <a:extLst>
              <a:ext uri="{FF2B5EF4-FFF2-40B4-BE49-F238E27FC236}">
                <a16:creationId xmlns:a16="http://schemas.microsoft.com/office/drawing/2014/main" id="{B755C94F-93B7-7431-42F8-B0DD7CA1786C}"/>
              </a:ext>
            </a:extLst>
          </p:cNvPr>
          <p:cNvSpPr/>
          <p:nvPr/>
        </p:nvSpPr>
        <p:spPr bwMode="auto">
          <a:xfrm>
            <a:off x="6028734" y="4067503"/>
            <a:ext cx="410953" cy="49188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CE006E-7F1B-9848-3738-7918B78EA710}"/>
              </a:ext>
            </a:extLst>
          </p:cNvPr>
          <p:cNvSpPr txBox="1"/>
          <p:nvPr/>
        </p:nvSpPr>
        <p:spPr>
          <a:xfrm>
            <a:off x="6812331" y="4572742"/>
            <a:ext cx="2820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a = 2 * 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7495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a = 2 * 4 , a = b = 3 * 5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目前已分析到整个表达式的尾部，画出从当前栈的状态到整个表达式分析完成的整个过程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每两个栈一组，有多组，尽量放在一页上，不够可加页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E810CF33-FB34-4D24-9548-A1A319B84D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88483" y="1594816"/>
            <a:ext cx="2983" cy="34687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2D55032-DBD0-9AF4-39F7-95A5E04E82C9}"/>
              </a:ext>
            </a:extLst>
          </p:cNvPr>
          <p:cNvGrpSpPr/>
          <p:nvPr/>
        </p:nvGrpSpPr>
        <p:grpSpPr>
          <a:xfrm>
            <a:off x="952238" y="2585545"/>
            <a:ext cx="2251915" cy="1759432"/>
            <a:chOff x="952237" y="2762119"/>
            <a:chExt cx="5143500" cy="2251316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13267AD-7518-CAA0-FDE5-329D6DF00942}"/>
                </a:ext>
              </a:extLst>
            </p:cNvPr>
            <p:cNvCxnSpPr/>
            <p:nvPr/>
          </p:nvCxnSpPr>
          <p:spPr bwMode="auto">
            <a:xfrm>
              <a:off x="9522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80650B8-FC4C-47F2-1D9B-2BA07BC17F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237" y="5013435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B8DD0DD-253B-B438-D365-88D14E4C70A9}"/>
                </a:ext>
              </a:extLst>
            </p:cNvPr>
            <p:cNvCxnSpPr/>
            <p:nvPr/>
          </p:nvCxnSpPr>
          <p:spPr bwMode="auto">
            <a:xfrm flipV="1">
              <a:off x="3922460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D821208-CA31-E03E-DE64-2D3E41630704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62665DA-58D7-C14C-3C33-0B8A9C6550C2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216559B-B5B8-B97C-0D39-D8EE6ED0B3AB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75CE8846-9875-1BD0-E86F-7273CB6442A2}"/>
                </a:ext>
              </a:extLst>
            </p:cNvPr>
            <p:cNvSpPr txBox="1"/>
            <p:nvPr/>
          </p:nvSpPr>
          <p:spPr>
            <a:xfrm>
              <a:off x="1434531" y="3057050"/>
              <a:ext cx="18288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</a:p>
            <a:p>
              <a:r>
                <a:rPr lang="en-US" altLang="zh-CN" dirty="0"/>
                <a:t>3</a:t>
              </a:r>
            </a:p>
            <a:p>
              <a:r>
                <a:rPr lang="en-US" altLang="zh-CN" dirty="0"/>
                <a:t>b</a:t>
              </a:r>
            </a:p>
            <a:p>
              <a:r>
                <a:rPr lang="en-US" altLang="zh-CN" dirty="0"/>
                <a:t>a</a:t>
              </a:r>
            </a:p>
            <a:p>
              <a:r>
                <a:rPr lang="en-US" altLang="zh-CN" dirty="0"/>
                <a:t>a=2*4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A29EE02-540A-9A4C-8493-5BCC7BC9D4D9}"/>
                </a:ext>
              </a:extLst>
            </p:cNvPr>
            <p:cNvSpPr txBox="1"/>
            <p:nvPr/>
          </p:nvSpPr>
          <p:spPr>
            <a:xfrm>
              <a:off x="4824009" y="3031709"/>
              <a:ext cx="6968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*</a:t>
              </a:r>
            </a:p>
            <a:p>
              <a:r>
                <a:rPr lang="en-US" altLang="zh-CN" dirty="0"/>
                <a:t>=</a:t>
              </a:r>
            </a:p>
            <a:p>
              <a:r>
                <a:rPr lang="en-US" altLang="zh-CN" dirty="0"/>
                <a:t>=</a:t>
              </a:r>
            </a:p>
            <a:p>
              <a:r>
                <a:rPr lang="en-US" altLang="zh-CN" dirty="0"/>
                <a:t>,</a:t>
              </a:r>
              <a:endParaRPr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7F3540F-D5B6-5942-2E08-7B72E473C3A3}"/>
              </a:ext>
            </a:extLst>
          </p:cNvPr>
          <p:cNvGrpSpPr/>
          <p:nvPr/>
        </p:nvGrpSpPr>
        <p:grpSpPr>
          <a:xfrm>
            <a:off x="3855064" y="2957167"/>
            <a:ext cx="3078166" cy="1356273"/>
            <a:chOff x="1936006" y="3159410"/>
            <a:chExt cx="4995108" cy="2273190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813267AD-7518-CAA0-FDE5-329D6DF00942}"/>
                </a:ext>
              </a:extLst>
            </p:cNvPr>
            <p:cNvCxnSpPr/>
            <p:nvPr/>
          </p:nvCxnSpPr>
          <p:spPr bwMode="auto">
            <a:xfrm>
              <a:off x="193600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80650B8-FC4C-47F2-1D9B-2BA07BC17F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36006" y="5410726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3B8DD0DD-253B-B438-D365-88D14E4C70A9}"/>
                </a:ext>
              </a:extLst>
            </p:cNvPr>
            <p:cNvCxnSpPr/>
            <p:nvPr/>
          </p:nvCxnSpPr>
          <p:spPr bwMode="auto">
            <a:xfrm flipV="1">
              <a:off x="4906229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D821208-CA31-E03E-DE64-2D3E41630704}"/>
                </a:ext>
              </a:extLst>
            </p:cNvPr>
            <p:cNvCxnSpPr/>
            <p:nvPr/>
          </p:nvCxnSpPr>
          <p:spPr bwMode="auto">
            <a:xfrm>
              <a:off x="5247357" y="3181284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A62665DA-58D7-C14C-3C33-0B8A9C6550C2}"/>
                </a:ext>
              </a:extLst>
            </p:cNvPr>
            <p:cNvCxnSpPr/>
            <p:nvPr/>
          </p:nvCxnSpPr>
          <p:spPr bwMode="auto">
            <a:xfrm>
              <a:off x="5247357" y="5432600"/>
              <a:ext cx="168375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216559B-B5B8-B97C-0D39-D8EE6ED0B3AB}"/>
                </a:ext>
              </a:extLst>
            </p:cNvPr>
            <p:cNvCxnSpPr/>
            <p:nvPr/>
          </p:nvCxnSpPr>
          <p:spPr bwMode="auto">
            <a:xfrm flipV="1">
              <a:off x="6931114" y="3181284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5CE8846-9875-1BD0-E86F-7273CB6442A2}"/>
                </a:ext>
              </a:extLst>
            </p:cNvPr>
            <p:cNvSpPr txBox="1"/>
            <p:nvPr/>
          </p:nvSpPr>
          <p:spPr>
            <a:xfrm>
              <a:off x="2418300" y="3454341"/>
              <a:ext cx="18288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3*5</a:t>
              </a:r>
            </a:p>
            <a:p>
              <a:r>
                <a:rPr lang="en-US" altLang="zh-CN" dirty="0"/>
                <a:t>b</a:t>
              </a:r>
            </a:p>
            <a:p>
              <a:r>
                <a:rPr lang="en-US" altLang="zh-CN" dirty="0"/>
                <a:t>a</a:t>
              </a:r>
            </a:p>
            <a:p>
              <a:r>
                <a:rPr lang="en-US" altLang="zh-CN" dirty="0"/>
                <a:t>a=2*4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A29EE02-540A-9A4C-8493-5BCC7BC9D4D9}"/>
                </a:ext>
              </a:extLst>
            </p:cNvPr>
            <p:cNvSpPr txBox="1"/>
            <p:nvPr/>
          </p:nvSpPr>
          <p:spPr>
            <a:xfrm>
              <a:off x="5665692" y="3476215"/>
              <a:ext cx="696812" cy="923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=</a:t>
              </a:r>
            </a:p>
            <a:p>
              <a:r>
                <a:rPr lang="en-US" altLang="zh-CN" dirty="0"/>
                <a:t>=</a:t>
              </a:r>
            </a:p>
            <a:p>
              <a:r>
                <a:rPr lang="en-US" altLang="zh-CN" dirty="0"/>
                <a:t>,</a:t>
              </a:r>
              <a:endParaRPr lang="zh-CN" altLang="en-US" dirty="0"/>
            </a:p>
          </p:txBody>
        </p:sp>
      </p:grpSp>
      <p:sp>
        <p:nvSpPr>
          <p:cNvPr id="34" name="箭头: 右 33">
            <a:extLst>
              <a:ext uri="{FF2B5EF4-FFF2-40B4-BE49-F238E27FC236}">
                <a16:creationId xmlns:a16="http://schemas.microsoft.com/office/drawing/2014/main" id="{C39AB200-8A82-B1E7-9AE0-A80913D02717}"/>
              </a:ext>
            </a:extLst>
          </p:cNvPr>
          <p:cNvSpPr/>
          <p:nvPr/>
        </p:nvSpPr>
        <p:spPr bwMode="auto">
          <a:xfrm>
            <a:off x="3315228" y="3315057"/>
            <a:ext cx="475684" cy="49483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74FC123-322A-B800-9DCE-9293B43C032B}"/>
              </a:ext>
            </a:extLst>
          </p:cNvPr>
          <p:cNvGrpSpPr/>
          <p:nvPr/>
        </p:nvGrpSpPr>
        <p:grpSpPr>
          <a:xfrm>
            <a:off x="7773326" y="3100791"/>
            <a:ext cx="3022758" cy="1072055"/>
            <a:chOff x="1936006" y="3159410"/>
            <a:chExt cx="5078668" cy="2251316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813267AD-7518-CAA0-FDE5-329D6DF00942}"/>
                </a:ext>
              </a:extLst>
            </p:cNvPr>
            <p:cNvCxnSpPr/>
            <p:nvPr/>
          </p:nvCxnSpPr>
          <p:spPr bwMode="auto">
            <a:xfrm>
              <a:off x="193600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0650B8-FC4C-47F2-1D9B-2BA07BC17F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36006" y="5410726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B8DD0DD-253B-B438-D365-88D14E4C70A9}"/>
                </a:ext>
              </a:extLst>
            </p:cNvPr>
            <p:cNvCxnSpPr/>
            <p:nvPr/>
          </p:nvCxnSpPr>
          <p:spPr bwMode="auto">
            <a:xfrm flipV="1">
              <a:off x="4906229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D821208-CA31-E03E-DE64-2D3E41630704}"/>
                </a:ext>
              </a:extLst>
            </p:cNvPr>
            <p:cNvCxnSpPr/>
            <p:nvPr/>
          </p:nvCxnSpPr>
          <p:spPr bwMode="auto">
            <a:xfrm>
              <a:off x="533091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A62665DA-58D7-C14C-3C33-0B8A9C6550C2}"/>
                </a:ext>
              </a:extLst>
            </p:cNvPr>
            <p:cNvCxnSpPr/>
            <p:nvPr/>
          </p:nvCxnSpPr>
          <p:spPr bwMode="auto">
            <a:xfrm>
              <a:off x="5330916" y="5410726"/>
              <a:ext cx="168375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8216559B-B5B8-B97C-0D39-D8EE6ED0B3AB}"/>
                </a:ext>
              </a:extLst>
            </p:cNvPr>
            <p:cNvCxnSpPr/>
            <p:nvPr/>
          </p:nvCxnSpPr>
          <p:spPr bwMode="auto">
            <a:xfrm flipV="1">
              <a:off x="7014674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75CE8846-9875-1BD0-E86F-7273CB6442A2}"/>
                </a:ext>
              </a:extLst>
            </p:cNvPr>
            <p:cNvSpPr txBox="1"/>
            <p:nvPr/>
          </p:nvSpPr>
          <p:spPr>
            <a:xfrm>
              <a:off x="2418300" y="3454341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b=3*5</a:t>
              </a:r>
            </a:p>
            <a:p>
              <a:r>
                <a:rPr lang="en-US" altLang="zh-CN" dirty="0"/>
                <a:t>a</a:t>
              </a:r>
            </a:p>
            <a:p>
              <a:r>
                <a:rPr lang="en-US" altLang="zh-CN" dirty="0"/>
                <a:t>a=2*4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5A29EE02-540A-9A4C-8493-5BCC7BC9D4D9}"/>
                </a:ext>
              </a:extLst>
            </p:cNvPr>
            <p:cNvSpPr txBox="1"/>
            <p:nvPr/>
          </p:nvSpPr>
          <p:spPr>
            <a:xfrm>
              <a:off x="5749252" y="3454340"/>
              <a:ext cx="696813" cy="646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=</a:t>
              </a:r>
            </a:p>
            <a:p>
              <a:r>
                <a:rPr lang="en-US" altLang="zh-CN" dirty="0"/>
                <a:t>,</a:t>
              </a:r>
              <a:endParaRPr lang="zh-CN" altLang="en-US" dirty="0"/>
            </a:p>
          </p:txBody>
        </p:sp>
      </p:grpSp>
      <p:sp>
        <p:nvSpPr>
          <p:cNvPr id="44" name="箭头: 下 43">
            <a:extLst>
              <a:ext uri="{FF2B5EF4-FFF2-40B4-BE49-F238E27FC236}">
                <a16:creationId xmlns:a16="http://schemas.microsoft.com/office/drawing/2014/main" id="{F06C68E2-0D0A-FAD9-BCFA-9C3974D70EAB}"/>
              </a:ext>
            </a:extLst>
          </p:cNvPr>
          <p:cNvSpPr/>
          <p:nvPr/>
        </p:nvSpPr>
        <p:spPr bwMode="auto">
          <a:xfrm>
            <a:off x="9197330" y="4382303"/>
            <a:ext cx="681070" cy="50318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723F395-8FCF-2C1A-DD15-87625ED4616F}"/>
              </a:ext>
            </a:extLst>
          </p:cNvPr>
          <p:cNvGrpSpPr/>
          <p:nvPr/>
        </p:nvGrpSpPr>
        <p:grpSpPr>
          <a:xfrm>
            <a:off x="6696132" y="5257167"/>
            <a:ext cx="3714355" cy="1015299"/>
            <a:chOff x="1936006" y="3159410"/>
            <a:chExt cx="5991947" cy="2251316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13267AD-7518-CAA0-FDE5-329D6DF00942}"/>
                </a:ext>
              </a:extLst>
            </p:cNvPr>
            <p:cNvCxnSpPr/>
            <p:nvPr/>
          </p:nvCxnSpPr>
          <p:spPr bwMode="auto">
            <a:xfrm>
              <a:off x="193600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380650B8-FC4C-47F2-1D9B-2BA07BC17F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36006" y="5410726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B8DD0DD-253B-B438-D365-88D14E4C70A9}"/>
                </a:ext>
              </a:extLst>
            </p:cNvPr>
            <p:cNvCxnSpPr/>
            <p:nvPr/>
          </p:nvCxnSpPr>
          <p:spPr bwMode="auto">
            <a:xfrm flipV="1">
              <a:off x="4906229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9D821208-CA31-E03E-DE64-2D3E41630704}"/>
                </a:ext>
              </a:extLst>
            </p:cNvPr>
            <p:cNvCxnSpPr/>
            <p:nvPr/>
          </p:nvCxnSpPr>
          <p:spPr bwMode="auto">
            <a:xfrm>
              <a:off x="624419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A62665DA-58D7-C14C-3C33-0B8A9C6550C2}"/>
                </a:ext>
              </a:extLst>
            </p:cNvPr>
            <p:cNvCxnSpPr/>
            <p:nvPr/>
          </p:nvCxnSpPr>
          <p:spPr bwMode="auto">
            <a:xfrm>
              <a:off x="6244196" y="5410726"/>
              <a:ext cx="168375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216559B-B5B8-B97C-0D39-D8EE6ED0B3AB}"/>
                </a:ext>
              </a:extLst>
            </p:cNvPr>
            <p:cNvCxnSpPr/>
            <p:nvPr/>
          </p:nvCxnSpPr>
          <p:spPr bwMode="auto">
            <a:xfrm flipV="1">
              <a:off x="7927953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5CE8846-9875-1BD0-E86F-7273CB6442A2}"/>
                </a:ext>
              </a:extLst>
            </p:cNvPr>
            <p:cNvSpPr txBox="1"/>
            <p:nvPr/>
          </p:nvSpPr>
          <p:spPr>
            <a:xfrm>
              <a:off x="2418300" y="3454341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dirty="0"/>
            </a:p>
            <a:p>
              <a:r>
                <a:rPr lang="en-US" altLang="zh-CN" dirty="0"/>
                <a:t>a=b=3*5</a:t>
              </a:r>
            </a:p>
            <a:p>
              <a:r>
                <a:rPr lang="en-US" altLang="zh-CN" dirty="0"/>
                <a:t>a=2*4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A29EE02-540A-9A4C-8493-5BCC7BC9D4D9}"/>
                </a:ext>
              </a:extLst>
            </p:cNvPr>
            <p:cNvSpPr txBox="1"/>
            <p:nvPr/>
          </p:nvSpPr>
          <p:spPr>
            <a:xfrm>
              <a:off x="6662531" y="3454341"/>
              <a:ext cx="696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,</a:t>
              </a:r>
              <a:endParaRPr lang="zh-CN" altLang="en-US" dirty="0"/>
            </a:p>
          </p:txBody>
        </p:sp>
      </p:grpSp>
      <p:sp>
        <p:nvSpPr>
          <p:cNvPr id="54" name="箭头: 右 53">
            <a:extLst>
              <a:ext uri="{FF2B5EF4-FFF2-40B4-BE49-F238E27FC236}">
                <a16:creationId xmlns:a16="http://schemas.microsoft.com/office/drawing/2014/main" id="{503AFDED-E124-A776-BD48-8AD5BC0E91F9}"/>
              </a:ext>
            </a:extLst>
          </p:cNvPr>
          <p:cNvSpPr/>
          <p:nvPr/>
        </p:nvSpPr>
        <p:spPr bwMode="auto">
          <a:xfrm>
            <a:off x="7186568" y="3429000"/>
            <a:ext cx="475677" cy="43039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2C3C7B6F-F21C-0FFB-C554-BD738ABB9D00}"/>
              </a:ext>
            </a:extLst>
          </p:cNvPr>
          <p:cNvGrpSpPr/>
          <p:nvPr/>
        </p:nvGrpSpPr>
        <p:grpSpPr>
          <a:xfrm>
            <a:off x="1163395" y="5063884"/>
            <a:ext cx="4237771" cy="1248629"/>
            <a:chOff x="1936006" y="3159410"/>
            <a:chExt cx="5991947" cy="2251316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813267AD-7518-CAA0-FDE5-329D6DF00942}"/>
                </a:ext>
              </a:extLst>
            </p:cNvPr>
            <p:cNvCxnSpPr/>
            <p:nvPr/>
          </p:nvCxnSpPr>
          <p:spPr bwMode="auto">
            <a:xfrm>
              <a:off x="193600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380650B8-FC4C-47F2-1D9B-2BA07BC17F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36006" y="5410726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B8DD0DD-253B-B438-D365-88D14E4C70A9}"/>
                </a:ext>
              </a:extLst>
            </p:cNvPr>
            <p:cNvCxnSpPr/>
            <p:nvPr/>
          </p:nvCxnSpPr>
          <p:spPr bwMode="auto">
            <a:xfrm flipV="1">
              <a:off x="4906229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D821208-CA31-E03E-DE64-2D3E41630704}"/>
                </a:ext>
              </a:extLst>
            </p:cNvPr>
            <p:cNvCxnSpPr/>
            <p:nvPr/>
          </p:nvCxnSpPr>
          <p:spPr bwMode="auto">
            <a:xfrm>
              <a:off x="624419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A62665DA-58D7-C14C-3C33-0B8A9C6550C2}"/>
                </a:ext>
              </a:extLst>
            </p:cNvPr>
            <p:cNvCxnSpPr/>
            <p:nvPr/>
          </p:nvCxnSpPr>
          <p:spPr bwMode="auto">
            <a:xfrm>
              <a:off x="6244196" y="5410726"/>
              <a:ext cx="168375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216559B-B5B8-B97C-0D39-D8EE6ED0B3AB}"/>
                </a:ext>
              </a:extLst>
            </p:cNvPr>
            <p:cNvCxnSpPr/>
            <p:nvPr/>
          </p:nvCxnSpPr>
          <p:spPr bwMode="auto">
            <a:xfrm flipV="1">
              <a:off x="7927953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75CE8846-9875-1BD0-E86F-7273CB6442A2}"/>
                </a:ext>
              </a:extLst>
            </p:cNvPr>
            <p:cNvSpPr txBox="1"/>
            <p:nvPr/>
          </p:nvSpPr>
          <p:spPr>
            <a:xfrm>
              <a:off x="2418299" y="3454341"/>
              <a:ext cx="2790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dirty="0"/>
            </a:p>
            <a:p>
              <a:r>
                <a:rPr lang="en-US" altLang="zh-CN" dirty="0"/>
                <a:t>a=2*4</a:t>
              </a:r>
              <a:r>
                <a:rPr lang="zh-CN" altLang="en-US" dirty="0"/>
                <a:t>，</a:t>
              </a:r>
              <a:r>
                <a:rPr lang="en-US" altLang="zh-CN" dirty="0"/>
                <a:t>a=b=3*5</a:t>
              </a:r>
            </a:p>
          </p:txBody>
        </p:sp>
      </p:grpSp>
      <p:sp>
        <p:nvSpPr>
          <p:cNvPr id="63" name="箭头: 左 62">
            <a:extLst>
              <a:ext uri="{FF2B5EF4-FFF2-40B4-BE49-F238E27FC236}">
                <a16:creationId xmlns:a16="http://schemas.microsoft.com/office/drawing/2014/main" id="{AA0EF5F1-473F-E842-E1EE-DC423BD0FFDF}"/>
              </a:ext>
            </a:extLst>
          </p:cNvPr>
          <p:cNvSpPr/>
          <p:nvPr/>
        </p:nvSpPr>
        <p:spPr bwMode="auto">
          <a:xfrm>
            <a:off x="5715782" y="5527869"/>
            <a:ext cx="721027" cy="406267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3313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           1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、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"("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进栈前优先级最高，进栈后优先级最低；</a:t>
            </a:r>
            <a:endParaRPr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           2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、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")"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优先级最低，因此要将栈中压在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"("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"("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成对消除即可</a:t>
            </a:r>
            <a:endParaRPr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__10___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__10__</a:t>
            </a:r>
            <a:r>
              <a:rPr lang="zh-CN" altLang="en-US" sz="1600" b="1" dirty="0">
                <a:latin typeface="+mn-ea"/>
              </a:rPr>
              <a:t>个步骤分别是：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步骤</a:t>
            </a:r>
            <a:r>
              <a:rPr lang="zh-CN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①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：</a:t>
            </a:r>
            <a:r>
              <a:rPr lang="en-US" altLang="zh-CN" sz="1600" b="1" dirty="0" err="1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b+c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 =&gt;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1</a:t>
            </a:r>
          </a:p>
          <a:p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步骤②、③：（式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1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）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 =&gt;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2</a:t>
            </a:r>
          </a:p>
          <a:p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步骤④：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3*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2 =&gt;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3</a:t>
            </a:r>
          </a:p>
          <a:p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步骤⑤：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a+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3 =&gt;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4</a:t>
            </a:r>
          </a:p>
          <a:p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步骤⑥：式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4-5 =&gt;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5</a:t>
            </a:r>
          </a:p>
          <a:p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步骤⑦、⑧：（式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5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）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=&gt;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6</a:t>
            </a:r>
          </a:p>
          <a:p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步骤⑨：式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6%4 =&gt;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7</a:t>
            </a:r>
          </a:p>
          <a:p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步骤⑩： 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a+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式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7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后面自行添加，主要是对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的理解，本页中一对括号可以当做一个步骤理解，后续画栈时要分开</a:t>
            </a:r>
            <a:endParaRPr lang="zh-CN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8409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7061740B-FE96-41FA-8FBF-D1E4081295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5601" y="1005910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2827409-7963-F1D4-402E-24AC38E35163}"/>
              </a:ext>
            </a:extLst>
          </p:cNvPr>
          <p:cNvCxnSpPr/>
          <p:nvPr/>
        </p:nvCxnSpPr>
        <p:spPr bwMode="auto">
          <a:xfrm>
            <a:off x="1936006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B205D2E-C6B1-1E85-44FC-365CA74857AC}"/>
              </a:ext>
            </a:extLst>
          </p:cNvPr>
          <p:cNvCxnSpPr>
            <a:cxnSpLocks/>
          </p:cNvCxnSpPr>
          <p:nvPr/>
        </p:nvCxnSpPr>
        <p:spPr bwMode="auto">
          <a:xfrm>
            <a:off x="1936006" y="5410726"/>
            <a:ext cx="297022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4FC0550-59B8-6753-F044-06BD86F743BD}"/>
              </a:ext>
            </a:extLst>
          </p:cNvPr>
          <p:cNvCxnSpPr/>
          <p:nvPr/>
        </p:nvCxnSpPr>
        <p:spPr bwMode="auto">
          <a:xfrm flipV="1">
            <a:off x="4906229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6DBF915-090B-E2D6-C000-04744A010B48}"/>
              </a:ext>
            </a:extLst>
          </p:cNvPr>
          <p:cNvCxnSpPr/>
          <p:nvPr/>
        </p:nvCxnSpPr>
        <p:spPr bwMode="auto">
          <a:xfrm>
            <a:off x="6244196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21F93DD-93F5-421A-FFFE-440B927DD5D5}"/>
              </a:ext>
            </a:extLst>
          </p:cNvPr>
          <p:cNvCxnSpPr/>
          <p:nvPr/>
        </p:nvCxnSpPr>
        <p:spPr bwMode="auto">
          <a:xfrm>
            <a:off x="6244196" y="5410726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743CAFD-A117-B6E4-B19F-A44FC4B0D173}"/>
              </a:ext>
            </a:extLst>
          </p:cNvPr>
          <p:cNvCxnSpPr/>
          <p:nvPr/>
        </p:nvCxnSpPr>
        <p:spPr bwMode="auto">
          <a:xfrm flipV="1">
            <a:off x="7927953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6FCD3B4-5DA9-7074-501D-E06E3E2992B6}"/>
              </a:ext>
            </a:extLst>
          </p:cNvPr>
          <p:cNvSpPr txBox="1"/>
          <p:nvPr/>
        </p:nvSpPr>
        <p:spPr>
          <a:xfrm>
            <a:off x="2604463" y="3190941"/>
            <a:ext cx="1254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</a:p>
          <a:p>
            <a:r>
              <a:rPr lang="en-US" altLang="zh-CN" dirty="0"/>
              <a:t>3</a:t>
            </a:r>
          </a:p>
          <a:p>
            <a:r>
              <a:rPr lang="en-US" altLang="zh-CN" dirty="0"/>
              <a:t>a</a:t>
            </a:r>
          </a:p>
          <a:p>
            <a:r>
              <a:rPr lang="en-US" altLang="zh-CN" dirty="0"/>
              <a:t>a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7F319B-1864-D2A7-75DE-6BA63DC90D0F}"/>
              </a:ext>
            </a:extLst>
          </p:cNvPr>
          <p:cNvSpPr txBox="1"/>
          <p:nvPr/>
        </p:nvSpPr>
        <p:spPr>
          <a:xfrm>
            <a:off x="6608905" y="3402965"/>
            <a:ext cx="8198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</a:t>
            </a:r>
          </a:p>
          <a:p>
            <a:r>
              <a:rPr lang="en-US" altLang="zh-CN" dirty="0"/>
              <a:t>*</a:t>
            </a:r>
          </a:p>
          <a:p>
            <a:r>
              <a:rPr lang="en-US" altLang="zh-CN" dirty="0"/>
              <a:t>+</a:t>
            </a:r>
          </a:p>
          <a:p>
            <a:r>
              <a:rPr lang="en-US" altLang="zh-CN" dirty="0"/>
              <a:t>(</a:t>
            </a:r>
          </a:p>
          <a:p>
            <a:r>
              <a:rPr lang="en-US" altLang="zh-CN" dirty="0"/>
              <a:t>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1492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7061740B-FE96-41FA-8FBF-D1E4081295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8400" y="983332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2AB52BA-130B-8878-934C-058DDE742839}"/>
              </a:ext>
            </a:extLst>
          </p:cNvPr>
          <p:cNvGrpSpPr/>
          <p:nvPr/>
        </p:nvGrpSpPr>
        <p:grpSpPr>
          <a:xfrm>
            <a:off x="952238" y="2927989"/>
            <a:ext cx="5662973" cy="3138581"/>
            <a:chOff x="952237" y="2762119"/>
            <a:chExt cx="5143500" cy="2251316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17FEFD93-C941-8FD4-E2B1-8ACB2FEDA6F6}"/>
                </a:ext>
              </a:extLst>
            </p:cNvPr>
            <p:cNvCxnSpPr/>
            <p:nvPr/>
          </p:nvCxnSpPr>
          <p:spPr bwMode="auto">
            <a:xfrm>
              <a:off x="9522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7FBB6A1-00AC-FD07-D3CF-4F3CBB1B34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237" y="5013435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3BFCB93-7BBC-ADD2-E674-E937E15F8F04}"/>
                </a:ext>
              </a:extLst>
            </p:cNvPr>
            <p:cNvCxnSpPr/>
            <p:nvPr/>
          </p:nvCxnSpPr>
          <p:spPr bwMode="auto">
            <a:xfrm flipV="1">
              <a:off x="3922460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6563954-A509-5382-F0A9-130B7FD9C5DD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5A94FE2-58C4-002C-DD9E-13B6DD0AF2A9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6CCE4001-597B-F2C1-70D4-03887AA20022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1FDFD66-CEC3-071F-58C1-99455B64EBD1}"/>
                </a:ext>
              </a:extLst>
            </p:cNvPr>
            <p:cNvSpPr txBox="1"/>
            <p:nvPr/>
          </p:nvSpPr>
          <p:spPr>
            <a:xfrm>
              <a:off x="1434531" y="3057050"/>
              <a:ext cx="1828800" cy="189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</a:p>
            <a:p>
              <a:r>
                <a:rPr lang="en-US" altLang="zh-CN" dirty="0"/>
                <a:t>(</a:t>
              </a:r>
              <a:r>
                <a:rPr lang="en-US" altLang="zh-CN" dirty="0" err="1"/>
                <a:t>b+c</a:t>
              </a:r>
              <a:r>
                <a:rPr lang="en-US" altLang="zh-CN" dirty="0"/>
                <a:t>)</a:t>
              </a:r>
            </a:p>
            <a:p>
              <a:r>
                <a:rPr lang="en-US" altLang="zh-CN" dirty="0"/>
                <a:t>3</a:t>
              </a:r>
            </a:p>
            <a:p>
              <a:r>
                <a:rPr lang="en-US" altLang="zh-CN" dirty="0"/>
                <a:t>a</a:t>
              </a:r>
            </a:p>
            <a:p>
              <a:r>
                <a:rPr lang="en-US" altLang="zh-CN" dirty="0"/>
                <a:t>a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67F9471-5472-D0D9-39AC-529EAEC5C735}"/>
                </a:ext>
              </a:extLst>
            </p:cNvPr>
            <p:cNvSpPr txBox="1"/>
            <p:nvPr/>
          </p:nvSpPr>
          <p:spPr>
            <a:xfrm>
              <a:off x="4824009" y="3031709"/>
              <a:ext cx="696813" cy="189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</a:t>
              </a:r>
            </a:p>
            <a:p>
              <a:r>
                <a:rPr lang="en-US" altLang="zh-CN" dirty="0"/>
                <a:t>*</a:t>
              </a:r>
            </a:p>
            <a:p>
              <a:r>
                <a:rPr lang="en-US" altLang="zh-CN" dirty="0"/>
                <a:t>+</a:t>
              </a:r>
            </a:p>
            <a:p>
              <a:r>
                <a:rPr lang="en-US" altLang="zh-CN" dirty="0"/>
                <a:t>(</a:t>
              </a:r>
            </a:p>
            <a:p>
              <a:r>
                <a:rPr lang="en-US" altLang="zh-CN" dirty="0"/>
                <a:t>+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670429F-D4D6-BD46-7F04-8A5E8FBE8C2B}"/>
              </a:ext>
            </a:extLst>
          </p:cNvPr>
          <p:cNvGrpSpPr/>
          <p:nvPr/>
        </p:nvGrpSpPr>
        <p:grpSpPr>
          <a:xfrm>
            <a:off x="7418791" y="3280994"/>
            <a:ext cx="2466326" cy="1763972"/>
            <a:chOff x="462511" y="2756310"/>
            <a:chExt cx="5633226" cy="2257125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EC0DD10-CA9B-21D9-8611-451F7429E148}"/>
                </a:ext>
              </a:extLst>
            </p:cNvPr>
            <p:cNvCxnSpPr/>
            <p:nvPr/>
          </p:nvCxnSpPr>
          <p:spPr bwMode="auto">
            <a:xfrm>
              <a:off x="46251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E16B21D-433A-5C99-EEE6-BB92A22006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2511" y="5013435"/>
              <a:ext cx="367600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97DECFA-AB4E-CA1D-617F-826B25E67B45}"/>
                </a:ext>
              </a:extLst>
            </p:cNvPr>
            <p:cNvCxnSpPr/>
            <p:nvPr/>
          </p:nvCxnSpPr>
          <p:spPr bwMode="auto">
            <a:xfrm flipV="1">
              <a:off x="4138516" y="27563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6FCBBFA4-6F81-8C98-25F0-7D8876097639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4A671C40-C579-ECF1-ED1E-904E8DA6B6AD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32F2562-7556-0EA2-8D1F-635FC5E44A9A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B9A3737-1E12-A766-976E-C28ADC546A97}"/>
                </a:ext>
              </a:extLst>
            </p:cNvPr>
            <p:cNvSpPr txBox="1"/>
            <p:nvPr/>
          </p:nvSpPr>
          <p:spPr>
            <a:xfrm>
              <a:off x="620958" y="3057050"/>
              <a:ext cx="4076176" cy="6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</a:rPr>
                <a:t>a</a:t>
              </a:r>
              <a:r>
                <a:rPr lang="pt-BR" altLang="zh-CN" sz="1400" b="1" dirty="0">
                  <a:latin typeface="+mn-ea"/>
                </a:rPr>
                <a:t>+3 * (</a:t>
              </a:r>
              <a:r>
                <a:rPr lang="en-US" altLang="zh-CN" sz="1400" b="1" dirty="0">
                  <a:latin typeface="+mn-ea"/>
                </a:rPr>
                <a:t>b</a:t>
              </a:r>
              <a:r>
                <a:rPr lang="pt-BR" altLang="zh-CN" sz="1400" b="1" dirty="0">
                  <a:latin typeface="+mn-ea"/>
                </a:rPr>
                <a:t> + </a:t>
              </a:r>
              <a:r>
                <a:rPr lang="en-US" altLang="zh-CN" sz="1400" b="1" dirty="0">
                  <a:latin typeface="+mn-ea"/>
                </a:rPr>
                <a:t>c</a:t>
              </a:r>
              <a:r>
                <a:rPr lang="pt-BR" altLang="zh-CN" sz="1400" b="1" dirty="0">
                  <a:latin typeface="+mn-ea"/>
                </a:rPr>
                <a:t>)-5</a:t>
              </a:r>
            </a:p>
            <a:p>
              <a:r>
                <a:rPr lang="en-US" altLang="zh-CN" sz="1400" b="1" dirty="0">
                  <a:latin typeface="+mn-ea"/>
                </a:rPr>
                <a:t>a</a:t>
              </a:r>
              <a:endParaRPr lang="en-US" altLang="zh-CN" sz="1400" dirty="0"/>
            </a:p>
          </p:txBody>
        </p:sp>
      </p:grpSp>
      <p:sp>
        <p:nvSpPr>
          <p:cNvPr id="23" name="箭头: 右 22">
            <a:extLst>
              <a:ext uri="{FF2B5EF4-FFF2-40B4-BE49-F238E27FC236}">
                <a16:creationId xmlns:a16="http://schemas.microsoft.com/office/drawing/2014/main" id="{B0300B3F-B11C-8DE6-0F0E-5D4135081C8D}"/>
              </a:ext>
            </a:extLst>
          </p:cNvPr>
          <p:cNvSpPr/>
          <p:nvPr/>
        </p:nvSpPr>
        <p:spPr bwMode="auto">
          <a:xfrm>
            <a:off x="6773908" y="3999549"/>
            <a:ext cx="385959" cy="4063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BC02939-4930-F09E-4A4A-983FBB39103F}"/>
              </a:ext>
            </a:extLst>
          </p:cNvPr>
          <p:cNvSpPr txBox="1"/>
          <p:nvPr/>
        </p:nvSpPr>
        <p:spPr>
          <a:xfrm>
            <a:off x="9339492" y="3745887"/>
            <a:ext cx="492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</a:t>
            </a:r>
          </a:p>
          <a:p>
            <a:r>
              <a:rPr lang="en-US" altLang="zh-CN" dirty="0"/>
              <a:t>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708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目前已分析到整个表达式的尾部，画出从当前栈的状态到整个表达式分析完成的整个过程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每两个栈一组，有多组，尽量放在一页上，不够可加页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7061740B-FE96-41FA-8FBF-D1E4081295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7910" y="1016715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EF3CD56-1515-9FDF-9213-32AF8BB75E66}"/>
              </a:ext>
            </a:extLst>
          </p:cNvPr>
          <p:cNvGrpSpPr/>
          <p:nvPr/>
        </p:nvGrpSpPr>
        <p:grpSpPr>
          <a:xfrm>
            <a:off x="7418791" y="3280994"/>
            <a:ext cx="2466326" cy="1763972"/>
            <a:chOff x="462511" y="2756310"/>
            <a:chExt cx="5633226" cy="2257125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21DDDBDA-1327-5720-D617-2FA38A4BFB0C}"/>
                </a:ext>
              </a:extLst>
            </p:cNvPr>
            <p:cNvCxnSpPr/>
            <p:nvPr/>
          </p:nvCxnSpPr>
          <p:spPr bwMode="auto">
            <a:xfrm>
              <a:off x="46251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9E6548A-758C-56FB-AB93-C3918B939CA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2511" y="5013435"/>
              <a:ext cx="367600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BAD0303B-0690-F680-137A-56160014A9BC}"/>
                </a:ext>
              </a:extLst>
            </p:cNvPr>
            <p:cNvCxnSpPr/>
            <p:nvPr/>
          </p:nvCxnSpPr>
          <p:spPr bwMode="auto">
            <a:xfrm flipV="1">
              <a:off x="4138516" y="27563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FAEA3E42-2916-975F-18D6-93C4EFDEDD74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314C7E5F-AB90-51F4-0703-731D63E8CA0C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1DCC79F-0C4F-AE36-B999-4D0E4E652288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04647BB-900D-A29E-3218-3FDA1D67B3B7}"/>
                </a:ext>
              </a:extLst>
            </p:cNvPr>
            <p:cNvSpPr txBox="1"/>
            <p:nvPr/>
          </p:nvSpPr>
          <p:spPr>
            <a:xfrm>
              <a:off x="620958" y="3057050"/>
              <a:ext cx="4076176" cy="393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a+(a+3*(</a:t>
              </a:r>
              <a:r>
                <a:rPr lang="en-US" altLang="zh-CN" sz="1400" dirty="0" err="1"/>
                <a:t>b+c</a:t>
              </a:r>
              <a:r>
                <a:rPr lang="en-US" altLang="zh-CN" sz="1400" dirty="0"/>
                <a:t>)-5)%4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C7D9944-CABE-4324-1B5B-5C895974C58E}"/>
              </a:ext>
            </a:extLst>
          </p:cNvPr>
          <p:cNvGrpSpPr/>
          <p:nvPr/>
        </p:nvGrpSpPr>
        <p:grpSpPr>
          <a:xfrm>
            <a:off x="4231466" y="3285534"/>
            <a:ext cx="2302364" cy="1759432"/>
            <a:chOff x="837009" y="2762119"/>
            <a:chExt cx="5258728" cy="2251316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196552F-DF7C-D854-4E50-266AD848F6D3}"/>
                </a:ext>
              </a:extLst>
            </p:cNvPr>
            <p:cNvCxnSpPr/>
            <p:nvPr/>
          </p:nvCxnSpPr>
          <p:spPr bwMode="auto">
            <a:xfrm>
              <a:off x="9522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01496E70-AE01-8A2F-9061-7BD67A60E10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237" y="5013435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3E85FB31-D441-790D-B3D2-8120263D7EAF}"/>
                </a:ext>
              </a:extLst>
            </p:cNvPr>
            <p:cNvCxnSpPr/>
            <p:nvPr/>
          </p:nvCxnSpPr>
          <p:spPr bwMode="auto">
            <a:xfrm flipV="1">
              <a:off x="3922460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C32507A-AC34-F70E-A230-9BD797ECC46F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BDA57B2-909D-44DB-EFEC-26B7098575DF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94366C7-3883-6423-0FBC-42EC192A77FC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E3F077A-96ED-37E2-75DE-BFCE96AAE753}"/>
                </a:ext>
              </a:extLst>
            </p:cNvPr>
            <p:cNvSpPr txBox="1"/>
            <p:nvPr/>
          </p:nvSpPr>
          <p:spPr>
            <a:xfrm>
              <a:off x="837009" y="3057050"/>
              <a:ext cx="3412083" cy="748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(a+3*(</a:t>
              </a:r>
              <a:r>
                <a:rPr lang="en-US" altLang="zh-CN" sz="1200" dirty="0" err="1"/>
                <a:t>b+c</a:t>
              </a:r>
              <a:r>
                <a:rPr lang="en-US" altLang="zh-CN" sz="1200" dirty="0"/>
                <a:t>)-5)%4</a:t>
              </a:r>
            </a:p>
            <a:p>
              <a:r>
                <a:rPr lang="en-US" altLang="zh-CN" sz="2000" dirty="0"/>
                <a:t>a</a:t>
              </a:r>
              <a:endParaRPr lang="en-US" altLang="zh-CN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B23F11D-7FAF-E011-1EA0-5EE737552F1B}"/>
                </a:ext>
              </a:extLst>
            </p:cNvPr>
            <p:cNvSpPr txBox="1"/>
            <p:nvPr/>
          </p:nvSpPr>
          <p:spPr>
            <a:xfrm>
              <a:off x="4824009" y="3031709"/>
              <a:ext cx="696813" cy="472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0DE54E4-F793-FCA6-E55F-C30CE8C9D778}"/>
              </a:ext>
            </a:extLst>
          </p:cNvPr>
          <p:cNvGrpSpPr/>
          <p:nvPr/>
        </p:nvGrpSpPr>
        <p:grpSpPr>
          <a:xfrm>
            <a:off x="1218150" y="3437934"/>
            <a:ext cx="2251915" cy="1759432"/>
            <a:chOff x="952237" y="2762119"/>
            <a:chExt cx="5143500" cy="2251316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7A41767-F750-90F7-196E-2861C5B71B19}"/>
                </a:ext>
              </a:extLst>
            </p:cNvPr>
            <p:cNvCxnSpPr/>
            <p:nvPr/>
          </p:nvCxnSpPr>
          <p:spPr bwMode="auto">
            <a:xfrm>
              <a:off x="9522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C542FE99-35F4-6C37-9C31-522AA5D4BB0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237" y="5013435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482680B-F11C-6C6A-DF8B-3907C1F6D620}"/>
                </a:ext>
              </a:extLst>
            </p:cNvPr>
            <p:cNvCxnSpPr/>
            <p:nvPr/>
          </p:nvCxnSpPr>
          <p:spPr bwMode="auto">
            <a:xfrm flipV="1">
              <a:off x="3922460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47B5EA6-400F-93A5-3123-09AABC37CE1E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E5C28ADC-295F-DB67-81BB-2F5D79407CF5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F77E7E4-0A57-4B37-FA81-4FAA1D6867BA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5FCAC72-753D-EA8E-2287-5D183E67BD6C}"/>
                </a:ext>
              </a:extLst>
            </p:cNvPr>
            <p:cNvSpPr txBox="1"/>
            <p:nvPr/>
          </p:nvSpPr>
          <p:spPr>
            <a:xfrm>
              <a:off x="1434531" y="3057050"/>
              <a:ext cx="2402535" cy="1073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4</a:t>
              </a:r>
            </a:p>
            <a:p>
              <a:r>
                <a:rPr lang="en-US" altLang="zh-CN" sz="1050" dirty="0"/>
                <a:t>(a+3*(</a:t>
              </a:r>
              <a:r>
                <a:rPr lang="en-US" altLang="zh-CN" sz="1050" dirty="0" err="1"/>
                <a:t>b+c</a:t>
              </a:r>
              <a:r>
                <a:rPr lang="en-US" altLang="zh-CN" sz="1050" dirty="0"/>
                <a:t>)-5)</a:t>
              </a:r>
            </a:p>
            <a:p>
              <a:r>
                <a:rPr lang="en-US" altLang="zh-CN" sz="2000" dirty="0"/>
                <a:t>a</a:t>
              </a:r>
              <a:endParaRPr lang="en-US" altLang="zh-CN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247D16C-8EE4-21E6-C3CD-50336BD438AA}"/>
                </a:ext>
              </a:extLst>
            </p:cNvPr>
            <p:cNvSpPr txBox="1"/>
            <p:nvPr/>
          </p:nvSpPr>
          <p:spPr>
            <a:xfrm>
              <a:off x="4824009" y="3031709"/>
              <a:ext cx="696813" cy="82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%</a:t>
              </a:r>
            </a:p>
            <a:p>
              <a:r>
                <a:rPr lang="en-US" altLang="zh-CN" dirty="0"/>
                <a:t>+</a:t>
              </a:r>
            </a:p>
          </p:txBody>
        </p:sp>
      </p:grpSp>
      <p:sp>
        <p:nvSpPr>
          <p:cNvPr id="33" name="箭头: 右 32">
            <a:extLst>
              <a:ext uri="{FF2B5EF4-FFF2-40B4-BE49-F238E27FC236}">
                <a16:creationId xmlns:a16="http://schemas.microsoft.com/office/drawing/2014/main" id="{BBD1D10D-B5D6-189B-B564-ACAC371F35C2}"/>
              </a:ext>
            </a:extLst>
          </p:cNvPr>
          <p:cNvSpPr/>
          <p:nvPr/>
        </p:nvSpPr>
        <p:spPr bwMode="auto">
          <a:xfrm>
            <a:off x="3771112" y="4100801"/>
            <a:ext cx="385959" cy="4063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431BE88D-E606-9CF3-7B5A-006D7F058D2E}"/>
              </a:ext>
            </a:extLst>
          </p:cNvPr>
          <p:cNvSpPr/>
          <p:nvPr/>
        </p:nvSpPr>
        <p:spPr bwMode="auto">
          <a:xfrm>
            <a:off x="6773908" y="3999549"/>
            <a:ext cx="385959" cy="4063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8506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、求复合赋值表达式的值（要求给出计算过程、每步计算结果中变量的值、对应的验证程序及结果截图，示例见下）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5, n = 12;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a += n</a:t>
            </a:r>
          </a:p>
          <a:p>
            <a:r>
              <a:rPr lang="en-US" altLang="zh-CN" sz="1600" b="1" dirty="0">
                <a:latin typeface="+mn-ea"/>
              </a:rPr>
              <a:t> =&gt; a = a + n</a:t>
            </a:r>
          </a:p>
          <a:p>
            <a:r>
              <a:rPr lang="en-US" altLang="zh-CN" sz="1600" b="1" dirty="0">
                <a:latin typeface="+mn-ea"/>
              </a:rPr>
              <a:t> (1) a + n      a=5  n=12  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和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17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存放在中间变量中</a:t>
            </a:r>
            <a:endParaRPr lang="en-US" altLang="zh-CN" sz="1600" b="1" dirty="0">
              <a:solidFill>
                <a:schemeClr val="accent3">
                  <a:lumMod val="95000"/>
                </a:schemeClr>
              </a:solidFill>
              <a:highlight>
                <a:srgbClr val="FF00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(2) a = </a:t>
            </a:r>
            <a:r>
              <a:rPr lang="zh-CN" altLang="en-US" sz="1600" b="1" dirty="0">
                <a:latin typeface="+mn-ea"/>
              </a:rPr>
              <a:t>和     </a:t>
            </a:r>
            <a:r>
              <a:rPr lang="en-US" altLang="zh-CN" sz="1600" b="1" dirty="0">
                <a:latin typeface="+mn-ea"/>
              </a:rPr>
              <a:t>a=17 n=12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1E53777-AE1B-4B81-88B0-298B68D70CEC}"/>
              </a:ext>
            </a:extLst>
          </p:cNvPr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F325C80-1866-4990-A57C-B42CBAC9F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23" y="2717750"/>
            <a:ext cx="7742857" cy="27047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4227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7, n = 11;</a:t>
            </a:r>
          </a:p>
          <a:p>
            <a:endParaRPr lang="en-US" altLang="zh-CN" sz="1600" b="1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pt-BR" altLang="zh-CN" sz="1600" b="1" dirty="0">
                <a:latin typeface="+mn-ea"/>
              </a:rPr>
              <a:t>a +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pt-BR" altLang="zh-CN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a – n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zh-CN" sz="1600" b="1" dirty="0">
                <a:latin typeface="+mn-ea"/>
              </a:rPr>
              <a:t>a = a + (a-n)</a:t>
            </a: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a-n		a=7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-4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a+(a-n)	a=7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	a=3 n=11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68C722-1AA6-840B-7042-54B596D0D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530" y="3429000"/>
            <a:ext cx="4148168" cy="23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10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7, n = 11;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n += a += 5</a:t>
            </a:r>
          </a:p>
          <a:p>
            <a:r>
              <a:rPr lang="en-US" altLang="zh-CN" sz="1600" b="1" dirty="0">
                <a:latin typeface="+mn-ea"/>
              </a:rPr>
              <a:t>=&gt;a=a+5; n=</a:t>
            </a:r>
            <a:r>
              <a:rPr lang="en-US" altLang="zh-CN" sz="1600" b="1" dirty="0" err="1">
                <a:latin typeface="+mn-ea"/>
              </a:rPr>
              <a:t>n+a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a+5		a=7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a=</a:t>
            </a:r>
            <a:r>
              <a:rPr lang="zh-CN" altLang="en-US" sz="1600" b="1" dirty="0">
                <a:solidFill>
                  <a:schemeClr val="accent3">
                    <a:lumMod val="95000"/>
                  </a:schemeClr>
                </a:solidFill>
                <a:highlight>
                  <a:srgbClr val="FF0000"/>
                </a:highlight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	a=12 n=11</a:t>
            </a: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 err="1">
                <a:latin typeface="+mn-ea"/>
              </a:rPr>
              <a:t>n+a</a:t>
            </a:r>
            <a:r>
              <a:rPr lang="en-US" altLang="zh-CN" sz="1600" b="1" dirty="0">
                <a:latin typeface="+mn-ea"/>
              </a:rPr>
              <a:t>		a=12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n=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	a=12 n=23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337FCF-99FB-8B78-C2C5-B2FE28323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233" y="3874450"/>
            <a:ext cx="4167218" cy="226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38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7, n = 11;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 += a += a *= a</a:t>
            </a:r>
          </a:p>
          <a:p>
            <a:r>
              <a:rPr lang="en-US" altLang="zh-CN" sz="1600" b="1" dirty="0">
                <a:latin typeface="+mn-ea"/>
              </a:rPr>
              <a:t>=&gt;a=a*</a:t>
            </a:r>
            <a:r>
              <a:rPr lang="en-US" altLang="zh-CN" sz="1600" b="1" dirty="0" err="1">
                <a:latin typeface="+mn-ea"/>
              </a:rPr>
              <a:t>a;a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en-US" altLang="zh-CN" sz="1600" b="1" dirty="0" err="1">
                <a:latin typeface="+mn-ea"/>
              </a:rPr>
              <a:t>a+a;a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en-US" altLang="zh-CN" sz="1600" b="1" dirty="0" err="1">
                <a:latin typeface="+mn-ea"/>
              </a:rPr>
              <a:t>a+a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a*a		a=7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49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积</a:t>
            </a:r>
            <a:r>
              <a:rPr lang="en-US" altLang="zh-CN" sz="1600" b="1" dirty="0">
                <a:latin typeface="+mn-ea"/>
              </a:rPr>
              <a:t>	a=49 n=11 </a:t>
            </a: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 err="1">
                <a:latin typeface="+mn-ea"/>
              </a:rPr>
              <a:t>a+a</a:t>
            </a:r>
            <a:r>
              <a:rPr lang="en-US" altLang="zh-CN" sz="1600" b="1" dirty="0">
                <a:latin typeface="+mn-ea"/>
              </a:rPr>
              <a:t>		a=49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98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	a=98 n=11 </a:t>
            </a: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 err="1">
                <a:latin typeface="+mn-ea"/>
              </a:rPr>
              <a:t>a+a</a:t>
            </a:r>
            <a:r>
              <a:rPr lang="en-US" altLang="zh-CN" sz="1600" b="1" dirty="0">
                <a:latin typeface="+mn-ea"/>
              </a:rPr>
              <a:t>		a=98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196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	a=196 n=11 </a:t>
            </a: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832D4B-5849-A8B2-C03A-C0B75AEE5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687" y="3691043"/>
            <a:ext cx="4452970" cy="241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04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>
                <a:latin typeface="+mn-ea"/>
              </a:rPr>
              <a:t>4</a:t>
            </a:r>
            <a:r>
              <a:rPr lang="zh-CN" altLang="en-US" sz="1600" b="1">
                <a:latin typeface="+mn-ea"/>
              </a:rPr>
              <a:t>、</a:t>
            </a:r>
            <a:r>
              <a:rPr lang="zh-CN" altLang="en-US" sz="1600" b="1" dirty="0">
                <a:latin typeface="+mn-ea"/>
              </a:rPr>
              <a:t>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6, n = 11;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 n %= a %= 3  </a:t>
            </a:r>
            <a:r>
              <a:rPr lang="zh-CN" altLang="en-US" sz="1600" b="1" dirty="0">
                <a:latin typeface="+mn-ea"/>
              </a:rPr>
              <a:t>本题需要解释，为什么编译不报错，但运行无输出、返回代码为负值、且运行时间比</a:t>
            </a:r>
            <a:r>
              <a:rPr lang="en-US" altLang="zh-CN" sz="1600" b="1" dirty="0">
                <a:latin typeface="+mn-ea"/>
              </a:rPr>
              <a:t>7.ABC</a:t>
            </a:r>
            <a:r>
              <a:rPr lang="zh-CN" altLang="en-US" sz="1600" b="1" dirty="0">
                <a:latin typeface="+mn-ea"/>
              </a:rPr>
              <a:t>长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（无法理解或说清楚原因的，给出合理猜测也可）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=&gt;a=a%3,a</a:t>
            </a:r>
            <a:r>
              <a:rPr lang="zh-CN" altLang="en-US" sz="1600" b="1" dirty="0">
                <a:latin typeface="+mn-ea"/>
              </a:rPr>
              <a:t>变成了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，然后</a:t>
            </a:r>
            <a:r>
              <a:rPr lang="en-US" altLang="zh-CN" sz="1600" b="1" dirty="0">
                <a:latin typeface="+mn-ea"/>
              </a:rPr>
              <a:t>n=</a:t>
            </a:r>
            <a:r>
              <a:rPr lang="en-US" altLang="zh-CN" sz="1600" b="1" dirty="0" err="1">
                <a:latin typeface="+mn-ea"/>
              </a:rPr>
              <a:t>n%a</a:t>
            </a:r>
            <a:r>
              <a:rPr lang="zh-CN" altLang="en-US" sz="1600" b="1" dirty="0">
                <a:latin typeface="+mn-ea"/>
              </a:rPr>
              <a:t>，即</a:t>
            </a:r>
            <a:r>
              <a:rPr lang="en-US" altLang="zh-CN" sz="1600" b="1" dirty="0">
                <a:latin typeface="+mn-ea"/>
              </a:rPr>
              <a:t>n=n%0</a:t>
            </a:r>
            <a:r>
              <a:rPr lang="zh-CN" altLang="en-US" sz="1600" b="1" dirty="0">
                <a:latin typeface="+mn-ea"/>
              </a:rPr>
              <a:t>，除数不能为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，运算无意义，因此运行无输出。但是不会报错，返回代码是一个未定义的数值。由于对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取模是一个错误计算，计算机处理的时候需要进行额外的计算，因此运行时间比一般的计算长。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68FE9F-029B-4DB4-96DB-BBBE26D0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27" y="2855427"/>
            <a:ext cx="9580952" cy="37333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7283419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1363</TotalTime>
  <Words>3665</Words>
  <Application>Microsoft Office PowerPoint</Application>
  <PresentationFormat>宽屏</PresentationFormat>
  <Paragraphs>396</Paragraphs>
  <Slides>27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Symbol</vt:lpstr>
      <vt:lpstr>Times New Roman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159</cp:revision>
  <dcterms:created xsi:type="dcterms:W3CDTF">2020-08-13T13:39:53Z</dcterms:created>
  <dcterms:modified xsi:type="dcterms:W3CDTF">2024-06-22T11:31:55Z</dcterms:modified>
</cp:coreProperties>
</file>