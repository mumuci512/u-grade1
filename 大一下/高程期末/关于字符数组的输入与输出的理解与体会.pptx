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990" r:id="rId2"/>
    <p:sldId id="992" r:id="rId3"/>
    <p:sldId id="993" r:id="rId4"/>
    <p:sldId id="994" r:id="rId5"/>
    <p:sldId id="995" r:id="rId6"/>
    <p:sldId id="996" r:id="rId7"/>
    <p:sldId id="997" r:id="rId8"/>
    <p:sldId id="998" r:id="rId9"/>
    <p:sldId id="999" r:id="rId10"/>
    <p:sldId id="1000" r:id="rId11"/>
    <p:sldId id="1001" r:id="rId12"/>
    <p:sldId id="1002" r:id="rId13"/>
    <p:sldId id="1003" r:id="rId14"/>
    <p:sldId id="1004" r:id="rId15"/>
    <p:sldId id="1005" r:id="rId16"/>
    <p:sldId id="1006" r:id="rId17"/>
    <p:sldId id="1007" r:id="rId18"/>
    <p:sldId id="1008" r:id="rId19"/>
    <p:sldId id="886" r:id="rId20"/>
    <p:sldId id="1009" r:id="rId21"/>
    <p:sldId id="1010" r:id="rId22"/>
    <p:sldId id="1011" r:id="rId23"/>
    <p:sldId id="1012" r:id="rId24"/>
    <p:sldId id="1013" r:id="rId25"/>
    <p:sldId id="1014" r:id="rId26"/>
    <p:sldId id="1015" r:id="rId27"/>
    <p:sldId id="1016" r:id="rId28"/>
    <p:sldId id="1017" r:id="rId29"/>
    <p:sldId id="1020" r:id="rId30"/>
    <p:sldId id="1019" r:id="rId31"/>
    <p:sldId id="1280" r:id="rId32"/>
    <p:sldId id="1281" r:id="rId33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3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4E512-F0DE-40DA-A281-500184A3244D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90452-1689-4497-A9A0-B842EEA687A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6D1469-C67C-43DD-86C4-BFFF7550F22B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FEC486-F6C5-4AAA-8960-E919FE3FCCA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3DCA4C-AF04-4244-A082-F134C26C2F6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191335-FFD6-4CC5-9B10-2218992F66C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18295-1FD1-4DA7-9F4F-48ED7ABBB11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58311-2B5E-4B54-A64F-80F748F0F7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463A07-5878-4175-8019-C3E8ECC8F15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66A801-E626-4839-9137-0EEA428EDCF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8B0799-F841-424A-B011-CEEF2562E9E3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C77222-3A9B-4630-963E-A75EDD7F2B5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A121C8-6AEF-4C3E-B3B5-FD8A0792709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smtClean="0"/>
            </a:lvl1pPr>
          </a:lstStyle>
          <a:p>
            <a:pPr>
              <a:defRPr/>
            </a:pPr>
            <a:fld id="{454C29BD-F113-4F65-8132-FD331AFC82F3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7" name="Picture 2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2268" y="5786"/>
            <a:ext cx="1183064" cy="1183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方式输入单个字符</a:t>
            </a:r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iostream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std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椭圆 8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4" name="AutoShape 4"/>
          <p:cNvSpPr/>
          <p:nvPr/>
        </p:nvSpPr>
        <p:spPr bwMode="auto">
          <a:xfrm>
            <a:off x="4147112" y="3331558"/>
            <a:ext cx="1513135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数组下标表示前有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规定后面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必须是变量的地址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2638" y="1193671"/>
            <a:ext cx="762343" cy="263070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4697" y="2210618"/>
            <a:ext cx="530554" cy="42729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方式输入单个字符</a:t>
            </a: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AutoShape 4"/>
          <p:cNvSpPr/>
          <p:nvPr/>
        </p:nvSpPr>
        <p:spPr bwMode="auto">
          <a:xfrm>
            <a:off x="4164696" y="3591154"/>
            <a:ext cx="1513135" cy="449134"/>
          </a:xfrm>
          <a:prstGeom prst="borderCallout1">
            <a:avLst>
              <a:gd name="adj1" fmla="val 5884"/>
              <a:gd name="adj2" fmla="val -2356"/>
              <a:gd name="adj3" fmla="val 240742"/>
              <a:gd name="adj4" fmla="val -95721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数组下标表示前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无取地址符号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9734" y="983094"/>
            <a:ext cx="767170" cy="283262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5232" y="2242868"/>
            <a:ext cx="642895" cy="41406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4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c%c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&amp;a[3], &amp;a[7]);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4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4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&amp;a[0]);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for(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4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4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4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并回车，输出是：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66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438" y="52212"/>
            <a:ext cx="752580" cy="40105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62900" y="2633932"/>
            <a:ext cx="38756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逐个输入：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("%c",&amp;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方式多次逐个输入时回车的处理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a[3] &gt;&gt; a[7];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a[0];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时，输入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AB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并回车，表现如何？没有反应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多按几次回车，表现如何？依旧没反应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最后再输入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并回车，则输出是：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3/4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得到结论：当多次逐个输入时，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C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方式处理回车的方式是</a:t>
            </a:r>
            <a:r>
              <a:rPr kumimoji="1" lang="en-US" altLang="zh-CN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</a:t>
            </a:r>
            <a:r>
              <a:rPr kumimoji="1"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直接读取回车并赋值到变量中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____________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方式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处理回车的方式是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回车代表当前输入结束，回车本身并不会被赋值到变量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_________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5116" y="567750"/>
            <a:ext cx="652712" cy="283521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094" y="736595"/>
            <a:ext cx="390287" cy="3571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zh-CN" altLang="en-US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回车是否在数组中？否</a:t>
            </a:r>
            <a:endParaRPr kumimoji="1" lang="en-US" altLang="zh-CN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后面的一个字符是什么？尾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0</a:t>
            </a: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9718" y="1115308"/>
            <a:ext cx="702977" cy="259980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5083" y="1794294"/>
            <a:ext cx="663194" cy="46065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6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120511" y="570390"/>
            <a:ext cx="3096344" cy="63864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1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1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一串数字，以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结尾，如果不到九个后面再输出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1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1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输入的字符的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ASCII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码，出现弹窗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______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定义的字符数组的长度</a:t>
            </a: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800199" cy="864096"/>
          </a:xfrm>
          <a:prstGeom prst="borderCallout1">
            <a:avLst>
              <a:gd name="adj1" fmla="val 5884"/>
              <a:gd name="adj2" fmla="val -2356"/>
              <a:gd name="adj3" fmla="val 168775"/>
              <a:gd name="adj4" fmla="val -7828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直接数组名，无下标，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规定，数组名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代表数组的起始地址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946" y="52212"/>
            <a:ext cx="749535" cy="2719552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5517" y="1138409"/>
            <a:ext cx="696657" cy="34290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3523" y="4674202"/>
            <a:ext cx="3170441" cy="212589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正确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、回车是否在数组中？否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后面的一个字符是什么？尾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0</a:t>
            </a: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553" y="704182"/>
            <a:ext cx="676611" cy="28739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687" y="2367802"/>
            <a:ext cx="618155" cy="3876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1.</a:t>
            </a:r>
            <a:r>
              <a:rPr lang="zh-CN" altLang="en-US" sz="1600" b="1" dirty="0">
                <a:latin typeface="+mn-ea"/>
              </a:rPr>
              <a:t>输入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scanf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cin</a:t>
            </a:r>
            <a:r>
              <a:rPr lang="en-US" altLang="zh-CN" sz="1600" b="1" dirty="0">
                <a:latin typeface="+mn-ea"/>
              </a:rPr>
              <a:t> &gt;&gt; </a:t>
            </a:r>
            <a:r>
              <a:rPr lang="zh-CN" altLang="en-US" sz="1600" b="1" dirty="0">
                <a:latin typeface="+mn-ea"/>
              </a:rPr>
              <a:t>数组名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  <a:endParaRPr lang="en-US" altLang="zh-CN" sz="1600" b="1" dirty="0">
              <a:solidFill>
                <a:srgbClr val="FF0000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方式输入字符串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错误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077471" y="552091"/>
            <a:ext cx="3096344" cy="63864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前首先输出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10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行，内容是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等待键盘输入：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100" b="1" dirty="0">
                <a:solidFill>
                  <a:srgbClr val="FF0000"/>
                </a:solidFill>
                <a:latin typeface="+mn-ea"/>
              </a:rPr>
              <a:t>9</a:t>
            </a:r>
            <a:r>
              <a:rPr kumimoji="1" lang="zh-CN" altLang="en-US" sz="1100" b="1" dirty="0">
                <a:solidFill>
                  <a:srgbClr val="FF0000"/>
                </a:solidFill>
                <a:latin typeface="+mn-ea"/>
              </a:rPr>
              <a:t>个及以内字符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一串数字，以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0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结尾，如果不到九个后面再输出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测试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100" b="1" dirty="0">
                <a:solidFill>
                  <a:srgbClr val="FF0000"/>
                </a:solidFill>
                <a:latin typeface="+mn-ea"/>
              </a:rPr>
              <a:t>10</a:t>
            </a:r>
            <a:r>
              <a:rPr kumimoji="1" lang="zh-CN" altLang="en-US" sz="1100" b="1" dirty="0">
                <a:solidFill>
                  <a:srgbClr val="FF0000"/>
                </a:solidFill>
                <a:latin typeface="+mn-ea"/>
              </a:rPr>
              <a:t>个及以上字符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并回车，输出？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97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输入的字符的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ASCII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码，出现弹窗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问：如果要保证输入正确，输入的字符个数</a:t>
            </a:r>
            <a:endParaRPr kumimoji="1" lang="en-US" altLang="zh-CN" sz="1100" b="1" dirty="0">
              <a:solidFill>
                <a:srgbClr val="000000"/>
              </a:solidFill>
              <a:latin typeface="+mn-ea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要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___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小于</a:t>
            </a:r>
            <a:r>
              <a:rPr kumimoji="1" lang="en-US" altLang="zh-CN" sz="1100" b="1" dirty="0">
                <a:solidFill>
                  <a:srgbClr val="000000"/>
                </a:solidFill>
                <a:latin typeface="+mn-ea"/>
              </a:rPr>
              <a:t>_______</a:t>
            </a:r>
            <a:r>
              <a:rPr kumimoji="1" lang="zh-CN" altLang="en-US" sz="1100" b="1" dirty="0">
                <a:solidFill>
                  <a:srgbClr val="000000"/>
                </a:solidFill>
                <a:latin typeface="+mn-ea"/>
              </a:rPr>
              <a:t>定义的字符数组的长度</a:t>
            </a:r>
          </a:p>
        </p:txBody>
      </p:sp>
      <p:sp>
        <p:nvSpPr>
          <p:cNvPr id="9" name="AutoShape 4"/>
          <p:cNvSpPr/>
          <p:nvPr/>
        </p:nvSpPr>
        <p:spPr bwMode="auto">
          <a:xfrm>
            <a:off x="3962476" y="3331558"/>
            <a:ext cx="1620639" cy="493096"/>
          </a:xfrm>
          <a:prstGeom prst="borderCallout1">
            <a:avLst>
              <a:gd name="adj1" fmla="val 5884"/>
              <a:gd name="adj2" fmla="val -2356"/>
              <a:gd name="adj3" fmla="val 277543"/>
              <a:gd name="adj4" fmla="val -116808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直接数组名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无下标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也不加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374" y="162560"/>
            <a:ext cx="524514" cy="254275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904" y="1222824"/>
            <a:ext cx="659849" cy="3178136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2088" y="4636920"/>
            <a:ext cx="2973000" cy="21167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方式输出单个字符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长度缺省为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("%c*\n", a[5]);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a[3]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*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是为了确认只输出了一个字符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+mn-ea"/>
              </a:rPr>
              <a:t>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+mn-ea"/>
              </a:rPr>
              <a:t>n*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+mn-ea"/>
              </a:rPr>
              <a:t>d*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91" y="2354437"/>
            <a:ext cx="4067743" cy="16671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7" name="椭圆 6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" name="AutoShape 4"/>
          <p:cNvSpPr/>
          <p:nvPr/>
        </p:nvSpPr>
        <p:spPr bwMode="auto">
          <a:xfrm>
            <a:off x="3506094" y="3001961"/>
            <a:ext cx="1944216" cy="504056"/>
          </a:xfrm>
          <a:prstGeom prst="borderCallout1">
            <a:avLst>
              <a:gd name="adj1" fmla="val 11671"/>
              <a:gd name="adj2" fmla="val -2356"/>
              <a:gd name="adj3" fmla="val 211514"/>
              <a:gd name="adj4" fmla="val -52469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缺省长度为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[0]-[6]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，尾零不输出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735" y="2373223"/>
            <a:ext cx="4077269" cy="12574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逐个：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("%c",</a:t>
            </a:r>
            <a:r>
              <a:rPr lang="zh-CN" altLang="en-US" sz="1600" b="1" dirty="0">
                <a:latin typeface="+mn-ea"/>
              </a:rPr>
              <a:t>数组元素</a:t>
            </a:r>
            <a:r>
              <a:rPr lang="en-US" altLang="zh-CN" sz="1600" b="1" dirty="0">
                <a:latin typeface="+mn-ea"/>
              </a:rPr>
              <a:t>)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数组元素         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方式以单个字符</a:t>
            </a:r>
            <a:r>
              <a:rPr lang="en-US" altLang="zh-CN" sz="1600" b="1" dirty="0">
                <a:latin typeface="+mn-ea"/>
              </a:rPr>
              <a:t>+</a:t>
            </a:r>
            <a:r>
              <a:rPr lang="zh-CN" altLang="en-US" sz="1600" b="1" dirty="0">
                <a:latin typeface="+mn-ea"/>
              </a:rPr>
              <a:t>循环形式输出整个数组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("%c,",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&lt;7;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 &lt;&lt; '*';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 //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换行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solidFill>
                  <a:srgbClr val="000000"/>
                </a:solidFill>
                <a:latin typeface="+mn-ea"/>
              </a:rPr>
              <a:t>S,t,u,d,e,n,t,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pt-BR" altLang="zh-CN" sz="1600" b="1" dirty="0">
                <a:solidFill>
                  <a:srgbClr val="000000"/>
                </a:solidFill>
                <a:latin typeface="+mn-ea"/>
              </a:rPr>
              <a:t>S*t*u*d*e*n*t*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75970" y="3206001"/>
            <a:ext cx="2160240" cy="2068030"/>
            <a:chOff x="6804248" y="4381155"/>
            <a:chExt cx="2160240" cy="2068030"/>
          </a:xfrm>
        </p:grpSpPr>
        <p:sp>
          <p:nvSpPr>
            <p:cNvPr id="13" name="AutoShape 4"/>
            <p:cNvSpPr/>
            <p:nvPr/>
          </p:nvSpPr>
          <p:spPr bwMode="auto">
            <a:xfrm>
              <a:off x="7524328" y="4381155"/>
              <a:ext cx="1440160" cy="646088"/>
            </a:xfrm>
            <a:prstGeom prst="borderCallout1">
              <a:avLst>
                <a:gd name="adj1" fmla="val 11671"/>
                <a:gd name="adj2" fmla="val -2356"/>
                <a:gd name="adj3" fmla="val 187764"/>
                <a:gd name="adj4" fmla="val -101718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%c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,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 err="1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cout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方式每个字符</a:t>
              </a:r>
              <a:endPara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后面多一个</a:t>
              </a: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*</a:t>
              </a:r>
              <a:endPara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cxnSp>
          <p:nvCxnSpPr>
            <p:cNvPr id="14" name="直接连接符 13"/>
            <p:cNvCxnSpPr>
              <a:stCxn id="13" idx="2"/>
            </p:cNvCxnSpPr>
            <p:nvPr/>
          </p:nvCxnSpPr>
          <p:spPr bwMode="auto">
            <a:xfrm flipH="1">
              <a:off x="6804248" y="4704199"/>
              <a:ext cx="720080" cy="174498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511" y="2380795"/>
            <a:ext cx="4191585" cy="137179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12" name="椭圆 11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问：尾零输出了吗？如何证明？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没有。在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&lt;&lt; a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以后再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一个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。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在新版控制台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新宋体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28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、旧版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控制台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新宋体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28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、旧版控制台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新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宋体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16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等不同的情况下输出，发现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以后都没有输出任何东西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就直接输出了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*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，说明很可能没有输出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2860313" y="2679333"/>
            <a:ext cx="2353602" cy="1042135"/>
            <a:chOff x="1763688" y="2566885"/>
            <a:chExt cx="2353602" cy="1042135"/>
          </a:xfrm>
        </p:grpSpPr>
        <p:sp>
          <p:nvSpPr>
            <p:cNvPr id="10" name="AutoShape 4"/>
            <p:cNvSpPr/>
            <p:nvPr/>
          </p:nvSpPr>
          <p:spPr bwMode="auto">
            <a:xfrm>
              <a:off x="2821146" y="2566885"/>
              <a:ext cx="1296144" cy="502073"/>
            </a:xfrm>
            <a:prstGeom prst="borderCallout1">
              <a:avLst>
                <a:gd name="adj1" fmla="val 5884"/>
                <a:gd name="adj2" fmla="val -2356"/>
                <a:gd name="adj3" fmla="val 265985"/>
                <a:gd name="adj4" fmla="val -13588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跟数组名</a:t>
              </a:r>
            </a:p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1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不是数组元素名</a:t>
              </a:r>
            </a:p>
          </p:txBody>
        </p:sp>
        <p:cxnSp>
          <p:nvCxnSpPr>
            <p:cNvPr id="11" name="直接连接符 10"/>
            <p:cNvCxnSpPr>
              <a:stCxn id="10" idx="2"/>
            </p:cNvCxnSpPr>
            <p:nvPr/>
          </p:nvCxnSpPr>
          <p:spPr bwMode="auto">
            <a:xfrm flipH="1">
              <a:off x="1763688" y="2817922"/>
              <a:ext cx="1057458" cy="791098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373" y="2230184"/>
            <a:ext cx="4248743" cy="14003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a[]="Student\0china";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sizeof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("%s*\n",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'*'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a[12] &lt;&lt;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14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Student*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：从本例的结果可知，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数组</a:t>
            </a:r>
            <a:r>
              <a:rPr kumimoji="1"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的长度是</a:t>
            </a:r>
            <a:r>
              <a:rPr kumimoji="1"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___14___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</a:t>
            </a:r>
            <a:endParaRPr kumimoji="1" lang="en-US" altLang="zh-CN" sz="28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  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最后是否还有隐含的</a:t>
            </a:r>
            <a:r>
              <a:rPr kumimoji="1"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\0</a:t>
            </a:r>
            <a:r>
              <a:rPr kumimoji="1"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？有</a:t>
            </a:r>
            <a:endParaRPr kumimoji="1" lang="en-US" altLang="zh-CN" sz="28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中的字符串的长度是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__7__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：字符串形式输出字符数组，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如果数组中包含显式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'\0'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则输出到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___\0___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为止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zh-CN" altLang="en-US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8644" y="1586946"/>
            <a:ext cx="4220164" cy="192431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14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注意：不能以字符串方式初始化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a[5]={'C','h','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','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n','a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'};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096000" y="1830434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書欂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???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China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書欂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a[5]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中没有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，输出字符串时输出到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为止，所以一直在输出乱字符直到碰巧遇到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：如果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%s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方式换成下面形式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for 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&lt;5;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("%c", 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还会看到乱字符吗？为什么？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不会，因为以一个字符一个字符的方式输出，不需要碰到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就能停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止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377" y="2564017"/>
            <a:ext cx="4077269" cy="12479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2.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字符串形式：</a:t>
            </a:r>
            <a:r>
              <a:rPr lang="en-US" altLang="zh-CN" sz="1600" b="1" dirty="0" err="1">
                <a:latin typeface="+mn-ea"/>
              </a:rPr>
              <a:t>printf</a:t>
            </a:r>
            <a:r>
              <a:rPr lang="en-US" altLang="zh-CN" sz="1600" b="1" dirty="0">
                <a:latin typeface="+mn-ea"/>
              </a:rPr>
              <a:t>("%s",</a:t>
            </a:r>
            <a:r>
              <a:rPr lang="zh-CN" altLang="en-US" sz="1600" b="1" dirty="0">
                <a:latin typeface="+mn-ea"/>
              </a:rPr>
              <a:t>数组名</a:t>
            </a:r>
            <a:r>
              <a:rPr lang="en-US" altLang="zh-CN" sz="1600" b="1" dirty="0">
                <a:latin typeface="+mn-ea"/>
              </a:rPr>
              <a:t>)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       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zh-CN" altLang="en-US" sz="1600" b="1" dirty="0">
                <a:latin typeface="+mn-ea"/>
              </a:rPr>
              <a:t>数组名     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C++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方式</a:t>
            </a: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15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C/C++</a:t>
            </a:r>
            <a:r>
              <a:rPr lang="zh-CN" altLang="en-US" sz="1600" b="1" dirty="0">
                <a:latin typeface="+mn-ea"/>
              </a:rPr>
              <a:t>以字符串方式输出字符数组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不含尾零</a:t>
            </a:r>
            <a:r>
              <a:rPr lang="en-US" altLang="zh-CN" sz="1600" b="1" dirty="0">
                <a:latin typeface="+mn-ea"/>
              </a:rPr>
              <a:t>)</a:t>
            </a:r>
            <a:endParaRPr lang="zh-CN" altLang="en-US" sz="1600" b="1" dirty="0">
              <a:latin typeface="+mn-ea"/>
            </a:endParaRP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a[5];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不初始化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齩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烫烫烫烫烫烫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?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齩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：为什么会有乱字符？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没有初始化，一直输出乱字符直到碰到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：乱字符出现几行是正常的？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一行？多行？或者都正常？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都正常，取决于哪里会碰巧遇到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结论：不能字符串形式输出不含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__\0____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的字符数组，否则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可能会得到不正确的结果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5177" y="2091229"/>
            <a:ext cx="4163006" cy="19624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16</a:t>
            </a:r>
            <a:r>
              <a:rPr lang="zh-CN" altLang="en-US" sz="1600" b="1" dirty="0">
                <a:latin typeface="+mn-ea"/>
              </a:rPr>
              <a:t>：从任一元素开始以字符串形式输出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238066" y="2545210"/>
            <a:ext cx="3091200" cy="1656184"/>
            <a:chOff x="3143673" y="2852936"/>
            <a:chExt cx="3091200" cy="1656184"/>
          </a:xfrm>
        </p:grpSpPr>
        <p:sp>
          <p:nvSpPr>
            <p:cNvPr id="6" name="AutoShape 4"/>
            <p:cNvSpPr/>
            <p:nvPr/>
          </p:nvSpPr>
          <p:spPr bwMode="auto">
            <a:xfrm>
              <a:off x="4742391" y="2852936"/>
              <a:ext cx="648072" cy="286050"/>
            </a:xfrm>
            <a:prstGeom prst="borderCallout1">
              <a:avLst>
                <a:gd name="adj1" fmla="val 5884"/>
                <a:gd name="adj2" fmla="val -2356"/>
                <a:gd name="adj3" fmla="val 415312"/>
                <a:gd name="adj4" fmla="val -249976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%s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形式</a:t>
              </a:r>
            </a:p>
          </p:txBody>
        </p:sp>
        <p:sp>
          <p:nvSpPr>
            <p:cNvPr id="7" name="AutoShape 4"/>
            <p:cNvSpPr/>
            <p:nvPr/>
          </p:nvSpPr>
          <p:spPr bwMode="auto">
            <a:xfrm>
              <a:off x="4772051" y="3442501"/>
              <a:ext cx="1462822" cy="346540"/>
            </a:xfrm>
            <a:prstGeom prst="borderCallout1">
              <a:avLst>
                <a:gd name="adj1" fmla="val 5884"/>
                <a:gd name="adj2" fmla="val -2356"/>
                <a:gd name="adj3" fmla="val 155055"/>
                <a:gd name="adj4" fmla="val -66747"/>
              </a:avLst>
            </a:prstGeom>
            <a:noFill/>
            <a:ln w="9525">
              <a:solidFill>
                <a:srgbClr val="FF0000"/>
              </a:solidFill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&amp;</a:t>
              </a:r>
              <a:r>
                <a:rPr kumimoji="1" lang="zh-CN" altLang="en-US" sz="1200" b="1" dirty="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数组元素名形式</a:t>
              </a:r>
            </a:p>
          </p:txBody>
        </p:sp>
        <p:cxnSp>
          <p:nvCxnSpPr>
            <p:cNvPr id="8" name="直接连接符 7"/>
            <p:cNvCxnSpPr/>
            <p:nvPr/>
          </p:nvCxnSpPr>
          <p:spPr bwMode="auto">
            <a:xfrm flipH="1">
              <a:off x="3143673" y="3559514"/>
              <a:ext cx="1617999" cy="94960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0" name="椭圆 9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a[]="Student";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("%s\n", &amp;a[3]);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&amp;a[3]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dent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0511" y="2424124"/>
            <a:ext cx="4105848" cy="11241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17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&amp;a[3]);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7" name="AutoShape 4"/>
          <p:cNvSpPr/>
          <p:nvPr/>
        </p:nvSpPr>
        <p:spPr bwMode="auto">
          <a:xfrm>
            <a:off x="4091019" y="3750087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9577" y="1223178"/>
            <a:ext cx="863071" cy="270017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0827" y="2754702"/>
            <a:ext cx="777783" cy="35023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3.</a:t>
            </a:r>
            <a:r>
              <a:rPr lang="zh-CN" altLang="en-US" sz="1600" b="1" dirty="0">
                <a:latin typeface="+mn-ea"/>
              </a:rPr>
              <a:t>从任一元素开始以字符串形式输入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just" eaLnBrk="1" hangingPunct="1"/>
            <a:endParaRPr lang="zh-CN" altLang="en-US" sz="1600" b="1" dirty="0">
              <a:solidFill>
                <a:srgbClr val="FF3300"/>
              </a:solidFill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18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方式从任一元素开始以字符串形式输入</a:t>
            </a:r>
          </a:p>
          <a:p>
            <a:pPr algn="just" eaLnBrk="1" hangingPunct="1"/>
            <a:endParaRPr lang="zh-CN" altLang="en-US" sz="1600" b="1" dirty="0">
              <a:latin typeface="+mn-ea"/>
            </a:endParaRPr>
          </a:p>
        </p:txBody>
      </p:sp>
      <p:sp>
        <p:nvSpPr>
          <p:cNvPr id="8" name="椭圆 7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&amp;a[3];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&lt;10;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先输出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行，内容是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等待键盘输入，输入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Hello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并回车，输出为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72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108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111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</a:rPr>
              <a:t>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-52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</a:rPr>
              <a:t>用不同颜色标注出有变化的内容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16-18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的结果，得出的结论是：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C/C++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方式从任一元素开始以字符串形式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输入输出时，表示形式都是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__%s_ 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___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的形式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9" name="AutoShape 4"/>
          <p:cNvSpPr/>
          <p:nvPr/>
        </p:nvSpPr>
        <p:spPr bwMode="auto">
          <a:xfrm>
            <a:off x="3572273" y="3662164"/>
            <a:ext cx="1462822" cy="346540"/>
          </a:xfrm>
          <a:prstGeom prst="borderCallout1">
            <a:avLst>
              <a:gd name="adj1" fmla="val 5884"/>
              <a:gd name="adj2" fmla="val -2356"/>
              <a:gd name="adj3" fmla="val 300957"/>
              <a:gd name="adj4" fmla="val -97634"/>
            </a:avLst>
          </a:prstGeom>
          <a:noFill/>
          <a:ln w="9525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数组元素名形式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3709" y="1113617"/>
            <a:ext cx="700383" cy="2504023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687" y="2364961"/>
            <a:ext cx="739835" cy="373811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67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基础知识题 </a:t>
            </a:r>
            <a:r>
              <a:rPr lang="en-US" altLang="zh-CN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- 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1-3.</a:t>
            </a:r>
            <a:r>
              <a:rPr lang="zh-CN" altLang="en-US" sz="1600" b="1" dirty="0">
                <a:latin typeface="+mn-ea"/>
              </a:rPr>
              <a:t>总结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完成下表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给出了第一行的答案供参考</a:t>
            </a:r>
            <a:r>
              <a:rPr lang="en-US" altLang="zh-CN" sz="1600" b="1" dirty="0">
                <a:latin typeface="+mn-ea"/>
              </a:rPr>
              <a:t>)</a:t>
            </a:r>
            <a:r>
              <a:rPr lang="zh-CN" altLang="en-US" sz="1600" b="1" dirty="0">
                <a:latin typeface="+mn-ea"/>
              </a:rPr>
              <a:t>：</a:t>
            </a:r>
          </a:p>
        </p:txBody>
      </p:sp>
      <p:graphicFrame>
        <p:nvGraphicFramePr>
          <p:cNvPr id="3" name="Group 54"/>
          <p:cNvGraphicFramePr>
            <a:graphicFrameLocks noGrp="1"/>
          </p:cNvGraphicFramePr>
          <p:nvPr/>
        </p:nvGraphicFramePr>
        <p:xfrm>
          <a:off x="287061" y="1611217"/>
          <a:ext cx="6984776" cy="2374687"/>
        </p:xfrm>
        <a:graphic>
          <a:graphicData uri="http://schemas.openxmlformats.org/drawingml/2006/table">
            <a:tbl>
              <a:tblPr/>
              <a:tblGrid>
                <a:gridCol w="2088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1" lang="zh-CN" altLang="zh-CN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C++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方式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输入单个字符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("%c",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 &gt;&gt; </a:t>
                      </a: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输入字符串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(“%s”,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&gt;&gt;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输出单个字符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("%c",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输出字符串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(“%s”,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&lt;&lt; 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数组名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753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任一元素开始输入串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scanf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("%s",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cin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&gt;&gt;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29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任一元素开始输出串</a:t>
                      </a:r>
                    </a:p>
                  </a:txBody>
                  <a:tcPr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printf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("%s",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)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1" lang="en-US" altLang="zh-CN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cout</a:t>
                      </a:r>
                      <a:r>
                        <a:rPr kumimoji="1" lang="en-US" altLang="zh-CN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 &lt;&lt; &amp;</a:t>
                      </a:r>
                      <a:r>
                        <a:rPr kumimoji="1" lang="zh-CN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元素名</a:t>
                      </a:r>
                    </a:p>
                  </a:txBody>
                  <a:tcPr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椭圆 4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2FE842D-1802-D780-48DE-8195FFD2FD22}"/>
              </a:ext>
            </a:extLst>
          </p:cNvPr>
          <p:cNvSpPr txBox="1"/>
          <p:nvPr/>
        </p:nvSpPr>
        <p:spPr>
          <a:xfrm>
            <a:off x="2863970" y="4198189"/>
            <a:ext cx="1063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字符串是</a:t>
            </a:r>
            <a:r>
              <a:rPr lang="en-US" altLang="zh-CN" dirty="0"/>
              <a:t>s</a:t>
            </a:r>
            <a:r>
              <a:rPr lang="zh-CN" altLang="en-US" dirty="0"/>
              <a:t>，字符是</a:t>
            </a:r>
            <a:r>
              <a:rPr lang="en-US" altLang="zh-CN" dirty="0"/>
              <a:t>c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844E02F-E35F-9308-FCAF-696EB91E4EB2}"/>
              </a:ext>
            </a:extLst>
          </p:cNvPr>
          <p:cNvSpPr txBox="1"/>
          <p:nvPr/>
        </p:nvSpPr>
        <p:spPr>
          <a:xfrm>
            <a:off x="5043577" y="4324709"/>
            <a:ext cx="10639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字符串是地址，字符是元素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19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</a:t>
            </a:r>
            <a:r>
              <a:rPr lang="zh-CN" altLang="en-US" sz="1600" b="1" dirty="0">
                <a:latin typeface="+mn-ea"/>
              </a:rPr>
              <a:t>方式多个字符串的输入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s%s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 a, 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("%s-%s\n", a, b);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-def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-def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结论：空格是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____B_____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输入分隔符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3990" y="2583878"/>
            <a:ext cx="3345729" cy="10294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848" y="4427923"/>
            <a:ext cx="2780544" cy="106896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20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C++</a:t>
            </a:r>
            <a:r>
              <a:rPr lang="zh-CN" altLang="en-US" sz="1600" b="1" dirty="0">
                <a:latin typeface="+mn-ea"/>
              </a:rPr>
              <a:t>方式多个字符串的输入</a:t>
            </a: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a &gt;&gt; b;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'-'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-def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、假设输入为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+mn-ea"/>
              </a:rPr>
              <a:t>abc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3300"/>
                </a:solidFill>
                <a:latin typeface="+mn-ea"/>
              </a:rPr>
              <a:t>    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+mn-ea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回车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-def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结论：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空格是</a:t>
            </a: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__B_______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 A.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输入串中的合法字符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 B.</a:t>
            </a:r>
            <a:r>
              <a:rPr kumimoji="1"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输入分隔符</a:t>
            </a:r>
            <a:endParaRPr kumimoji="1"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综合例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19-20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可知：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从键盘上输入的字符串</a:t>
            </a:r>
            <a:endParaRPr kumimoji="1" lang="en-US" altLang="zh-CN" sz="16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不能包含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</a:t>
            </a:r>
            <a:r>
              <a:rPr kumimoji="1" lang="zh-CN" altLang="en-US" sz="1600" b="1" dirty="0">
                <a:solidFill>
                  <a:srgbClr val="000000"/>
                </a:solidFill>
                <a:latin typeface="+mn-ea"/>
              </a:rPr>
              <a:t>空格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</a:rPr>
              <a:t>______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956" y="2216805"/>
            <a:ext cx="3361461" cy="103712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486" y="3633922"/>
            <a:ext cx="2667747" cy="10371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VS2022   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：有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gets_s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，无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gets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  有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fgets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   ● Dev C++   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：有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gets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  无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gets_s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，有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fgets</a:t>
            </a:r>
            <a:endParaRPr lang="en-US" altLang="zh-CN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● </a:t>
            </a:r>
            <a:r>
              <a:rPr lang="en-US" altLang="zh-CN" sz="1600" b="1" dirty="0" err="1">
                <a:latin typeface="+mn-ea"/>
              </a:rPr>
              <a:t>fgets</a:t>
            </a:r>
            <a:r>
              <a:rPr lang="zh-CN" altLang="en-US" sz="1600" b="1" dirty="0">
                <a:latin typeface="+mn-ea"/>
              </a:rPr>
              <a:t>函数的原型定义为：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    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fgets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(</a:t>
            </a:r>
            <a:r>
              <a:rPr lang="zh-CN" altLang="en-US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字符数组名，最大长度，</a:t>
            </a:r>
            <a:r>
              <a:rPr lang="en-US" altLang="zh-CN" sz="16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stdin</a:t>
            </a:r>
            <a:r>
              <a:rPr lang="en-US" altLang="zh-CN" sz="16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);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  </a:t>
            </a:r>
            <a:r>
              <a:rPr lang="zh-CN" altLang="en-US" sz="1600" b="1" dirty="0">
                <a:latin typeface="+mn-ea"/>
              </a:rPr>
              <a:t>但与</a:t>
            </a:r>
            <a:r>
              <a:rPr lang="en-US" altLang="zh-CN" sz="1600" b="1" dirty="0">
                <a:latin typeface="+mn-ea"/>
              </a:rPr>
              <a:t>gets/</a:t>
            </a:r>
            <a:r>
              <a:rPr lang="en-US" altLang="zh-CN" sz="1600" b="1" dirty="0" err="1">
                <a:latin typeface="+mn-ea"/>
              </a:rPr>
              <a:t>gets_s</a:t>
            </a:r>
            <a:r>
              <a:rPr lang="zh-CN" altLang="en-US" sz="1600" b="1" dirty="0">
                <a:latin typeface="+mn-ea"/>
              </a:rPr>
              <a:t>的表现有不同，请自行观察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solidFill>
                <a:schemeClr val="accent2"/>
              </a:solidFill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★ 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scanf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/</a:t>
            </a:r>
            <a:r>
              <a:rPr lang="en-US" altLang="zh-CN" sz="1600" b="1" dirty="0" err="1">
                <a:solidFill>
                  <a:schemeClr val="accent2"/>
                </a:solidFill>
                <a:latin typeface="+mn-ea"/>
              </a:rPr>
              <a:t>cin</a:t>
            </a:r>
            <a:r>
              <a:rPr lang="zh-CN" altLang="en-US" sz="1600" b="1" dirty="0">
                <a:solidFill>
                  <a:schemeClr val="accent2"/>
                </a:solidFill>
                <a:latin typeface="+mn-ea"/>
              </a:rPr>
              <a:t>通过某些高级设置方式还是可以输入含空格的字符串的，本课程不再讨论</a:t>
            </a:r>
            <a:endParaRPr lang="zh-CN" altLang="en-US" sz="1600" b="1" dirty="0">
              <a:latin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21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下用</a:t>
            </a:r>
            <a:r>
              <a:rPr lang="en-US" altLang="zh-CN" sz="28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gets_s</a:t>
            </a:r>
            <a:r>
              <a:rPr lang="zh-CN" altLang="en-US" sz="28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输入含空格的字符串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gets_s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因为要预留一个位置给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9487" y="2518837"/>
            <a:ext cx="2814385" cy="133830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7595" y="3313079"/>
            <a:ext cx="2452956" cy="186046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961" y="4466039"/>
            <a:ext cx="2272382" cy="174738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从键盘输入含空格字符串的方法</a:t>
            </a:r>
            <a:r>
              <a:rPr lang="en-US" altLang="zh-CN" sz="1600" b="1" dirty="0">
                <a:latin typeface="+mn-ea"/>
              </a:rPr>
              <a:t>(</a:t>
            </a:r>
            <a:r>
              <a:rPr lang="zh-CN" altLang="en-US" sz="1600" b="1" dirty="0">
                <a:latin typeface="+mn-ea"/>
              </a:rPr>
              <a:t>不同编译器不同</a:t>
            </a:r>
            <a:r>
              <a:rPr lang="en-US" altLang="zh-CN" sz="1600" b="1" dirty="0">
                <a:latin typeface="+mn-ea"/>
              </a:rPr>
              <a:t>)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22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 err="1">
                <a:latin typeface="+mn-ea"/>
              </a:rPr>
              <a:t>DevC</a:t>
            </a:r>
            <a:r>
              <a:rPr lang="en-US" altLang="zh-CN" sz="1600" b="1" dirty="0">
                <a:latin typeface="+mn-ea"/>
              </a:rPr>
              <a:t>++</a:t>
            </a:r>
            <a:r>
              <a:rPr lang="zh-CN" altLang="en-US" sz="1600" b="1" dirty="0">
                <a:latin typeface="+mn-ea"/>
              </a:rPr>
              <a:t>下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用</a:t>
            </a:r>
            <a:r>
              <a:rPr lang="en-US" altLang="zh-CN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gets</a:t>
            </a:r>
            <a:r>
              <a:rPr lang="zh-CN" altLang="en-US" sz="24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输入含空格的字符串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gets(a);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gets(b);</a:t>
            </a:r>
            <a:endParaRPr kumimoji="1" lang="en-US" altLang="zh-CN" sz="16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971909"/>
            <a:ext cx="3096344" cy="567146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6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没反应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、键盘先输入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Hello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再输入超过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个字符，观察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问：为什么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为什么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最长输入只能是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19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因为要预留一个位置给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3057" y="1720971"/>
            <a:ext cx="3096344" cy="12680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4003" y="3971424"/>
            <a:ext cx="5900299" cy="191466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4.</a:t>
            </a:r>
            <a:r>
              <a:rPr lang="zh-CN" altLang="en-US" sz="1600" b="1" dirty="0">
                <a:latin typeface="+mn-ea"/>
              </a:rPr>
              <a:t>多个字符串的输入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★ 不同编译器从键盘输入含空格字符串的方法不同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23</a:t>
            </a:r>
            <a:r>
              <a:rPr lang="zh-CN" altLang="en-US" sz="1600" b="1" dirty="0">
                <a:latin typeface="+mn-ea"/>
              </a:rPr>
              <a:t>：</a:t>
            </a:r>
            <a:r>
              <a:rPr lang="en-US" altLang="zh-CN" sz="1600" b="1" dirty="0">
                <a:latin typeface="+mn-ea"/>
              </a:rPr>
              <a:t>VS</a:t>
            </a:r>
            <a:r>
              <a:rPr lang="zh-CN" altLang="en-US" sz="1600" b="1" dirty="0">
                <a:latin typeface="+mn-ea"/>
              </a:rPr>
              <a:t>和</a:t>
            </a:r>
            <a:r>
              <a:rPr lang="en-US" altLang="zh-CN" sz="1600" b="1" dirty="0">
                <a:latin typeface="+mn-ea"/>
              </a:rPr>
              <a:t>Dev C++</a:t>
            </a:r>
            <a:r>
              <a:rPr lang="zh-CN" altLang="en-US" sz="1600" b="1" dirty="0">
                <a:latin typeface="+mn-ea"/>
              </a:rPr>
              <a:t>均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可用</a:t>
            </a:r>
            <a:r>
              <a:rPr lang="en-US" altLang="zh-CN" sz="2000" b="1" dirty="0" err="1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fgets</a:t>
            </a:r>
            <a:r>
              <a:rPr lang="zh-CN" altLang="en-US" sz="20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输入含空格的字符串</a:t>
            </a:r>
            <a:endParaRPr lang="zh-CN" altLang="en-US" sz="16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cstdio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a[10], b[20];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(a,10,stdin);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fgets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(b,20,stdin);</a:t>
            </a:r>
            <a:endParaRPr kumimoji="1" lang="en-US" altLang="zh-CN" sz="1200" b="1" dirty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a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b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int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int(a[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for(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=0; 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]!='\0';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++)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int(b[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]) &lt;&lt; ' ';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空格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def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会继续等待输入，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再输入</a:t>
            </a:r>
            <a:r>
              <a:rPr kumimoji="1" lang="en-US" altLang="zh-CN" sz="1200" b="1" dirty="0" err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2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def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xyz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97 98 99 32 100 101 102 10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120 121 122 10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：和例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21-22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的输出区别在哪里？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每个字符串的最后（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\0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前）都多了一个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ascii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码为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的回车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：后面两段红色代码的目的是什么？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分解观察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中的每一个字符分别是什么，使用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型输出可以保证看到每一个字符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fi-FI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aaaaaaaaa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fi-FI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fi-FI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fi-FI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97 97 97 97 97 97 97 97 97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fi-FI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fi-FI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jklmnopqrstuvwxyzaa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97 98 99 100 101 102 103 104 105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106 107 108 109 110 111 112 113 114 115 116 117 118 119 120 121 122 97 97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、如果输入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超过</a:t>
            </a:r>
            <a:r>
              <a:rPr kumimoji="1" lang="en-US" altLang="zh-CN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28</a:t>
            </a:r>
            <a:r>
              <a:rPr kumimoji="1" lang="zh-CN" altLang="en-US" sz="12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则输出为：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jklmnopqrstuvwxyzaa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97 98 99 100 101 102 103 104 105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106 107 108 109 110 111 112 113 114 115 116 117 118 119 120 121 122 97 97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3566" y="162560"/>
            <a:ext cx="2531350" cy="18585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1687" y="2933387"/>
            <a:ext cx="2088750" cy="121728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064" y="3793344"/>
            <a:ext cx="5926968" cy="1192319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462069" y="2784562"/>
            <a:ext cx="20858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Dev C++ </a:t>
            </a:r>
            <a:r>
              <a:rPr lang="zh-CN" altLang="en-US" dirty="0"/>
              <a:t>结果同</a:t>
            </a:r>
            <a:r>
              <a:rPr lang="en-US" altLang="zh-CN" dirty="0"/>
              <a:t>VS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724" y="5684033"/>
            <a:ext cx="4846308" cy="95933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24</a:t>
            </a:r>
            <a:r>
              <a:rPr lang="zh-CN" altLang="en-US" sz="1600" b="1" dirty="0">
                <a:latin typeface="+mn-ea"/>
              </a:rPr>
              <a:t>：二维字符数组以双下标形式输出单个字符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单下标形式输出字符串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单个字符输出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("a[0][2]=%c\n", a[0][2]);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"a[1][20]=" &lt;&lt; a[1][20]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  <a:endParaRPr kumimoji="1" lang="zh-CN" altLang="en-US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n",a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a[0][2]=C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a[1][20]=u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691" y="2445569"/>
            <a:ext cx="4753638" cy="191479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25</a:t>
            </a:r>
            <a:r>
              <a:rPr lang="zh-CN" altLang="en-US" sz="1600" b="1" dirty="0">
                <a:latin typeface="+mn-ea"/>
              </a:rPr>
              <a:t>：二维字符数组以双下标形式输入单个字符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单字符输入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双下标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("%c\n", &amp;a[0][2]);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格式符为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%c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cin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&gt;&gt; a[1][20];       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    // 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字符串输出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单下标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printf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("a[0]=%s\n", a[0]);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、键盘输入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@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并回车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a[0]=AB#DEFGHIJKLMNOPQRSTUVWXYZ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abcdefghijklmnopqrst@vwxyz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343" y="2222272"/>
            <a:ext cx="3506568" cy="10912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69" y="4578538"/>
            <a:ext cx="3353298" cy="132541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26</a:t>
            </a:r>
            <a:r>
              <a:rPr lang="zh-CN" altLang="en-US" sz="1600" b="1" dirty="0">
                <a:latin typeface="+mn-ea"/>
              </a:rPr>
              <a:t>：二维字符数组以单下标形式输入字符串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需要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("%s", a[1]);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//a[1]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是一维数组名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,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无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873105"/>
            <a:ext cx="3096344" cy="59326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、输入≤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a[2]=0123456789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30-59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a[0]=ABCDEFGHIJKLMNOPQRSTUVWXYZ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abcdefghijklmnopqrstuvwxyzaaaaaaaaaa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aaaaaa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60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个以上字符，输出为：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将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换为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&gt;&gt; a[1];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再重复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，观察结果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结果同上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30~59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个字符为什么不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出现错误？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输入时从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a[1]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的首地址开始赋值，以后的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60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个地址都是已经声明过的，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输入最多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59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的字符，预留了一个位置给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\0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，没有越界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a[2]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中是什么？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a[2]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中的是输入的字符去掉前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30</a:t>
            </a: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个后留下的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：简述你是怎么理解二维数组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越界的？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只有超过了整个二维数组的所占的地址才算越界，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无关乎二维数组中各个一维数组分别占什么地址</a:t>
            </a:r>
            <a:endParaRPr kumimoji="1" lang="en-US" altLang="zh-CN" sz="1200" b="1" dirty="0">
              <a:solidFill>
                <a:schemeClr val="bg1"/>
              </a:solidFill>
              <a:highlight>
                <a:srgbClr val="FF0000"/>
              </a:highlight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输入时只需在整个二维数组最后预留一个</a:t>
            </a:r>
            <a:r>
              <a:rPr kumimoji="1" lang="en-US" altLang="zh-CN" sz="1200" b="1" dirty="0">
                <a:solidFill>
                  <a:schemeClr val="bg1"/>
                </a:solidFill>
                <a:highlight>
                  <a:srgbClr val="FF0000"/>
                </a:highlight>
                <a:latin typeface="+mn-ea"/>
              </a:rPr>
              <a:t>\0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100" y="277776"/>
            <a:ext cx="2676345" cy="10393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1409" y="1317133"/>
            <a:ext cx="3323934" cy="10393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789" y="2315344"/>
            <a:ext cx="3645417" cy="2227298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601970" y="2783840"/>
            <a:ext cx="750252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a[0]=ABCDEFGHIJKLMNOPQRSTUVWXYZ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 ABCDEFGHIJKLMNOPQRSTUVWXYZABCDEFGHIJKLMNOPQRSTUVWXYZABCDEFGHIJKLMNOPQRSTUVWXYZ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 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EFGHIJKLMNOPQRSTUVWXYZABCDEFGHIJKLMNOPQRSTUVWXYZ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27</a:t>
            </a:r>
            <a:r>
              <a:rPr lang="zh-CN" altLang="en-US" sz="1600" b="1" dirty="0">
                <a:latin typeface="+mn-ea"/>
              </a:rPr>
              <a:t>：二维字符数组从任一位置开始输出字符串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abcdefghijklmnopqrstuvwxyz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1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组）单字符输出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("a[0][2]=%c\n", a[0][2]);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2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(&amp;+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双下标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zh-CN" altLang="en-US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("a[0][2]=%s\n", &amp;a[0][2]); </a:t>
            </a:r>
            <a:endParaRPr kumimoji="1" lang="zh-CN" altLang="zh-CN" sz="1200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"a[1][20]=" &lt;&lt; &amp;a[1][20]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     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FF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    //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（第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3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组）字符串输出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(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数组名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+</a:t>
            </a:r>
            <a:r>
              <a:rPr kumimoji="1" lang="zh-CN" altLang="en-US" sz="1200" b="1" dirty="0">
                <a:solidFill>
                  <a:srgbClr val="FF0000"/>
                </a:solidFill>
                <a:latin typeface="+mn-ea"/>
              </a:rPr>
              <a:t>单下标</a:t>
            </a:r>
            <a:r>
              <a:rPr kumimoji="1" lang="en-US" altLang="zh-CN" sz="1200" b="1" dirty="0">
                <a:solidFill>
                  <a:srgbClr val="FF0000"/>
                </a:solidFill>
                <a:latin typeface="+mn-ea"/>
              </a:rPr>
              <a:t>)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printf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("a[0]=%s\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n",a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[0]);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cout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&lt;&lt; "a[2]=" &lt;&lt; a[2] &lt;&lt;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+mn-ea"/>
              </a:rPr>
              <a:t>endl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}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1836812"/>
            <a:ext cx="3096344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输出为：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：同样双下标形式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1/2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怎样输出单个字符？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里使用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%c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，不加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里不加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怎样输出字符串？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里用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%s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里加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&amp;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：如何修改第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组的输出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(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必须保持双下标形式不变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使输出结果与第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组一致？</a:t>
            </a: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kumimoji="1" lang="pt-BR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printf("a[0]=%s\n", &amp;a[0][0]);</a:t>
            </a:r>
          </a:p>
          <a:p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"a[2]=" &lt;&lt; &amp;a[2][0]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524" y="1344261"/>
            <a:ext cx="5039428" cy="2553056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445119" y="2242867"/>
            <a:ext cx="3292415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a[0][2]=C</a:t>
            </a:r>
          </a:p>
          <a:p>
            <a:r>
              <a:rPr lang="en-US" altLang="zh-CN" sz="1050" dirty="0"/>
              <a:t>a[1][20]=u</a:t>
            </a:r>
          </a:p>
          <a:p>
            <a:r>
              <a:rPr lang="en-US" altLang="zh-CN" sz="1050" dirty="0"/>
              <a:t>a[0][2]=CDEFGHIJKLMNOPQRSTUVWXYZ</a:t>
            </a:r>
          </a:p>
          <a:p>
            <a:r>
              <a:rPr lang="en-US" altLang="zh-CN" sz="1050" dirty="0"/>
              <a:t>a[1][20]=</a:t>
            </a:r>
            <a:r>
              <a:rPr lang="en-US" altLang="zh-CN" sz="1050" dirty="0" err="1"/>
              <a:t>uvwxyz</a:t>
            </a:r>
            <a:endParaRPr lang="en-US" altLang="zh-CN" sz="1050" dirty="0"/>
          </a:p>
          <a:p>
            <a:r>
              <a:rPr lang="en-US" altLang="zh-CN" sz="1050" dirty="0"/>
              <a:t>a[0]=ABCDEFGHIJKLMNOPQRSTUVWXYZ</a:t>
            </a:r>
          </a:p>
          <a:p>
            <a:r>
              <a:rPr lang="en-US" altLang="zh-CN" sz="1050" dirty="0"/>
              <a:t>a[2]=0123456789</a:t>
            </a:r>
            <a:endParaRPr lang="zh-CN" alt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5.</a:t>
            </a:r>
            <a:r>
              <a:rPr lang="zh-CN" altLang="en-US" sz="1600" b="1" dirty="0">
                <a:latin typeface="+mn-ea"/>
              </a:rPr>
              <a:t>二维字符数组的输入</a:t>
            </a:r>
            <a:r>
              <a:rPr lang="en-US" altLang="zh-CN" sz="1600" b="1" dirty="0">
                <a:latin typeface="+mn-ea"/>
              </a:rPr>
              <a:t>/</a:t>
            </a:r>
            <a:r>
              <a:rPr lang="zh-CN" altLang="en-US" sz="1600" b="1" dirty="0">
                <a:latin typeface="+mn-ea"/>
              </a:rPr>
              <a:t>输出</a:t>
            </a:r>
          </a:p>
          <a:p>
            <a:pPr algn="l" eaLnBrk="1" hangingPunct="1"/>
            <a:r>
              <a:rPr lang="zh-CN" altLang="en-US" sz="1600" b="1" dirty="0">
                <a:latin typeface="+mn-ea"/>
              </a:rPr>
              <a:t>★ 数组名加双下标表示元素，单下标表示一维数组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28</a:t>
            </a:r>
            <a:r>
              <a:rPr lang="zh-CN" altLang="en-US" sz="1600" b="1" dirty="0">
                <a:latin typeface="+mn-ea"/>
              </a:rPr>
              <a:t>：二维字符数组从任一位置开始输入字符串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3" y="1836812"/>
            <a:ext cx="5211688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#define _CRT_SECURE_NO_WARNINGS  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//VS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需要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#include &lt;iostream&gt;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using namespace std;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int main()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char a[3][30]={"ABCDEFGHIJKLMNOPQRSTUVWXYZ",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",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              "0123456789" };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("%s", &amp;a[1][3]);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//&amp;+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数组名</a:t>
            </a:r>
            <a:r>
              <a:rPr kumimoji="1" lang="en-US" altLang="zh-CN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+</a:t>
            </a:r>
            <a:r>
              <a:rPr kumimoji="1" lang="zh-CN" altLang="en-US" sz="16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双下标</a:t>
            </a:r>
            <a:endParaRPr kumimoji="1" lang="en-US" altLang="zh-CN" sz="1600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"a[0]=" &lt;&lt; a[0]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"a[1]=" &lt;&lt; a[1]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cout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&lt;&lt; "a[2]=" &lt;&lt; a[2] &lt;&lt; </a:t>
            </a:r>
            <a:r>
              <a:rPr kumimoji="1" lang="en-US" altLang="zh-CN" sz="16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endl</a:t>
            </a: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return 0;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235343" y="595835"/>
            <a:ext cx="3096344" cy="58941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0123456789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27-56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56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个以上字符，输出为：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a[0]=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ABCDEFGHIJKLMNOPQRSTUVWXYZ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a[1]=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abcABCDEFGHIJKLMNOPQRSTUVWXYZABCDEFGHIJKLMNOPQRSTUVWXYZaaaaaa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a[2]=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BCDEFGHIJKLMNOPQRSTUVWXYZaaaaaa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将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scanf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换为 </a:t>
            </a:r>
            <a:r>
              <a:rPr kumimoji="1" lang="en-US" altLang="zh-CN" sz="1200" b="1" dirty="0" err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cin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&gt;&gt; &amp;a[1][3];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再重复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，观察结果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结果一致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：输入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27~56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个字符为什么不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出现错误？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中是什么？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输入时从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a[1][3]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的地址开始赋值，以后的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57</a:t>
            </a: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个地址都是已经声明过的，输入最多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56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的字符，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预留了一个位置给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\0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，没有越界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; a[2]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中的是输入</a:t>
            </a:r>
            <a:endParaRPr kumimoji="1" lang="en-US" altLang="zh-CN" sz="1200" b="1" dirty="0">
              <a:solidFill>
                <a:srgbClr val="000000"/>
              </a:solidFill>
              <a:latin typeface="+mn-ea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的字符去掉前</a:t>
            </a:r>
            <a:r>
              <a:rPr kumimoji="1" lang="en-US" altLang="zh-CN" sz="1200" b="1" dirty="0">
                <a:solidFill>
                  <a:srgbClr val="000000"/>
                </a:solidFill>
                <a:latin typeface="+mn-ea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+mn-ea"/>
              </a:rPr>
              <a:t>个后留下的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问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：如果想不影响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a[2]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中是≤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29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本例中是≤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个字符，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差别在哪？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输入后赋值的起始位置不一样，本例从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a[1][3]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开始，例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26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从一维数组</a:t>
            </a:r>
            <a:r>
              <a:rPr kumimoji="1" lang="en-US" altLang="zh-CN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a[1]</a:t>
            </a:r>
            <a:r>
              <a:rPr kumimoji="1" lang="zh-CN" altLang="en-US" sz="1200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的首地址开始</a:t>
            </a:r>
            <a:endParaRPr kumimoji="1" lang="en-US" altLang="zh-CN" sz="12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2708" y="595520"/>
            <a:ext cx="3158626" cy="11931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0325" y="1913890"/>
            <a:ext cx="3062605" cy="10153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5417" y="2370988"/>
            <a:ext cx="3359926" cy="249081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</a:t>
            </a:r>
            <a:r>
              <a:rPr lang="zh-CN" altLang="en-US" sz="1600" b="1" dirty="0">
                <a:latin typeface="+mn-ea"/>
              </a:rPr>
              <a:t>尾零的输出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29</a:t>
            </a:r>
            <a:r>
              <a:rPr lang="zh-CN" altLang="en-US" sz="1600" b="1" dirty="0">
                <a:latin typeface="+mn-ea"/>
              </a:rPr>
              <a:t>：在不同的控制台及字体设置下尾零输出的差异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2" y="1836812"/>
            <a:ext cx="6570785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int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char a[10] = { 'c','h','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','</a:t>
            </a:r>
            <a:r>
              <a:rPr lang="en-US" altLang="zh-CN" sz="1600" b="1" dirty="0" err="1">
                <a:latin typeface="+mn-ea"/>
              </a:rPr>
              <a:t>n','a</a:t>
            </a:r>
            <a:r>
              <a:rPr lang="en-US" altLang="zh-CN" sz="1600" b="1" dirty="0">
                <a:latin typeface="+mn-ea"/>
              </a:rPr>
              <a:t>' };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         1         2         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"012345678901234567890123456789"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标尺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>
                <a:latin typeface="+mn-ea"/>
              </a:rPr>
              <a:t>for (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 = 0;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 &lt; 10; 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++)</a:t>
            </a:r>
          </a:p>
          <a:p>
            <a:r>
              <a:rPr lang="en-US" altLang="zh-CN" sz="1600" b="1" dirty="0">
                <a:latin typeface="+mn-ea"/>
              </a:rPr>
              <a:t>    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int(</a:t>
            </a:r>
            <a:r>
              <a:rPr lang="en-US" altLang="zh-CN" sz="1600" b="1" dirty="0">
                <a:latin typeface="+mn-ea"/>
              </a:rPr>
              <a:t>a[</a:t>
            </a:r>
            <a:r>
              <a:rPr lang="en-US" altLang="zh-CN" sz="1600" b="1" dirty="0" err="1">
                <a:latin typeface="+mn-ea"/>
              </a:rPr>
              <a:t>i</a:t>
            </a:r>
            <a:r>
              <a:rPr lang="en-US" altLang="zh-CN" sz="1600" b="1" dirty="0">
                <a:latin typeface="+mn-ea"/>
              </a:rPr>
              <a:t>]</a:t>
            </a:r>
            <a:r>
              <a:rPr lang="en-US" altLang="zh-CN" sz="1600" b="1" dirty="0">
                <a:solidFill>
                  <a:schemeClr val="accent2"/>
                </a:solidFill>
                <a:latin typeface="+mn-ea"/>
              </a:rPr>
              <a:t>)</a:t>
            </a:r>
            <a:r>
              <a:rPr lang="en-US" altLang="zh-CN" sz="1600" b="1" dirty="0">
                <a:latin typeface="+mn-ea"/>
              </a:rPr>
              <a:t> &lt;&lt; '$';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 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确认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a[</a:t>
            </a:r>
            <a:r>
              <a:rPr lang="en-US" altLang="zh-CN" sz="1600" b="1" dirty="0" err="1">
                <a:solidFill>
                  <a:srgbClr val="FF0000"/>
                </a:solidFill>
                <a:latin typeface="+mn-ea"/>
              </a:rPr>
              <a:t>i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]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是否输出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zh-CN" altLang="en-US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'#'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 </a:t>
            </a:r>
            <a:r>
              <a:rPr lang="en-US" altLang="zh-CN" sz="1600" b="1" dirty="0">
                <a:solidFill>
                  <a:srgbClr val="FF0000"/>
                </a:solidFill>
                <a:latin typeface="+mn-ea"/>
              </a:rPr>
              <a:t>//</a:t>
            </a:r>
            <a:r>
              <a:rPr lang="zh-CN" altLang="en-US" sz="1600" b="1" dirty="0">
                <a:solidFill>
                  <a:srgbClr val="FF0000"/>
                </a:solidFill>
                <a:latin typeface="+mn-ea"/>
              </a:rPr>
              <a:t>加行尾识别符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72177" y="802312"/>
            <a:ext cx="3784202" cy="56876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、新版控制台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28</a:t>
            </a:r>
            <a:r>
              <a:rPr kumimoji="1" lang="zh-CN" altLang="en-US" sz="1600" b="1" dirty="0">
                <a:latin typeface="+mn-ea"/>
              </a:rPr>
              <a:t>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、旧版控制台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28</a:t>
            </a:r>
            <a:r>
              <a:rPr kumimoji="1" lang="zh-CN" altLang="en-US" sz="1600" b="1" dirty="0">
                <a:latin typeface="+mn-ea"/>
              </a:rPr>
              <a:t>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3</a:t>
            </a:r>
            <a:r>
              <a:rPr kumimoji="1" lang="zh-CN" altLang="en-US" sz="1600" b="1" dirty="0">
                <a:latin typeface="+mn-ea"/>
              </a:rPr>
              <a:t>、旧版控制台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16</a:t>
            </a:r>
            <a:r>
              <a:rPr kumimoji="1" lang="zh-CN" altLang="en-US" sz="1600" b="1" dirty="0">
                <a:latin typeface="+mn-ea"/>
              </a:rPr>
              <a:t>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、不要以字符形式输出</a:t>
            </a:r>
            <a:r>
              <a:rPr kumimoji="1" lang="en-US" altLang="zh-CN" sz="1600" b="1" dirty="0">
                <a:latin typeface="+mn-ea"/>
              </a:rPr>
              <a:t>\0</a:t>
            </a:r>
            <a:r>
              <a:rPr kumimoji="1" lang="zh-CN" altLang="en-US" sz="1600" b="1" dirty="0">
                <a:latin typeface="+mn-ea"/>
              </a:rPr>
              <a:t>，因为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</a:t>
            </a:r>
            <a:r>
              <a:rPr kumimoji="1" lang="zh-CN" altLang="en-US" sz="1600" b="1" dirty="0">
                <a:latin typeface="+mn-ea"/>
              </a:rPr>
              <a:t>看到的内容</a:t>
            </a:r>
            <a:r>
              <a:rPr kumimoji="1" lang="en-US" altLang="zh-CN" sz="1600" b="1" dirty="0">
                <a:latin typeface="+mn-ea"/>
              </a:rPr>
              <a:t>____</a:t>
            </a:r>
            <a:r>
              <a:rPr kumimoji="1" lang="zh-CN" altLang="en-US" sz="1600" b="1" dirty="0">
                <a:latin typeface="+mn-ea"/>
              </a:rPr>
              <a:t>不可信</a:t>
            </a:r>
            <a:r>
              <a:rPr kumimoji="1" lang="en-US" altLang="zh-CN" sz="1600" b="1" dirty="0">
                <a:latin typeface="+mn-ea"/>
              </a:rPr>
              <a:t>____(</a:t>
            </a:r>
            <a:r>
              <a:rPr kumimoji="1" lang="zh-CN" altLang="en-US" sz="1600" b="1" dirty="0">
                <a:latin typeface="+mn-ea"/>
              </a:rPr>
              <a:t>可信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不可信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、如果想准确得知某字符的值，转为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 ___int___</a:t>
            </a:r>
            <a:r>
              <a:rPr kumimoji="1" lang="zh-CN" altLang="en-US" sz="1600" b="1" dirty="0">
                <a:latin typeface="+mn-ea"/>
              </a:rPr>
              <a:t>类型输出即可</a:t>
            </a:r>
            <a:r>
              <a:rPr kumimoji="1" lang="en-US" altLang="zh-CN" sz="1600" b="1" dirty="0">
                <a:latin typeface="+mn-ea"/>
              </a:rPr>
              <a:t>(</a:t>
            </a:r>
            <a:r>
              <a:rPr kumimoji="1" lang="zh-CN" altLang="en-US" sz="1600" b="1" dirty="0">
                <a:latin typeface="+mn-ea"/>
              </a:rPr>
              <a:t>左侧改一处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2307" y="1103179"/>
            <a:ext cx="3368876" cy="117236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6893" y="4046723"/>
            <a:ext cx="4096322" cy="10764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943" y="2579743"/>
            <a:ext cx="2932563" cy="106638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22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180086" y="162560"/>
            <a:ext cx="11880850" cy="6480810"/>
          </a:xfrm>
        </p:spPr>
        <p:txBody>
          <a:bodyPr/>
          <a:lstStyle/>
          <a:p>
            <a:pPr eaLnBrk="1" hangingPunct="1"/>
            <a:r>
              <a:rPr lang="en-US" altLang="zh-CN" sz="2800" b="1" dirty="0">
                <a:latin typeface="+mn-ea"/>
              </a:rPr>
              <a:t>§.</a:t>
            </a:r>
            <a:r>
              <a:rPr lang="zh-CN" altLang="en-US" sz="2800" b="1" dirty="0">
                <a:latin typeface="+mn-ea"/>
              </a:rPr>
              <a:t>基础知识题 </a:t>
            </a:r>
            <a:r>
              <a:rPr lang="en-US" altLang="zh-CN" sz="2800" b="1" dirty="0">
                <a:latin typeface="+mn-ea"/>
              </a:rPr>
              <a:t>- </a:t>
            </a:r>
            <a:r>
              <a:rPr lang="zh-CN" altLang="en-US" sz="2800" b="1" dirty="0">
                <a:latin typeface="+mn-ea"/>
              </a:rPr>
              <a:t>字符数组的输入与输出</a:t>
            </a: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6.</a:t>
            </a:r>
            <a:r>
              <a:rPr lang="zh-CN" altLang="en-US" sz="1600" b="1" dirty="0">
                <a:latin typeface="+mn-ea"/>
              </a:rPr>
              <a:t>尾零的输出</a:t>
            </a:r>
          </a:p>
          <a:p>
            <a:pPr algn="just" eaLnBrk="1" hangingPunct="1"/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zh-CN" altLang="en-US" sz="1600" b="1" dirty="0">
                <a:latin typeface="+mn-ea"/>
              </a:rPr>
              <a:t>例</a:t>
            </a:r>
            <a:r>
              <a:rPr lang="en-US" altLang="zh-CN" sz="1600" b="1" dirty="0">
                <a:latin typeface="+mn-ea"/>
              </a:rPr>
              <a:t>30</a:t>
            </a:r>
            <a:r>
              <a:rPr lang="zh-CN" altLang="en-US" sz="1600" b="1" dirty="0">
                <a:latin typeface="+mn-ea"/>
              </a:rPr>
              <a:t>：在不同的控制台及字体设置下其它非图形字符输出的差异</a:t>
            </a:r>
            <a:endParaRPr lang="en-US" altLang="zh-CN" sz="1600" b="1" dirty="0">
              <a:latin typeface="+mn-ea"/>
            </a:endParaRPr>
          </a:p>
          <a:p>
            <a:pPr algn="just" eaLnBrk="1" hangingPunct="1"/>
            <a:r>
              <a:rPr lang="en-US" altLang="zh-CN" sz="1600" b="1" dirty="0">
                <a:latin typeface="+mn-ea"/>
              </a:rPr>
              <a:t>    </a:t>
            </a:r>
            <a:r>
              <a:rPr lang="zh-CN" altLang="en-US" sz="1600" b="1" dirty="0">
                <a:latin typeface="+mn-ea"/>
              </a:rPr>
              <a:t>（去</a:t>
            </a:r>
            <a:r>
              <a:rPr lang="en-US" altLang="zh-CN" sz="1600" b="1" dirty="0">
                <a:latin typeface="+mn-ea"/>
              </a:rPr>
              <a:t>ASCII</a:t>
            </a:r>
            <a:r>
              <a:rPr lang="zh-CN" altLang="en-US" sz="1600" b="1" dirty="0">
                <a:latin typeface="+mn-ea"/>
              </a:rPr>
              <a:t>码表中查表示扑克牌</a:t>
            </a:r>
            <a:r>
              <a:rPr lang="zh-CN" altLang="en-US" sz="1600" b="1" kern="1200" dirty="0">
                <a:latin typeface="+mn-ea"/>
              </a:rPr>
              <a:t>四种花色</a:t>
            </a:r>
            <a:r>
              <a:rPr lang="zh-CN" altLang="en-US" sz="1600" b="1" dirty="0">
                <a:latin typeface="+mn-ea"/>
              </a:rPr>
              <a:t>的字符，用测试程序打印含这</a:t>
            </a:r>
            <a:r>
              <a:rPr lang="en-US" altLang="zh-CN" sz="1600" b="1" dirty="0">
                <a:latin typeface="+mn-ea"/>
              </a:rPr>
              <a:t>4</a:t>
            </a:r>
            <a:r>
              <a:rPr lang="zh-CN" altLang="en-US" sz="1600" b="1" dirty="0">
                <a:latin typeface="+mn-ea"/>
              </a:rPr>
              <a:t>个字符的字符串，然后贴图）</a:t>
            </a:r>
            <a:endParaRPr lang="en-US" altLang="zh-CN" sz="1600" b="1" dirty="0">
              <a:latin typeface="+mn-ea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35622" y="1836812"/>
            <a:ext cx="6570785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r>
              <a:rPr lang="en-US" altLang="zh-CN" sz="1600" b="1" dirty="0">
                <a:latin typeface="+mn-ea"/>
              </a:rPr>
              <a:t>#include &lt;iostream&gt;</a:t>
            </a:r>
          </a:p>
          <a:p>
            <a:r>
              <a:rPr lang="en-US" altLang="zh-CN" sz="1600" b="1" dirty="0">
                <a:latin typeface="+mn-ea"/>
              </a:rPr>
              <a:t>using namespace std;</a:t>
            </a:r>
          </a:p>
          <a:p>
            <a:endParaRPr lang="en-US" altLang="zh-CN" sz="1600" b="1" dirty="0">
              <a:latin typeface="+mn-ea"/>
            </a:endParaRPr>
          </a:p>
          <a:p>
            <a:r>
              <a:rPr lang="en-US" altLang="zh-CN" sz="1600" b="1" dirty="0">
                <a:latin typeface="+mn-ea"/>
              </a:rPr>
              <a:t>int main()</a:t>
            </a:r>
          </a:p>
          <a:p>
            <a:r>
              <a:rPr lang="en-US" altLang="zh-CN" sz="1600" b="1" dirty="0">
                <a:latin typeface="+mn-ea"/>
              </a:rPr>
              <a:t>{</a:t>
            </a:r>
          </a:p>
          <a:p>
            <a:r>
              <a:rPr lang="en-US" altLang="zh-CN" sz="1600" b="1" dirty="0">
                <a:latin typeface="+mn-ea"/>
              </a:rPr>
              <a:t>    </a:t>
            </a:r>
            <a:r>
              <a:rPr lang="en-US" altLang="zh-CN" sz="1600" b="1" dirty="0" err="1">
                <a:latin typeface="+mn-ea"/>
              </a:rPr>
              <a:t>cout</a:t>
            </a:r>
            <a:r>
              <a:rPr lang="en-US" altLang="zh-CN" sz="1600" b="1" dirty="0">
                <a:latin typeface="+mn-ea"/>
              </a:rPr>
              <a:t> &lt;&lt; "\3\4\5\6" &lt;&lt; </a:t>
            </a:r>
            <a:r>
              <a:rPr lang="en-US" altLang="zh-CN" sz="1600" b="1" dirty="0" err="1">
                <a:latin typeface="+mn-ea"/>
              </a:rPr>
              <a:t>endl</a:t>
            </a:r>
            <a:r>
              <a:rPr lang="en-US" altLang="zh-CN" sz="1600" b="1" dirty="0">
                <a:latin typeface="+mn-ea"/>
              </a:rPr>
              <a:t>;</a:t>
            </a:r>
          </a:p>
          <a:p>
            <a:r>
              <a:rPr lang="en-US" altLang="zh-CN" sz="1600" b="1" dirty="0">
                <a:latin typeface="+mn-ea"/>
              </a:rPr>
              <a:t>    return 0;</a:t>
            </a:r>
          </a:p>
          <a:p>
            <a:r>
              <a:rPr lang="en-US" altLang="zh-CN" sz="1600" b="1" dirty="0">
                <a:latin typeface="+mn-ea"/>
              </a:rPr>
              <a:t>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7672177" y="1836812"/>
            <a:ext cx="3784202" cy="465313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、某版控制台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某字体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某点阵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此处找到一种可显示的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新版控制台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点阵字体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2</a:t>
            </a:r>
            <a:r>
              <a:rPr kumimoji="1" lang="zh-CN" altLang="en-US" sz="1600" b="1" dirty="0">
                <a:latin typeface="+mn-ea"/>
              </a:rPr>
              <a:t>、某版控制台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某字体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某点阵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1600" b="1" dirty="0">
                <a:latin typeface="+mn-ea"/>
              </a:rPr>
              <a:t>  (</a:t>
            </a:r>
            <a:r>
              <a:rPr kumimoji="1" lang="zh-CN" altLang="en-US" sz="1600" b="1" dirty="0">
                <a:latin typeface="+mn-ea"/>
              </a:rPr>
              <a:t>此处随便找到一种不显示的即可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新版控制台</a:t>
            </a:r>
            <a:r>
              <a:rPr kumimoji="1" lang="en-US" altLang="zh-CN" sz="1600" b="1" dirty="0">
                <a:latin typeface="+mn-ea"/>
              </a:rPr>
              <a:t>+</a:t>
            </a:r>
            <a:r>
              <a:rPr kumimoji="1" lang="zh-CN" altLang="en-US" sz="1600" b="1" dirty="0">
                <a:latin typeface="+mn-ea"/>
              </a:rPr>
              <a:t>新宋体</a:t>
            </a:r>
            <a:r>
              <a:rPr kumimoji="1" lang="en-US" altLang="zh-CN" sz="1600" b="1" dirty="0">
                <a:latin typeface="+mn-ea"/>
              </a:rPr>
              <a:t>16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结论：</a:t>
            </a:r>
            <a:endParaRPr kumimoji="1" lang="en-US" altLang="zh-CN" sz="1600" b="1" dirty="0">
              <a:latin typeface="+mn-ea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上页的结论</a:t>
            </a:r>
            <a:r>
              <a:rPr kumimoji="1" lang="en-US" altLang="zh-CN" sz="1600" b="1" dirty="0">
                <a:latin typeface="+mn-ea"/>
              </a:rPr>
              <a:t>1</a:t>
            </a:r>
            <a:r>
              <a:rPr kumimoji="1" lang="zh-CN" altLang="en-US" sz="1600" b="1" dirty="0">
                <a:latin typeface="+mn-ea"/>
              </a:rPr>
              <a:t>也</a:t>
            </a:r>
            <a:r>
              <a:rPr kumimoji="1" lang="en-US" altLang="zh-CN" sz="1600" b="1" dirty="0">
                <a:latin typeface="+mn-ea"/>
              </a:rPr>
              <a:t>___</a:t>
            </a:r>
            <a:r>
              <a:rPr kumimoji="1" lang="zh-CN" altLang="en-US" sz="1600" b="1" dirty="0">
                <a:latin typeface="+mn-ea"/>
              </a:rPr>
              <a:t>适用</a:t>
            </a:r>
            <a:r>
              <a:rPr kumimoji="1" lang="en-US" altLang="zh-CN" sz="1600" b="1" dirty="0">
                <a:latin typeface="+mn-ea"/>
              </a:rPr>
              <a:t>_____(</a:t>
            </a:r>
            <a:r>
              <a:rPr kumimoji="1" lang="zh-CN" altLang="en-US" sz="1600" b="1" dirty="0">
                <a:latin typeface="+mn-ea"/>
              </a:rPr>
              <a:t>适用</a:t>
            </a:r>
            <a:r>
              <a:rPr kumimoji="1" lang="en-US" altLang="zh-CN" sz="1600" b="1" dirty="0">
                <a:latin typeface="+mn-ea"/>
              </a:rPr>
              <a:t>/</a:t>
            </a:r>
            <a:r>
              <a:rPr kumimoji="1" lang="zh-CN" altLang="en-US" sz="1600" b="1" dirty="0">
                <a:latin typeface="+mn-ea"/>
              </a:rPr>
              <a:t>不适用</a:t>
            </a:r>
            <a:r>
              <a:rPr kumimoji="1" lang="en-US" altLang="zh-CN" sz="1600" b="1" dirty="0">
                <a:latin typeface="+mn-ea"/>
              </a:rPr>
              <a:t>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latin typeface="+mn-ea"/>
              </a:rPr>
              <a:t>于其它非图形字符</a:t>
            </a:r>
            <a:endParaRPr kumimoji="1" lang="en-US" altLang="zh-CN" sz="1600" b="1" dirty="0">
              <a:latin typeface="+mn-ea"/>
            </a:endParaRPr>
          </a:p>
        </p:txBody>
      </p:sp>
      <p:sp>
        <p:nvSpPr>
          <p:cNvPr id="6" name="椭圆 5"/>
          <p:cNvSpPr/>
          <p:nvPr/>
        </p:nvSpPr>
        <p:spPr bwMode="auto">
          <a:xfrm>
            <a:off x="9756680" y="6213422"/>
            <a:ext cx="2304256" cy="540296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600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本页需填写答案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628" y="1726464"/>
            <a:ext cx="3679664" cy="229267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3298" y="4401461"/>
            <a:ext cx="3747154" cy="101017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zFkYTAzODc1OTI4MjVhMmUxM2FjNmFjZGNmZmI0ZTQ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7405</Words>
  <Application>Microsoft Office PowerPoint</Application>
  <PresentationFormat>宽屏</PresentationFormat>
  <Paragraphs>1471</Paragraphs>
  <Slides>32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36" baseType="lpstr">
      <vt:lpstr>宋体</vt:lpstr>
      <vt:lpstr>Times New Roman</vt:lpstr>
      <vt:lpstr>等线</vt:lpstr>
      <vt:lpstr>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Larry</dc:creator>
  <cp:lastModifiedBy>xi sheng</cp:lastModifiedBy>
  <cp:revision>42</cp:revision>
  <dcterms:created xsi:type="dcterms:W3CDTF">2020-08-13T13:39:00Z</dcterms:created>
  <dcterms:modified xsi:type="dcterms:W3CDTF">2024-06-23T02:00:23Z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CFF54528310547CA9865BC69FE4AF9B1_12</vt:lpwstr>
  </property>
  <property fmtid="{D5CDD505-2E9C-101B-9397-08002B2CF9AE}" pid="3" name="KSOProductBuildVer">
    <vt:lpwstr>2052-12.1.0.16729</vt:lpwstr>
  </property>
</Properties>
</file>