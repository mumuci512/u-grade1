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3"/>
  </p:notesMasterIdLst>
  <p:sldIdLst>
    <p:sldId id="644" r:id="rId2"/>
    <p:sldId id="558" r:id="rId3"/>
    <p:sldId id="1241" r:id="rId4"/>
    <p:sldId id="1240" r:id="rId5"/>
    <p:sldId id="645" r:id="rId6"/>
    <p:sldId id="1242" r:id="rId7"/>
    <p:sldId id="1243" r:id="rId8"/>
    <p:sldId id="1244" r:id="rId9"/>
    <p:sldId id="1245" r:id="rId10"/>
    <p:sldId id="1246" r:id="rId11"/>
    <p:sldId id="124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53E58-60A1-4F83-A5F5-F4100C32A3D0}" v="5" dt="2024-05-12T14:16:46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0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本该输出的放进串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返回值是输出字符的个数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同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printf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，即字符串长度</a:t>
            </a:r>
            <a:endParaRPr lang="en-US" altLang="zh-CN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假装串是键盘输入，把串输进变量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返回值是正确读入的输入数据的个数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同</a:t>
            </a:r>
            <a:r>
              <a:rPr lang="en-US" altLang="zh-CN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scanf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，即有几个正确的</a:t>
            </a:r>
            <a:r>
              <a:rPr lang="en-US" altLang="zh-CN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%</a:t>
            </a: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5E9536-864A-4E5B-A6D4-1D9845D6239A}"/>
              </a:ext>
            </a:extLst>
          </p:cNvPr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54BD9C-A798-E636-92B6-760E6AE2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134" y="5149884"/>
            <a:ext cx="420111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"k=%6dpi=%10.2f",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的返回值是：</a:t>
            </a:r>
            <a:r>
              <a:rPr lang="zh-CN" altLang="en-US" sz="1600" b="1" dirty="0">
                <a:latin typeface="+mn-ea"/>
              </a:rPr>
              <a:t>输出字符的个数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7FFC23-444A-EDC0-D187-A1E370596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578" y="4231812"/>
            <a:ext cx="501084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200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pi=3.1415925;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"k=%-4d*pi=%.2f#", k, pi);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("str : %s\n",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使用时对字符数组的要求是：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+mn-ea"/>
              </a:rPr>
              <a:t>要有足够空间容纳输出的数据，否则越界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F3CC3A-8398-420E-B4E4-E7FBDE23FAE0}"/>
              </a:ext>
            </a:extLst>
          </p:cNvPr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51C5F6-4100-CFEF-0091-DF6445876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060" y="165054"/>
            <a:ext cx="4770815" cy="38908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6462DA-7DAA-D54E-D6BB-69B24FB42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233" y="3950241"/>
            <a:ext cx="5857448" cy="17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7623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s[10];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double 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, &amp;d);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, d);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615145-E640-8CBD-FAE1-BDF36B03C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855" y="4954957"/>
            <a:ext cx="5125165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r>
              <a:rPr lang="zh-CN" altLang="en-US" sz="1600" b="1" dirty="0">
                <a:latin typeface="+mn-ea"/>
              </a:rPr>
              <a:t>正确读入的输入数据的个数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BB4381A-E245-15FF-43D1-7AE82218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438" y="3999294"/>
            <a:ext cx="4124901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13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本例说明，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str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中的内容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可以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（可以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不可以）被重复读取</a:t>
            </a:r>
            <a:endParaRPr kumimoji="1"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7075A3-389B-FC4E-64AD-66E67565D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937" y="2244881"/>
            <a:ext cx="433448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789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str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中的内容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可以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/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不可以）被替换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635EA5-5A3F-E275-5EAC-C33E403F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9" y="2001963"/>
            <a:ext cx="4229690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024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sscanf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sprintf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x, w;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638355"/>
            <a:ext cx="3470278" cy="60570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AF76D0-226B-4414-9299-F8A2870CE388}"/>
              </a:ext>
            </a:extLst>
          </p:cNvPr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8D6456-2C80-AC1F-82E0-79F1473F2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2536" y="335392"/>
            <a:ext cx="3843789" cy="11888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A2392C-EC3C-52E0-5697-C8E4148D3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438" y="1534584"/>
            <a:ext cx="3585984" cy="9943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6898A5-C3CB-59FB-73DF-D73BE1B3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844" y="2539319"/>
            <a:ext cx="4115884" cy="11449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D1BDEE-51F6-104C-487A-706C5E874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7345" y="3684294"/>
            <a:ext cx="3734170" cy="11294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7DC4C47-CE6F-7A50-70E6-1FF911E1A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857" y="4720145"/>
            <a:ext cx="4268832" cy="120654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FD49C04-0A07-23F2-1FE9-37262D542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146" y="5465761"/>
            <a:ext cx="4623239" cy="132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1634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sscanf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sprintf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808080"/>
                </a:solidFill>
                <a:latin typeface="+mn-ea"/>
              </a:rPr>
              <a:t>#define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6F008A"/>
                </a:solidFill>
                <a:latin typeface="+mn-ea"/>
              </a:rPr>
              <a:t>_CRT_SECURE_NO_WARNINGS</a:t>
            </a:r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808080"/>
                </a:solidFill>
                <a:latin typeface="+mn-ea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+mn-ea"/>
              </a:rPr>
              <a:t>stdio.h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+mn-ea"/>
            </a:endParaRP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main()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w;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x[13];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+mn-ea"/>
              </a:rPr>
              <a:t>请输入长度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[3..12]</a:t>
            </a:r>
            <a:r>
              <a:rPr lang="zh-CN" altLang="en-US" sz="1400" dirty="0">
                <a:solidFill>
                  <a:srgbClr val="A31515"/>
                </a:solidFill>
                <a:latin typeface="+mn-ea"/>
              </a:rPr>
              <a:t>间的字符串及显示宽度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[len+1..20]\n"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pl-PL" altLang="zh-CN" sz="1400" dirty="0">
                <a:solidFill>
                  <a:srgbClr val="000000"/>
                </a:solidFill>
                <a:latin typeface="+mn-ea"/>
              </a:rPr>
              <a:t>    scanf(</a:t>
            </a:r>
            <a:r>
              <a:rPr lang="pl-PL" altLang="zh-CN" sz="1400" dirty="0">
                <a:solidFill>
                  <a:srgbClr val="A31515"/>
                </a:solidFill>
                <a:latin typeface="+mn-ea"/>
              </a:rPr>
              <a:t>"%s %d"</a:t>
            </a:r>
            <a:r>
              <a:rPr lang="pl-PL" altLang="zh-CN" sz="1400" dirty="0">
                <a:solidFill>
                  <a:srgbClr val="000000"/>
                </a:solidFill>
                <a:latin typeface="+mn-ea"/>
              </a:rPr>
              <a:t>, &amp;x, &amp;w);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(w &lt;=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strlen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(x))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    w =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strlen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(x) + 1;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"01234567890123456789\n"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); </a:t>
            </a:r>
            <a:r>
              <a:rPr lang="en-US" altLang="zh-CN" sz="1400" dirty="0">
                <a:solidFill>
                  <a:srgbClr val="008000"/>
                </a:solidFill>
                <a:latin typeface="+mn-ea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+mn-ea"/>
              </a:rPr>
              <a:t>标尺</a:t>
            </a:r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[16];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sprintf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400" dirty="0">
                <a:solidFill>
                  <a:srgbClr val="A31515"/>
                </a:solidFill>
                <a:latin typeface="+mn-ea"/>
              </a:rPr>
              <a:t>"%%-%ds*\n"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w);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, x);</a:t>
            </a:r>
          </a:p>
          <a:p>
            <a:endParaRPr lang="zh-CN" altLang="en-US" sz="14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+mn-ea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 0;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E76143-07C7-4C25-A3BF-0B0ECBF3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30E2FED-4CEE-40A9-9194-01ADD6745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C693D4-F1EB-DD61-A057-403495DF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39" y="4263263"/>
            <a:ext cx="4270104" cy="10187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40FB63-C206-FE9B-D0CB-2609E9EE1E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373" y="5572015"/>
            <a:ext cx="4135088" cy="10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2698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sscanf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与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sprintf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的理解与体会</a:t>
            </a: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795DCA-0E0C-4C62-AC52-9B956A88D52E}"/>
              </a:ext>
            </a:extLst>
          </p:cNvPr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4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4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en-US" altLang="zh-CN" sz="14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+mn-ea"/>
              </a:rPr>
              <a:t>#define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rgbClr val="6F008A"/>
                </a:solidFill>
                <a:latin typeface="+mn-ea"/>
              </a:rPr>
              <a:t>_CRT_SECURE_NO_WARNINGS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+mn-ea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+mn-ea"/>
              </a:rPr>
              <a:t>stdio.h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w,p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x;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+mn-ea"/>
              </a:rPr>
              <a:t>请输入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double</a:t>
            </a:r>
            <a:r>
              <a:rPr lang="zh-CN" altLang="en-US" sz="1600" dirty="0">
                <a:solidFill>
                  <a:srgbClr val="A31515"/>
                </a:solidFill>
                <a:latin typeface="+mn-ea"/>
              </a:rPr>
              <a:t>型数据及显示总宽度、小数点后位数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pl-PL" altLang="zh-CN" sz="1600" dirty="0">
                <a:solidFill>
                  <a:srgbClr val="000000"/>
                </a:solidFill>
                <a:latin typeface="+mn-ea"/>
              </a:rPr>
              <a:t>    scanf(</a:t>
            </a:r>
            <a:r>
              <a:rPr lang="pl-PL" altLang="zh-CN" sz="1600" dirty="0">
                <a:solidFill>
                  <a:srgbClr val="A31515"/>
                </a:solidFill>
                <a:latin typeface="+mn-ea"/>
              </a:rPr>
              <a:t>"%lf %d %d"</a:t>
            </a:r>
            <a:r>
              <a:rPr lang="pl-PL" altLang="zh-CN" sz="1600" dirty="0">
                <a:solidFill>
                  <a:srgbClr val="000000"/>
                </a:solidFill>
                <a:latin typeface="+mn-ea"/>
              </a:rPr>
              <a:t>, &amp;x, &amp;w,&amp;p);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"01234567890123456789\n"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 </a:t>
            </a:r>
            <a:r>
              <a:rPr lang="en-US" altLang="zh-CN" sz="1600" dirty="0">
                <a:solidFill>
                  <a:srgbClr val="008000"/>
                </a:solidFill>
                <a:latin typeface="+mn-ea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+mn-ea"/>
              </a:rPr>
              <a:t>标尺</a:t>
            </a:r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[16];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sprintf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"%%%d.%</a:t>
            </a:r>
            <a:r>
              <a:rPr lang="en-US" altLang="zh-CN" sz="1600" dirty="0" err="1">
                <a:solidFill>
                  <a:srgbClr val="A31515"/>
                </a:solidFill>
                <a:latin typeface="+mn-ea"/>
              </a:rPr>
              <a:t>dlf</a:t>
            </a:r>
            <a:r>
              <a:rPr lang="en-US" altLang="zh-CN" sz="1600" dirty="0">
                <a:solidFill>
                  <a:srgbClr val="A31515"/>
                </a:solidFill>
                <a:latin typeface="+mn-ea"/>
              </a:rPr>
              <a:t>*\n"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w,p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+mn-ea"/>
              </a:rPr>
              <a:t>fmt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, x);</a:t>
            </a:r>
          </a:p>
          <a:p>
            <a:endParaRPr lang="zh-CN" altLang="en-US" sz="1600" dirty="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   </a:t>
            </a:r>
            <a:r>
              <a:rPr lang="en-US" altLang="zh-CN" sz="1600" dirty="0">
                <a:solidFill>
                  <a:srgbClr val="0000FF"/>
                </a:solidFill>
                <a:latin typeface="+mn-ea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endParaRPr kumimoji="1" lang="en-US" altLang="zh-CN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E3354E-1D8B-469A-83EE-DA8521E820D3}"/>
              </a:ext>
            </a:extLst>
          </p:cNvPr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A95598-F924-42CC-96E8-5B13C902F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683" y="2050577"/>
            <a:ext cx="3361905" cy="6380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B26179-2D6A-4BF8-A454-2DFF0846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11" y="3160746"/>
            <a:ext cx="3419048" cy="6666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2FD8D1-0D41-4884-B424-3E5B5AB43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683" y="4426380"/>
            <a:ext cx="3438095" cy="6571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28D3B9C-4AEF-41F0-8B3E-AA8AD621E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683" y="5534875"/>
            <a:ext cx="3485714" cy="657143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</p:spTree>
    <p:extLst>
      <p:ext uri="{BB962C8B-B14F-4D97-AF65-F5344CB8AC3E}">
        <p14:creationId xmlns:p14="http://schemas.microsoft.com/office/powerpoint/2010/main" val="182973028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</TotalTime>
  <Words>1987</Words>
  <Application>Microsoft Office PowerPoint</Application>
  <PresentationFormat>宽屏</PresentationFormat>
  <Paragraphs>300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53</cp:revision>
  <dcterms:created xsi:type="dcterms:W3CDTF">2020-08-13T13:39:53Z</dcterms:created>
  <dcterms:modified xsi:type="dcterms:W3CDTF">2024-06-23T02:42:27Z</dcterms:modified>
</cp:coreProperties>
</file>