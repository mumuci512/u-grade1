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0"/>
  </p:notesMasterIdLst>
  <p:sldIdLst>
    <p:sldId id="1281" r:id="rId2"/>
    <p:sldId id="1297" r:id="rId3"/>
    <p:sldId id="1302" r:id="rId4"/>
    <p:sldId id="1303" r:id="rId5"/>
    <p:sldId id="1251" r:id="rId6"/>
    <p:sldId id="1282" r:id="rId7"/>
    <p:sldId id="1304" r:id="rId8"/>
    <p:sldId id="1305" r:id="rId9"/>
    <p:sldId id="1298" r:id="rId10"/>
    <p:sldId id="1285" r:id="rId11"/>
    <p:sldId id="1306" r:id="rId12"/>
    <p:sldId id="1307" r:id="rId13"/>
    <p:sldId id="1299" r:id="rId14"/>
    <p:sldId id="1308" r:id="rId15"/>
    <p:sldId id="1286" r:id="rId16"/>
    <p:sldId id="1300" r:id="rId17"/>
    <p:sldId id="1293" r:id="rId18"/>
    <p:sldId id="1301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>
    <p:extLst>
      <p:ext uri="{19B8F6BF-5375-455C-9EA6-DF929625EA0E}">
        <p15:presenceInfo xmlns:p15="http://schemas.microsoft.com/office/powerpoint/2012/main" userId="Lar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16AC71-F324-415D-A001-7E6419E8E156}" v="237" dt="2024-04-24T11:47:20.5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44" autoAdjust="0"/>
    <p:restoredTop sz="86411" autoAdjust="0"/>
  </p:normalViewPr>
  <p:slideViewPr>
    <p:cSldViewPr snapToGrid="0">
      <p:cViewPr varScale="1">
        <p:scale>
          <a:sx n="76" d="100"/>
          <a:sy n="76" d="100"/>
        </p:scale>
        <p:origin x="87" y="5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6460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8223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33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38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7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3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583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273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75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05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90EEA7F-39F9-4B97-AF58-835331598C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806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zh-CN" altLang="en-US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f1(int x)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y;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&amp;x &lt;&lt; ' ' &lt;&lt; &amp;y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f2(long p)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float q;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&amp;p &lt;&lt; ' ' &lt;&lt; &amp;q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打印地址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f2(15L);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截图：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  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1.1 _x__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_p_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u="sng" dirty="0">
                <a:latin typeface="+mn-ea"/>
              </a:rPr>
              <a:t>00CFFD58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1.2 _y__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_q_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u="sng" dirty="0">
                <a:latin typeface="+mn-ea"/>
              </a:rPr>
              <a:t>00CFFD44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、把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float q</a:t>
            </a:r>
            <a:r>
              <a:rPr kumimoji="1" lang="zh-CN" altLang="en-US" sz="1600" b="1" dirty="0">
                <a:latin typeface="+mn-ea"/>
              </a:rPr>
              <a:t>改为</a:t>
            </a:r>
            <a:r>
              <a:rPr kumimoji="1" lang="en-US" altLang="zh-CN" sz="1600" b="1" dirty="0">
                <a:latin typeface="+mn-ea"/>
              </a:rPr>
              <a:t>short q</a:t>
            </a:r>
            <a:r>
              <a:rPr kumimoji="1" lang="zh-CN" altLang="en-US" sz="1600" b="1" dirty="0">
                <a:latin typeface="+mn-ea"/>
              </a:rPr>
              <a:t>，运行结果截图及结论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2.1 x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p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0133F8D4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2.2 y</a:t>
            </a:r>
            <a:r>
              <a:rPr kumimoji="1" lang="zh-CN" altLang="en-US" sz="1600" b="1" dirty="0">
                <a:latin typeface="+mn-ea"/>
              </a:rPr>
              <a:t>用了从</a:t>
            </a:r>
            <a:r>
              <a:rPr kumimoji="1" lang="en-US" altLang="zh-CN" sz="1600" b="1" dirty="0">
                <a:latin typeface="+mn-ea"/>
              </a:rPr>
              <a:t>0133F8C0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4</a:t>
            </a:r>
            <a:r>
              <a:rPr kumimoji="1" lang="zh-CN" altLang="en-US" sz="1600" b="1" dirty="0">
                <a:latin typeface="+mn-ea"/>
              </a:rPr>
              <a:t>个字节空间，</a:t>
            </a:r>
            <a:r>
              <a:rPr kumimoji="1" lang="en-US" altLang="zh-CN" sz="1600" b="1" dirty="0">
                <a:latin typeface="+mn-ea"/>
              </a:rPr>
              <a:t>q</a:t>
            </a:r>
            <a:r>
              <a:rPr kumimoji="1" lang="zh-CN" altLang="en-US" sz="1600" b="1" dirty="0">
                <a:latin typeface="+mn-ea"/>
              </a:rPr>
              <a:t>用了从</a:t>
            </a:r>
            <a:r>
              <a:rPr kumimoji="1" lang="en-US" altLang="zh-CN" sz="1600" b="1" dirty="0">
                <a:latin typeface="+mn-ea"/>
              </a:rPr>
              <a:t>0133F8C0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个字节空间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</a:t>
            </a:r>
            <a:r>
              <a:rPr kumimoji="1" lang="zh-CN" altLang="en-US" sz="1600" b="1" dirty="0">
                <a:latin typeface="+mn-ea"/>
              </a:rPr>
              <a:t> 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q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__y_</a:t>
            </a:r>
            <a:r>
              <a:rPr kumimoji="1" lang="zh-CN" altLang="en-US" sz="1600" b="1" dirty="0">
                <a:latin typeface="+mn-ea"/>
              </a:rPr>
              <a:t>共用了从</a:t>
            </a:r>
            <a:r>
              <a:rPr kumimoji="1" lang="en-US" altLang="zh-CN" sz="1600" b="1" dirty="0">
                <a:latin typeface="+mn-ea"/>
              </a:rPr>
              <a:t>__0133F8C0____</a:t>
            </a:r>
            <a:r>
              <a:rPr kumimoji="1" lang="zh-CN" altLang="en-US" sz="1600" b="1" dirty="0">
                <a:latin typeface="+mn-ea"/>
              </a:rPr>
              <a:t>开始的</a:t>
            </a:r>
            <a:r>
              <a:rPr kumimoji="1" lang="en-US" altLang="zh-CN" sz="1600" b="1" dirty="0">
                <a:latin typeface="+mn-ea"/>
              </a:rPr>
              <a:t>_2_</a:t>
            </a:r>
            <a:r>
              <a:rPr kumimoji="1" lang="zh-CN" altLang="en-US" sz="1600" b="1" dirty="0">
                <a:latin typeface="+mn-ea"/>
              </a:rPr>
              <a:t>个字节空间</a:t>
            </a:r>
            <a:r>
              <a:rPr kumimoji="1" lang="en-US" altLang="zh-CN" sz="1600" b="1" dirty="0">
                <a:latin typeface="+mn-ea"/>
              </a:rPr>
              <a:t> 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9BF09D-B8B2-8671-52B2-24D17BE1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6" y="1693187"/>
            <a:ext cx="4182059" cy="13527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971A71C-B306-0ACD-22B6-5691A5489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683" y="4058590"/>
            <a:ext cx="2961844" cy="93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81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kumimoji="1" lang="en-US" altLang="zh-CN" sz="1600" b="1" dirty="0">
              <a:latin typeface="+mn-ea"/>
            </a:endParaRPr>
          </a:p>
          <a:p>
            <a:r>
              <a:rPr kumimoji="1" lang="en-US" altLang="zh-CN" sz="1600" b="1" dirty="0">
                <a:latin typeface="+mn-ea"/>
              </a:rPr>
              <a:t>void f1(int x)</a:t>
            </a:r>
          </a:p>
          <a:p>
            <a:r>
              <a:rPr kumimoji="1" lang="en-US" altLang="zh-CN" sz="16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int y;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en-US" altLang="zh-CN" sz="1600" b="1" dirty="0">
                <a:latin typeface="+mn-ea"/>
              </a:rPr>
              <a:t> &lt;&lt; &amp;x &lt;&lt; ' '&lt;&lt; &amp;y &lt;&lt; </a:t>
            </a:r>
            <a:r>
              <a:rPr kumimoji="1" lang="en-US" altLang="zh-CN" sz="1600" b="1" dirty="0" err="1">
                <a:latin typeface="+mn-ea"/>
              </a:rPr>
              <a:t>endl</a:t>
            </a:r>
            <a:r>
              <a:rPr kumimoji="1" lang="en-US" altLang="zh-CN" sz="16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f1(10);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"..."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</a:t>
            </a:r>
            <a:r>
              <a:rPr kumimoji="1" lang="zh-CN" altLang="en-US" sz="1600" b="1" dirty="0">
                <a:latin typeface="+mn-ea"/>
              </a:rPr>
              <a:t>本示例中，三次调用时分配的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空间，三次调用时分配的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总结形参</a:t>
            </a:r>
            <a:r>
              <a:rPr kumimoji="1" lang="en-US" altLang="zh-CN" sz="1600" b="1" dirty="0">
                <a:latin typeface="+mn-ea"/>
              </a:rPr>
              <a:t>x</a:t>
            </a:r>
            <a:r>
              <a:rPr kumimoji="1" lang="zh-CN" altLang="en-US" sz="1600" b="1" dirty="0">
                <a:latin typeface="+mn-ea"/>
              </a:rPr>
              <a:t>和自动变量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的分配和释放规则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每次调用函数，会给形参和自动变量分配空间，函数调用结束后分配的空间就会释放，下一次调用函数时可能会分配同一空间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C72AE9-6928-7D61-B1CC-F37BF53F9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239" y="780680"/>
            <a:ext cx="4305901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2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f2();</a:t>
            </a:r>
          </a:p>
          <a:p>
            <a:r>
              <a:rPr lang="en-US" altLang="zh-CN" sz="1200" b="1" dirty="0">
                <a:latin typeface="+mn-ea"/>
              </a:rPr>
              <a:t>    f3();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、运行结果截图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2.1 f1/f2/f3</a:t>
            </a:r>
            <a:r>
              <a:rPr kumimoji="1" lang="zh-CN" altLang="en-US" sz="1600" b="1" dirty="0">
                <a:latin typeface="+mn-ea"/>
              </a:rPr>
              <a:t>中的三个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占用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不同（起始位置相同，大小不同）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空间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2.2 </a:t>
            </a:r>
            <a:r>
              <a:rPr kumimoji="1" lang="zh-CN" altLang="en-US" sz="1600" b="1" dirty="0">
                <a:latin typeface="+mn-ea"/>
              </a:rPr>
              <a:t>如果当前正在执行</a:t>
            </a:r>
            <a:r>
              <a:rPr kumimoji="1" lang="en-US" altLang="zh-CN" sz="1600" b="1" dirty="0">
                <a:latin typeface="+mn-ea"/>
              </a:rPr>
              <a:t>f2</a:t>
            </a:r>
            <a:r>
              <a:rPr kumimoji="1" lang="zh-CN" altLang="en-US" sz="1600" b="1" dirty="0">
                <a:latin typeface="+mn-ea"/>
              </a:rPr>
              <a:t>函数，则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a__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</a:t>
            </a:r>
            <a:r>
              <a:rPr kumimoji="1" lang="en-US" altLang="zh-CN" sz="1600" b="1" dirty="0">
                <a:latin typeface="+mn-ea"/>
              </a:rPr>
              <a:t> f3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未分配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已释放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6FDB13-F57D-E89D-F347-A30739C78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444" y="1754910"/>
            <a:ext cx="434400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、自动变量及形参的分配与释放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D.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endParaRPr kumimoji="1" lang="en-US" altLang="zh-CN" sz="1200" b="1" dirty="0">
              <a:latin typeface="+mn-ea"/>
            </a:endParaRPr>
          </a:p>
          <a:p>
            <a:r>
              <a:rPr kumimoji="1" lang="en-US" altLang="zh-CN" sz="1200" b="1" dirty="0">
                <a:latin typeface="+mn-ea"/>
              </a:rPr>
              <a:t>void f3()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short a = 23;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"f3  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f2()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long a = 70000;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f3();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"f2-2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kumimoji="1" lang="en-US" altLang="zh-CN" sz="1200" b="1" dirty="0">
                <a:latin typeface="+mn-ea"/>
              </a:rPr>
              <a:t>void f1()</a:t>
            </a:r>
          </a:p>
          <a:p>
            <a:r>
              <a:rPr kumimoji="1" lang="en-US" altLang="zh-CN" sz="1200" b="1" dirty="0">
                <a:latin typeface="+mn-ea"/>
              </a:rPr>
              <a:t>{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int a = 15;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"f1-1 " &lt;&lt; &amp;a &lt;&lt; ' '&lt;&lt; a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</a:p>
          <a:p>
            <a:pPr fontAlgn="base"/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f2();</a:t>
            </a:r>
          </a:p>
          <a:p>
            <a:pPr fontAlgn="base"/>
            <a:r>
              <a:rPr kumimoji="1" lang="en-US" altLang="zh-CN" sz="1200" b="1" dirty="0">
                <a:latin typeface="+mn-ea"/>
              </a:rPr>
              <a:t>    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en-US" altLang="zh-CN" sz="1200" b="1" dirty="0">
                <a:latin typeface="+mn-ea"/>
              </a:rPr>
              <a:t> &lt;&lt; "f1-2 " &lt;&lt; </a:t>
            </a:r>
            <a:r>
              <a:rPr kumimoji="1" lang="en-US" altLang="zh-CN" sz="1200" b="1" dirty="0" err="1">
                <a:latin typeface="+mn-ea"/>
              </a:rPr>
              <a:t>endl</a:t>
            </a:r>
            <a:r>
              <a:rPr kumimoji="1" lang="en-US" altLang="zh-CN" sz="1200" b="1" dirty="0">
                <a:latin typeface="+mn-ea"/>
              </a:rPr>
              <a:t>;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f1();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4494998" y="1323975"/>
            <a:ext cx="6344452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1</a:t>
            </a:r>
            <a:r>
              <a:rPr kumimoji="1" lang="zh-CN" altLang="en-US" sz="1200" b="1" dirty="0">
                <a:latin typeface="+mn-ea"/>
              </a:rPr>
              <a:t>、运行结果截图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2</a:t>
            </a:r>
            <a:r>
              <a:rPr kumimoji="1" lang="zh-CN" altLang="en-US" sz="1200" b="1" dirty="0">
                <a:latin typeface="+mn-ea"/>
              </a:rPr>
              <a:t>、结论：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2.1 f1/f2/f3</a:t>
            </a:r>
            <a:r>
              <a:rPr kumimoji="1" lang="zh-CN" altLang="en-US" sz="1200" b="1" dirty="0">
                <a:latin typeface="+mn-ea"/>
              </a:rPr>
              <a:t>中的三个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占用</a:t>
            </a:r>
            <a:r>
              <a:rPr kumimoji="1" lang="en-US" altLang="zh-CN" sz="1200" b="1" dirty="0">
                <a:latin typeface="+mn-ea"/>
              </a:rPr>
              <a:t>__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相同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不同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空间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2.2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2.3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2.4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cout-1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2.5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f2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>
                <a:latin typeface="+mn-ea"/>
              </a:rPr>
              <a:t>cout-2</a:t>
            </a:r>
            <a:r>
              <a:rPr kumimoji="1" lang="zh-CN" altLang="en-US" sz="1200" b="1" dirty="0">
                <a:latin typeface="+mn-ea"/>
              </a:rPr>
              <a:t>语句，则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f3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___(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   </a:t>
            </a:r>
            <a:r>
              <a:rPr kumimoji="1" lang="en-US" altLang="zh-CN" sz="1200" b="1" dirty="0">
                <a:latin typeface="+mn-ea"/>
              </a:rPr>
              <a:t>2.6 </a:t>
            </a:r>
            <a:r>
              <a:rPr kumimoji="1" lang="zh-CN" altLang="en-US" sz="1200" b="1" dirty="0">
                <a:latin typeface="+mn-ea"/>
              </a:rPr>
              <a:t>如果当前正在执行</a:t>
            </a:r>
            <a:r>
              <a:rPr kumimoji="1" lang="en-US" altLang="zh-CN" sz="1200" b="1" dirty="0">
                <a:latin typeface="+mn-ea"/>
              </a:rPr>
              <a:t>f3</a:t>
            </a:r>
            <a:r>
              <a:rPr kumimoji="1" lang="zh-CN" altLang="en-US" sz="1200" b="1" dirty="0">
                <a:latin typeface="+mn-ea"/>
              </a:rPr>
              <a:t>函数的</a:t>
            </a:r>
            <a:r>
              <a:rPr kumimoji="1" lang="en-US" altLang="zh-CN" sz="1200" b="1" dirty="0" err="1">
                <a:latin typeface="+mn-ea"/>
              </a:rPr>
              <a:t>cout</a:t>
            </a:r>
            <a:r>
              <a:rPr kumimoji="1" lang="zh-CN" altLang="en-US" sz="1200" b="1" dirty="0">
                <a:latin typeface="+mn-ea"/>
              </a:rPr>
              <a:t>语句，  则</a:t>
            </a:r>
            <a:r>
              <a:rPr kumimoji="1" lang="en-US" altLang="zh-CN" sz="1200" b="1" dirty="0">
                <a:latin typeface="+mn-ea"/>
              </a:rPr>
              <a:t>f1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  <a:r>
              <a:rPr kumimoji="1" lang="zh-CN" altLang="en-US" sz="1200" b="1" dirty="0">
                <a:latin typeface="+mn-ea"/>
              </a:rPr>
              <a:t>，</a:t>
            </a:r>
            <a:r>
              <a:rPr kumimoji="1" lang="en-US" altLang="zh-CN" sz="1200" b="1" dirty="0">
                <a:latin typeface="+mn-ea"/>
              </a:rPr>
              <a:t> f2</a:t>
            </a:r>
            <a:r>
              <a:rPr kumimoji="1" lang="zh-CN" altLang="en-US" sz="1200" b="1" dirty="0">
                <a:latin typeface="+mn-ea"/>
              </a:rPr>
              <a:t>中的</a:t>
            </a:r>
            <a:r>
              <a:rPr kumimoji="1" lang="en-US" altLang="zh-CN" sz="1200" b="1" dirty="0">
                <a:latin typeface="+mn-ea"/>
              </a:rPr>
              <a:t>a___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__(</a:t>
            </a:r>
            <a:r>
              <a:rPr kumimoji="1" lang="zh-CN" altLang="en-US" sz="1200" b="1" dirty="0">
                <a:latin typeface="+mn-ea"/>
              </a:rPr>
              <a:t>未分配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已分配</a:t>
            </a:r>
            <a:r>
              <a:rPr kumimoji="1" lang="en-US" altLang="zh-CN" sz="1200" b="1" dirty="0">
                <a:latin typeface="+mn-ea"/>
              </a:rPr>
              <a:t>/</a:t>
            </a:r>
            <a:r>
              <a:rPr kumimoji="1" lang="zh-CN" altLang="en-US" sz="1200" b="1" dirty="0">
                <a:latin typeface="+mn-ea"/>
              </a:rPr>
              <a:t>已释放</a:t>
            </a:r>
            <a:r>
              <a:rPr kumimoji="1" lang="en-US" altLang="zh-CN" sz="12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latin typeface="+mn-ea"/>
              </a:rPr>
              <a:t>   2.7 </a:t>
            </a:r>
            <a:r>
              <a:rPr kumimoji="1" lang="zh-CN" altLang="en-US" sz="1200" b="1" dirty="0">
                <a:latin typeface="+mn-ea"/>
              </a:rPr>
              <a:t>上述</a:t>
            </a:r>
            <a:r>
              <a:rPr kumimoji="1" lang="en-US" altLang="zh-CN" sz="1200" b="1" dirty="0">
                <a:latin typeface="+mn-ea"/>
              </a:rPr>
              <a:t>2.2~2.6</a:t>
            </a:r>
            <a:r>
              <a:rPr kumimoji="1" lang="zh-CN" altLang="en-US" sz="1200" b="1" dirty="0">
                <a:latin typeface="+mn-ea"/>
              </a:rPr>
              <a:t>问题中如果某个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是已分配状态，则此时这个</a:t>
            </a:r>
            <a:r>
              <a:rPr kumimoji="1" lang="en-US" altLang="zh-CN" sz="1200" b="1" dirty="0">
                <a:latin typeface="+mn-ea"/>
              </a:rPr>
              <a:t>a</a:t>
            </a:r>
            <a:r>
              <a:rPr kumimoji="1" lang="zh-CN" altLang="en-US" sz="1200" b="1" dirty="0">
                <a:latin typeface="+mn-ea"/>
              </a:rPr>
              <a:t>在何处？</a:t>
            </a:r>
            <a:endParaRPr kumimoji="1" lang="en-US" altLang="zh-CN" sz="12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latin typeface="+mn-ea"/>
              </a:rPr>
              <a:t>系统栈</a:t>
            </a:r>
            <a:endParaRPr kumimoji="1" lang="en-US" altLang="zh-CN" sz="12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99288D-D7A1-324A-A05C-6DD45F463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194" y="482400"/>
            <a:ext cx="4286848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7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72971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r>
              <a:rPr lang="en-US" altLang="zh-CN" sz="1600" b="1" dirty="0">
                <a:latin typeface="+mn-ea"/>
              </a:rPr>
              <a:t>void fun()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i,a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a=15;</a:t>
            </a:r>
          </a:p>
          <a:p>
            <a:r>
              <a:rPr lang="en-US" altLang="zh-CN" sz="1600" b="1" dirty="0">
                <a:latin typeface="+mn-ea"/>
              </a:rPr>
              <a:t>    for(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=0;i&lt;10;i++) {</a:t>
            </a:r>
          </a:p>
          <a:p>
            <a:r>
              <a:rPr lang="en-US" altLang="zh-CN" sz="1600" b="1" dirty="0">
                <a:latin typeface="+mn-ea"/>
              </a:rPr>
              <a:t>        int y;</a:t>
            </a:r>
          </a:p>
          <a:p>
            <a:r>
              <a:rPr lang="en-US" altLang="zh-CN" sz="1600" b="1" dirty="0">
                <a:latin typeface="+mn-ea"/>
              </a:rPr>
              <a:t>        y=11;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a=16;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   }</a:t>
            </a:r>
          </a:p>
          <a:p>
            <a:r>
              <a:rPr lang="en-US" altLang="zh-CN" sz="1600" b="1" dirty="0">
                <a:latin typeface="+mn-ea"/>
              </a:rPr>
              <a:t>     y=12;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 a=17;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“2350222-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fun();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endParaRPr lang="en-US" altLang="zh-CN" sz="16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复合语句内的变量只在复合语句中有效，因此在</a:t>
            </a:r>
            <a:r>
              <a:rPr kumimoji="1" lang="en-US" altLang="zh-CN" sz="1600" b="1" dirty="0">
                <a:latin typeface="+mn-ea"/>
              </a:rPr>
              <a:t>for</a:t>
            </a:r>
            <a:r>
              <a:rPr kumimoji="1" lang="zh-CN" altLang="en-US" sz="1600" b="1" dirty="0">
                <a:latin typeface="+mn-ea"/>
              </a:rPr>
              <a:t>循环的</a:t>
            </a:r>
            <a:r>
              <a:rPr kumimoji="1" lang="en-US" altLang="zh-CN" sz="1600" b="1" dirty="0">
                <a:latin typeface="+mn-ea"/>
              </a:rPr>
              <a:t>{}</a:t>
            </a:r>
            <a:r>
              <a:rPr kumimoji="1" lang="zh-CN" altLang="en-US" sz="1600" b="1" dirty="0">
                <a:latin typeface="+mn-ea"/>
              </a:rPr>
              <a:t>中定义的</a:t>
            </a:r>
            <a:r>
              <a:rPr kumimoji="1" lang="en-US" altLang="zh-CN" sz="1600" b="1" dirty="0">
                <a:latin typeface="+mn-ea"/>
              </a:rPr>
              <a:t>y</a:t>
            </a:r>
            <a:r>
              <a:rPr kumimoji="1" lang="zh-CN" altLang="en-US" sz="1600" b="1" dirty="0">
                <a:latin typeface="+mn-ea"/>
              </a:rPr>
              <a:t>变量只在其中有效。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74DC92-1750-2240-82CA-A37B8E8B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403" y="2882507"/>
            <a:ext cx="410584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711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</a:p>
          <a:p>
            <a:r>
              <a:rPr lang="en-US" altLang="zh-CN" sz="12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void fun()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i,a</a:t>
            </a:r>
            <a:r>
              <a:rPr lang="en-US" altLang="zh-CN" sz="1200" b="1" dirty="0">
                <a:latin typeface="+mn-ea"/>
              </a:rPr>
              <a:t>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int y;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y=11;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a=16;</a:t>
            </a:r>
            <a:endParaRPr lang="en-US" altLang="zh-CN" sz="1200" b="1" dirty="0">
              <a:solidFill>
                <a:srgbClr val="FF0000"/>
              </a:solidFill>
              <a:latin typeface="+mn-ea"/>
              <a:sym typeface="Wingdings 2" pitchFamily="18" charset="2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{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int w=10;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y=12;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a=13;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    w=14;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  <a:sym typeface="Wingdings 2" pitchFamily="18" charset="2"/>
              </a:rPr>
              <a:t>        }</a:t>
            </a:r>
            <a:endParaRPr lang="en-US" altLang="zh-CN" sz="1200" b="1" dirty="0"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    w=15;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}</a:t>
            </a: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y=12;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    a=17;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1200" b="1" dirty="0">
                <a:latin typeface="+mn-ea"/>
              </a:rPr>
              <a:t>}</a:t>
            </a: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"2350222-</a:t>
            </a:r>
            <a:r>
              <a:rPr lang="zh-CN" altLang="en-US" sz="1200" b="1" dirty="0">
                <a:latin typeface="+mn-ea"/>
              </a:rPr>
              <a:t>盛曦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fun();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  <a:p>
            <a:endParaRPr lang="en-US" altLang="zh-CN" sz="12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dirty="0">
                <a:latin typeface="+mn-ea"/>
              </a:rPr>
              <a:t>复合语句中定义的变量只在复合语句中有效，以该变量为基准向上找</a:t>
            </a:r>
            <a:r>
              <a:rPr kumimoji="1" lang="en-US" altLang="zh-CN" sz="1600" b="1" dirty="0">
                <a:latin typeface="+mn-ea"/>
              </a:rPr>
              <a:t>{</a:t>
            </a:r>
            <a:r>
              <a:rPr kumimoji="1" lang="zh-CN" altLang="en-US" sz="1600" b="1" dirty="0">
                <a:latin typeface="+mn-ea"/>
              </a:rPr>
              <a:t>，向下找</a:t>
            </a:r>
            <a:r>
              <a:rPr kumimoji="1" lang="en-US" altLang="zh-CN" sz="1600" b="1" dirty="0">
                <a:latin typeface="+mn-ea"/>
              </a:rPr>
              <a:t>}</a:t>
            </a:r>
            <a:r>
              <a:rPr kumimoji="1" lang="zh-CN" altLang="en-US" sz="1600" b="1" dirty="0">
                <a:latin typeface="+mn-ea"/>
              </a:rPr>
              <a:t>，在</a:t>
            </a:r>
            <a:r>
              <a:rPr kumimoji="1" lang="en-US" altLang="zh-CN" sz="1600" b="1" dirty="0">
                <a:latin typeface="+mn-ea"/>
              </a:rPr>
              <a:t>{}</a:t>
            </a:r>
            <a:r>
              <a:rPr kumimoji="1" lang="zh-CN" altLang="en-US" sz="1600" b="1" dirty="0">
                <a:latin typeface="+mn-ea"/>
              </a:rPr>
              <a:t>中就是变量的有效范围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BF9C0E-FDED-593C-87EF-45C9AF1D3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796" y="2771683"/>
            <a:ext cx="4153480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22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、局部变量的作用范围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lnSpc>
                <a:spcPct val="95000"/>
              </a:lnSpc>
            </a:pPr>
            <a:endParaRPr lang="en-US" altLang="zh-CN" sz="1600" b="1" dirty="0"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void fun()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a=14;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a;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fun();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1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、结论：在某个函数</a:t>
            </a:r>
            <a:r>
              <a:rPr kumimoji="1" lang="en-US" altLang="zh-CN" sz="1600" b="1" dirty="0">
                <a:latin typeface="+mn-ea"/>
              </a:rPr>
              <a:t>(main)</a:t>
            </a:r>
            <a:r>
              <a:rPr kumimoji="1" lang="zh-CN" altLang="en-US" sz="1600" b="1" dirty="0">
                <a:latin typeface="+mn-ea"/>
              </a:rPr>
              <a:t>中定义的自动变量，在它的调用函数</a:t>
            </a:r>
            <a:r>
              <a:rPr kumimoji="1" lang="en-US" altLang="zh-CN" sz="1600" b="1" dirty="0">
                <a:latin typeface="+mn-ea"/>
              </a:rPr>
              <a:t>(fun)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允许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不允许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访问</a:t>
            </a: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4B09D83-8068-FB4B-957C-79B79EFA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964" y="2956505"/>
            <a:ext cx="4020111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83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8467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/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f1()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a=15;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a=16;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f2()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a=17;</a:t>
            </a:r>
          </a:p>
          <a:p>
            <a:pPr fontAlgn="base"/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zh-CN" altLang="en-US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、解释出现的</a:t>
            </a:r>
            <a:r>
              <a:rPr kumimoji="1" lang="en-US" altLang="zh-CN" sz="1600" b="1" dirty="0">
                <a:latin typeface="+mn-ea"/>
              </a:rPr>
              <a:t>error/warning</a:t>
            </a:r>
            <a:r>
              <a:rPr kumimoji="1" lang="zh-CN" altLang="en-US" sz="1600" b="1" dirty="0">
                <a:latin typeface="+mn-ea"/>
              </a:rPr>
              <a:t>的原因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全局变量只在定义点到源文件结束之间有效，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在定义点前面，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无法被访问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3D90F5-2230-B156-C9AE-1662C443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782" y="2885728"/>
            <a:ext cx="4039164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8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void f1()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a=15;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"fa="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int main()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pPr>
              <a:spcBef>
                <a:spcPts val="200"/>
              </a:spcBef>
            </a:pPr>
            <a:endParaRPr lang="en-US" altLang="zh-CN" sz="1600" b="1" dirty="0"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a=10;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"ma1="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f1();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"ma2=" &lt;&lt; a &lt;&lt; ' '&lt;&lt;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    return 0;</a:t>
            </a:r>
          </a:p>
          <a:p>
            <a:pPr>
              <a:spcBef>
                <a:spcPts val="200"/>
              </a:spcBef>
            </a:pPr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DAD269D-94E7-2C38-31BC-44852C66F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2812674"/>
            <a:ext cx="4067743" cy="176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567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、全局变量的作用范围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C.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f1(int a)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a=15;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"fa="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/*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注意：输出必须改为自己学号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姓名 *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"2350222-</a:t>
            </a:r>
            <a:r>
              <a:rPr lang="zh-CN" altLang="en-US" sz="1600" b="1" dirty="0">
                <a:latin typeface="+mn-ea"/>
              </a:rPr>
              <a:t>盛曦</a:t>
            </a:r>
            <a:r>
              <a:rPr lang="en-US" altLang="zh-CN" sz="1600" b="1" dirty="0">
                <a:latin typeface="+mn-ea"/>
              </a:rPr>
              <a:t>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a =10;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"ma1="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a = f1(a);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"ma2=" &lt;&lt; a &lt;&lt; ' ' &lt;&lt; &amp;a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、由运行结果中的地址可以证明，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中访问的变量</a:t>
            </a:r>
            <a:r>
              <a:rPr kumimoji="1" lang="en-US" altLang="zh-CN" sz="1600" b="1" dirty="0">
                <a:latin typeface="+mn-ea"/>
              </a:rPr>
              <a:t>a___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的</a:t>
            </a:r>
            <a:r>
              <a:rPr kumimoji="1" lang="en-US" altLang="zh-CN" sz="1600" b="1" dirty="0"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不是全局变量，解释为什么</a:t>
            </a:r>
            <a:r>
              <a:rPr kumimoji="1" lang="en-US" altLang="zh-CN" sz="1600" b="1" dirty="0">
                <a:latin typeface="+mn-ea"/>
              </a:rPr>
              <a:t>ma1</a:t>
            </a:r>
            <a:r>
              <a:rPr kumimoji="1" lang="zh-CN" altLang="en-US" sz="1600" b="1" dirty="0">
                <a:latin typeface="+mn-ea"/>
              </a:rPr>
              <a:t>和</a:t>
            </a:r>
            <a:r>
              <a:rPr kumimoji="1" lang="en-US" altLang="zh-CN" sz="1600" b="1" dirty="0">
                <a:latin typeface="+mn-ea"/>
              </a:rPr>
              <a:t>ma2</a:t>
            </a:r>
            <a:r>
              <a:rPr kumimoji="1" lang="zh-CN" altLang="en-US" sz="1600" b="1" dirty="0">
                <a:latin typeface="+mn-ea"/>
              </a:rPr>
              <a:t>两句</a:t>
            </a:r>
            <a:r>
              <a:rPr kumimoji="1" lang="en-US" altLang="zh-CN" sz="1600" b="1" dirty="0" err="1">
                <a:latin typeface="+mn-ea"/>
              </a:rPr>
              <a:t>cout</a:t>
            </a:r>
            <a:r>
              <a:rPr kumimoji="1" lang="zh-CN" altLang="en-US" sz="1600" b="1" dirty="0">
                <a:latin typeface="+mn-ea"/>
              </a:rPr>
              <a:t>输出的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值不相同？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是如何被改变的？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因为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被赋值了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的返回值，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的返回值就是</a:t>
            </a:r>
            <a:r>
              <a:rPr kumimoji="1" lang="en-US" altLang="zh-CN" sz="1600" b="1" dirty="0">
                <a:latin typeface="+mn-ea"/>
              </a:rPr>
              <a:t>f1</a:t>
            </a:r>
            <a:r>
              <a:rPr kumimoji="1" lang="zh-CN" altLang="en-US" sz="1600" b="1" dirty="0">
                <a:latin typeface="+mn-ea"/>
              </a:rPr>
              <a:t>中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的值，因此</a:t>
            </a:r>
            <a:r>
              <a:rPr kumimoji="1" lang="en-US" altLang="zh-CN" sz="1600" b="1" dirty="0">
                <a:latin typeface="+mn-ea"/>
              </a:rPr>
              <a:t>main</a:t>
            </a:r>
            <a:r>
              <a:rPr kumimoji="1" lang="zh-CN" altLang="en-US" sz="1600" b="1" dirty="0">
                <a:latin typeface="+mn-ea"/>
              </a:rPr>
              <a:t>中的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由</a:t>
            </a:r>
            <a:r>
              <a:rPr kumimoji="1" lang="en-US" altLang="zh-CN" sz="1600" b="1" dirty="0">
                <a:latin typeface="+mn-ea"/>
              </a:rPr>
              <a:t>10</a:t>
            </a:r>
            <a:r>
              <a:rPr kumimoji="1" lang="zh-CN" altLang="en-US" sz="1600" b="1" dirty="0">
                <a:latin typeface="+mn-ea"/>
              </a:rPr>
              <a:t>变成了</a:t>
            </a:r>
            <a:r>
              <a:rPr kumimoji="1" lang="en-US" altLang="zh-CN" sz="1600" b="1" dirty="0">
                <a:latin typeface="+mn-ea"/>
              </a:rPr>
              <a:t>15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E4B920-6553-06B3-D378-79B0366E1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970" y="2307106"/>
            <a:ext cx="4334480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18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22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a=10, b;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a=5, b;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"a1=" &lt;&lt; a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&amp;a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"b1=" &lt;&lt; b &lt;&lt; 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'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&amp;b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&lt;&lt;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void f2()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"a2="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"b2="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f2();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、由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可知，局部变量不初始化，初值为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不可信的数字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；全局变量不初始化，初值为</a:t>
            </a:r>
            <a:r>
              <a:rPr kumimoji="1" lang="en-US" altLang="zh-CN" sz="1600" b="1" dirty="0">
                <a:latin typeface="+mn-ea"/>
              </a:rPr>
              <a:t>__0____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、由截图可知，全局变量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的起始地址差</a:t>
            </a:r>
            <a:r>
              <a:rPr kumimoji="1" lang="en-US" altLang="zh-CN" sz="1600" b="1" dirty="0">
                <a:latin typeface="+mn-ea"/>
              </a:rPr>
              <a:t>__468_</a:t>
            </a:r>
            <a:r>
              <a:rPr kumimoji="1" lang="zh-CN" altLang="en-US" sz="1600" b="1" dirty="0">
                <a:latin typeface="+mn-ea"/>
              </a:rPr>
              <a:t>个字节；局部变量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之间差</a:t>
            </a:r>
            <a:r>
              <a:rPr kumimoji="1" lang="en-US" altLang="zh-CN" sz="1600" b="1" dirty="0">
                <a:latin typeface="+mn-ea"/>
              </a:rPr>
              <a:t>__12__</a:t>
            </a:r>
            <a:r>
              <a:rPr kumimoji="1" lang="zh-CN" altLang="en-US" sz="1600" b="1" dirty="0">
                <a:latin typeface="+mn-ea"/>
              </a:rPr>
              <a:t>个字节；全局和局部之前差</a:t>
            </a:r>
            <a:r>
              <a:rPr kumimoji="1" lang="en-US" altLang="zh-CN" sz="1600" b="1">
                <a:latin typeface="+mn-ea"/>
              </a:rPr>
              <a:t>__4878.633KB____(</a:t>
            </a:r>
            <a:r>
              <a:rPr kumimoji="1" lang="zh-CN" altLang="en-US" sz="1600" b="1" dirty="0">
                <a:latin typeface="+mn-ea"/>
              </a:rPr>
              <a:t>单位</a:t>
            </a:r>
            <a:r>
              <a:rPr kumimoji="1" lang="en-US" altLang="zh-CN" sz="1600" b="1" dirty="0">
                <a:latin typeface="+mn-ea"/>
              </a:rPr>
              <a:t>KB/MB</a:t>
            </a:r>
            <a:r>
              <a:rPr kumimoji="1" lang="zh-CN" altLang="en-US" sz="1600" b="1" dirty="0">
                <a:latin typeface="+mn-ea"/>
              </a:rPr>
              <a:t>均可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，说明这是两个不同的存储区，全局变量在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静态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存储区，局部变量在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动态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存储区。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94EC10-C03F-C286-E1E4-6AF89F536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511" y="2187288"/>
            <a:ext cx="4086795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72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、变量同名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B.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 a=10;</a:t>
            </a:r>
          </a:p>
          <a:p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short a;</a:t>
            </a: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int x=5;</a:t>
            </a: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double x=1.2;</a:t>
            </a:r>
          </a:p>
          <a:p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 short p=1, p=2;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24401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4.A/4.B</a:t>
            </a:r>
            <a:r>
              <a:rPr kumimoji="1" lang="zh-CN" altLang="en-US" sz="1600" b="1" dirty="0">
                <a:latin typeface="+mn-ea"/>
              </a:rPr>
              <a:t>可以得知：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级别的变量允许同名；</a:t>
            </a:r>
            <a:r>
              <a:rPr kumimoji="1" lang="en-US" altLang="zh-CN" sz="1600" b="1" dirty="0">
                <a:latin typeface="+mn-ea"/>
              </a:rPr>
              <a:t> __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相同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不同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级别的变量不允许同名；变量同名是的使用规则是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低层屏蔽高层</a:t>
            </a:r>
            <a:r>
              <a:rPr kumimoji="1" lang="en-US" altLang="zh-CN" sz="1600" b="1" dirty="0">
                <a:latin typeface="+mn-ea"/>
              </a:rPr>
              <a:t>_________</a:t>
            </a:r>
            <a:r>
              <a:rPr kumimoji="1" lang="zh-CN" altLang="en-US" sz="1600" b="1" dirty="0">
                <a:latin typeface="+mn-ea"/>
              </a:rPr>
              <a:t>。</a:t>
            </a:r>
            <a:endParaRPr kumimoji="1" lang="en-US" altLang="zh-CN" sz="1600" b="1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35674A-BF54-A54B-0029-84BD5B263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01" y="2609529"/>
            <a:ext cx="4782217" cy="3524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6A74808-DCF2-1F3A-6BA9-C1E53E30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776" y="3062301"/>
            <a:ext cx="4915586" cy="26673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39B253C-219D-AE41-FC64-5501D5A13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764" y="3528963"/>
            <a:ext cx="4477375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83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018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、自动变量与静态局部变量</a:t>
            </a:r>
            <a:endParaRPr lang="en-US" altLang="zh-CN" sz="16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   A.</a:t>
            </a:r>
            <a:r>
              <a:rPr lang="zh-CN" altLang="en-US" sz="1600" b="1" dirty="0">
                <a:latin typeface="+mn-ea"/>
              </a:rPr>
              <a:t>观察下列程序的运行结果，回答问题并将程序的运行结果截图贴上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如果有错则贴错误信息截图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46DDED7-DA1F-4F18-ACEF-244B92560D08}"/>
              </a:ext>
            </a:extLst>
          </p:cNvPr>
          <p:cNvSpPr/>
          <p:nvPr/>
        </p:nvSpPr>
        <p:spPr bwMode="auto">
          <a:xfrm>
            <a:off x="592114" y="1323975"/>
            <a:ext cx="10247336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void f1()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a=1;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a++;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"a=" &lt;&lt; a &lt;&lt; ' ' &lt;&lt; &amp;a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static int b=1;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b++;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"b=" &lt;&lt; b &lt;&lt; ' ' &lt;&lt; &amp;b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f1();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796D6E-7794-4E09-A096-348F9B2F78C7}"/>
              </a:ext>
            </a:extLst>
          </p:cNvPr>
          <p:cNvSpPr/>
          <p:nvPr/>
        </p:nvSpPr>
        <p:spPr bwMode="auto">
          <a:xfrm>
            <a:off x="5534026" y="1323975"/>
            <a:ext cx="5305424" cy="521017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注：如果是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error</a:t>
            </a:r>
            <a:r>
              <a:rPr kumimoji="1" lang="zh-CN" altLang="en-US" sz="1600" b="1" dirty="0">
                <a:latin typeface="+mn-ea"/>
              </a:rPr>
              <a:t>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如果是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，贴</a:t>
            </a:r>
            <a:r>
              <a:rPr kumimoji="1" lang="en-US" altLang="zh-CN" sz="1600" b="1" dirty="0">
                <a:latin typeface="+mn-ea"/>
              </a:rPr>
              <a:t>warning</a:t>
            </a:r>
            <a:r>
              <a:rPr kumimoji="1" lang="zh-CN" altLang="en-US" sz="1600" b="1" dirty="0">
                <a:latin typeface="+mn-ea"/>
              </a:rPr>
              <a:t>截图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 </a:t>
            </a:r>
            <a:r>
              <a:rPr kumimoji="1" lang="zh-CN" altLang="en-US" sz="1600" b="1" dirty="0">
                <a:latin typeface="+mn-ea"/>
              </a:rPr>
              <a:t>如果正常，贴运行结果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、截图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、结合</a:t>
            </a:r>
            <a:r>
              <a:rPr kumimoji="1" lang="en-US" altLang="zh-CN" sz="1600" b="1" dirty="0">
                <a:latin typeface="+mn-ea"/>
              </a:rPr>
              <a:t>a/b</a:t>
            </a:r>
            <a:r>
              <a:rPr kumimoji="1" lang="zh-CN" altLang="en-US" sz="1600" b="1" dirty="0">
                <a:latin typeface="+mn-ea"/>
              </a:rPr>
              <a:t>各自的地址和值，得到结论为：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自动变量</a:t>
            </a:r>
            <a:r>
              <a:rPr kumimoji="1" lang="en-US" altLang="zh-CN" sz="1600" b="1" dirty="0">
                <a:latin typeface="+mn-ea"/>
              </a:rPr>
              <a:t>a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静态局部变量</a:t>
            </a:r>
            <a:r>
              <a:rPr kumimoji="1" lang="en-US" altLang="zh-CN" sz="1600" b="1" dirty="0">
                <a:latin typeface="+mn-ea"/>
              </a:rPr>
              <a:t>b</a:t>
            </a:r>
            <a:r>
              <a:rPr kumimoji="1" lang="zh-CN" altLang="en-US" sz="1600" b="1" dirty="0">
                <a:latin typeface="+mn-ea"/>
              </a:rPr>
              <a:t>多次调用，则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__(</a:t>
            </a:r>
            <a:r>
              <a:rPr kumimoji="1" lang="zh-CN" altLang="en-US" sz="1600" b="1" dirty="0">
                <a:latin typeface="+mn-ea"/>
              </a:rPr>
              <a:t>每次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仅第一次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进行初始化，函数运行结束后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_(</a:t>
            </a:r>
            <a:r>
              <a:rPr kumimoji="1" lang="zh-CN" altLang="en-US" sz="1600" b="1" dirty="0">
                <a:latin typeface="+mn-ea"/>
              </a:rPr>
              <a:t>会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不会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释放空间，下次进入时</a:t>
            </a:r>
            <a:r>
              <a:rPr kumimoji="1" lang="en-US" altLang="zh-CN" sz="1600" b="1" dirty="0">
                <a:latin typeface="+mn-ea"/>
              </a:rPr>
              <a:t>__</a:t>
            </a:r>
            <a:r>
              <a:rPr kumimoji="1" lang="zh-CN" altLang="en-US" sz="1600" b="1" dirty="0">
                <a:latin typeface="+mn-ea"/>
              </a:rPr>
              <a:t>继续使用上次空间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再次分配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继续使用上次的空间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根据上面的分析结果，自动变量应该放在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  <a:r>
              <a:rPr kumimoji="1" lang="zh-CN" altLang="en-US" sz="1600" b="1" dirty="0">
                <a:latin typeface="+mn-ea"/>
              </a:rPr>
              <a:t>，静态局部变量应该放在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___(</a:t>
            </a:r>
            <a:r>
              <a:rPr kumimoji="1" lang="zh-CN" altLang="en-US" sz="1600" b="1" dirty="0">
                <a:latin typeface="+mn-ea"/>
              </a:rPr>
              <a:t>动态数据区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静态数据区</a:t>
            </a:r>
            <a:r>
              <a:rPr kumimoji="1" lang="en-US" altLang="zh-CN" sz="1600" b="1" dirty="0">
                <a:latin typeface="+mn-ea"/>
              </a:rPr>
              <a:t>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777FF0-8418-8B8A-48BA-4E9925BC4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707" y="1811937"/>
            <a:ext cx="3248911" cy="196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445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变量类型</a:t>
            </a:r>
            <a:endParaRPr lang="en-US" altLang="zh-CN" sz="2800" b="1" dirty="0">
              <a:latin typeface="+mn-ea"/>
            </a:endParaRPr>
          </a:p>
          <a:p>
            <a:pPr eaLnBrk="1" hangingPunct="1"/>
            <a:endParaRPr lang="en-US" altLang="zh-CN" sz="2800" b="1" dirty="0">
              <a:latin typeface="+mn-ea"/>
            </a:endParaRPr>
          </a:p>
          <a:p>
            <a:pPr eaLnBrk="1" hangingPunct="1"/>
            <a:r>
              <a:rPr lang="zh-CN" altLang="en-US" sz="2800" b="1" dirty="0">
                <a:latin typeface="+mn-ea"/>
              </a:rPr>
              <a:t>此页不要删除，也没有意义，仅仅为了分隔题目</a:t>
            </a:r>
            <a:endParaRPr lang="en-US" altLang="zh-CN" sz="2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7091014"/>
      </p:ext>
    </p:extLst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1801</TotalTime>
  <Words>3392</Words>
  <Application>Microsoft Office PowerPoint</Application>
  <PresentationFormat>宽屏</PresentationFormat>
  <Paragraphs>513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宋体</vt:lpstr>
      <vt:lpstr>Times New Roman</vt:lpstr>
      <vt:lpstr>等线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xi sheng</cp:lastModifiedBy>
  <cp:revision>245</cp:revision>
  <dcterms:created xsi:type="dcterms:W3CDTF">2020-08-13T13:39:53Z</dcterms:created>
  <dcterms:modified xsi:type="dcterms:W3CDTF">2024-06-23T01:46:08Z</dcterms:modified>
</cp:coreProperties>
</file>