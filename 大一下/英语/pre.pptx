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53"/>
  </p:notesMasterIdLst>
  <p:sldIdLst>
    <p:sldId id="256" r:id="rId2"/>
    <p:sldId id="257" r:id="rId3"/>
    <p:sldId id="258" r:id="rId4"/>
    <p:sldId id="259" r:id="rId5"/>
    <p:sldId id="260" r:id="rId6"/>
    <p:sldId id="261" r:id="rId7"/>
    <p:sldId id="310" r:id="rId8"/>
    <p:sldId id="263" r:id="rId9"/>
    <p:sldId id="264" r:id="rId10"/>
    <p:sldId id="265" r:id="rId11"/>
    <p:sldId id="266" r:id="rId12"/>
    <p:sldId id="267" r:id="rId13"/>
    <p:sldId id="293" r:id="rId14"/>
    <p:sldId id="268" r:id="rId15"/>
    <p:sldId id="269" r:id="rId16"/>
    <p:sldId id="294" r:id="rId17"/>
    <p:sldId id="295" r:id="rId18"/>
    <p:sldId id="270" r:id="rId19"/>
    <p:sldId id="271" r:id="rId20"/>
    <p:sldId id="272" r:id="rId21"/>
    <p:sldId id="273" r:id="rId22"/>
    <p:sldId id="296" r:id="rId23"/>
    <p:sldId id="274" r:id="rId24"/>
    <p:sldId id="275" r:id="rId25"/>
    <p:sldId id="276" r:id="rId26"/>
    <p:sldId id="277" r:id="rId27"/>
    <p:sldId id="278" r:id="rId28"/>
    <p:sldId id="279" r:id="rId29"/>
    <p:sldId id="280" r:id="rId30"/>
    <p:sldId id="281" r:id="rId31"/>
    <p:sldId id="282" r:id="rId32"/>
    <p:sldId id="283" r:id="rId33"/>
    <p:sldId id="284" r:id="rId34"/>
    <p:sldId id="297" r:id="rId35"/>
    <p:sldId id="298" r:id="rId36"/>
    <p:sldId id="309" r:id="rId37"/>
    <p:sldId id="285" r:id="rId38"/>
    <p:sldId id="286" r:id="rId39"/>
    <p:sldId id="287" r:id="rId40"/>
    <p:sldId id="288" r:id="rId41"/>
    <p:sldId id="299" r:id="rId42"/>
    <p:sldId id="300" r:id="rId43"/>
    <p:sldId id="301" r:id="rId44"/>
    <p:sldId id="302" r:id="rId45"/>
    <p:sldId id="303" r:id="rId46"/>
    <p:sldId id="304" r:id="rId47"/>
    <p:sldId id="305" r:id="rId48"/>
    <p:sldId id="306" r:id="rId49"/>
    <p:sldId id="307" r:id="rId50"/>
    <p:sldId id="308" r:id="rId51"/>
    <p:sldId id="291" r:id="rId52"/>
  </p:sldIdLst>
  <p:sldSz cx="9144000" cy="5143500" type="screen16x9"/>
  <p:notesSz cx="5143500" cy="9144000"/>
  <p:custDataLst>
    <p:tags r:id="rId54"/>
  </p:custData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3BC3520-E518-4835-8127-A0A9FD7BA77F}" v="48" dt="2024-06-17T02:30:53.55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76561" autoAdjust="0"/>
  </p:normalViewPr>
  <p:slideViewPr>
    <p:cSldViewPr snapToGrid="0" snapToObjects="1">
      <p:cViewPr varScale="1">
        <p:scale>
          <a:sx n="89" d="100"/>
          <a:sy n="89" d="100"/>
        </p:scale>
        <p:origin x="1038"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notesMaster" Target="notesMasters/notesMaster1.xml"/><Relationship Id="rId58" Type="http://schemas.openxmlformats.org/officeDocument/2006/relationships/tableStyles" Target="tableStyles.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microsoft.com/office/2016/11/relationships/changesInfo" Target="changesInfos/changesInfo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ags" Target="tags/tag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heme" Target="theme/theme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xi sheng" userId="b3919e0d8ca6a452" providerId="LiveId" clId="{13BC3520-E518-4835-8127-A0A9FD7BA77F}"/>
    <pc:docChg chg="undo custSel addSld delSld modSld">
      <pc:chgData name="xi sheng" userId="b3919e0d8ca6a452" providerId="LiveId" clId="{13BC3520-E518-4835-8127-A0A9FD7BA77F}" dt="2024-06-17T02:33:59.775" v="636" actId="14100"/>
      <pc:docMkLst>
        <pc:docMk/>
      </pc:docMkLst>
      <pc:sldChg chg="addSp delSp modSp mod modNotesTx">
        <pc:chgData name="xi sheng" userId="b3919e0d8ca6a452" providerId="LiveId" clId="{13BC3520-E518-4835-8127-A0A9FD7BA77F}" dt="2024-06-17T02:26:27.159" v="413" actId="14100"/>
        <pc:sldMkLst>
          <pc:docMk/>
          <pc:sldMk cId="0" sldId="256"/>
        </pc:sldMkLst>
        <pc:spChg chg="add mod">
          <ac:chgData name="xi sheng" userId="b3919e0d8ca6a452" providerId="LiveId" clId="{13BC3520-E518-4835-8127-A0A9FD7BA77F}" dt="2024-06-17T02:26:27.159" v="413" actId="14100"/>
          <ac:spMkLst>
            <pc:docMk/>
            <pc:sldMk cId="0" sldId="256"/>
            <ac:spMk id="2" creationId="{89897127-F724-8B81-5B24-1FACBDAB36D5}"/>
          </ac:spMkLst>
        </pc:spChg>
        <pc:spChg chg="del mod">
          <ac:chgData name="xi sheng" userId="b3919e0d8ca6a452" providerId="LiveId" clId="{13BC3520-E518-4835-8127-A0A9FD7BA77F}" dt="2024-06-17T02:24:35.147" v="348" actId="478"/>
          <ac:spMkLst>
            <pc:docMk/>
            <pc:sldMk cId="0" sldId="256"/>
            <ac:spMk id="3" creationId="{00000000-0000-0000-0000-000000000000}"/>
          </ac:spMkLst>
        </pc:spChg>
      </pc:sldChg>
      <pc:sldChg chg="addSp delSp modSp mod modNotesTx">
        <pc:chgData name="xi sheng" userId="b3919e0d8ca6a452" providerId="LiveId" clId="{13BC3520-E518-4835-8127-A0A9FD7BA77F}" dt="2024-06-17T02:26:59.396" v="419" actId="1076"/>
        <pc:sldMkLst>
          <pc:docMk/>
          <pc:sldMk cId="0" sldId="259"/>
        </pc:sldMkLst>
        <pc:spChg chg="mod">
          <ac:chgData name="xi sheng" userId="b3919e0d8ca6a452" providerId="LiveId" clId="{13BC3520-E518-4835-8127-A0A9FD7BA77F}" dt="2024-06-17T02:26:59.396" v="419" actId="1076"/>
          <ac:spMkLst>
            <pc:docMk/>
            <pc:sldMk cId="0" sldId="259"/>
            <ac:spMk id="4" creationId="{00000000-0000-0000-0000-000000000000}"/>
          </ac:spMkLst>
        </pc:spChg>
        <pc:picChg chg="del">
          <ac:chgData name="xi sheng" userId="b3919e0d8ca6a452" providerId="LiveId" clId="{13BC3520-E518-4835-8127-A0A9FD7BA77F}" dt="2024-06-17T01:49:05.430" v="17" actId="478"/>
          <ac:picMkLst>
            <pc:docMk/>
            <pc:sldMk cId="0" sldId="259"/>
            <ac:picMk id="2" creationId="{00000000-0000-0000-0000-000000000000}"/>
          </ac:picMkLst>
        </pc:picChg>
        <pc:picChg chg="add mod">
          <ac:chgData name="xi sheng" userId="b3919e0d8ca6a452" providerId="LiveId" clId="{13BC3520-E518-4835-8127-A0A9FD7BA77F}" dt="2024-06-17T01:48:57.441" v="16" actId="1076"/>
          <ac:picMkLst>
            <pc:docMk/>
            <pc:sldMk cId="0" sldId="259"/>
            <ac:picMk id="6" creationId="{A99EE8BE-2FC3-4625-9FEB-EFD583BFBFF9}"/>
          </ac:picMkLst>
        </pc:picChg>
        <pc:picChg chg="add mod ord">
          <ac:chgData name="xi sheng" userId="b3919e0d8ca6a452" providerId="LiveId" clId="{13BC3520-E518-4835-8127-A0A9FD7BA77F}" dt="2024-06-17T02:26:56.032" v="418" actId="1076"/>
          <ac:picMkLst>
            <pc:docMk/>
            <pc:sldMk cId="0" sldId="259"/>
            <ac:picMk id="7" creationId="{828DB450-F7F3-8539-B532-E977C5063644}"/>
          </ac:picMkLst>
        </pc:picChg>
      </pc:sldChg>
      <pc:sldChg chg="addSp delSp modSp mod modAnim modNotesTx">
        <pc:chgData name="xi sheng" userId="b3919e0d8ca6a452" providerId="LiveId" clId="{13BC3520-E518-4835-8127-A0A9FD7BA77F}" dt="2024-06-17T02:20:38.195" v="340" actId="20577"/>
        <pc:sldMkLst>
          <pc:docMk/>
          <pc:sldMk cId="0" sldId="260"/>
        </pc:sldMkLst>
        <pc:spChg chg="mod">
          <ac:chgData name="xi sheng" userId="b3919e0d8ca6a452" providerId="LiveId" clId="{13BC3520-E518-4835-8127-A0A9FD7BA77F}" dt="2024-06-17T01:51:43.077" v="21" actId="21"/>
          <ac:spMkLst>
            <pc:docMk/>
            <pc:sldMk cId="0" sldId="260"/>
            <ac:spMk id="4" creationId="{00000000-0000-0000-0000-000000000000}"/>
          </ac:spMkLst>
        </pc:spChg>
        <pc:spChg chg="add del mod">
          <ac:chgData name="xi sheng" userId="b3919e0d8ca6a452" providerId="LiveId" clId="{13BC3520-E518-4835-8127-A0A9FD7BA77F}" dt="2024-06-17T01:56:14.782" v="40" actId="478"/>
          <ac:spMkLst>
            <pc:docMk/>
            <pc:sldMk cId="0" sldId="260"/>
            <ac:spMk id="9" creationId="{631AD077-9A6E-BFE2-9B87-C063EDE1E3F3}"/>
          </ac:spMkLst>
        </pc:spChg>
        <pc:spChg chg="add mod">
          <ac:chgData name="xi sheng" userId="b3919e0d8ca6a452" providerId="LiveId" clId="{13BC3520-E518-4835-8127-A0A9FD7BA77F}" dt="2024-06-17T02:06:08.782" v="163" actId="1076"/>
          <ac:spMkLst>
            <pc:docMk/>
            <pc:sldMk cId="0" sldId="260"/>
            <ac:spMk id="11" creationId="{A67D2317-89B9-E563-B3FB-73B06B4359B4}"/>
          </ac:spMkLst>
        </pc:spChg>
        <pc:spChg chg="add del mod">
          <ac:chgData name="xi sheng" userId="b3919e0d8ca6a452" providerId="LiveId" clId="{13BC3520-E518-4835-8127-A0A9FD7BA77F}" dt="2024-06-17T02:07:33.037" v="183" actId="478"/>
          <ac:spMkLst>
            <pc:docMk/>
            <pc:sldMk cId="0" sldId="260"/>
            <ac:spMk id="13" creationId="{15ECD0AC-95A9-FA44-3DAA-E6A69A6D0277}"/>
          </ac:spMkLst>
        </pc:spChg>
        <pc:spChg chg="add mod ord">
          <ac:chgData name="xi sheng" userId="b3919e0d8ca6a452" providerId="LiveId" clId="{13BC3520-E518-4835-8127-A0A9FD7BA77F}" dt="2024-06-17T02:07:39.266" v="186" actId="404"/>
          <ac:spMkLst>
            <pc:docMk/>
            <pc:sldMk cId="0" sldId="260"/>
            <ac:spMk id="14" creationId="{682C0B4C-ECCE-C835-57D4-953F3BF7282F}"/>
          </ac:spMkLst>
        </pc:spChg>
        <pc:picChg chg="add del mod">
          <ac:chgData name="xi sheng" userId="b3919e0d8ca6a452" providerId="LiveId" clId="{13BC3520-E518-4835-8127-A0A9FD7BA77F}" dt="2024-06-17T01:53:59.528" v="24" actId="478"/>
          <ac:picMkLst>
            <pc:docMk/>
            <pc:sldMk cId="0" sldId="260"/>
            <ac:picMk id="2" creationId="{F2DFBD34-CC74-6C0B-B6DE-4F4D77C827DD}"/>
          </ac:picMkLst>
        </pc:picChg>
        <pc:picChg chg="add del mod ord">
          <ac:chgData name="xi sheng" userId="b3919e0d8ca6a452" providerId="LiveId" clId="{13BC3520-E518-4835-8127-A0A9FD7BA77F}" dt="2024-06-17T02:07:04.099" v="175" actId="167"/>
          <ac:picMkLst>
            <pc:docMk/>
            <pc:sldMk cId="0" sldId="260"/>
            <ac:picMk id="6" creationId="{8D32D8FF-E0BB-3708-CF48-CACF866F6AB5}"/>
          </ac:picMkLst>
        </pc:picChg>
        <pc:picChg chg="add del mod">
          <ac:chgData name="xi sheng" userId="b3919e0d8ca6a452" providerId="LiveId" clId="{13BC3520-E518-4835-8127-A0A9FD7BA77F}" dt="2024-06-17T01:58:59.707" v="45" actId="478"/>
          <ac:picMkLst>
            <pc:docMk/>
            <pc:sldMk cId="0" sldId="260"/>
            <ac:picMk id="7" creationId="{83DB1C68-92E1-CF6D-5C6D-395DB5E85314}"/>
          </ac:picMkLst>
        </pc:picChg>
      </pc:sldChg>
      <pc:sldChg chg="addSp modSp mod modAnim modNotesTx">
        <pc:chgData name="xi sheng" userId="b3919e0d8ca6a452" providerId="LiveId" clId="{13BC3520-E518-4835-8127-A0A9FD7BA77F}" dt="2024-06-17T02:30:59.987" v="498" actId="20577"/>
        <pc:sldMkLst>
          <pc:docMk/>
          <pc:sldMk cId="0" sldId="261"/>
        </pc:sldMkLst>
        <pc:spChg chg="mod">
          <ac:chgData name="xi sheng" userId="b3919e0d8ca6a452" providerId="LiveId" clId="{13BC3520-E518-4835-8127-A0A9FD7BA77F}" dt="2024-06-17T02:00:22.620" v="66" actId="21"/>
          <ac:spMkLst>
            <pc:docMk/>
            <pc:sldMk cId="0" sldId="261"/>
            <ac:spMk id="4" creationId="{00000000-0000-0000-0000-000000000000}"/>
          </ac:spMkLst>
        </pc:spChg>
        <pc:spChg chg="add mod">
          <ac:chgData name="xi sheng" userId="b3919e0d8ca6a452" providerId="LiveId" clId="{13BC3520-E518-4835-8127-A0A9FD7BA77F}" dt="2024-06-17T02:06:04.777" v="162" actId="1076"/>
          <ac:spMkLst>
            <pc:docMk/>
            <pc:sldMk cId="0" sldId="261"/>
            <ac:spMk id="6" creationId="{92DCE1B5-8E4D-D42B-F60C-485C7BA43682}"/>
          </ac:spMkLst>
        </pc:spChg>
        <pc:spChg chg="add mod">
          <ac:chgData name="xi sheng" userId="b3919e0d8ca6a452" providerId="LiveId" clId="{13BC3520-E518-4835-8127-A0A9FD7BA77F}" dt="2024-06-17T02:07:26.887" v="181" actId="404"/>
          <ac:spMkLst>
            <pc:docMk/>
            <pc:sldMk cId="0" sldId="261"/>
            <ac:spMk id="7" creationId="{00A0100E-8CD8-6E59-2271-5C9F1AAA3360}"/>
          </ac:spMkLst>
        </pc:spChg>
        <pc:picChg chg="mod">
          <ac:chgData name="xi sheng" userId="b3919e0d8ca6a452" providerId="LiveId" clId="{13BC3520-E518-4835-8127-A0A9FD7BA77F}" dt="2024-06-17T02:06:02.042" v="161" actId="1076"/>
          <ac:picMkLst>
            <pc:docMk/>
            <pc:sldMk cId="0" sldId="261"/>
            <ac:picMk id="2" creationId="{00000000-0000-0000-0000-000000000000}"/>
          </ac:picMkLst>
        </pc:picChg>
      </pc:sldChg>
      <pc:sldChg chg="addSp modSp mod modAnim modNotesTx">
        <pc:chgData name="xi sheng" userId="b3919e0d8ca6a452" providerId="LiveId" clId="{13BC3520-E518-4835-8127-A0A9FD7BA77F}" dt="2024-06-17T02:32:07.959" v="561" actId="20577"/>
        <pc:sldMkLst>
          <pc:docMk/>
          <pc:sldMk cId="0" sldId="263"/>
        </pc:sldMkLst>
        <pc:spChg chg="mod">
          <ac:chgData name="xi sheng" userId="b3919e0d8ca6a452" providerId="LiveId" clId="{13BC3520-E518-4835-8127-A0A9FD7BA77F}" dt="2024-06-17T02:09:11.767" v="197" actId="21"/>
          <ac:spMkLst>
            <pc:docMk/>
            <pc:sldMk cId="0" sldId="263"/>
            <ac:spMk id="4" creationId="{00000000-0000-0000-0000-000000000000}"/>
          </ac:spMkLst>
        </pc:spChg>
        <pc:spChg chg="add mod">
          <ac:chgData name="xi sheng" userId="b3919e0d8ca6a452" providerId="LiveId" clId="{13BC3520-E518-4835-8127-A0A9FD7BA77F}" dt="2024-06-17T02:09:20.015" v="200" actId="14100"/>
          <ac:spMkLst>
            <pc:docMk/>
            <pc:sldMk cId="0" sldId="263"/>
            <ac:spMk id="6" creationId="{9132BFEC-8940-6AD7-CEB7-B5FC062448DD}"/>
          </ac:spMkLst>
        </pc:spChg>
        <pc:spChg chg="add mod">
          <ac:chgData name="xi sheng" userId="b3919e0d8ca6a452" providerId="LiveId" clId="{13BC3520-E518-4835-8127-A0A9FD7BA77F}" dt="2024-06-17T02:09:32.884" v="203"/>
          <ac:spMkLst>
            <pc:docMk/>
            <pc:sldMk cId="0" sldId="263"/>
            <ac:spMk id="7" creationId="{D93F0441-CE79-78AF-685D-C28DBF4BB322}"/>
          </ac:spMkLst>
        </pc:spChg>
      </pc:sldChg>
      <pc:sldChg chg="addSp delSp modSp mod delAnim modAnim modNotesTx">
        <pc:chgData name="xi sheng" userId="b3919e0d8ca6a452" providerId="LiveId" clId="{13BC3520-E518-4835-8127-A0A9FD7BA77F}" dt="2024-06-17T02:33:52.663" v="635" actId="14100"/>
        <pc:sldMkLst>
          <pc:docMk/>
          <pc:sldMk cId="0" sldId="264"/>
        </pc:sldMkLst>
        <pc:spChg chg="del">
          <ac:chgData name="xi sheng" userId="b3919e0d8ca6a452" providerId="LiveId" clId="{13BC3520-E518-4835-8127-A0A9FD7BA77F}" dt="2024-06-17T02:10:49.314" v="209" actId="478"/>
          <ac:spMkLst>
            <pc:docMk/>
            <pc:sldMk cId="0" sldId="264"/>
            <ac:spMk id="3" creationId="{00000000-0000-0000-0000-000000000000}"/>
          </ac:spMkLst>
        </pc:spChg>
        <pc:spChg chg="add mod">
          <ac:chgData name="xi sheng" userId="b3919e0d8ca6a452" providerId="LiveId" clId="{13BC3520-E518-4835-8127-A0A9FD7BA77F}" dt="2024-06-17T02:10:55.899" v="211" actId="14100"/>
          <ac:spMkLst>
            <pc:docMk/>
            <pc:sldMk cId="0" sldId="264"/>
            <ac:spMk id="5" creationId="{8512ECF0-9B64-749C-C060-11C7705A4012}"/>
          </ac:spMkLst>
        </pc:spChg>
        <pc:spChg chg="mod">
          <ac:chgData name="xi sheng" userId="b3919e0d8ca6a452" providerId="LiveId" clId="{13BC3520-E518-4835-8127-A0A9FD7BA77F}" dt="2024-06-17T02:33:52.663" v="635" actId="14100"/>
          <ac:spMkLst>
            <pc:docMk/>
            <pc:sldMk cId="0" sldId="264"/>
            <ac:spMk id="6" creationId="{00000000-0000-0000-0000-000000000000}"/>
          </ac:spMkLst>
        </pc:spChg>
        <pc:spChg chg="add mod">
          <ac:chgData name="xi sheng" userId="b3919e0d8ca6a452" providerId="LiveId" clId="{13BC3520-E518-4835-8127-A0A9FD7BA77F}" dt="2024-06-17T02:11:07.701" v="216" actId="404"/>
          <ac:spMkLst>
            <pc:docMk/>
            <pc:sldMk cId="0" sldId="264"/>
            <ac:spMk id="7" creationId="{FA814F82-075F-F024-FC26-0619671C4C27}"/>
          </ac:spMkLst>
        </pc:spChg>
      </pc:sldChg>
      <pc:sldChg chg="addSp modSp mod modAnim modNotesTx">
        <pc:chgData name="xi sheng" userId="b3919e0d8ca6a452" providerId="LiveId" clId="{13BC3520-E518-4835-8127-A0A9FD7BA77F}" dt="2024-06-17T02:33:59.775" v="636" actId="14100"/>
        <pc:sldMkLst>
          <pc:docMk/>
          <pc:sldMk cId="1275229622" sldId="310"/>
        </pc:sldMkLst>
        <pc:spChg chg="mod">
          <ac:chgData name="xi sheng" userId="b3919e0d8ca6a452" providerId="LiveId" clId="{13BC3520-E518-4835-8127-A0A9FD7BA77F}" dt="2024-06-17T02:33:59.775" v="636" actId="14100"/>
          <ac:spMkLst>
            <pc:docMk/>
            <pc:sldMk cId="1275229622" sldId="310"/>
            <ac:spMk id="3" creationId="{00000000-0000-0000-0000-000000000000}"/>
          </ac:spMkLst>
        </pc:spChg>
        <pc:spChg chg="mod">
          <ac:chgData name="xi sheng" userId="b3919e0d8ca6a452" providerId="LiveId" clId="{13BC3520-E518-4835-8127-A0A9FD7BA77F}" dt="2024-06-17T02:08:14.591" v="189" actId="21"/>
          <ac:spMkLst>
            <pc:docMk/>
            <pc:sldMk cId="1275229622" sldId="310"/>
            <ac:spMk id="4" creationId="{00000000-0000-0000-0000-000000000000}"/>
          </ac:spMkLst>
        </pc:spChg>
        <pc:spChg chg="add mod">
          <ac:chgData name="xi sheng" userId="b3919e0d8ca6a452" providerId="LiveId" clId="{13BC3520-E518-4835-8127-A0A9FD7BA77F}" dt="2024-06-17T02:08:47.247" v="194" actId="1076"/>
          <ac:spMkLst>
            <pc:docMk/>
            <pc:sldMk cId="1275229622" sldId="310"/>
            <ac:spMk id="5" creationId="{171AFDCF-5708-90CB-8A8D-30B852230A08}"/>
          </ac:spMkLst>
        </pc:spChg>
        <pc:spChg chg="add mod">
          <ac:chgData name="xi sheng" userId="b3919e0d8ca6a452" providerId="LiveId" clId="{13BC3520-E518-4835-8127-A0A9FD7BA77F}" dt="2024-06-17T02:08:49.953" v="195" actId="1076"/>
          <ac:spMkLst>
            <pc:docMk/>
            <pc:sldMk cId="1275229622" sldId="310"/>
            <ac:spMk id="7" creationId="{51B72D2F-AAEF-D3A8-7A98-12FDCA6D7ADC}"/>
          </ac:spMkLst>
        </pc:spChg>
      </pc:sldChg>
      <pc:sldChg chg="addSp delSp modSp add del mod modNotesTx">
        <pc:chgData name="xi sheng" userId="b3919e0d8ca6a452" providerId="LiveId" clId="{13BC3520-E518-4835-8127-A0A9FD7BA77F}" dt="2024-06-17T02:00:15.152" v="65" actId="47"/>
        <pc:sldMkLst>
          <pc:docMk/>
          <pc:sldMk cId="4156026486" sldId="311"/>
        </pc:sldMkLst>
        <pc:spChg chg="mod">
          <ac:chgData name="xi sheng" userId="b3919e0d8ca6a452" providerId="LiveId" clId="{13BC3520-E518-4835-8127-A0A9FD7BA77F}" dt="2024-06-17T01:55:39.717" v="36"/>
          <ac:spMkLst>
            <pc:docMk/>
            <pc:sldMk cId="4156026486" sldId="311"/>
            <ac:spMk id="3" creationId="{00000000-0000-0000-0000-000000000000}"/>
          </ac:spMkLst>
        </pc:spChg>
        <pc:spChg chg="add del">
          <ac:chgData name="xi sheng" userId="b3919e0d8ca6a452" providerId="LiveId" clId="{13BC3520-E518-4835-8127-A0A9FD7BA77F}" dt="2024-06-17T01:58:08.143" v="44" actId="478"/>
          <ac:spMkLst>
            <pc:docMk/>
            <pc:sldMk cId="4156026486" sldId="311"/>
            <ac:spMk id="5" creationId="{EFA11D2A-6F4F-E007-8066-003C5A0FB486}"/>
          </ac:spMkLst>
        </pc:spChg>
        <pc:spChg chg="del">
          <ac:chgData name="xi sheng" userId="b3919e0d8ca6a452" providerId="LiveId" clId="{13BC3520-E518-4835-8127-A0A9FD7BA77F}" dt="2024-06-17T01:56:55.342" v="42" actId="478"/>
          <ac:spMkLst>
            <pc:docMk/>
            <pc:sldMk cId="4156026486" sldId="311"/>
            <ac:spMk id="9" creationId="{631AD077-9A6E-BFE2-9B87-C063EDE1E3F3}"/>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dirty="0"/>
              <a:t>Hello everyone, today we will be presenting an analysis of the study titled 'The Goldilocks Effect: Human Infants Allocate Attention to Visual Sequences That Are Neither Too Simple Nor Too Complex.'"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dirty="0"/>
              <a:t>First let me analyze the abstract in the following five moves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t>Let's start with Move 1: Background, Introduction, or Situation.</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t>The black words are the original sentences in the abstract and the white words are my analysis.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t>""The abstract begins by explaining that human infants, like immature members of any species, need to be highly selective in sampling information from their environment to learn </a:t>
            </a:r>
            <a:r>
              <a:rPr lang="en-US" altLang="zh-CN" dirty="0" err="1"/>
              <a:t>efficiently.""This</a:t>
            </a:r>
            <a:r>
              <a:rPr lang="en-US" altLang="zh-CN" dirty="0"/>
              <a:t> selectivity is important because it helps avoid wasting computational resources on information that is too simple or too complex."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t>Move 2 is the Purpose, Objective, or Focus of the </a:t>
            </a:r>
            <a:r>
              <a:rPr lang="en-US" altLang="zh-CN" dirty="0" err="1"/>
              <a:t>study.“the</a:t>
            </a:r>
            <a:r>
              <a:rPr lang="en-US" altLang="zh-CN" dirty="0"/>
              <a:t> description of the experiment shows us </a:t>
            </a:r>
            <a:r>
              <a:rPr lang="en-US" altLang="zh-CN" dirty="0" err="1"/>
              <a:t>that”The</a:t>
            </a:r>
            <a:r>
              <a:rPr lang="en-US" altLang="zh-CN" dirty="0"/>
              <a:t> purpose of the study is to measure infants’ visual attention to sequences of events that vary in </a:t>
            </a:r>
            <a:r>
              <a:rPr lang="en-US" altLang="zh-CN" dirty="0" err="1"/>
              <a:t>complexity.“</a:t>
            </a:r>
            <a:r>
              <a:rPr lang="en-US" altLang="zh-CN" sz="1200" dirty="0" err="1"/>
              <a:t>The</a:t>
            </a:r>
            <a:r>
              <a:rPr lang="en-US" altLang="zh-CN" sz="1200" dirty="0"/>
              <a:t> focus is on understanding the conditions under which infants look away from stimuli, particularly when the complexity of the stimulus is either very low or very high.</a:t>
            </a:r>
            <a:r>
              <a:rPr lang="en-US" altLang="zh-CN" dirty="0"/>
              <a:t>” </a:t>
            </a:r>
            <a:r>
              <a:rPr lang="zh-CN" altLang="en-US" dirty="0"/>
              <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t>Next, Move 3 covers the Methods, Materials, Subjects, or </a:t>
            </a:r>
            <a:r>
              <a:rPr lang="en-US" altLang="zh-CN" dirty="0" err="1"/>
              <a:t>Procedures.“as</a:t>
            </a:r>
            <a:r>
              <a:rPr lang="en-US" altLang="zh-CN" dirty="0"/>
              <a:t> shown in the black words from the </a:t>
            </a:r>
            <a:r>
              <a:rPr lang="en-US" altLang="zh-CN" dirty="0" err="1"/>
              <a:t>abstract,"The</a:t>
            </a:r>
            <a:r>
              <a:rPr lang="en-US" altLang="zh-CN" dirty="0"/>
              <a:t> study involved two experiments with 7- and 8-month-old </a:t>
            </a:r>
            <a:r>
              <a:rPr lang="en-US" altLang="zh-CN" dirty="0" err="1"/>
              <a:t>infants.""Researchers</a:t>
            </a:r>
            <a:r>
              <a:rPr lang="en-US" altLang="zh-CN" dirty="0"/>
              <a:t> measured the infants' visual attention to events of varying complexity, using an ideal learner model to determine the complexity of stimulus items."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98171927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t>Move 4 focuses on the Results or </a:t>
            </a:r>
            <a:r>
              <a:rPr lang="en-US" altLang="zh-CN" dirty="0" err="1"/>
              <a:t>Findings.“from</a:t>
            </a:r>
            <a:r>
              <a:rPr lang="en-US" altLang="zh-CN" dirty="0"/>
              <a:t> the sentences above we can learn </a:t>
            </a:r>
            <a:r>
              <a:rPr lang="en-US" altLang="zh-CN" dirty="0" err="1"/>
              <a:t>that"The</a:t>
            </a:r>
            <a:r>
              <a:rPr lang="en-US" altLang="zh-CN" dirty="0"/>
              <a:t> study found that infants' probability of looking away was greatest for stimuli whose complexity was either very low or very </a:t>
            </a:r>
            <a:r>
              <a:rPr lang="en-US" altLang="zh-CN" dirty="0" err="1"/>
              <a:t>high.""This</a:t>
            </a:r>
            <a:r>
              <a:rPr lang="en-US" altLang="zh-CN" dirty="0"/>
              <a:t> finding supports the Goldilocks effect, suggesting that infants prefer intermediate complexity."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dirty="0"/>
              <a:t>Finally, Move 5 includes the Discussion, Conclusion, Implications, or </a:t>
            </a:r>
            <a:r>
              <a:rPr lang="en-US" altLang="zh-CN" dirty="0" err="1"/>
              <a:t>Recommendations.""The</a:t>
            </a:r>
            <a:r>
              <a:rPr lang="en-US" altLang="zh-CN" dirty="0"/>
              <a:t> results suggest a principle of infant attention that has broad applicability: infants implicitly seek to maintain intermediate rates of information </a:t>
            </a:r>
            <a:r>
              <a:rPr lang="en-US" altLang="zh-CN" dirty="0" err="1"/>
              <a:t>absorption.""This</a:t>
            </a:r>
            <a:r>
              <a:rPr lang="en-US" altLang="zh-CN" dirty="0"/>
              <a:t> helps them avoid wasting cognitive resources on overly simple or overly complex events, indicating that optimal learning occurs at moderate levels of complexity."</a:t>
            </a:r>
            <a:endParaRPr lang="en-US" dirty="0"/>
          </a:p>
          <a:p>
            <a:r>
              <a:rPr lang="en-US" dirty="0"/>
              <a:t>Implicitly:</a:t>
            </a:r>
            <a:r>
              <a:rPr lang="zh-CN" altLang="en-US" dirty="0"/>
              <a:t>含蓄地，暗中地；绝对地</a:t>
            </a:r>
            <a:endParaRPr lang="en-US" altLang="zh-CN" dirty="0"/>
          </a:p>
          <a:p>
            <a:r>
              <a:rPr lang="en-US" altLang="zh-CN" dirty="0"/>
              <a:t>Optimal</a:t>
            </a:r>
            <a:r>
              <a:rPr lang="zh-CN" altLang="en-US" dirty="0"/>
              <a:t>：最佳的</a:t>
            </a:r>
            <a:endParaRPr lang="en-US" altLang="zh-CN" dirty="0"/>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58750" marR="0" lvl="0" indent="0" algn="l" defTabSz="914400" rtl="0" eaLnBrk="1" fontAlgn="auto" latinLnBrk="0" hangingPunct="1">
              <a:lnSpc>
                <a:spcPct val="100000"/>
              </a:lnSpc>
              <a:spcBef>
                <a:spcPts val="0"/>
              </a:spcBef>
              <a:spcAft>
                <a:spcPts val="0"/>
              </a:spcAft>
              <a:buClr>
                <a:srgbClr val="000000"/>
              </a:buClr>
              <a:buSzPts val="1100"/>
              <a:buFont typeface="Arial" panose="020B0604020202020204"/>
              <a:buNone/>
              <a:defRPr/>
            </a:pPr>
            <a:r>
              <a:rPr lang="en-US" altLang="zh-CN" b="1" i="0" dirty="0">
                <a:solidFill>
                  <a:srgbClr val="222222"/>
                </a:solidFill>
                <a:effectLst/>
                <a:latin typeface="SF Pro Display"/>
              </a:rPr>
              <a:t>Experiments</a:t>
            </a:r>
            <a:r>
              <a:rPr lang="en-US" altLang="zh-CN" b="0" i="0" dirty="0">
                <a:solidFill>
                  <a:srgbClr val="222222"/>
                </a:solidFill>
                <a:effectLst/>
                <a:latin typeface="SF Pro Display"/>
              </a:rPr>
              <a:t>: The researchers conducted two experiments to measure infants' visual attention to events of varying complexity. These experiments aimed to observe how infants respond to different levels of complexity in visual sequences.</a:t>
            </a:r>
          </a:p>
          <a:p>
            <a:endParaRPr lang="zh-CN" altLang="en-US" dirty="0"/>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58750" marR="0" lvl="0" indent="0" algn="l" defTabSz="914400" rtl="0" eaLnBrk="1" fontAlgn="auto" latinLnBrk="0" hangingPunct="1">
              <a:lnSpc>
                <a:spcPct val="100000"/>
              </a:lnSpc>
              <a:spcBef>
                <a:spcPts val="0"/>
              </a:spcBef>
              <a:spcAft>
                <a:spcPts val="0"/>
              </a:spcAft>
              <a:buClr>
                <a:srgbClr val="000000"/>
              </a:buClr>
              <a:buSzPts val="1100"/>
              <a:buFont typeface="Arial" panose="020B0604020202020204"/>
              <a:buNone/>
              <a:defRPr/>
            </a:pPr>
            <a:r>
              <a:rPr lang="en-US" altLang="zh-CN" b="1" i="0" dirty="0">
                <a:solidFill>
                  <a:srgbClr val="222222"/>
                </a:solidFill>
                <a:effectLst/>
                <a:latin typeface="SF Pro Display"/>
              </a:rPr>
              <a:t>Experiments</a:t>
            </a:r>
            <a:r>
              <a:rPr lang="en-US" altLang="zh-CN" b="0" i="0" dirty="0">
                <a:solidFill>
                  <a:srgbClr val="222222"/>
                </a:solidFill>
                <a:effectLst/>
                <a:latin typeface="SF Pro Display"/>
              </a:rPr>
              <a:t>: The researchers conducted two experiments to measure infants' visual attention to events of varying complexity. These experiments aimed to observe how infants respond to different levels of complexity in visual sequences.</a:t>
            </a:r>
          </a:p>
          <a:p>
            <a:endParaRPr lang="zh-CN" altLang="en-US" dirty="0"/>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u="sng" dirty="0"/>
              <a:t>randomized and counterbalanced all of these extraneous variables</a:t>
            </a:r>
            <a:r>
              <a:rPr lang="en-US" altLang="zh-CN" dirty="0"/>
              <a:t>.-&gt;</a:t>
            </a:r>
            <a:r>
              <a:rPr lang="en-US" altLang="zh-CN" u="sng" dirty="0"/>
              <a:t>address uncertainty </a:t>
            </a:r>
            <a:endParaRPr lang="en-US" altLang="zh-CN" dirty="0"/>
          </a:p>
          <a:p>
            <a:r>
              <a:rPr lang="en-US" altLang="zh-CN" dirty="0"/>
              <a:t>Model-&gt;confirm hypothesize</a:t>
            </a:r>
            <a:endParaRPr lang="zh-CN" altLang="en-US" dirty="0"/>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u="sng" dirty="0"/>
              <a:t>randomized and counterbalanced all of these extraneous variables</a:t>
            </a:r>
            <a:r>
              <a:rPr lang="en-US" altLang="zh-CN" dirty="0"/>
              <a:t>.-&gt;</a:t>
            </a:r>
            <a:r>
              <a:rPr lang="en-US" altLang="zh-CN" u="sng" dirty="0"/>
              <a:t>address uncertainty </a:t>
            </a:r>
            <a:endParaRPr lang="en-US" altLang="zh-CN" dirty="0"/>
          </a:p>
          <a:p>
            <a:r>
              <a:rPr lang="en-US" altLang="zh-CN" dirty="0"/>
              <a:t>Model-&gt;confirm hypothesize</a:t>
            </a:r>
            <a:endParaRPr lang="zh-CN" alt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dirty="0"/>
              <a:t>Experiments. Use </a:t>
            </a:r>
            <a:r>
              <a:rPr lang="en-US" altLang="zh-CN" u="sng" dirty="0"/>
              <a:t>Tobii 1750 eye-tracker to collect. Blocking parents’ influence. </a:t>
            </a:r>
            <a:endParaRPr lang="zh-CN" altLang="en-US" dirty="0"/>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dirty="0"/>
              <a:t>Experiments. Use </a:t>
            </a:r>
            <a:r>
              <a:rPr lang="en-US" altLang="zh-CN" u="sng" dirty="0"/>
              <a:t>Tobii 1750 eye-tracker to collect. Blocking parents’ influence. </a:t>
            </a:r>
            <a:endParaRPr lang="zh-CN" altLang="en-US" dirty="0"/>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dirty="0"/>
              <a:t>Experiments. Use </a:t>
            </a:r>
            <a:r>
              <a:rPr lang="en-US" altLang="zh-CN" u="sng" dirty="0"/>
              <a:t>Tobii 1750 eye-tracker to collect. Blocking parents’ influence. </a:t>
            </a:r>
            <a:endParaRPr lang="zh-CN" altLang="en-US" dirty="0"/>
          </a:p>
          <a:p>
            <a:endParaRPr lang="en-US" altLang="zh-CN" dirty="0"/>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457200" marR="0" lvl="0" indent="-298450" algn="l" defTabSz="914400" rtl="0" eaLnBrk="1" fontAlgn="auto" latinLnBrk="0" hangingPunct="1">
              <a:lnSpc>
                <a:spcPct val="100000"/>
              </a:lnSpc>
              <a:spcBef>
                <a:spcPts val="0"/>
              </a:spcBef>
              <a:spcAft>
                <a:spcPts val="0"/>
              </a:spcAft>
              <a:buClr>
                <a:srgbClr val="000000"/>
              </a:buClr>
              <a:buSzPts val="1100"/>
              <a:buFont typeface="Arial" panose="020B0604020202020204"/>
              <a:buChar char="●"/>
              <a:defRPr/>
            </a:pPr>
            <a:r>
              <a:rPr lang="en-US" altLang="zh-CN" b="0" i="0" u="none" strike="noStrike" dirty="0">
                <a:solidFill>
                  <a:srgbClr val="202122"/>
                </a:solidFill>
                <a:effectLst/>
                <a:latin typeface="Arial" panose="020B0604020202020204" pitchFamily="34" charset="0"/>
              </a:rPr>
              <a:t>Generate the criterion.</a:t>
            </a:r>
          </a:p>
          <a:p>
            <a:pPr marL="457200" marR="0" lvl="0" indent="-298450" algn="l" defTabSz="914400" rtl="0" eaLnBrk="1" fontAlgn="auto" latinLnBrk="0" hangingPunct="1">
              <a:lnSpc>
                <a:spcPct val="100000"/>
              </a:lnSpc>
              <a:spcBef>
                <a:spcPts val="0"/>
              </a:spcBef>
              <a:spcAft>
                <a:spcPts val="0"/>
              </a:spcAft>
              <a:buClr>
                <a:srgbClr val="000000"/>
              </a:buClr>
              <a:buSzPts val="1100"/>
              <a:buFont typeface="Arial" panose="020B0604020202020204"/>
              <a:buChar char="●"/>
              <a:defRPr/>
            </a:pPr>
            <a:r>
              <a:rPr lang="en-US" altLang="zh-CN" b="0" i="0" u="none" strike="noStrike" dirty="0">
                <a:solidFill>
                  <a:srgbClr val="202122"/>
                </a:solidFill>
                <a:effectLst/>
                <a:latin typeface="Arial" panose="020B0604020202020204" pitchFamily="34" charset="0"/>
              </a:rPr>
              <a:t>Validation – Ensuring that supplied data is correct and relevant.</a:t>
            </a:r>
            <a:r>
              <a:rPr lang="en-US" altLang="zh-CN" b="0" i="0" dirty="0">
                <a:solidFill>
                  <a:srgbClr val="202122"/>
                </a:solidFill>
                <a:effectLst/>
                <a:latin typeface="Arial" panose="020B0604020202020204" pitchFamily="34" charset="0"/>
              </a:rPr>
              <a:t> </a:t>
            </a:r>
            <a:endParaRPr lang="zh-CN" altLang="en-US" dirty="0"/>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457200" marR="0" lvl="0" indent="-298450" algn="l" defTabSz="914400" rtl="0" eaLnBrk="1" fontAlgn="auto" latinLnBrk="0" hangingPunct="1">
              <a:lnSpc>
                <a:spcPct val="100000"/>
              </a:lnSpc>
              <a:spcBef>
                <a:spcPts val="0"/>
              </a:spcBef>
              <a:spcAft>
                <a:spcPts val="0"/>
              </a:spcAft>
              <a:buClr>
                <a:srgbClr val="000000"/>
              </a:buClr>
              <a:buSzPts val="1100"/>
              <a:buFont typeface="Arial" panose="020B0604020202020204"/>
              <a:buChar char="●"/>
              <a:defRPr/>
            </a:pPr>
            <a:r>
              <a:rPr lang="en-US" altLang="zh-CN" b="0" i="0" u="none" strike="noStrike" dirty="0">
                <a:solidFill>
                  <a:srgbClr val="202122"/>
                </a:solidFill>
                <a:effectLst/>
                <a:latin typeface="Arial" panose="020B0604020202020204" pitchFamily="34" charset="0"/>
              </a:rPr>
              <a:t>Generate the criterion.</a:t>
            </a:r>
          </a:p>
          <a:p>
            <a:pPr marL="457200" marR="0" lvl="0" indent="-298450" algn="l" defTabSz="914400" rtl="0" eaLnBrk="1" fontAlgn="auto" latinLnBrk="0" hangingPunct="1">
              <a:lnSpc>
                <a:spcPct val="100000"/>
              </a:lnSpc>
              <a:spcBef>
                <a:spcPts val="0"/>
              </a:spcBef>
              <a:spcAft>
                <a:spcPts val="0"/>
              </a:spcAft>
              <a:buClr>
                <a:srgbClr val="000000"/>
              </a:buClr>
              <a:buSzPts val="1100"/>
              <a:buFont typeface="Arial" panose="020B0604020202020204"/>
              <a:buChar char="●"/>
              <a:defRPr/>
            </a:pPr>
            <a:r>
              <a:rPr lang="en-US" altLang="zh-CN" b="0" i="0" u="none" strike="noStrike" dirty="0">
                <a:solidFill>
                  <a:srgbClr val="202122"/>
                </a:solidFill>
                <a:effectLst/>
                <a:latin typeface="Arial" panose="020B0604020202020204" pitchFamily="34" charset="0"/>
              </a:rPr>
              <a:t>Validation – Ensuring that supplied data is correct and relevant.</a:t>
            </a:r>
            <a:r>
              <a:rPr lang="en-US" altLang="zh-CN" b="0" i="0" dirty="0">
                <a:solidFill>
                  <a:srgbClr val="202122"/>
                </a:solidFill>
                <a:effectLst/>
                <a:latin typeface="Arial" panose="020B0604020202020204" pitchFamily="34" charset="0"/>
              </a:rPr>
              <a:t> </a:t>
            </a:r>
            <a:endParaRPr lang="zh-CN" altLang="en-US" dirty="0"/>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dirty="0"/>
              <a:t>Data process: detailed mathematical modeling procedure. Just give it a quick look.</a:t>
            </a:r>
            <a:endParaRPr lang="zh-CN" altLang="en-US" dirty="0"/>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dirty="0"/>
              <a:t>Data process: detailed mathematical modeling procedure. Just give it a quick look.</a:t>
            </a:r>
            <a:endParaRPr lang="zh-CN" altLang="en-US" dirty="0"/>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dirty="0"/>
              <a:t>Data process: detailed mathematical modeling procedure. Just give it a quick look.</a:t>
            </a:r>
            <a:endParaRPr lang="zh-CN" altLang="en-US" dirty="0"/>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dirty="0"/>
              <a:t>Data process: detailed mathematical modeling procedure. Just give it a quick look.</a:t>
            </a:r>
            <a:endParaRPr lang="zh-CN" altLang="en-US" dirty="0"/>
          </a:p>
          <a:p>
            <a:endParaRPr lang="en-US" altLang="zh-CN" dirty="0"/>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dirty="0"/>
              <a:t>Data process: detailed mathematical modeling procedure. Just give it a quick look.</a:t>
            </a:r>
            <a:endParaRPr lang="zh-CN" altLang="en-US" dirty="0"/>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ver_slides">
    <p:bg>
      <p:bgPr>
        <a:solidFill>
          <a:srgbClr val="FFFFFF"/>
        </a:solidFill>
        <a:effectLst/>
      </p:bgPr>
    </p:bg>
    <p:spTree>
      <p:nvGrpSpPr>
        <p:cNvPr id="1" name=""/>
        <p:cNvGrpSpPr/>
        <p:nvPr/>
      </p:nvGrpSpPr>
      <p:grpSpPr>
        <a:xfrm>
          <a:off x="0" y="0"/>
          <a:ext cx="0" cy="0"/>
          <a:chOff x="0" y="0"/>
          <a:chExt cx="0" cy="0"/>
        </a:xfrm>
      </p:grpSpPr>
      <p:pic>
        <p:nvPicPr>
          <p:cNvPr id="2" name="Image 0" descr="https://assets.mindshow.fun/themes/purple_yoga_healthy_20230603/Cover-bg.jpg"/>
          <p:cNvPicPr>
            <a:picLocks noChangeAspect="1"/>
          </p:cNvPicPr>
          <p:nvPr/>
        </p:nvPicPr>
        <p:blipFill>
          <a:blip r:embed="rId2"/>
          <a:stretch>
            <a:fillRect/>
          </a:stretch>
        </p:blipFill>
        <p:spPr>
          <a:xfrm>
            <a:off x="0" y="0"/>
            <a:ext cx="9144000" cy="514350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atalog_slides">
    <p:bg>
      <p:bgPr>
        <a:solidFill>
          <a:srgbClr val="FFFFFF"/>
        </a:solidFill>
        <a:effectLst/>
      </p:bgPr>
    </p:bg>
    <p:spTree>
      <p:nvGrpSpPr>
        <p:cNvPr id="1" name=""/>
        <p:cNvGrpSpPr/>
        <p:nvPr/>
      </p:nvGrpSpPr>
      <p:grpSpPr>
        <a:xfrm>
          <a:off x="0" y="0"/>
          <a:ext cx="0" cy="0"/>
          <a:chOff x="0" y="0"/>
          <a:chExt cx="0" cy="0"/>
        </a:xfrm>
      </p:grpSpPr>
      <p:pic>
        <p:nvPicPr>
          <p:cNvPr id="2" name="Image 0" descr="https://assets.mindshow.fun/themes/purple_yoga_healthy_20230603/Catalog-bg.jpg"/>
          <p:cNvPicPr>
            <a:picLocks noChangeAspect="1"/>
          </p:cNvPicPr>
          <p:nvPr/>
        </p:nvPicPr>
        <p:blipFill>
          <a:blip r:embed="rId2"/>
          <a:stretch>
            <a:fillRect/>
          </a:stretch>
        </p:blipFill>
        <p:spPr>
          <a:xfrm>
            <a:off x="0" y="0"/>
            <a:ext cx="9144000" cy="514350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ession_slides">
    <p:bg>
      <p:bgPr>
        <a:solidFill>
          <a:srgbClr val="FFFFFF"/>
        </a:solidFill>
        <a:effectLst/>
      </p:bgPr>
    </p:bg>
    <p:spTree>
      <p:nvGrpSpPr>
        <p:cNvPr id="1" name=""/>
        <p:cNvGrpSpPr/>
        <p:nvPr/>
      </p:nvGrpSpPr>
      <p:grpSpPr>
        <a:xfrm>
          <a:off x="0" y="0"/>
          <a:ext cx="0" cy="0"/>
          <a:chOff x="0" y="0"/>
          <a:chExt cx="0" cy="0"/>
        </a:xfrm>
      </p:grpSpPr>
      <p:pic>
        <p:nvPicPr>
          <p:cNvPr id="2" name="Image 0" descr="https://assets.mindshow.fun/themes/purple_yoga_healthy_20230603/Session-bg.jpg"/>
          <p:cNvPicPr>
            <a:picLocks noChangeAspect="1"/>
          </p:cNvPicPr>
          <p:nvPr/>
        </p:nvPicPr>
        <p:blipFill>
          <a:blip r:embed="rId2"/>
          <a:stretch>
            <a:fillRect/>
          </a:stretch>
        </p:blipFill>
        <p:spPr>
          <a:xfrm>
            <a:off x="0" y="0"/>
            <a:ext cx="9144000" cy="514350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ntent_slides">
    <p:bg>
      <p:bgPr>
        <a:solidFill>
          <a:srgbClr val="FFFFFF"/>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End_slides">
    <p:bg>
      <p:bgPr>
        <a:solidFill>
          <a:srgbClr val="FFFFFF"/>
        </a:solidFill>
        <a:effectLst/>
      </p:bgPr>
    </p:bg>
    <p:spTree>
      <p:nvGrpSpPr>
        <p:cNvPr id="1" name=""/>
        <p:cNvGrpSpPr/>
        <p:nvPr/>
      </p:nvGrpSpPr>
      <p:grpSpPr>
        <a:xfrm>
          <a:off x="0" y="0"/>
          <a:ext cx="0" cy="0"/>
          <a:chOff x="0" y="0"/>
          <a:chExt cx="0" cy="0"/>
        </a:xfrm>
      </p:grpSpPr>
      <p:pic>
        <p:nvPicPr>
          <p:cNvPr id="2" name="Image 0" descr="https://assets.mindshow.fun/themes/purple_yoga_healthy_20230603/End-bg.jpg"/>
          <p:cNvPicPr>
            <a:picLocks noChangeAspect="1"/>
          </p:cNvPicPr>
          <p:nvPr/>
        </p:nvPicPr>
        <p:blipFill>
          <a:blip r:embed="rId2"/>
          <a:stretch>
            <a:fillRect/>
          </a:stretch>
        </p:blipFill>
        <p:spPr>
          <a:xfrm>
            <a:off x="0" y="0"/>
            <a:ext cx="9144000" cy="514350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5.xml"/><Relationship Id="rId5" Type="http://schemas.openxmlformats.org/officeDocument/2006/relationships/image" Target="../media/image7.png"/><Relationship Id="rId4" Type="http://schemas.openxmlformats.org/officeDocument/2006/relationships/image" Target="../media/image6.svg"/></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5.xml"/><Relationship Id="rId4" Type="http://schemas.openxmlformats.org/officeDocument/2006/relationships/image" Target="../media/image9.svg"/></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5.xml"/><Relationship Id="rId4" Type="http://schemas.openxmlformats.org/officeDocument/2006/relationships/image" Target="../media/image11.svg"/></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5.xml"/><Relationship Id="rId4" Type="http://schemas.openxmlformats.org/officeDocument/2006/relationships/image" Target="../media/image9.svg"/></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8.xml"/><Relationship Id="rId1" Type="http://schemas.openxmlformats.org/officeDocument/2006/relationships/slideLayout" Target="../slideLayouts/slideLayout5.xml"/><Relationship Id="rId4" Type="http://schemas.openxmlformats.org/officeDocument/2006/relationships/image" Target="../media/image13.svg"/></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5.xml"/><Relationship Id="rId4" Type="http://schemas.openxmlformats.org/officeDocument/2006/relationships/image" Target="../media/image6.sv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1.xml"/><Relationship Id="rId1" Type="http://schemas.openxmlformats.org/officeDocument/2006/relationships/slideLayout" Target="../slideLayouts/slideLayout5.xml"/><Relationship Id="rId4" Type="http://schemas.openxmlformats.org/officeDocument/2006/relationships/image" Target="../media/image15.svg"/></Relationships>
</file>

<file path=ppt/slides/_rels/slide1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2.xml"/><Relationship Id="rId1" Type="http://schemas.openxmlformats.org/officeDocument/2006/relationships/slideLayout" Target="../slideLayouts/slideLayout5.xml"/><Relationship Id="rId4" Type="http://schemas.openxmlformats.org/officeDocument/2006/relationships/image" Target="../media/image17.svg"/></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5.xml"/><Relationship Id="rId4" Type="http://schemas.openxmlformats.org/officeDocument/2006/relationships/image" Target="../media/image18.svg"/></Relationships>
</file>

<file path=ppt/slides/_rels/slide1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4.xml"/><Relationship Id="rId1" Type="http://schemas.openxmlformats.org/officeDocument/2006/relationships/slideLayout" Target="../slideLayouts/slideLayout5.xml"/><Relationship Id="rId4" Type="http://schemas.openxmlformats.org/officeDocument/2006/relationships/image" Target="../media/image9.svg"/></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5.xml"/><Relationship Id="rId1" Type="http://schemas.openxmlformats.org/officeDocument/2006/relationships/slideLayout" Target="../slideLayouts/slideLayout5.xml"/><Relationship Id="rId4" Type="http://schemas.openxmlformats.org/officeDocument/2006/relationships/image" Target="../media/image18.svg"/></Relationships>
</file>

<file path=ppt/slides/_rels/slide1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6.xml"/><Relationship Id="rId1" Type="http://schemas.openxmlformats.org/officeDocument/2006/relationships/slideLayout" Target="../slideLayouts/slideLayout5.xml"/><Relationship Id="rId4" Type="http://schemas.openxmlformats.org/officeDocument/2006/relationships/image" Target="../media/image19.svg"/></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7.xml"/><Relationship Id="rId1" Type="http://schemas.openxmlformats.org/officeDocument/2006/relationships/slideLayout" Target="../slideLayouts/slideLayout5.xml"/><Relationship Id="rId4" Type="http://schemas.openxmlformats.org/officeDocument/2006/relationships/image" Target="../media/image18.sv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9.xml"/><Relationship Id="rId1" Type="http://schemas.openxmlformats.org/officeDocument/2006/relationships/slideLayout" Target="../slideLayouts/slideLayout5.xml"/><Relationship Id="rId4" Type="http://schemas.openxmlformats.org/officeDocument/2006/relationships/image" Target="../media/image21.svg"/></Relationships>
</file>

<file path=ppt/slides/_rels/slide2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0.xml"/><Relationship Id="rId1" Type="http://schemas.openxmlformats.org/officeDocument/2006/relationships/slideLayout" Target="../slideLayouts/slideLayout5.xml"/><Relationship Id="rId4" Type="http://schemas.openxmlformats.org/officeDocument/2006/relationships/image" Target="../media/image23.svg"/></Relationships>
</file>

<file path=ppt/slides/_rels/slide21.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1.xml"/><Relationship Id="rId1" Type="http://schemas.openxmlformats.org/officeDocument/2006/relationships/slideLayout" Target="../slideLayouts/slideLayout5.xml"/><Relationship Id="rId4" Type="http://schemas.openxmlformats.org/officeDocument/2006/relationships/image" Target="../media/image25.svg"/></Relationships>
</file>

<file path=ppt/slides/_rels/slide2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2.xml"/><Relationship Id="rId1" Type="http://schemas.openxmlformats.org/officeDocument/2006/relationships/slideLayout" Target="../slideLayouts/slideLayout5.xml"/><Relationship Id="rId4" Type="http://schemas.openxmlformats.org/officeDocument/2006/relationships/image" Target="../media/image25.svg"/></Relationships>
</file>

<file path=ppt/slides/_rels/slide2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3.xml"/><Relationship Id="rId1" Type="http://schemas.openxmlformats.org/officeDocument/2006/relationships/slideLayout" Target="../slideLayouts/slideLayout5.xml"/><Relationship Id="rId4" Type="http://schemas.openxmlformats.org/officeDocument/2006/relationships/image" Target="../media/image26.svg"/></Relationships>
</file>

<file path=ppt/slides/_rels/slide2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4.xml"/><Relationship Id="rId1" Type="http://schemas.openxmlformats.org/officeDocument/2006/relationships/slideLayout" Target="../slideLayouts/slideLayout5.xml"/><Relationship Id="rId4" Type="http://schemas.openxmlformats.org/officeDocument/2006/relationships/image" Target="../media/image27.svg"/></Relationships>
</file>

<file path=ppt/slides/_rels/slide25.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5.xml"/><Relationship Id="rId1" Type="http://schemas.openxmlformats.org/officeDocument/2006/relationships/slideLayout" Target="../slideLayouts/slideLayout5.xml"/><Relationship Id="rId4" Type="http://schemas.openxmlformats.org/officeDocument/2006/relationships/image" Target="../media/image29.svg"/></Relationships>
</file>

<file path=ppt/slides/_rels/slide2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6.xml"/><Relationship Id="rId1" Type="http://schemas.openxmlformats.org/officeDocument/2006/relationships/slideLayout" Target="../slideLayouts/slideLayout5.xml"/><Relationship Id="rId4" Type="http://schemas.openxmlformats.org/officeDocument/2006/relationships/image" Target="../media/image30.svg"/></Relationships>
</file>

<file path=ppt/slides/_rels/slide27.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7.xml"/><Relationship Id="rId1" Type="http://schemas.openxmlformats.org/officeDocument/2006/relationships/slideLayout" Target="../slideLayouts/slideLayout5.xml"/><Relationship Id="rId4" Type="http://schemas.openxmlformats.org/officeDocument/2006/relationships/image" Target="../media/image31.svg"/></Relationships>
</file>

<file path=ppt/slides/_rels/slide2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8.xml"/><Relationship Id="rId1" Type="http://schemas.openxmlformats.org/officeDocument/2006/relationships/slideLayout" Target="../slideLayouts/slideLayout5.xml"/><Relationship Id="rId5" Type="http://schemas.openxmlformats.org/officeDocument/2006/relationships/image" Target="../media/image33.png"/><Relationship Id="rId4" Type="http://schemas.openxmlformats.org/officeDocument/2006/relationships/image" Target="../media/image32.svg"/></Relationships>
</file>

<file path=ppt/slides/_rels/slide2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9.xml"/><Relationship Id="rId1" Type="http://schemas.openxmlformats.org/officeDocument/2006/relationships/slideLayout" Target="../slideLayouts/slideLayout5.xml"/><Relationship Id="rId5" Type="http://schemas.openxmlformats.org/officeDocument/2006/relationships/image" Target="../media/image33.png"/><Relationship Id="rId4" Type="http://schemas.openxmlformats.org/officeDocument/2006/relationships/image" Target="../media/image34.svg"/></Relationships>
</file>

<file path=ppt/slides/_rels/slide3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0.xml"/><Relationship Id="rId1" Type="http://schemas.openxmlformats.org/officeDocument/2006/relationships/slideLayout" Target="../slideLayouts/slideLayout5.xml"/><Relationship Id="rId4" Type="http://schemas.openxmlformats.org/officeDocument/2006/relationships/image" Target="../media/image35.svg"/></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32.xml"/><Relationship Id="rId1" Type="http://schemas.openxmlformats.org/officeDocument/2006/relationships/slideLayout" Target="../slideLayouts/slideLayout5.xml"/><Relationship Id="rId4" Type="http://schemas.openxmlformats.org/officeDocument/2006/relationships/image" Target="../media/image37.svg"/></Relationships>
</file>

<file path=ppt/slides/_rels/slide3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3.xml"/><Relationship Id="rId1" Type="http://schemas.openxmlformats.org/officeDocument/2006/relationships/slideLayout" Target="../slideLayouts/slideLayout5.xml"/><Relationship Id="rId4" Type="http://schemas.openxmlformats.org/officeDocument/2006/relationships/image" Target="../media/image38.svg"/></Relationships>
</file>

<file path=ppt/slides/_rels/slide3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4.xml"/><Relationship Id="rId1" Type="http://schemas.openxmlformats.org/officeDocument/2006/relationships/slideLayout" Target="../slideLayouts/slideLayout5.xml"/><Relationship Id="rId4" Type="http://schemas.openxmlformats.org/officeDocument/2006/relationships/image" Target="../media/image27.svg"/></Relationships>
</file>

<file path=ppt/slides/_rels/slide3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5.xml"/><Relationship Id="rId1" Type="http://schemas.openxmlformats.org/officeDocument/2006/relationships/slideLayout" Target="../slideLayouts/slideLayout5.xml"/><Relationship Id="rId4" Type="http://schemas.openxmlformats.org/officeDocument/2006/relationships/image" Target="../media/image38.svg"/></Relationships>
</file>

<file path=ppt/slides/_rels/slide3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6.xml"/><Relationship Id="rId1" Type="http://schemas.openxmlformats.org/officeDocument/2006/relationships/slideLayout" Target="../slideLayouts/slideLayout5.xml"/><Relationship Id="rId4" Type="http://schemas.openxmlformats.org/officeDocument/2006/relationships/image" Target="../media/image27.svg"/></Relationships>
</file>

<file path=ppt/slides/_rels/slide3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7.xml"/><Relationship Id="rId1" Type="http://schemas.openxmlformats.org/officeDocument/2006/relationships/slideLayout" Target="../slideLayouts/slideLayout5.xml"/><Relationship Id="rId4" Type="http://schemas.openxmlformats.org/officeDocument/2006/relationships/image" Target="../media/image39.svg"/></Relationships>
</file>

<file path=ppt/slides/_rels/slide38.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38.xml"/><Relationship Id="rId1" Type="http://schemas.openxmlformats.org/officeDocument/2006/relationships/slideLayout" Target="../slideLayouts/slideLayout5.xml"/><Relationship Id="rId4" Type="http://schemas.openxmlformats.org/officeDocument/2006/relationships/image" Target="../media/image41.svg"/></Relationships>
</file>

<file path=ppt/slides/_rels/slide3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9.xml"/><Relationship Id="rId1" Type="http://schemas.openxmlformats.org/officeDocument/2006/relationships/slideLayout" Target="../slideLayouts/slideLayout5.xml"/><Relationship Id="rId4" Type="http://schemas.openxmlformats.org/officeDocument/2006/relationships/image" Target="../media/image19.svg"/></Relationships>
</file>

<file path=ppt/slides/_rels/slide40.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40.xml"/><Relationship Id="rId1" Type="http://schemas.openxmlformats.org/officeDocument/2006/relationships/slideLayout" Target="../slideLayouts/slideLayout5.xml"/><Relationship Id="rId4" Type="http://schemas.openxmlformats.org/officeDocument/2006/relationships/image" Target="../media/image43.svg"/></Relationships>
</file>

<file path=ppt/slides/_rels/slide4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1.xml"/><Relationship Id="rId1" Type="http://schemas.openxmlformats.org/officeDocument/2006/relationships/slideLayout" Target="../slideLayouts/slideLayout5.xml"/><Relationship Id="rId4" Type="http://schemas.openxmlformats.org/officeDocument/2006/relationships/image" Target="../media/image19.svg"/></Relationships>
</file>

<file path=ppt/slides/_rels/slide4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2.xml"/><Relationship Id="rId1" Type="http://schemas.openxmlformats.org/officeDocument/2006/relationships/slideLayout" Target="../slideLayouts/slideLayout5.xml"/><Relationship Id="rId4" Type="http://schemas.openxmlformats.org/officeDocument/2006/relationships/image" Target="../media/image27.svg"/></Relationships>
</file>

<file path=ppt/slides/_rels/slide4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3.xml"/><Relationship Id="rId1" Type="http://schemas.openxmlformats.org/officeDocument/2006/relationships/slideLayout" Target="../slideLayouts/slideLayout5.xml"/><Relationship Id="rId4" Type="http://schemas.openxmlformats.org/officeDocument/2006/relationships/image" Target="../media/image19.svg"/></Relationships>
</file>

<file path=ppt/slides/_rels/slide4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4.xml"/><Relationship Id="rId1" Type="http://schemas.openxmlformats.org/officeDocument/2006/relationships/slideLayout" Target="../slideLayouts/slideLayout5.xml"/><Relationship Id="rId4" Type="http://schemas.openxmlformats.org/officeDocument/2006/relationships/image" Target="../media/image27.svg"/></Relationships>
</file>

<file path=ppt/slides/_rels/slide4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5.xml"/><Relationship Id="rId1" Type="http://schemas.openxmlformats.org/officeDocument/2006/relationships/slideLayout" Target="../slideLayouts/slideLayout5.xml"/><Relationship Id="rId4" Type="http://schemas.openxmlformats.org/officeDocument/2006/relationships/image" Target="../media/image19.svg"/></Relationships>
</file>

<file path=ppt/slides/_rels/slide4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6.xml"/><Relationship Id="rId1" Type="http://schemas.openxmlformats.org/officeDocument/2006/relationships/slideLayout" Target="../slideLayouts/slideLayout5.xml"/><Relationship Id="rId4" Type="http://schemas.openxmlformats.org/officeDocument/2006/relationships/image" Target="../media/image27.svg"/></Relationships>
</file>

<file path=ppt/slides/_rels/slide4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7.xml"/><Relationship Id="rId1" Type="http://schemas.openxmlformats.org/officeDocument/2006/relationships/slideLayout" Target="../slideLayouts/slideLayout5.xml"/><Relationship Id="rId4" Type="http://schemas.openxmlformats.org/officeDocument/2006/relationships/image" Target="../media/image19.svg"/></Relationships>
</file>

<file path=ppt/slides/_rels/slide4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8.xml"/><Relationship Id="rId1" Type="http://schemas.openxmlformats.org/officeDocument/2006/relationships/slideLayout" Target="../slideLayouts/slideLayout5.xml"/><Relationship Id="rId4" Type="http://schemas.openxmlformats.org/officeDocument/2006/relationships/image" Target="../media/image27.svg"/></Relationships>
</file>

<file path=ppt/slides/_rels/slide4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9.xml"/><Relationship Id="rId1" Type="http://schemas.openxmlformats.org/officeDocument/2006/relationships/slideLayout" Target="../slideLayouts/slideLayout5.xml"/><Relationship Id="rId4" Type="http://schemas.openxmlformats.org/officeDocument/2006/relationships/image" Target="../media/image19.svg"/></Relationships>
</file>

<file path=ppt/slides/_rels/slide5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0.xml"/><Relationship Id="rId1" Type="http://schemas.openxmlformats.org/officeDocument/2006/relationships/slideLayout" Target="../slideLayouts/slideLayout5.xml"/><Relationship Id="rId4" Type="http://schemas.openxmlformats.org/officeDocument/2006/relationships/image" Target="../media/image27.svg"/></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Google Shape;479;p31"/>
          <p:cNvSpPr txBox="1"/>
          <p:nvPr/>
        </p:nvSpPr>
        <p:spPr>
          <a:xfrm>
            <a:off x="187188" y="1970310"/>
            <a:ext cx="7572756" cy="816000"/>
          </a:xfrm>
          <a:prstGeom prst="rect">
            <a:avLst/>
          </a:prstGeom>
        </p:spPr>
        <p:txBody>
          <a:bodyPr spcFirstLastPara="1" wrap="square" lIns="91425" tIns="91425" rIns="91425" bIns="91425" anchor="b" anchorCtr="0">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spcBef>
                <a:spcPts val="0"/>
              </a:spcBef>
            </a:pPr>
            <a:r>
              <a:rPr lang="en-US" sz="4000" b="1" dirty="0"/>
              <a:t>The Goldilocks Effect:</a:t>
            </a:r>
            <a:br>
              <a:rPr lang="en-US" sz="4000" b="1" dirty="0"/>
            </a:br>
            <a:r>
              <a:rPr lang="en-US" sz="3200" b="1" dirty="0"/>
              <a:t>Human Infants Allocate Attention </a:t>
            </a:r>
            <a:br>
              <a:rPr lang="en-US" sz="3200" b="1" dirty="0"/>
            </a:br>
            <a:r>
              <a:rPr lang="en-US" sz="3200" b="1" dirty="0"/>
              <a:t>to Visual Sequences That Are  Neither Too Simple Nor Too Complex</a:t>
            </a:r>
            <a:endParaRPr lang="en-US" sz="4000" b="1" dirty="0"/>
          </a:p>
        </p:txBody>
      </p:sp>
      <p:sp>
        <p:nvSpPr>
          <p:cNvPr id="2" name="文本框 1">
            <a:extLst>
              <a:ext uri="{FF2B5EF4-FFF2-40B4-BE49-F238E27FC236}">
                <a16:creationId xmlns:a16="http://schemas.microsoft.com/office/drawing/2014/main" id="{89897127-F724-8B81-5B24-1FACBDAB36D5}"/>
              </a:ext>
            </a:extLst>
          </p:cNvPr>
          <p:cNvSpPr txBox="1"/>
          <p:nvPr/>
        </p:nvSpPr>
        <p:spPr>
          <a:xfrm>
            <a:off x="516366" y="3394038"/>
            <a:ext cx="3743661" cy="1200329"/>
          </a:xfrm>
          <a:prstGeom prst="rect">
            <a:avLst/>
          </a:prstGeom>
          <a:noFill/>
        </p:spPr>
        <p:txBody>
          <a:bodyPr wrap="square" rtlCol="0">
            <a:spAutoFit/>
          </a:bodyPr>
          <a:lstStyle/>
          <a:p>
            <a:r>
              <a:rPr lang="zh-CN" altLang="en-US" dirty="0"/>
              <a:t>盛曦：</a:t>
            </a:r>
            <a:r>
              <a:rPr lang="en-US" altLang="zh-CN" dirty="0"/>
              <a:t>ppt</a:t>
            </a:r>
            <a:r>
              <a:rPr lang="zh-CN" altLang="en-US" dirty="0"/>
              <a:t> </a:t>
            </a:r>
            <a:r>
              <a:rPr lang="en-US" altLang="zh-CN" dirty="0"/>
              <a:t>abstract</a:t>
            </a:r>
          </a:p>
          <a:p>
            <a:r>
              <a:rPr lang="zh-CN" altLang="en-US" dirty="0"/>
              <a:t>李怡璇：</a:t>
            </a:r>
            <a:r>
              <a:rPr lang="en-US" altLang="zh-CN" dirty="0"/>
              <a:t>introduction</a:t>
            </a:r>
          </a:p>
          <a:p>
            <a:r>
              <a:rPr lang="zh-CN" altLang="en-US" dirty="0"/>
              <a:t>郑淑涵：</a:t>
            </a:r>
            <a:r>
              <a:rPr lang="en-US" altLang="zh-CN" dirty="0"/>
              <a:t>literature review</a:t>
            </a:r>
          </a:p>
          <a:p>
            <a:r>
              <a:rPr lang="zh-CN" altLang="en-US" dirty="0"/>
              <a:t>徐之涵：</a:t>
            </a:r>
            <a:r>
              <a:rPr lang="en-US" altLang="zh-CN" dirty="0"/>
              <a:t>methodology section</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2662238" y="428625"/>
            <a:ext cx="5162550" cy="819150"/>
          </a:xfrm>
          <a:prstGeom prst="rect">
            <a:avLst/>
          </a:prstGeom>
          <a:noFill/>
        </p:spPr>
        <p:txBody>
          <a:bodyPr wrap="square" rtlCol="0" anchor="ctr"/>
          <a:lstStyle/>
          <a:p>
            <a:pPr marL="0" indent="0">
              <a:buNone/>
            </a:pPr>
            <a:r>
              <a:rPr lang="en-US" sz="4200" b="1" dirty="0">
                <a:solidFill>
                  <a:srgbClr val="FFFFFF"/>
                </a:solidFill>
                <a:latin typeface="Noto Serif SC" pitchFamily="34" charset="0"/>
                <a:ea typeface="Noto Serif SC" pitchFamily="34" charset="-122"/>
                <a:cs typeface="Noto Serif SC" pitchFamily="34" charset="-120"/>
              </a:rPr>
              <a:t>CONTENTS</a:t>
            </a:r>
            <a:endParaRPr lang="en-US" sz="4200" dirty="0"/>
          </a:p>
        </p:txBody>
      </p:sp>
      <p:sp>
        <p:nvSpPr>
          <p:cNvPr id="3" name="Text 1"/>
          <p:cNvSpPr/>
          <p:nvPr/>
        </p:nvSpPr>
        <p:spPr>
          <a:xfrm>
            <a:off x="2638425" y="1666875"/>
            <a:ext cx="5386388" cy="3271838"/>
          </a:xfrm>
          <a:prstGeom prst="rect">
            <a:avLst/>
          </a:prstGeom>
          <a:noFill/>
        </p:spPr>
        <p:txBody>
          <a:bodyPr wrap="square" rtlCol="0" anchor="t"/>
          <a:lstStyle/>
          <a:p>
            <a:pPr marL="342900" indent="-342900" algn="l">
              <a:lnSpc>
                <a:spcPct val="150000"/>
              </a:lnSpc>
              <a:buSzPct val="100000"/>
              <a:buChar char="•"/>
            </a:pPr>
            <a:r>
              <a:rPr lang="en-US" sz="1750" dirty="0">
                <a:solidFill>
                  <a:srgbClr val="000000"/>
                </a:solidFill>
                <a:latin typeface="Noto Serif SC" pitchFamily="34" charset="0"/>
                <a:ea typeface="Noto Serif SC" pitchFamily="34" charset="-122"/>
                <a:cs typeface="Noto Serif SC" pitchFamily="34" charset="-120"/>
              </a:rPr>
              <a:t>1 abstract</a:t>
            </a:r>
            <a:endParaRPr lang="en-US" sz="1750" dirty="0"/>
          </a:p>
          <a:p>
            <a:pPr marL="342900" indent="-342900" algn="l">
              <a:lnSpc>
                <a:spcPct val="150000"/>
              </a:lnSpc>
              <a:buSzPct val="100000"/>
              <a:buChar char="•"/>
            </a:pPr>
            <a:r>
              <a:rPr lang="en-US" sz="1750" dirty="0">
                <a:solidFill>
                  <a:srgbClr val="000000"/>
                </a:solidFill>
                <a:latin typeface="Noto Serif SC" pitchFamily="34" charset="0"/>
                <a:ea typeface="Noto Serif SC" pitchFamily="34" charset="-122"/>
                <a:cs typeface="Noto Serif SC" pitchFamily="34" charset="-120"/>
              </a:rPr>
              <a:t>2 introduction</a:t>
            </a:r>
            <a:endParaRPr lang="en-US" sz="1750" dirty="0"/>
          </a:p>
          <a:p>
            <a:pPr marL="342900" indent="-342900" algn="l">
              <a:lnSpc>
                <a:spcPct val="150000"/>
              </a:lnSpc>
              <a:buSzPct val="100000"/>
              <a:buChar char="•"/>
            </a:pPr>
            <a:r>
              <a:rPr lang="en-US" sz="1750" dirty="0">
                <a:solidFill>
                  <a:srgbClr val="000000"/>
                </a:solidFill>
                <a:latin typeface="Noto Serif SC" pitchFamily="34" charset="0"/>
                <a:ea typeface="Noto Serif SC" pitchFamily="34" charset="-122"/>
                <a:cs typeface="Noto Serif SC" pitchFamily="34" charset="-120"/>
              </a:rPr>
              <a:t>3 Literature review</a:t>
            </a:r>
            <a:endParaRPr lang="en-US" sz="1750" dirty="0"/>
          </a:p>
          <a:p>
            <a:pPr marL="342900" indent="-342900" algn="l">
              <a:lnSpc>
                <a:spcPct val="150000"/>
              </a:lnSpc>
              <a:buSzPct val="100000"/>
              <a:buChar char="•"/>
            </a:pPr>
            <a:r>
              <a:rPr lang="en-US" sz="1750" dirty="0">
                <a:solidFill>
                  <a:srgbClr val="000000"/>
                </a:solidFill>
                <a:latin typeface="Noto Serif SC" pitchFamily="34" charset="0"/>
                <a:ea typeface="Noto Serif SC" pitchFamily="34" charset="-122"/>
                <a:cs typeface="Noto Serif SC" pitchFamily="34" charset="-120"/>
              </a:rPr>
              <a:t>4 Methodology section</a:t>
            </a:r>
            <a:endParaRPr lang="en-US" sz="17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238625" y="1276350"/>
            <a:ext cx="1452563" cy="333375"/>
          </a:xfrm>
          <a:prstGeom prst="rect">
            <a:avLst/>
          </a:prstGeom>
          <a:noFill/>
        </p:spPr>
        <p:txBody>
          <a:bodyPr wrap="square" rtlCol="0" anchor="t"/>
          <a:lstStyle/>
          <a:p>
            <a:pPr marL="0" indent="0" algn="ctr">
              <a:buNone/>
            </a:pPr>
            <a:r>
              <a:rPr lang="en-US" sz="1535" b="1" dirty="0">
                <a:solidFill>
                  <a:srgbClr val="FFFFFF"/>
                </a:solidFill>
                <a:latin typeface="Noto Serif SC" pitchFamily="34" charset="0"/>
                <a:ea typeface="Noto Serif SC" pitchFamily="34" charset="-122"/>
                <a:cs typeface="Noto Serif SC" pitchFamily="34" charset="-120"/>
              </a:rPr>
              <a:t>01</a:t>
            </a:r>
            <a:endParaRPr lang="en-US" sz="1535" dirty="0"/>
          </a:p>
        </p:txBody>
      </p:sp>
      <p:sp>
        <p:nvSpPr>
          <p:cNvPr id="3" name="Text 1"/>
          <p:cNvSpPr/>
          <p:nvPr/>
        </p:nvSpPr>
        <p:spPr>
          <a:xfrm>
            <a:off x="1871663" y="2381250"/>
            <a:ext cx="5101590" cy="1676400"/>
          </a:xfrm>
          <a:prstGeom prst="rect">
            <a:avLst/>
          </a:prstGeom>
          <a:noFill/>
        </p:spPr>
        <p:txBody>
          <a:bodyPr wrap="square" rtlCol="0" anchor="t"/>
          <a:lstStyle/>
          <a:p>
            <a:pPr marL="0" indent="0" algn="ctr">
              <a:buNone/>
            </a:pPr>
            <a:r>
              <a:rPr lang="en-US" sz="3500" b="1" dirty="0">
                <a:solidFill>
                  <a:srgbClr val="FFFFFF"/>
                </a:solidFill>
                <a:latin typeface="Noto Serif SC" pitchFamily="34" charset="0"/>
                <a:ea typeface="Noto Serif SC" pitchFamily="34" charset="-122"/>
                <a:cs typeface="Noto Serif SC" pitchFamily="34" charset="-120"/>
              </a:rPr>
              <a:t>1 abstract</a:t>
            </a:r>
            <a:endParaRPr lang="en-US" sz="3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Image 0" descr="preencoded.png">
            <a:extLst>
              <a:ext uri="{FF2B5EF4-FFF2-40B4-BE49-F238E27FC236}">
                <a16:creationId xmlns:a16="http://schemas.microsoft.com/office/drawing/2014/main" id="{828DB450-F7F3-8539-B532-E977C5063644}"/>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337481" y="-368491"/>
            <a:ext cx="11136574" cy="6264323"/>
          </a:xfrm>
          <a:prstGeom prst="rect">
            <a:avLst/>
          </a:prstGeom>
        </p:spPr>
      </p:pic>
      <p:sp>
        <p:nvSpPr>
          <p:cNvPr id="3" name="Text 0"/>
          <p:cNvSpPr/>
          <p:nvPr/>
        </p:nvSpPr>
        <p:spPr>
          <a:xfrm>
            <a:off x="461962" y="214312"/>
            <a:ext cx="3233738" cy="1023938"/>
          </a:xfrm>
          <a:prstGeom prst="rect">
            <a:avLst/>
          </a:prstGeom>
          <a:noFill/>
        </p:spPr>
        <p:txBody>
          <a:bodyPr wrap="square" rtlCol="0" anchor="t"/>
          <a:lstStyle/>
          <a:p>
            <a:pPr marL="0" indent="0">
              <a:buNone/>
            </a:pPr>
            <a:r>
              <a:rPr lang="en-US" sz="2800" b="1" dirty="0">
                <a:solidFill>
                  <a:srgbClr val="383838"/>
                </a:solidFill>
                <a:latin typeface="Noto Serif SC" pitchFamily="34" charset="0"/>
                <a:ea typeface="Noto Serif SC" pitchFamily="34" charset="-122"/>
                <a:cs typeface="Noto Serif SC" pitchFamily="34" charset="-120"/>
              </a:rPr>
              <a:t>1 abstract</a:t>
            </a:r>
            <a:endParaRPr lang="en-US" sz="2800" dirty="0"/>
          </a:p>
        </p:txBody>
      </p:sp>
      <p:sp>
        <p:nvSpPr>
          <p:cNvPr id="4" name="Text 1"/>
          <p:cNvSpPr/>
          <p:nvPr/>
        </p:nvSpPr>
        <p:spPr>
          <a:xfrm>
            <a:off x="461962" y="2666684"/>
            <a:ext cx="5223454" cy="2366158"/>
          </a:xfrm>
          <a:prstGeom prst="rect">
            <a:avLst/>
          </a:prstGeom>
          <a:noFill/>
        </p:spPr>
        <p:txBody>
          <a:bodyPr wrap="square" rtlCol="0" anchor="t"/>
          <a:lstStyle/>
          <a:p>
            <a:pPr marL="0" indent="0" algn="l">
              <a:lnSpc>
                <a:spcPct val="150000"/>
              </a:lnSpc>
              <a:buNone/>
            </a:pPr>
            <a:r>
              <a:rPr lang="en-US" sz="1400" dirty="0">
                <a:solidFill>
                  <a:srgbClr val="383838"/>
                </a:solidFill>
                <a:latin typeface="Noto Serif SC" pitchFamily="34" charset="0"/>
                <a:ea typeface="Noto Serif SC" pitchFamily="34" charset="-122"/>
                <a:cs typeface="Noto Serif SC" pitchFamily="34" charset="-120"/>
              </a:rPr>
              <a:t>1 Background/Introduction/Situation</a:t>
            </a:r>
            <a:endParaRPr lang="en-US" sz="1400" dirty="0"/>
          </a:p>
          <a:p>
            <a:pPr marL="0" indent="0" algn="l">
              <a:lnSpc>
                <a:spcPct val="150000"/>
              </a:lnSpc>
              <a:buNone/>
            </a:pPr>
            <a:r>
              <a:rPr lang="en-US" sz="1400" dirty="0">
                <a:solidFill>
                  <a:srgbClr val="383838"/>
                </a:solidFill>
                <a:latin typeface="Noto Serif SC" pitchFamily="34" charset="0"/>
                <a:ea typeface="Noto Serif SC" pitchFamily="34" charset="-122"/>
                <a:cs typeface="Noto Serif SC" pitchFamily="34" charset="-120"/>
              </a:rPr>
              <a:t>2 Purpose/Objective/Focus</a:t>
            </a:r>
            <a:endParaRPr lang="en-US" sz="1400" dirty="0"/>
          </a:p>
          <a:p>
            <a:pPr marL="0" indent="0" algn="l">
              <a:lnSpc>
                <a:spcPct val="150000"/>
              </a:lnSpc>
              <a:buNone/>
            </a:pPr>
            <a:r>
              <a:rPr lang="en-US" sz="1400" dirty="0">
                <a:solidFill>
                  <a:srgbClr val="383838"/>
                </a:solidFill>
                <a:latin typeface="Noto Serif SC" pitchFamily="34" charset="0"/>
                <a:ea typeface="Noto Serif SC" pitchFamily="34" charset="-122"/>
                <a:cs typeface="Noto Serif SC" pitchFamily="34" charset="-120"/>
              </a:rPr>
              <a:t>3 Methods/Materials/Subjects/Procedures</a:t>
            </a:r>
            <a:endParaRPr lang="en-US" sz="1400" dirty="0"/>
          </a:p>
          <a:p>
            <a:pPr marL="0" indent="0" algn="l">
              <a:lnSpc>
                <a:spcPct val="150000"/>
              </a:lnSpc>
              <a:buNone/>
            </a:pPr>
            <a:r>
              <a:rPr lang="en-US" sz="1400" dirty="0">
                <a:solidFill>
                  <a:srgbClr val="383838"/>
                </a:solidFill>
                <a:latin typeface="Noto Serif SC" pitchFamily="34" charset="0"/>
                <a:ea typeface="Noto Serif SC" pitchFamily="34" charset="-122"/>
                <a:cs typeface="Noto Serif SC" pitchFamily="34" charset="-120"/>
              </a:rPr>
              <a:t>4 Results/Findings</a:t>
            </a:r>
            <a:endParaRPr lang="en-US" sz="1400" dirty="0"/>
          </a:p>
          <a:p>
            <a:pPr marL="0" indent="0" algn="l">
              <a:lnSpc>
                <a:spcPct val="150000"/>
              </a:lnSpc>
              <a:buNone/>
            </a:pPr>
            <a:r>
              <a:rPr lang="en-US" sz="1400" dirty="0">
                <a:solidFill>
                  <a:srgbClr val="383838"/>
                </a:solidFill>
                <a:latin typeface="Noto Serif SC" pitchFamily="34" charset="0"/>
                <a:ea typeface="Noto Serif SC" pitchFamily="34" charset="-122"/>
                <a:cs typeface="Noto Serif SC" pitchFamily="34" charset="-120"/>
              </a:rPr>
              <a:t>5 Discussion/Conclusion/Implications/Recommendations</a:t>
            </a:r>
            <a:endParaRPr lang="en-US" sz="1400" dirty="0"/>
          </a:p>
        </p:txBody>
      </p:sp>
      <p:pic>
        <p:nvPicPr>
          <p:cNvPr id="6" name="图片 5">
            <a:extLst>
              <a:ext uri="{FF2B5EF4-FFF2-40B4-BE49-F238E27FC236}">
                <a16:creationId xmlns:a16="http://schemas.microsoft.com/office/drawing/2014/main" id="{A99EE8BE-2FC3-4625-9FEB-EFD583BFBFF9}"/>
              </a:ext>
            </a:extLst>
          </p:cNvPr>
          <p:cNvPicPr>
            <a:picLocks noChangeAspect="1"/>
          </p:cNvPicPr>
          <p:nvPr/>
        </p:nvPicPr>
        <p:blipFill>
          <a:blip r:embed="rId5"/>
          <a:stretch>
            <a:fillRect/>
          </a:stretch>
        </p:blipFill>
        <p:spPr>
          <a:xfrm>
            <a:off x="583843" y="753418"/>
            <a:ext cx="7074794" cy="1590537"/>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Image 0" descr="preencoded.png">
            <a:extLst>
              <a:ext uri="{FF2B5EF4-FFF2-40B4-BE49-F238E27FC236}">
                <a16:creationId xmlns:a16="http://schemas.microsoft.com/office/drawing/2014/main" id="{8D32D8FF-E0BB-3708-CF48-CACF866F6AB5}"/>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0" y="0"/>
            <a:ext cx="9144000" cy="5143500"/>
          </a:xfrm>
          <a:prstGeom prst="rect">
            <a:avLst/>
          </a:prstGeom>
        </p:spPr>
      </p:pic>
      <p:sp>
        <p:nvSpPr>
          <p:cNvPr id="14" name="矩形: 圆角 13">
            <a:extLst>
              <a:ext uri="{FF2B5EF4-FFF2-40B4-BE49-F238E27FC236}">
                <a16:creationId xmlns:a16="http://schemas.microsoft.com/office/drawing/2014/main" id="{682C0B4C-ECCE-C835-57D4-953F3BF7282F}"/>
              </a:ext>
            </a:extLst>
          </p:cNvPr>
          <p:cNvSpPr/>
          <p:nvPr/>
        </p:nvSpPr>
        <p:spPr>
          <a:xfrm>
            <a:off x="276896" y="3084758"/>
            <a:ext cx="4664298" cy="1779163"/>
          </a:xfrm>
          <a:prstGeom prst="round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400" dirty="0"/>
              <a:t>The study discusses the necessity for human infants, like immature members of any species, to be selective in sampling information from their environment to learn efficiently. It highlights the importance of this selectivity to avoid wasting computational resources on information that is either too simple (already known) or too complex (unknowable).</a:t>
            </a:r>
          </a:p>
          <a:p>
            <a:endParaRPr lang="en-US" altLang="zh-CN" sz="1400" dirty="0"/>
          </a:p>
        </p:txBody>
      </p:sp>
      <p:sp>
        <p:nvSpPr>
          <p:cNvPr id="3" name="Text 0"/>
          <p:cNvSpPr/>
          <p:nvPr/>
        </p:nvSpPr>
        <p:spPr>
          <a:xfrm>
            <a:off x="461962" y="214312"/>
            <a:ext cx="3233738" cy="1023938"/>
          </a:xfrm>
          <a:prstGeom prst="rect">
            <a:avLst/>
          </a:prstGeom>
          <a:noFill/>
        </p:spPr>
        <p:txBody>
          <a:bodyPr wrap="square" rtlCol="0" anchor="t"/>
          <a:lstStyle/>
          <a:p>
            <a:pPr marL="0" indent="0">
              <a:buNone/>
            </a:pPr>
            <a:r>
              <a:rPr lang="en-US" sz="1600" b="1" dirty="0">
                <a:solidFill>
                  <a:srgbClr val="383838"/>
                </a:solidFill>
                <a:latin typeface="Noto Serif SC" pitchFamily="34" charset="0"/>
                <a:ea typeface="Noto Serif SC" pitchFamily="34" charset="-122"/>
                <a:cs typeface="Noto Serif SC" pitchFamily="34" charset="-120"/>
              </a:rPr>
              <a:t>1.1 Background/Introduction/Situation</a:t>
            </a:r>
            <a:endParaRPr lang="en-US" sz="1600" dirty="0"/>
          </a:p>
        </p:txBody>
      </p:sp>
      <p:sp>
        <p:nvSpPr>
          <p:cNvPr id="4" name="Text 1"/>
          <p:cNvSpPr/>
          <p:nvPr/>
        </p:nvSpPr>
        <p:spPr>
          <a:xfrm>
            <a:off x="557497" y="1148686"/>
            <a:ext cx="3233738" cy="3033713"/>
          </a:xfrm>
          <a:prstGeom prst="rect">
            <a:avLst/>
          </a:prstGeom>
          <a:noFill/>
        </p:spPr>
        <p:txBody>
          <a:bodyPr wrap="square" rtlCol="0" anchor="t"/>
          <a:lstStyle/>
          <a:p>
            <a:pPr>
              <a:lnSpc>
                <a:spcPct val="150000"/>
              </a:lnSpc>
            </a:pPr>
            <a:endParaRPr lang="en-US" sz="1260" dirty="0"/>
          </a:p>
        </p:txBody>
      </p:sp>
      <p:sp>
        <p:nvSpPr>
          <p:cNvPr id="11" name="文本框 10">
            <a:extLst>
              <a:ext uri="{FF2B5EF4-FFF2-40B4-BE49-F238E27FC236}">
                <a16:creationId xmlns:a16="http://schemas.microsoft.com/office/drawing/2014/main" id="{A67D2317-89B9-E563-B3FB-73B06B4359B4}"/>
              </a:ext>
            </a:extLst>
          </p:cNvPr>
          <p:cNvSpPr txBox="1"/>
          <p:nvPr/>
        </p:nvSpPr>
        <p:spPr>
          <a:xfrm>
            <a:off x="276896" y="1026017"/>
            <a:ext cx="4368085" cy="1815882"/>
          </a:xfrm>
          <a:prstGeom prst="rect">
            <a:avLst/>
          </a:prstGeom>
          <a:noFill/>
        </p:spPr>
        <p:txBody>
          <a:bodyPr wrap="square">
            <a:spAutoFit/>
          </a:bodyPr>
          <a:lstStyle/>
          <a:p>
            <a:r>
              <a:rPr lang="zh-CN" altLang="en-US" sz="1600" dirty="0"/>
              <a:t>Human infants, like immature members of any species, must be highly selective in sampling information from their environment to learn efficiently. Failure to be selective would waste precious computational resources on material that is already known (too simple) or unknowable (too complex).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randombar(horizontal)">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grpId="0" nodeType="clickEffect" nodePh="1">
                                  <p:stCondLst>
                                    <p:cond delay="0"/>
                                  </p:stCondLst>
                                  <p:endCondLst>
                                    <p:cond evt="begin" delay="0">
                                      <p:tn val="10"/>
                                    </p:cond>
                                  </p:endCondLst>
                                  <p:childTnLst>
                                    <p:set>
                                      <p:cBhvr>
                                        <p:cTn id="11" dur="1" fill="hold">
                                          <p:stCondLst>
                                            <p:cond delay="0"/>
                                          </p:stCondLst>
                                        </p:cTn>
                                        <p:tgtEl>
                                          <p:spTgt spid="4"/>
                                        </p:tgtEl>
                                        <p:attrNameLst>
                                          <p:attrName>style.visibility</p:attrName>
                                        </p:attrNameLst>
                                      </p:cBhvr>
                                      <p:to>
                                        <p:strVal val="visible"/>
                                      </p:to>
                                    </p:set>
                                    <p:animEffect transition="in" filter="randombar(horizontal)">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4" presetClass="entr" presetSubtype="10" fill="hold" grpId="0" nodeType="clickEffect">
                                  <p:stCondLst>
                                    <p:cond delay="0"/>
                                  </p:stCondLst>
                                  <p:childTnLst>
                                    <p:set>
                                      <p:cBhvr>
                                        <p:cTn id="16" dur="1" fill="hold">
                                          <p:stCondLst>
                                            <p:cond delay="0"/>
                                          </p:stCondLst>
                                        </p:cTn>
                                        <p:tgtEl>
                                          <p:spTgt spid="14"/>
                                        </p:tgtEl>
                                        <p:attrNameLst>
                                          <p:attrName>style.visibility</p:attrName>
                                        </p:attrNameLst>
                                      </p:cBhvr>
                                      <p:to>
                                        <p:strVal val="visible"/>
                                      </p:to>
                                    </p:set>
                                    <p:animEffect transition="in" filter="randombar(horizontal)">
                                      <p:cBhvr>
                                        <p:cTn id="17"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3" grpId="0" animBg="1"/>
      <p:bldP spid="4"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0" y="0"/>
            <a:ext cx="9144000" cy="5143500"/>
          </a:xfrm>
          <a:prstGeom prst="rect">
            <a:avLst/>
          </a:prstGeom>
        </p:spPr>
      </p:pic>
      <p:sp>
        <p:nvSpPr>
          <p:cNvPr id="4" name="Text 1"/>
          <p:cNvSpPr/>
          <p:nvPr/>
        </p:nvSpPr>
        <p:spPr>
          <a:xfrm>
            <a:off x="530201" y="1330657"/>
            <a:ext cx="3233738" cy="3033713"/>
          </a:xfrm>
          <a:prstGeom prst="rect">
            <a:avLst/>
          </a:prstGeom>
          <a:noFill/>
        </p:spPr>
        <p:txBody>
          <a:bodyPr wrap="square" rtlCol="0" anchor="t"/>
          <a:lstStyle/>
          <a:p>
            <a:pPr>
              <a:lnSpc>
                <a:spcPct val="150000"/>
              </a:lnSpc>
            </a:pPr>
            <a:endParaRPr lang="en-US" sz="1400" dirty="0"/>
          </a:p>
        </p:txBody>
      </p:sp>
      <p:sp>
        <p:nvSpPr>
          <p:cNvPr id="5" name="文本框 4">
            <a:extLst>
              <a:ext uri="{FF2B5EF4-FFF2-40B4-BE49-F238E27FC236}">
                <a16:creationId xmlns:a16="http://schemas.microsoft.com/office/drawing/2014/main" id="{A5469EEF-84EF-54C9-F0A4-0941495EA051}"/>
              </a:ext>
            </a:extLst>
          </p:cNvPr>
          <p:cNvSpPr txBox="1"/>
          <p:nvPr/>
        </p:nvSpPr>
        <p:spPr>
          <a:xfrm>
            <a:off x="591402" y="286602"/>
            <a:ext cx="3343701" cy="923330"/>
          </a:xfrm>
          <a:prstGeom prst="rect">
            <a:avLst/>
          </a:prstGeom>
          <a:noFill/>
        </p:spPr>
        <p:txBody>
          <a:bodyPr wrap="square" rtlCol="0">
            <a:spAutoFit/>
          </a:bodyPr>
          <a:lstStyle/>
          <a:p>
            <a:r>
              <a:rPr lang="en-US" altLang="zh-CN" sz="1800" b="1" dirty="0">
                <a:solidFill>
                  <a:srgbClr val="383838"/>
                </a:solidFill>
                <a:latin typeface="Noto Serif SC" pitchFamily="34" charset="0"/>
                <a:ea typeface="Noto Serif SC" pitchFamily="34" charset="-122"/>
                <a:cs typeface="Noto Serif SC" pitchFamily="34" charset="-120"/>
              </a:rPr>
              <a:t>1.2 Purpose/Objective/Focus</a:t>
            </a:r>
            <a:endParaRPr lang="en-US" altLang="zh-CN" sz="1800" dirty="0"/>
          </a:p>
          <a:p>
            <a:endParaRPr lang="zh-CN" altLang="en-US" dirty="0"/>
          </a:p>
        </p:txBody>
      </p:sp>
      <p:sp>
        <p:nvSpPr>
          <p:cNvPr id="6" name="文本框 5">
            <a:extLst>
              <a:ext uri="{FF2B5EF4-FFF2-40B4-BE49-F238E27FC236}">
                <a16:creationId xmlns:a16="http://schemas.microsoft.com/office/drawing/2014/main" id="{92DCE1B5-8E4D-D42B-F60C-485C7BA43682}"/>
              </a:ext>
            </a:extLst>
          </p:cNvPr>
          <p:cNvSpPr txBox="1"/>
          <p:nvPr/>
        </p:nvSpPr>
        <p:spPr>
          <a:xfrm>
            <a:off x="530201" y="1209932"/>
            <a:ext cx="3148885" cy="1569660"/>
          </a:xfrm>
          <a:prstGeom prst="rect">
            <a:avLst/>
          </a:prstGeom>
          <a:noFill/>
        </p:spPr>
        <p:txBody>
          <a:bodyPr wrap="square">
            <a:spAutoFit/>
          </a:bodyPr>
          <a:lstStyle/>
          <a:p>
            <a:r>
              <a:rPr lang="en-US" altLang="zh-CN" sz="1600" dirty="0"/>
              <a:t>in two experiments with 7- and 8-month-olds, we measure infants' visual attention to sequences of events varying in complexity, as determined by an ideal learner model.</a:t>
            </a:r>
            <a:endParaRPr lang="zh-CN" altLang="en-US" sz="1600" dirty="0"/>
          </a:p>
        </p:txBody>
      </p:sp>
      <p:sp>
        <p:nvSpPr>
          <p:cNvPr id="7" name="矩形: 圆角 6">
            <a:extLst>
              <a:ext uri="{FF2B5EF4-FFF2-40B4-BE49-F238E27FC236}">
                <a16:creationId xmlns:a16="http://schemas.microsoft.com/office/drawing/2014/main" id="{00A0100E-8CD8-6E59-2271-5C9F1AAA3360}"/>
              </a:ext>
            </a:extLst>
          </p:cNvPr>
          <p:cNvSpPr/>
          <p:nvPr/>
        </p:nvSpPr>
        <p:spPr>
          <a:xfrm>
            <a:off x="79420" y="3099942"/>
            <a:ext cx="4664298" cy="1779163"/>
          </a:xfrm>
          <a:prstGeom prst="round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400" dirty="0"/>
              <a:t>The purpose of the study is to investigate how infants allocate their visual attention to sequences of events that vary in complexity. The focus is on understanding the conditions under which infants look away from stimuli, particularly when the complexity of the stimulus is either very low or very high.</a:t>
            </a:r>
          </a:p>
          <a:p>
            <a:endParaRPr lang="en-US" altLang="zh-CN" sz="14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nodePh="1">
                                  <p:stCondLst>
                                    <p:cond delay="0"/>
                                  </p:stCondLst>
                                  <p:endCondLst>
                                    <p:cond evt="begin" delay="0">
                                      <p:tn val="5"/>
                                    </p:cond>
                                  </p:endCondLst>
                                  <p:childTnLst>
                                    <p:set>
                                      <p:cBhvr>
                                        <p:cTn id="6" dur="1" fill="hold">
                                          <p:stCondLst>
                                            <p:cond delay="0"/>
                                          </p:stCondLst>
                                        </p:cTn>
                                        <p:tgtEl>
                                          <p:spTgt spid="4"/>
                                        </p:tgtEl>
                                        <p:attrNameLst>
                                          <p:attrName>style.visibility</p:attrName>
                                        </p:attrNameLst>
                                      </p:cBhvr>
                                      <p:to>
                                        <p:strVal val="visible"/>
                                      </p:to>
                                    </p:set>
                                    <p:animEffect transition="in" filter="randombar(horizontal)">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randombar(horizontal)">
                                      <p:cBhvr>
                                        <p:cTn id="12"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7"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Image 0" descr="preencoded.png">
            <a:extLst>
              <a:ext uri="{FF2B5EF4-FFF2-40B4-BE49-F238E27FC236}">
                <a16:creationId xmlns:a16="http://schemas.microsoft.com/office/drawing/2014/main" id="{8D32D8FF-E0BB-3708-CF48-CACF866F6AB5}"/>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0" y="0"/>
            <a:ext cx="9144000" cy="5143500"/>
          </a:xfrm>
          <a:prstGeom prst="rect">
            <a:avLst/>
          </a:prstGeom>
        </p:spPr>
      </p:pic>
      <p:sp>
        <p:nvSpPr>
          <p:cNvPr id="3" name="Text 0"/>
          <p:cNvSpPr/>
          <p:nvPr/>
        </p:nvSpPr>
        <p:spPr>
          <a:xfrm>
            <a:off x="461962" y="214312"/>
            <a:ext cx="4664298" cy="1023938"/>
          </a:xfrm>
          <a:prstGeom prst="rect">
            <a:avLst/>
          </a:prstGeom>
          <a:noFill/>
        </p:spPr>
        <p:txBody>
          <a:bodyPr wrap="square" rtlCol="0" anchor="t"/>
          <a:lstStyle/>
          <a:p>
            <a:r>
              <a:rPr lang="en-US" altLang="zh-CN" sz="1600" b="1" dirty="0">
                <a:solidFill>
                  <a:srgbClr val="000000"/>
                </a:solidFill>
                <a:latin typeface="Noto Serif SC" pitchFamily="34" charset="0"/>
                <a:ea typeface="Noto Serif SC" pitchFamily="34" charset="-122"/>
                <a:cs typeface="Noto Serif SC" pitchFamily="34" charset="-120"/>
              </a:rPr>
              <a:t>1.3 Methods/Materials/Subjects/Procedures</a:t>
            </a:r>
            <a:endParaRPr lang="en-US" altLang="zh-CN" sz="1600" dirty="0"/>
          </a:p>
        </p:txBody>
      </p:sp>
      <p:sp>
        <p:nvSpPr>
          <p:cNvPr id="4" name="Text 1"/>
          <p:cNvSpPr/>
          <p:nvPr/>
        </p:nvSpPr>
        <p:spPr>
          <a:xfrm>
            <a:off x="602989" y="1526274"/>
            <a:ext cx="3233738" cy="3033713"/>
          </a:xfrm>
          <a:prstGeom prst="rect">
            <a:avLst/>
          </a:prstGeom>
          <a:noFill/>
        </p:spPr>
        <p:txBody>
          <a:bodyPr wrap="square" rtlCol="0" anchor="t"/>
          <a:lstStyle/>
          <a:p>
            <a:pPr>
              <a:lnSpc>
                <a:spcPct val="150000"/>
              </a:lnSpc>
            </a:pPr>
            <a:endParaRPr lang="en-US" sz="1260" dirty="0"/>
          </a:p>
        </p:txBody>
      </p:sp>
      <p:sp>
        <p:nvSpPr>
          <p:cNvPr id="5" name="文本框 4">
            <a:extLst>
              <a:ext uri="{FF2B5EF4-FFF2-40B4-BE49-F238E27FC236}">
                <a16:creationId xmlns:a16="http://schemas.microsoft.com/office/drawing/2014/main" id="{171AFDCF-5708-90CB-8A8D-30B852230A08}"/>
              </a:ext>
            </a:extLst>
          </p:cNvPr>
          <p:cNvSpPr txBox="1"/>
          <p:nvPr/>
        </p:nvSpPr>
        <p:spPr>
          <a:xfrm>
            <a:off x="367048" y="1003120"/>
            <a:ext cx="4572000" cy="2308324"/>
          </a:xfrm>
          <a:prstGeom prst="rect">
            <a:avLst/>
          </a:prstGeom>
          <a:noFill/>
        </p:spPr>
        <p:txBody>
          <a:bodyPr wrap="square">
            <a:spAutoFit/>
          </a:bodyPr>
          <a:lstStyle/>
          <a:p>
            <a:r>
              <a:rPr lang="zh-CN" altLang="en-US" dirty="0"/>
              <a:t> in two experiments with 7- and 8-month-olds, we measure infants' visual attention to sequences of events varying in complexity, as determined by an ideal learner model. Infants'probability of looking away was greatest on stimulus items whose complexity (negative log probability) according to the model was either very low or very high. </a:t>
            </a:r>
          </a:p>
        </p:txBody>
      </p:sp>
      <p:sp>
        <p:nvSpPr>
          <p:cNvPr id="7" name="矩形: 圆角 6">
            <a:extLst>
              <a:ext uri="{FF2B5EF4-FFF2-40B4-BE49-F238E27FC236}">
                <a16:creationId xmlns:a16="http://schemas.microsoft.com/office/drawing/2014/main" id="{51B72D2F-AAEF-D3A8-7A98-12FDCA6D7ADC}"/>
              </a:ext>
            </a:extLst>
          </p:cNvPr>
          <p:cNvSpPr/>
          <p:nvPr/>
        </p:nvSpPr>
        <p:spPr>
          <a:xfrm>
            <a:off x="320899" y="3303978"/>
            <a:ext cx="4664298" cy="1779163"/>
          </a:xfrm>
          <a:prstGeom prst="round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400" dirty="0"/>
              <a:t>The study involved two experiments with 7- and 8-month-old infants. The researchers measured the infants' visual attention to events of varying complexity, as determined by an ideal learner model. The key variable was the negative log probability of the complexity of the stimulus items.</a:t>
            </a:r>
          </a:p>
          <a:p>
            <a:endParaRPr lang="en-US" altLang="zh-CN" sz="1050" dirty="0"/>
          </a:p>
        </p:txBody>
      </p:sp>
    </p:spTree>
    <p:extLst>
      <p:ext uri="{BB962C8B-B14F-4D97-AF65-F5344CB8AC3E}">
        <p14:creationId xmlns:p14="http://schemas.microsoft.com/office/powerpoint/2010/main" val="12752296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randombar(horizontal)">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grpId="0" nodeType="clickEffect" nodePh="1">
                                  <p:stCondLst>
                                    <p:cond delay="0"/>
                                  </p:stCondLst>
                                  <p:endCondLst>
                                    <p:cond evt="begin" delay="0">
                                      <p:tn val="10"/>
                                    </p:cond>
                                  </p:endCondLst>
                                  <p:childTnLst>
                                    <p:set>
                                      <p:cBhvr>
                                        <p:cTn id="11" dur="1" fill="hold">
                                          <p:stCondLst>
                                            <p:cond delay="0"/>
                                          </p:stCondLst>
                                        </p:cTn>
                                        <p:tgtEl>
                                          <p:spTgt spid="4"/>
                                        </p:tgtEl>
                                        <p:attrNameLst>
                                          <p:attrName>style.visibility</p:attrName>
                                        </p:attrNameLst>
                                      </p:cBhvr>
                                      <p:to>
                                        <p:strVal val="visible"/>
                                      </p:to>
                                    </p:set>
                                    <p:animEffect transition="in" filter="randombar(horizontal)">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4" presetClass="entr" presetSubtype="10"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randombar(horizontal)">
                                      <p:cBhvr>
                                        <p:cTn id="1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7"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0" y="0"/>
            <a:ext cx="9144000" cy="5143500"/>
          </a:xfrm>
          <a:prstGeom prst="rect">
            <a:avLst/>
          </a:prstGeom>
        </p:spPr>
      </p:pic>
      <p:sp>
        <p:nvSpPr>
          <p:cNvPr id="3" name="Text 0"/>
          <p:cNvSpPr/>
          <p:nvPr/>
        </p:nvSpPr>
        <p:spPr>
          <a:xfrm>
            <a:off x="466725" y="376238"/>
            <a:ext cx="4086225" cy="552450"/>
          </a:xfrm>
          <a:prstGeom prst="rect">
            <a:avLst/>
          </a:prstGeom>
          <a:noFill/>
        </p:spPr>
        <p:txBody>
          <a:bodyPr wrap="square" rtlCol="0" anchor="t"/>
          <a:lstStyle/>
          <a:p>
            <a:pPr marL="0" indent="0">
              <a:buNone/>
            </a:pPr>
            <a:r>
              <a:rPr lang="en-US" sz="2240" b="1" dirty="0">
                <a:solidFill>
                  <a:srgbClr val="000000"/>
                </a:solidFill>
                <a:latin typeface="Noto Serif SC" pitchFamily="34" charset="0"/>
                <a:ea typeface="Noto Serif SC" pitchFamily="34" charset="-122"/>
                <a:cs typeface="Noto Serif SC" pitchFamily="34" charset="-120"/>
              </a:rPr>
              <a:t>1.4 Results/Findings</a:t>
            </a:r>
            <a:endParaRPr lang="en-US" sz="2240" dirty="0"/>
          </a:p>
        </p:txBody>
      </p:sp>
      <p:sp>
        <p:nvSpPr>
          <p:cNvPr id="4" name="Text 1"/>
          <p:cNvSpPr/>
          <p:nvPr/>
        </p:nvSpPr>
        <p:spPr>
          <a:xfrm>
            <a:off x="504825" y="1309688"/>
            <a:ext cx="3048000" cy="3357563"/>
          </a:xfrm>
          <a:prstGeom prst="rect">
            <a:avLst/>
          </a:prstGeom>
          <a:noFill/>
        </p:spPr>
        <p:txBody>
          <a:bodyPr wrap="square" rtlCol="0" anchor="t"/>
          <a:lstStyle/>
          <a:p>
            <a:pPr>
              <a:lnSpc>
                <a:spcPct val="150000"/>
              </a:lnSpc>
            </a:pPr>
            <a:endParaRPr lang="en-US" sz="1330" dirty="0"/>
          </a:p>
        </p:txBody>
      </p:sp>
      <p:sp>
        <p:nvSpPr>
          <p:cNvPr id="6" name="文本框 5">
            <a:extLst>
              <a:ext uri="{FF2B5EF4-FFF2-40B4-BE49-F238E27FC236}">
                <a16:creationId xmlns:a16="http://schemas.microsoft.com/office/drawing/2014/main" id="{9132BFEC-8940-6AD7-CEB7-B5FC062448DD}"/>
              </a:ext>
            </a:extLst>
          </p:cNvPr>
          <p:cNvSpPr txBox="1"/>
          <p:nvPr/>
        </p:nvSpPr>
        <p:spPr>
          <a:xfrm>
            <a:off x="358461" y="796883"/>
            <a:ext cx="6673403" cy="2031325"/>
          </a:xfrm>
          <a:prstGeom prst="rect">
            <a:avLst/>
          </a:prstGeom>
          <a:noFill/>
        </p:spPr>
        <p:txBody>
          <a:bodyPr wrap="square">
            <a:spAutoFit/>
          </a:bodyPr>
          <a:lstStyle/>
          <a:p>
            <a:r>
              <a:rPr lang="zh-CN" altLang="en-US" dirty="0"/>
              <a:t>Infants'probability of looking away was greatest on stimulus items whose complexity (negative log probability) according to the model was either very low or very high. These results suggest a principle of infant attention that may have broad applicability: infants implicitly seek to maintain intermediate rates of information absorption and avoid wasting cognitive resources on overly simple or overly complex events.</a:t>
            </a:r>
          </a:p>
        </p:txBody>
      </p:sp>
      <p:sp>
        <p:nvSpPr>
          <p:cNvPr id="7" name="矩形: 圆角 6">
            <a:extLst>
              <a:ext uri="{FF2B5EF4-FFF2-40B4-BE49-F238E27FC236}">
                <a16:creationId xmlns:a16="http://schemas.microsoft.com/office/drawing/2014/main" id="{D93F0441-CE79-78AF-685D-C28DBF4BB322}"/>
              </a:ext>
            </a:extLst>
          </p:cNvPr>
          <p:cNvSpPr/>
          <p:nvPr/>
        </p:nvSpPr>
        <p:spPr>
          <a:xfrm>
            <a:off x="358461" y="2988099"/>
            <a:ext cx="4664298" cy="1779163"/>
          </a:xfrm>
          <a:prstGeom prst="round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400" dirty="0"/>
              <a:t>The findings showed that infants' probability of looking away was greatest for stimuli whose complexity was either very low or very high. This indicates a preference for intermediate complexity, aligning with the Goldilocks effect.</a:t>
            </a:r>
          </a:p>
          <a:p>
            <a:endParaRPr lang="en-US" altLang="zh-CN" sz="105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randombar(horizontal)">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grpId="0" nodeType="clickEffect" nodePh="1">
                                  <p:stCondLst>
                                    <p:cond delay="0"/>
                                  </p:stCondLst>
                                  <p:endCondLst>
                                    <p:cond evt="begin" delay="0">
                                      <p:tn val="10"/>
                                    </p:cond>
                                  </p:endCondLst>
                                  <p:childTnLst>
                                    <p:set>
                                      <p:cBhvr>
                                        <p:cTn id="11" dur="1" fill="hold">
                                          <p:stCondLst>
                                            <p:cond delay="0"/>
                                          </p:stCondLst>
                                        </p:cTn>
                                        <p:tgtEl>
                                          <p:spTgt spid="4"/>
                                        </p:tgtEl>
                                        <p:attrNameLst>
                                          <p:attrName>style.visibility</p:attrName>
                                        </p:attrNameLst>
                                      </p:cBhvr>
                                      <p:to>
                                        <p:strVal val="visible"/>
                                      </p:to>
                                    </p:set>
                                    <p:animEffect transition="in" filter="randombar(horizontal)">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4" presetClass="entr" presetSubtype="10"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randombar(horizontal)">
                                      <p:cBhvr>
                                        <p:cTn id="1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7"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337481" y="-368491"/>
            <a:ext cx="11136574" cy="6264323"/>
          </a:xfrm>
          <a:prstGeom prst="rect">
            <a:avLst/>
          </a:prstGeom>
        </p:spPr>
      </p:pic>
      <p:sp>
        <p:nvSpPr>
          <p:cNvPr id="6" name="文本框 5"/>
          <p:cNvSpPr txBox="1"/>
          <p:nvPr/>
        </p:nvSpPr>
        <p:spPr>
          <a:xfrm>
            <a:off x="449036" y="202276"/>
            <a:ext cx="8329204" cy="781752"/>
          </a:xfrm>
          <a:prstGeom prst="rect">
            <a:avLst/>
          </a:prstGeom>
          <a:noFill/>
        </p:spPr>
        <p:txBody>
          <a:bodyPr wrap="square">
            <a:spAutoFit/>
          </a:bodyPr>
          <a:lstStyle/>
          <a:p>
            <a:r>
              <a:rPr lang="en-US" altLang="zh-CN" sz="2240" b="1" dirty="0">
                <a:solidFill>
                  <a:srgbClr val="000000"/>
                </a:solidFill>
                <a:latin typeface="Noto Serif SC" pitchFamily="34" charset="0"/>
                <a:ea typeface="Noto Serif SC" pitchFamily="34" charset="-122"/>
              </a:rPr>
              <a:t>1.5 Discussion/Conclusion/Implications/Recommendations </a:t>
            </a:r>
            <a:endParaRPr lang="zh-CN" altLang="zh-CN" sz="2240" b="1" dirty="0">
              <a:solidFill>
                <a:srgbClr val="000000"/>
              </a:solidFill>
              <a:latin typeface="Noto Serif SC" pitchFamily="34" charset="0"/>
              <a:ea typeface="Noto Serif SC" pitchFamily="34" charset="-122"/>
            </a:endParaRPr>
          </a:p>
        </p:txBody>
      </p:sp>
      <p:sp>
        <p:nvSpPr>
          <p:cNvPr id="5" name="文本框 4">
            <a:extLst>
              <a:ext uri="{FF2B5EF4-FFF2-40B4-BE49-F238E27FC236}">
                <a16:creationId xmlns:a16="http://schemas.microsoft.com/office/drawing/2014/main" id="{8512ECF0-9B64-749C-C060-11C7705A4012}"/>
              </a:ext>
            </a:extLst>
          </p:cNvPr>
          <p:cNvSpPr txBox="1"/>
          <p:nvPr/>
        </p:nvSpPr>
        <p:spPr>
          <a:xfrm>
            <a:off x="557694" y="1345448"/>
            <a:ext cx="7702827" cy="1200329"/>
          </a:xfrm>
          <a:prstGeom prst="rect">
            <a:avLst/>
          </a:prstGeom>
          <a:noFill/>
        </p:spPr>
        <p:txBody>
          <a:bodyPr wrap="square">
            <a:spAutoFit/>
          </a:bodyPr>
          <a:lstStyle/>
          <a:p>
            <a:r>
              <a:rPr lang="zh-CN" altLang="en-US" dirty="0"/>
              <a:t>These results suggest a principle of infant attention that may have broad applicability: infants implicitly seek to maintain intermediate rates of information absorption and avoid wasting cognitive resources on overly simple or overly complex events.</a:t>
            </a:r>
          </a:p>
        </p:txBody>
      </p:sp>
      <p:sp>
        <p:nvSpPr>
          <p:cNvPr id="7" name="矩形: 圆角 6">
            <a:extLst>
              <a:ext uri="{FF2B5EF4-FFF2-40B4-BE49-F238E27FC236}">
                <a16:creationId xmlns:a16="http://schemas.microsoft.com/office/drawing/2014/main" id="{FA814F82-075F-F024-FC26-0619671C4C27}"/>
              </a:ext>
            </a:extLst>
          </p:cNvPr>
          <p:cNvSpPr/>
          <p:nvPr/>
        </p:nvSpPr>
        <p:spPr>
          <a:xfrm>
            <a:off x="2138669" y="2594666"/>
            <a:ext cx="4664298" cy="2253766"/>
          </a:xfrm>
          <a:prstGeom prst="round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nSpc>
                <a:spcPct val="150000"/>
              </a:lnSpc>
            </a:pPr>
            <a:r>
              <a:rPr lang="en-US" altLang="zh-CN" sz="1200" dirty="0"/>
              <a:t>The results suggest a principle of infant attention that has broad applicability: infants implicitly seek to maintain intermediate rates of information absorption. This principle helps them avoid wasting cognitive resources on overly simple or overly complex events. The findings imply that optimal learning occurs at moderate levels of complexity, which may inform strategies for designing educational materials for not only infants, but also teenagers and adults.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randombar(horizontal)">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randombar(horizontal)">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14" presetClass="entr" presetSubtype="10"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randombar(horizontal)">
                                      <p:cBhvr>
                                        <p:cTn id="1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5" grpId="0"/>
      <p:bldP spid="7"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238625" y="1276350"/>
            <a:ext cx="1452563" cy="333375"/>
          </a:xfrm>
          <a:prstGeom prst="rect">
            <a:avLst/>
          </a:prstGeom>
          <a:noFill/>
        </p:spPr>
        <p:txBody>
          <a:bodyPr wrap="square" rtlCol="0" anchor="t"/>
          <a:lstStyle/>
          <a:p>
            <a:pPr marL="0" indent="0" algn="ctr">
              <a:buNone/>
            </a:pPr>
            <a:r>
              <a:rPr lang="en-US" sz="1535" b="1" dirty="0">
                <a:solidFill>
                  <a:srgbClr val="FFFFFF"/>
                </a:solidFill>
                <a:latin typeface="Noto Serif SC" pitchFamily="34" charset="0"/>
                <a:ea typeface="Noto Serif SC" pitchFamily="34" charset="-122"/>
                <a:cs typeface="Noto Serif SC" pitchFamily="34" charset="-120"/>
              </a:rPr>
              <a:t>02</a:t>
            </a:r>
            <a:endParaRPr lang="en-US" sz="1535" dirty="0"/>
          </a:p>
        </p:txBody>
      </p:sp>
      <p:sp>
        <p:nvSpPr>
          <p:cNvPr id="3" name="Text 1"/>
          <p:cNvSpPr/>
          <p:nvPr/>
        </p:nvSpPr>
        <p:spPr>
          <a:xfrm>
            <a:off x="1871663" y="2381250"/>
            <a:ext cx="5101590" cy="1676400"/>
          </a:xfrm>
          <a:prstGeom prst="rect">
            <a:avLst/>
          </a:prstGeom>
          <a:noFill/>
        </p:spPr>
        <p:txBody>
          <a:bodyPr wrap="square" rtlCol="0" anchor="t"/>
          <a:lstStyle/>
          <a:p>
            <a:pPr marL="0" indent="0" algn="ctr">
              <a:buNone/>
            </a:pPr>
            <a:r>
              <a:rPr lang="en-US" sz="3500" b="1" dirty="0">
                <a:solidFill>
                  <a:srgbClr val="FFFFFF"/>
                </a:solidFill>
                <a:latin typeface="Noto Serif SC" pitchFamily="34" charset="0"/>
                <a:ea typeface="Noto Serif SC" pitchFamily="34" charset="-122"/>
                <a:cs typeface="Noto Serif SC" pitchFamily="34" charset="-120"/>
              </a:rPr>
              <a:t>2 introduction</a:t>
            </a:r>
            <a:endParaRPr lang="en-US" sz="35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0" y="0"/>
            <a:ext cx="9144000" cy="5143500"/>
          </a:xfrm>
          <a:prstGeom prst="rect">
            <a:avLst/>
          </a:prstGeom>
        </p:spPr>
      </p:pic>
      <p:sp>
        <p:nvSpPr>
          <p:cNvPr id="3" name="Text 0"/>
          <p:cNvSpPr/>
          <p:nvPr/>
        </p:nvSpPr>
        <p:spPr>
          <a:xfrm>
            <a:off x="5148263" y="1223963"/>
            <a:ext cx="2976562" cy="409575"/>
          </a:xfrm>
          <a:prstGeom prst="rect">
            <a:avLst/>
          </a:prstGeom>
          <a:noFill/>
        </p:spPr>
        <p:txBody>
          <a:bodyPr wrap="square" rtlCol="0" anchor="ctr"/>
          <a:lstStyle/>
          <a:p>
            <a:pPr marL="0" indent="0">
              <a:buNone/>
            </a:pPr>
            <a:r>
              <a:rPr lang="en-US" sz="1540" b="1" dirty="0">
                <a:solidFill>
                  <a:srgbClr val="FFFFFF"/>
                </a:solidFill>
                <a:latin typeface="Noto Serif SC" pitchFamily="34" charset="0"/>
                <a:ea typeface="Noto Serif SC" pitchFamily="34" charset="-122"/>
                <a:cs typeface="Noto Serif SC" pitchFamily="34" charset="-120"/>
              </a:rPr>
              <a:t>2 introduction</a:t>
            </a:r>
            <a:endParaRPr lang="en-US" sz="1540" dirty="0"/>
          </a:p>
        </p:txBody>
      </p:sp>
      <p:sp>
        <p:nvSpPr>
          <p:cNvPr id="4" name="Text 1"/>
          <p:cNvSpPr/>
          <p:nvPr/>
        </p:nvSpPr>
        <p:spPr>
          <a:xfrm>
            <a:off x="5148263" y="1695450"/>
            <a:ext cx="2976562" cy="2047875"/>
          </a:xfrm>
          <a:prstGeom prst="rect">
            <a:avLst/>
          </a:prstGeom>
          <a:noFill/>
        </p:spPr>
        <p:txBody>
          <a:bodyPr wrap="square" rtlCol="0" anchor="t"/>
          <a:lstStyle/>
          <a:p>
            <a:pPr marL="0" indent="0" algn="l">
              <a:lnSpc>
                <a:spcPct val="150000"/>
              </a:lnSpc>
              <a:buNone/>
            </a:pPr>
            <a:r>
              <a:rPr lang="en-US" sz="1400" dirty="0">
                <a:solidFill>
                  <a:srgbClr val="FFFFFF"/>
                </a:solidFill>
                <a:latin typeface="Noto Serif SC" pitchFamily="34" charset="0"/>
                <a:ea typeface="Noto Serif SC" pitchFamily="34" charset="-122"/>
                <a:cs typeface="Noto Serif SC" pitchFamily="34" charset="-120"/>
              </a:rPr>
              <a:t>1 establish a research territory
</a:t>
            </a:r>
            <a:endParaRPr lang="en-US" sz="1400" dirty="0"/>
          </a:p>
          <a:p>
            <a:pPr marL="0" indent="0" algn="l">
              <a:lnSpc>
                <a:spcPct val="150000"/>
              </a:lnSpc>
              <a:buNone/>
            </a:pPr>
            <a:r>
              <a:rPr lang="en-US" sz="1400" dirty="0">
                <a:solidFill>
                  <a:srgbClr val="FFFFFF"/>
                </a:solidFill>
                <a:latin typeface="Noto Serif SC" pitchFamily="34" charset="0"/>
                <a:ea typeface="Noto Serif SC" pitchFamily="34" charset="-122"/>
                <a:cs typeface="Noto Serif SC" pitchFamily="34" charset="-120"/>
              </a:rPr>
              <a:t>2 establish the own niche
</a:t>
            </a:r>
            <a:endParaRPr lang="en-US" sz="1400" dirty="0"/>
          </a:p>
          <a:p>
            <a:pPr marL="0" indent="0" algn="l">
              <a:lnSpc>
                <a:spcPct val="150000"/>
              </a:lnSpc>
              <a:buNone/>
            </a:pPr>
            <a:r>
              <a:rPr lang="en-US" sz="1400" dirty="0">
                <a:solidFill>
                  <a:srgbClr val="FFFFFF"/>
                </a:solidFill>
                <a:latin typeface="Noto Serif SC" pitchFamily="34" charset="0"/>
                <a:ea typeface="Noto Serif SC" pitchFamily="34" charset="-122"/>
                <a:cs typeface="Noto Serif SC" pitchFamily="34" charset="-120"/>
              </a:rPr>
              <a:t>3 occupy the niche</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833438"/>
          </a:xfrm>
          <a:prstGeom prst="rect">
            <a:avLst/>
          </a:prstGeom>
          <a:solidFill>
            <a:srgbClr val="8288BF"/>
          </a:solidFill>
        </p:spPr>
      </p:sp>
      <p:sp>
        <p:nvSpPr>
          <p:cNvPr id="3" name="Text 1"/>
          <p:cNvSpPr/>
          <p:nvPr/>
        </p:nvSpPr>
        <p:spPr>
          <a:xfrm>
            <a:off x="762000" y="138113"/>
            <a:ext cx="7806690" cy="552450"/>
          </a:xfrm>
          <a:prstGeom prst="rect">
            <a:avLst/>
          </a:prstGeom>
          <a:noFill/>
        </p:spPr>
        <p:txBody>
          <a:bodyPr wrap="square" rtlCol="0" anchor="ctr"/>
          <a:lstStyle/>
          <a:p>
            <a:pPr marL="0" indent="0" algn="l">
              <a:buNone/>
            </a:pPr>
            <a:r>
              <a:rPr lang="en-US" sz="2660" b="1" dirty="0">
                <a:solidFill>
                  <a:srgbClr val="FFFFFF"/>
                </a:solidFill>
                <a:latin typeface="Noto Serif SC" pitchFamily="34" charset="0"/>
                <a:ea typeface="Noto Serif SC" pitchFamily="34" charset="-122"/>
                <a:cs typeface="Noto Serif SC" pitchFamily="34" charset="-120"/>
              </a:rPr>
              <a:t>1 establish a research territory</a:t>
            </a:r>
            <a:endParaRPr lang="en-US" sz="2660" dirty="0"/>
          </a:p>
        </p:txBody>
      </p:sp>
      <p:sp>
        <p:nvSpPr>
          <p:cNvPr id="4" name="Shape 2"/>
          <p:cNvSpPr/>
          <p:nvPr/>
        </p:nvSpPr>
        <p:spPr>
          <a:xfrm>
            <a:off x="0" y="0"/>
            <a:ext cx="9144000" cy="833438"/>
          </a:xfrm>
          <a:prstGeom prst="rect">
            <a:avLst/>
          </a:prstGeom>
          <a:solidFill>
            <a:srgbClr val="8288BF"/>
          </a:solidFill>
        </p:spPr>
      </p:sp>
      <p:sp>
        <p:nvSpPr>
          <p:cNvPr id="5" name="Text 3"/>
          <p:cNvSpPr/>
          <p:nvPr/>
        </p:nvSpPr>
        <p:spPr>
          <a:xfrm>
            <a:off x="762000" y="138113"/>
            <a:ext cx="7806690" cy="552450"/>
          </a:xfrm>
          <a:prstGeom prst="rect">
            <a:avLst/>
          </a:prstGeom>
          <a:noFill/>
        </p:spPr>
        <p:txBody>
          <a:bodyPr wrap="square" rtlCol="0" anchor="ctr"/>
          <a:lstStyle/>
          <a:p>
            <a:pPr marL="0" indent="0" algn="l">
              <a:buNone/>
            </a:pPr>
            <a:r>
              <a:rPr lang="en-US" sz="2660" b="1" dirty="0">
                <a:solidFill>
                  <a:srgbClr val="FFFFFF"/>
                </a:solidFill>
                <a:latin typeface="Noto Serif SC" pitchFamily="34" charset="0"/>
                <a:ea typeface="Noto Serif SC" pitchFamily="34" charset="-122"/>
                <a:cs typeface="Noto Serif SC" pitchFamily="34" charset="-120"/>
              </a:rPr>
              <a:t>2.1 establish a research territory</a:t>
            </a:r>
            <a:endParaRPr lang="en-US" sz="2660" dirty="0"/>
          </a:p>
        </p:txBody>
      </p:sp>
      <p:pic>
        <p:nvPicPr>
          <p:cNvPr id="6"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145540" y="1054735"/>
            <a:ext cx="7981315" cy="3453130"/>
          </a:xfrm>
          <a:prstGeom prst="rect">
            <a:avLst/>
          </a:prstGeom>
        </p:spPr>
      </p:pic>
      <p:sp>
        <p:nvSpPr>
          <p:cNvPr id="7" name="Text 4"/>
          <p:cNvSpPr/>
          <p:nvPr/>
        </p:nvSpPr>
        <p:spPr>
          <a:xfrm>
            <a:off x="36830" y="948055"/>
            <a:ext cx="4898390" cy="4126865"/>
          </a:xfrm>
          <a:prstGeom prst="rect">
            <a:avLst/>
          </a:prstGeom>
          <a:noFill/>
        </p:spPr>
        <p:txBody>
          <a:bodyPr wrap="square" rtlCol="0" anchor="t"/>
          <a:lstStyle/>
          <a:p>
            <a:pPr marL="0" indent="0" algn="l">
              <a:lnSpc>
                <a:spcPct val="150000"/>
              </a:lnSpc>
              <a:buNone/>
            </a:pPr>
            <a:r>
              <a:rPr lang="en-US" altLang="zh-CN" sz="1400" b="1" dirty="0">
                <a:solidFill>
                  <a:srgbClr val="000000"/>
                </a:solidFill>
                <a:latin typeface="Noto Serif SC" pitchFamily="34" charset="0"/>
                <a:ea typeface="Noto Serif SC" pitchFamily="34" charset="-122"/>
                <a:cs typeface="Noto Serif SC" pitchFamily="34" charset="-120"/>
                <a:sym typeface="+mn-ea"/>
              </a:rPr>
              <a:t>step1</a:t>
            </a:r>
            <a:r>
              <a:rPr lang="zh-CN" altLang="en-US" sz="1400" b="1" dirty="0">
                <a:solidFill>
                  <a:srgbClr val="000000"/>
                </a:solidFill>
                <a:latin typeface="Noto Serif SC" pitchFamily="34" charset="0"/>
                <a:ea typeface="Noto Serif SC" pitchFamily="34" charset="-122"/>
                <a:cs typeface="Noto Serif SC" pitchFamily="34" charset="-120"/>
                <a:sym typeface="+mn-ea"/>
              </a:rPr>
              <a:t>：</a:t>
            </a:r>
            <a:r>
              <a:rPr lang="en-US" altLang="zh-CN" sz="1400" b="1" dirty="0">
                <a:solidFill>
                  <a:srgbClr val="000000"/>
                </a:solidFill>
                <a:latin typeface="Noto Serif SC" pitchFamily="34" charset="0"/>
                <a:ea typeface="Noto Serif SC" pitchFamily="34" charset="-122"/>
                <a:cs typeface="Noto Serif SC" pitchFamily="34" charset="-120"/>
                <a:sym typeface="+mn-ea"/>
              </a:rPr>
              <a:t>introduce the topic and provide background</a:t>
            </a:r>
            <a:r>
              <a:rPr lang="en-US" altLang="zh-CN" sz="1400" dirty="0">
                <a:solidFill>
                  <a:srgbClr val="000000"/>
                </a:solidFill>
                <a:latin typeface="Noto Serif SC" pitchFamily="34" charset="0"/>
                <a:ea typeface="Noto Serif SC" pitchFamily="34" charset="-122"/>
                <a:cs typeface="Noto Serif SC" pitchFamily="34" charset="-120"/>
                <a:sym typeface="+mn-ea"/>
              </a:rPr>
              <a:t> </a:t>
            </a:r>
          </a:p>
          <a:p>
            <a:pPr marL="0" indent="0" algn="l">
              <a:lnSpc>
                <a:spcPct val="150000"/>
              </a:lnSpc>
              <a:buNone/>
            </a:pPr>
            <a:endParaRPr lang="en-US" altLang="zh-CN" sz="1400" dirty="0">
              <a:solidFill>
                <a:srgbClr val="000000"/>
              </a:solidFill>
              <a:latin typeface="Noto Serif SC" pitchFamily="34" charset="0"/>
              <a:ea typeface="Noto Serif SC" pitchFamily="34" charset="-122"/>
              <a:cs typeface="Noto Serif SC" pitchFamily="34" charset="-120"/>
              <a:sym typeface="+mn-ea"/>
            </a:endParaRPr>
          </a:p>
          <a:p>
            <a:pPr marL="0" indent="0" algn="l">
              <a:lnSpc>
                <a:spcPct val="150000"/>
              </a:lnSpc>
              <a:buNone/>
            </a:pPr>
            <a:r>
              <a:rPr lang="en-US" sz="1000" dirty="0">
                <a:solidFill>
                  <a:srgbClr val="000000"/>
                </a:solidFill>
                <a:latin typeface="Noto Serif SC" pitchFamily="34" charset="0"/>
                <a:ea typeface="Noto Serif SC" pitchFamily="34" charset="-122"/>
                <a:cs typeface="Noto Serif SC" pitchFamily="34" charset="-120"/>
              </a:rPr>
              <a:t>Human infants face two daunting problems as they begin to learn about their surroundings. First, they enter the postnatal world with only rudimentary mechanisms–provided by their evolutionary heritage–for interpreting environmental information. Second, the potential information available in the environment is both voluminous and complex. These two problems led William James to coin his famous phrase about ‘‘the blooming, buzzing confusion’’ that confronts the newborn [1].</a:t>
            </a:r>
            <a:r>
              <a:rPr lang="en-US" altLang="zh-CN" sz="1000" dirty="0">
                <a:solidFill>
                  <a:srgbClr val="000000"/>
                </a:solidFill>
                <a:latin typeface="Noto Serif SC" pitchFamily="34" charset="0"/>
                <a:ea typeface="Noto Serif SC" pitchFamily="34" charset="-122"/>
                <a:cs typeface="Noto Serif SC" pitchFamily="34" charset="-120"/>
                <a:sym typeface="+mn-ea"/>
              </a:rPr>
              <a:t>Nonetheless, infants show remarkable feats of learning, beginning in the last trimester of fetal life, continuing through the perinatal period, and accelerating through infancy and early childhood [2–5]. Infants are able to extract the statistical properties of their environment in a diverse array of learning tasks and domains, including sounds, words, people, shapes, and objects [6–11].</a:t>
            </a:r>
            <a:r>
              <a:rPr lang="en-US" sz="1000" dirty="0">
                <a:solidFill>
                  <a:srgbClr val="000000"/>
                </a:solidFill>
                <a:latin typeface="Noto Serif SC" pitchFamily="34" charset="0"/>
                <a:ea typeface="Noto Serif SC" pitchFamily="34" charset="-122"/>
                <a:cs typeface="Noto Serif SC" pitchFamily="34" charset="-120"/>
              </a:rPr>
              <a:t> </a:t>
            </a:r>
            <a:endParaRPr lang="en-US" sz="10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randombar(horizontal)">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randombar(horizontal)">
                                      <p:cBhvr>
                                        <p:cTn id="12"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7"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0" y="0"/>
            <a:ext cx="9144000" cy="5143500"/>
          </a:xfrm>
          <a:prstGeom prst="rect">
            <a:avLst/>
          </a:prstGeom>
        </p:spPr>
      </p:pic>
      <p:sp>
        <p:nvSpPr>
          <p:cNvPr id="3" name="Text 0"/>
          <p:cNvSpPr/>
          <p:nvPr/>
        </p:nvSpPr>
        <p:spPr>
          <a:xfrm>
            <a:off x="461962" y="214312"/>
            <a:ext cx="3233738" cy="1023938"/>
          </a:xfrm>
          <a:prstGeom prst="rect">
            <a:avLst/>
          </a:prstGeom>
          <a:noFill/>
        </p:spPr>
        <p:txBody>
          <a:bodyPr wrap="square" rtlCol="0" anchor="t"/>
          <a:lstStyle/>
          <a:p>
            <a:pPr marL="0" indent="0" algn="l">
              <a:buNone/>
            </a:pPr>
            <a:r>
              <a:rPr lang="en-US" altLang="zh-CN" sz="2400" b="1" dirty="0">
                <a:latin typeface="Noto Serif SC" pitchFamily="34" charset="0"/>
                <a:ea typeface="Noto Serif SC" pitchFamily="34" charset="-122"/>
                <a:cs typeface="Noto Serif SC" pitchFamily="34" charset="-120"/>
              </a:rPr>
              <a:t>2.1 establish a research territory</a:t>
            </a:r>
            <a:endParaRPr lang="en-US" altLang="zh-CN" sz="2400" dirty="0"/>
          </a:p>
        </p:txBody>
      </p:sp>
      <p:sp>
        <p:nvSpPr>
          <p:cNvPr id="4" name="Text 1"/>
          <p:cNvSpPr/>
          <p:nvPr/>
        </p:nvSpPr>
        <p:spPr>
          <a:xfrm>
            <a:off x="473075" y="1336675"/>
            <a:ext cx="3672205" cy="3034030"/>
          </a:xfrm>
          <a:prstGeom prst="rect">
            <a:avLst/>
          </a:prstGeom>
          <a:noFill/>
        </p:spPr>
        <p:txBody>
          <a:bodyPr wrap="square" rtlCol="0" anchor="t"/>
          <a:lstStyle/>
          <a:p>
            <a:pPr marL="0" indent="0" algn="l">
              <a:lnSpc>
                <a:spcPct val="150000"/>
              </a:lnSpc>
              <a:buNone/>
            </a:pPr>
            <a:r>
              <a:rPr lang="en-US" altLang="zh-CN" sz="1400" b="1" dirty="0">
                <a:solidFill>
                  <a:srgbClr val="000000"/>
                </a:solidFill>
                <a:latin typeface="Noto Serif SC" pitchFamily="34" charset="0"/>
                <a:ea typeface="Noto Serif SC" pitchFamily="34" charset="-122"/>
                <a:cs typeface="Noto Serif SC" pitchFamily="34" charset="-120"/>
              </a:rPr>
              <a:t>step2</a:t>
            </a:r>
            <a:r>
              <a:rPr lang="zh-CN" altLang="en-US" sz="1400" b="1" dirty="0">
                <a:solidFill>
                  <a:srgbClr val="000000"/>
                </a:solidFill>
                <a:latin typeface="Noto Serif SC" pitchFamily="34" charset="0"/>
                <a:ea typeface="Noto Serif SC" pitchFamily="34" charset="-122"/>
                <a:cs typeface="Noto Serif SC" pitchFamily="34" charset="-120"/>
              </a:rPr>
              <a:t>：</a:t>
            </a:r>
            <a:r>
              <a:rPr lang="en-US" altLang="zh-CN" sz="1400" b="1" dirty="0">
                <a:solidFill>
                  <a:srgbClr val="000000"/>
                </a:solidFill>
                <a:latin typeface="Noto Serif SC" pitchFamily="34" charset="0"/>
                <a:ea typeface="Noto Serif SC" pitchFamily="34" charset="-122"/>
                <a:cs typeface="Noto Serif SC" pitchFamily="34" charset="-120"/>
                <a:sym typeface="+mn-ea"/>
              </a:rPr>
              <a:t>review previous work</a:t>
            </a:r>
            <a:endParaRPr lang="en-US" altLang="zh-CN" sz="1400" b="1" dirty="0">
              <a:solidFill>
                <a:srgbClr val="000000"/>
              </a:solidFill>
              <a:latin typeface="Noto Serif SC" pitchFamily="34" charset="0"/>
              <a:ea typeface="Noto Serif SC" pitchFamily="34" charset="-122"/>
              <a:cs typeface="Noto Serif SC" pitchFamily="34" charset="-120"/>
            </a:endParaRPr>
          </a:p>
          <a:p>
            <a:pPr marL="0" indent="0" algn="l">
              <a:lnSpc>
                <a:spcPct val="150000"/>
              </a:lnSpc>
              <a:buNone/>
            </a:pPr>
            <a:endParaRPr lang="en-US" altLang="zh-CN" sz="1200" dirty="0">
              <a:solidFill>
                <a:srgbClr val="000000"/>
              </a:solidFill>
              <a:latin typeface="Noto Serif SC" pitchFamily="34" charset="0"/>
              <a:ea typeface="Noto Serif SC" pitchFamily="34" charset="-122"/>
              <a:cs typeface="Noto Serif SC" pitchFamily="34" charset="-120"/>
            </a:endParaRPr>
          </a:p>
          <a:p>
            <a:pPr marL="0" indent="0" algn="l">
              <a:lnSpc>
                <a:spcPct val="150000"/>
              </a:lnSpc>
              <a:buNone/>
            </a:pPr>
            <a:r>
              <a:rPr lang="en-US" altLang="zh-CN" sz="1200" dirty="0">
                <a:solidFill>
                  <a:srgbClr val="000000"/>
                </a:solidFill>
                <a:latin typeface="Noto Serif SC" pitchFamily="34" charset="0"/>
                <a:ea typeface="Noto Serif SC" pitchFamily="34" charset="-122"/>
                <a:cs typeface="Noto Serif SC" pitchFamily="34" charset="-120"/>
              </a:rPr>
              <a:t>But how is it that infants are able to learn efficiently in such a complex environment? One solution is to have a small set of innate biases; for example, seeking to look at and listen to biologically significant stimuli such as faces and speech. </a:t>
            </a:r>
            <a:endParaRPr lang="en-US" altLang="zh-CN"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randombar(horizontal)">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randombar(horizontal)">
                                      <p:cBhvr>
                                        <p:cTn id="1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0" y="0"/>
            <a:ext cx="9144000" cy="5143500"/>
          </a:xfrm>
          <a:prstGeom prst="rect">
            <a:avLst/>
          </a:prstGeom>
        </p:spPr>
      </p:pic>
      <p:sp>
        <p:nvSpPr>
          <p:cNvPr id="3" name="Text 0"/>
          <p:cNvSpPr/>
          <p:nvPr/>
        </p:nvSpPr>
        <p:spPr>
          <a:xfrm>
            <a:off x="587375" y="490220"/>
            <a:ext cx="3875405" cy="676275"/>
          </a:xfrm>
          <a:prstGeom prst="rect">
            <a:avLst/>
          </a:prstGeom>
          <a:noFill/>
        </p:spPr>
        <p:txBody>
          <a:bodyPr wrap="square" rtlCol="0" anchor="t"/>
          <a:lstStyle/>
          <a:p>
            <a:r>
              <a:rPr lang="en-US" altLang="zh-CN" sz="2000" b="1" dirty="0">
                <a:latin typeface="Noto Serif SC" pitchFamily="34" charset="0"/>
                <a:ea typeface="Noto Serif SC" pitchFamily="34" charset="-122"/>
                <a:cs typeface="Noto Serif SC" pitchFamily="34" charset="-120"/>
              </a:rPr>
              <a:t>2.</a:t>
            </a:r>
            <a:r>
              <a:rPr lang="en-US" sz="2030" b="1" dirty="0">
                <a:solidFill>
                  <a:srgbClr val="000000"/>
                </a:solidFill>
                <a:latin typeface="Noto Serif SC" pitchFamily="34" charset="0"/>
                <a:ea typeface="Noto Serif SC" pitchFamily="34" charset="-122"/>
                <a:cs typeface="Noto Serif SC" pitchFamily="34" charset="-120"/>
              </a:rPr>
              <a:t>2 establish the own niche</a:t>
            </a:r>
            <a:endParaRPr lang="en-US" sz="2030" dirty="0"/>
          </a:p>
        </p:txBody>
      </p:sp>
      <p:sp>
        <p:nvSpPr>
          <p:cNvPr id="4" name="Text 1"/>
          <p:cNvSpPr/>
          <p:nvPr/>
        </p:nvSpPr>
        <p:spPr>
          <a:xfrm>
            <a:off x="610870" y="1240790"/>
            <a:ext cx="4117340" cy="3449320"/>
          </a:xfrm>
          <a:prstGeom prst="rect">
            <a:avLst/>
          </a:prstGeom>
          <a:noFill/>
        </p:spPr>
        <p:txBody>
          <a:bodyPr wrap="square" rtlCol="0" anchor="t"/>
          <a:lstStyle/>
          <a:p>
            <a:pPr marL="0" indent="0" algn="l">
              <a:lnSpc>
                <a:spcPct val="150000"/>
              </a:lnSpc>
              <a:buNone/>
            </a:pPr>
            <a:r>
              <a:rPr lang="en-US" sz="1600" b="1" dirty="0">
                <a:solidFill>
                  <a:srgbClr val="000000"/>
                </a:solidFill>
                <a:latin typeface="Noto Serif SC" pitchFamily="34" charset="0"/>
                <a:ea typeface="Noto Serif SC" pitchFamily="34" charset="-122"/>
                <a:cs typeface="Noto Serif SC" pitchFamily="34" charset="-120"/>
                <a:sym typeface="+mn-ea"/>
              </a:rPr>
              <a:t>indicate a reseach gap</a:t>
            </a:r>
            <a:endParaRPr lang="en-US" sz="1600" b="1" dirty="0">
              <a:solidFill>
                <a:srgbClr val="000000"/>
              </a:solidFill>
              <a:latin typeface="Noto Serif SC" pitchFamily="34" charset="0"/>
              <a:ea typeface="Noto Serif SC" pitchFamily="34" charset="-122"/>
              <a:cs typeface="Noto Serif SC" pitchFamily="34" charset="-120"/>
            </a:endParaRPr>
          </a:p>
          <a:p>
            <a:pPr marL="0" indent="0" algn="l">
              <a:lnSpc>
                <a:spcPct val="150000"/>
              </a:lnSpc>
              <a:buNone/>
            </a:pPr>
            <a:endParaRPr lang="en-US" sz="1330" dirty="0">
              <a:solidFill>
                <a:srgbClr val="000000"/>
              </a:solidFill>
              <a:latin typeface="Noto Serif SC" pitchFamily="34" charset="0"/>
              <a:ea typeface="Noto Serif SC" pitchFamily="34" charset="-122"/>
              <a:cs typeface="Noto Serif SC" pitchFamily="34" charset="-120"/>
            </a:endParaRPr>
          </a:p>
          <a:p>
            <a:pPr marL="0" indent="0" algn="l">
              <a:lnSpc>
                <a:spcPct val="150000"/>
              </a:lnSpc>
              <a:buNone/>
            </a:pPr>
            <a:r>
              <a:rPr lang="en-US" sz="1400" dirty="0">
                <a:solidFill>
                  <a:srgbClr val="000000"/>
                </a:solidFill>
                <a:latin typeface="Noto Serif SC" pitchFamily="34" charset="0"/>
                <a:ea typeface="Noto Serif SC" pitchFamily="34" charset="-122"/>
                <a:cs typeface="Noto Serif SC" pitchFamily="34" charset="-120"/>
              </a:rPr>
              <a:t>However, innate biases alone cannot be the solution for the vast majority of stimuli from which infants must learn. Given the slow time-course of evolution, we also need general purpose learning mechanisms to deal with a changing environment and with classes of stimuli that could not plausibly be processed by a small set of specialized mechanisms. </a:t>
            </a:r>
            <a:endParaRPr lang="en-US" sz="14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randombar(horizontal)">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randombar(horizontal)">
                                      <p:cBhvr>
                                        <p:cTn id="1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0" y="0"/>
            <a:ext cx="9144000" cy="5143500"/>
          </a:xfrm>
          <a:prstGeom prst="rect">
            <a:avLst/>
          </a:prstGeom>
        </p:spPr>
      </p:pic>
      <p:sp>
        <p:nvSpPr>
          <p:cNvPr id="3" name="Text 0"/>
          <p:cNvSpPr/>
          <p:nvPr/>
        </p:nvSpPr>
        <p:spPr>
          <a:xfrm>
            <a:off x="269875" y="0"/>
            <a:ext cx="3514725" cy="1024255"/>
          </a:xfrm>
          <a:prstGeom prst="rect">
            <a:avLst/>
          </a:prstGeom>
          <a:noFill/>
        </p:spPr>
        <p:txBody>
          <a:bodyPr wrap="square" rtlCol="0" anchor="t"/>
          <a:lstStyle/>
          <a:p>
            <a:r>
              <a:rPr lang="en-US" sz="2380" b="1" dirty="0">
                <a:solidFill>
                  <a:srgbClr val="383838"/>
                </a:solidFill>
                <a:latin typeface="Noto Serif SC" pitchFamily="34" charset="0"/>
                <a:ea typeface="Noto Serif SC" pitchFamily="34" charset="-122"/>
                <a:cs typeface="Noto Serif SC" pitchFamily="34" charset="-120"/>
              </a:rPr>
              <a:t>2.3 occupy the niche</a:t>
            </a:r>
            <a:endParaRPr lang="en-US" sz="2380" dirty="0"/>
          </a:p>
        </p:txBody>
      </p:sp>
      <p:sp>
        <p:nvSpPr>
          <p:cNvPr id="4" name="Text 1"/>
          <p:cNvSpPr/>
          <p:nvPr/>
        </p:nvSpPr>
        <p:spPr>
          <a:xfrm>
            <a:off x="27305" y="304165"/>
            <a:ext cx="4544060" cy="4854575"/>
          </a:xfrm>
          <a:prstGeom prst="rect">
            <a:avLst/>
          </a:prstGeom>
          <a:noFill/>
        </p:spPr>
        <p:txBody>
          <a:bodyPr wrap="square" rtlCol="0" anchor="t"/>
          <a:lstStyle/>
          <a:p>
            <a:pPr marL="0" indent="0" algn="l">
              <a:lnSpc>
                <a:spcPct val="150000"/>
              </a:lnSpc>
              <a:buNone/>
            </a:pPr>
            <a:r>
              <a:rPr lang="en-US" sz="1000" b="1" dirty="0">
                <a:solidFill>
                  <a:srgbClr val="383838"/>
                </a:solidFill>
                <a:latin typeface="Noto Serif SC" pitchFamily="34" charset="0"/>
                <a:ea typeface="Noto Serif SC" pitchFamily="34" charset="-122"/>
                <a:cs typeface="Noto Serif SC" pitchFamily="34" charset="-120"/>
                <a:sym typeface="+mn-ea"/>
              </a:rPr>
              <a:t>step1</a:t>
            </a:r>
            <a:r>
              <a:rPr lang="zh-CN" altLang="en-US" sz="1000" b="1" dirty="0">
                <a:solidFill>
                  <a:srgbClr val="383838"/>
                </a:solidFill>
                <a:latin typeface="Noto Serif SC" pitchFamily="34" charset="0"/>
                <a:ea typeface="Noto Serif SC" pitchFamily="34" charset="-122"/>
                <a:cs typeface="Noto Serif SC" pitchFamily="34" charset="-120"/>
                <a:sym typeface="+mn-ea"/>
              </a:rPr>
              <a:t>：</a:t>
            </a:r>
            <a:r>
              <a:rPr lang="en-US" sz="1000" b="1" dirty="0">
                <a:solidFill>
                  <a:srgbClr val="383838"/>
                </a:solidFill>
                <a:latin typeface="Noto Serif SC" pitchFamily="34" charset="0"/>
                <a:ea typeface="Noto Serif SC" pitchFamily="34" charset="-122"/>
                <a:cs typeface="Noto Serif SC" pitchFamily="34" charset="-120"/>
                <a:sym typeface="+mn-ea"/>
              </a:rPr>
              <a:t>state purposes</a:t>
            </a:r>
            <a:endParaRPr lang="en-US" sz="1000" b="1" dirty="0">
              <a:solidFill>
                <a:srgbClr val="383838"/>
              </a:solidFill>
              <a:latin typeface="Noto Serif SC" pitchFamily="34" charset="0"/>
              <a:ea typeface="Noto Serif SC" pitchFamily="34" charset="-122"/>
              <a:cs typeface="Noto Serif SC" pitchFamily="34" charset="-120"/>
            </a:endParaRPr>
          </a:p>
          <a:p>
            <a:pPr marL="0" indent="0" algn="l">
              <a:lnSpc>
                <a:spcPct val="150000"/>
              </a:lnSpc>
              <a:buNone/>
            </a:pPr>
            <a:r>
              <a:rPr lang="en-US" sz="900" dirty="0">
                <a:solidFill>
                  <a:srgbClr val="383838"/>
                </a:solidFill>
                <a:latin typeface="Noto Serif SC" pitchFamily="34" charset="0"/>
                <a:ea typeface="Noto Serif SC" pitchFamily="34" charset="-122"/>
                <a:cs typeface="Noto Serif SC" pitchFamily="34" charset="-120"/>
              </a:rPr>
              <a:t>Here, we focus on this general-purpose learning mechanism by avoiding the use of special stimuli and asking whether infants deploy a sensible (and likely implicit) strategy for allocating attention to arbitrary, neutral stimuli. Our goal is to determine whether infants are biased to gather information from the environment in a principled way that serves as a key component of an efficient learning mechanism [12,13]. </a:t>
            </a:r>
          </a:p>
          <a:p>
            <a:pPr marL="0" indent="0" algn="l">
              <a:lnSpc>
                <a:spcPct val="150000"/>
              </a:lnSpc>
              <a:buNone/>
            </a:pPr>
            <a:r>
              <a:rPr lang="en-US" sz="1000" b="1" dirty="0">
                <a:solidFill>
                  <a:srgbClr val="383838"/>
                </a:solidFill>
                <a:latin typeface="Noto Serif SC" pitchFamily="34" charset="0"/>
                <a:ea typeface="Noto Serif SC" pitchFamily="34" charset="-122"/>
                <a:cs typeface="Noto Serif SC" pitchFamily="34" charset="-120"/>
                <a:sym typeface="+mn-ea"/>
              </a:rPr>
              <a:t>step2</a:t>
            </a:r>
            <a:r>
              <a:rPr lang="zh-CN" altLang="en-US" sz="1000" b="1" dirty="0">
                <a:solidFill>
                  <a:srgbClr val="383838"/>
                </a:solidFill>
                <a:latin typeface="Noto Serif SC" pitchFamily="34" charset="0"/>
                <a:ea typeface="Noto Serif SC" pitchFamily="34" charset="-122"/>
                <a:cs typeface="Noto Serif SC" pitchFamily="34" charset="-120"/>
                <a:sym typeface="+mn-ea"/>
              </a:rPr>
              <a:t>：</a:t>
            </a:r>
            <a:r>
              <a:rPr lang="en-US" sz="1000" b="1" dirty="0">
                <a:solidFill>
                  <a:srgbClr val="383838"/>
                </a:solidFill>
                <a:latin typeface="Noto Serif SC" pitchFamily="34" charset="0"/>
                <a:ea typeface="Noto Serif SC" pitchFamily="34" charset="-122"/>
                <a:cs typeface="Noto Serif SC" pitchFamily="34" charset="-120"/>
                <a:sym typeface="+mn-ea"/>
              </a:rPr>
              <a:t>describe main features of current study</a:t>
            </a:r>
            <a:endParaRPr lang="en-US" sz="1000" b="1" dirty="0">
              <a:solidFill>
                <a:srgbClr val="383838"/>
              </a:solidFill>
              <a:latin typeface="Noto Serif SC" pitchFamily="34" charset="0"/>
              <a:ea typeface="Noto Serif SC" pitchFamily="34" charset="-122"/>
              <a:cs typeface="Noto Serif SC" pitchFamily="34" charset="-120"/>
            </a:endParaRPr>
          </a:p>
          <a:p>
            <a:pPr marL="0" indent="0" algn="l">
              <a:lnSpc>
                <a:spcPct val="150000"/>
              </a:lnSpc>
              <a:buNone/>
            </a:pPr>
            <a:r>
              <a:rPr lang="en-US" sz="900" dirty="0">
                <a:solidFill>
                  <a:srgbClr val="383838"/>
                </a:solidFill>
                <a:latin typeface="Noto Serif SC" pitchFamily="34" charset="0"/>
                <a:ea typeface="Noto Serif SC" pitchFamily="34" charset="-122"/>
                <a:cs typeface="Noto Serif SC" pitchFamily="34" charset="-120"/>
              </a:rPr>
              <a:t>Specifically, we provide evidence that infants avoid spending time examining stimuli that are either too simple (highly predictable) or too complex (highly unexpected) according to their implicit beliefs about the probabilistic structure of events in the world. Rather, infants allocate their greatest amount of attention to events of intermediate surprisingness–events that are likely to have just enough complexity so that they are interesting, but not so much that they cannot be understood. This approach builds on a longstanding tradition in developmental psychology, as exemplified by Piaget [13]. He argued that when children are confronted with a new piece of information, they initially attempt to incorporate it within their existing knowledge structures through a process of assimilation.</a:t>
            </a:r>
            <a:r>
              <a:rPr lang="en-US" sz="900" dirty="0">
                <a:solidFill>
                  <a:srgbClr val="383838"/>
                </a:solidFill>
                <a:latin typeface="Noto Serif SC" pitchFamily="34" charset="0"/>
                <a:ea typeface="Noto Serif SC" pitchFamily="34" charset="-122"/>
                <a:cs typeface="Noto Serif SC" pitchFamily="34" charset="-120"/>
                <a:sym typeface="+mn-ea"/>
              </a:rPr>
              <a:t>When this is not possible, children either fail to learn new structures (and move on to sample other information) or they adapt by creating new knowledge structures, a process he called accommodation.</a:t>
            </a:r>
            <a:endParaRPr lang="en-US" sz="9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randombar(horizontal)">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randombar(horizontal)">
                                      <p:cBhvr>
                                        <p:cTn id="1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0" y="0"/>
            <a:ext cx="9144000" cy="5143500"/>
          </a:xfrm>
          <a:prstGeom prst="rect">
            <a:avLst/>
          </a:prstGeom>
        </p:spPr>
      </p:pic>
      <p:sp>
        <p:nvSpPr>
          <p:cNvPr id="3" name="Text 0"/>
          <p:cNvSpPr/>
          <p:nvPr/>
        </p:nvSpPr>
        <p:spPr>
          <a:xfrm>
            <a:off x="461645" y="213995"/>
            <a:ext cx="3706495" cy="1024255"/>
          </a:xfrm>
          <a:prstGeom prst="rect">
            <a:avLst/>
          </a:prstGeom>
          <a:noFill/>
        </p:spPr>
        <p:txBody>
          <a:bodyPr wrap="square" rtlCol="0" anchor="t"/>
          <a:lstStyle/>
          <a:p>
            <a:pPr marL="0" indent="0">
              <a:buNone/>
            </a:pPr>
            <a:r>
              <a:rPr lang="en-US" sz="2380" b="1" dirty="0">
                <a:solidFill>
                  <a:srgbClr val="383838"/>
                </a:solidFill>
                <a:latin typeface="Noto Serif SC" pitchFamily="34" charset="0"/>
                <a:ea typeface="Noto Serif SC" pitchFamily="34" charset="-122"/>
                <a:cs typeface="Noto Serif SC" pitchFamily="34" charset="-120"/>
              </a:rPr>
              <a:t>2.3 occupy the niche</a:t>
            </a:r>
            <a:endParaRPr lang="en-US" sz="2380" dirty="0"/>
          </a:p>
        </p:txBody>
      </p:sp>
      <p:sp>
        <p:nvSpPr>
          <p:cNvPr id="4" name="Text 1"/>
          <p:cNvSpPr/>
          <p:nvPr/>
        </p:nvSpPr>
        <p:spPr>
          <a:xfrm>
            <a:off x="461645" y="706120"/>
            <a:ext cx="4072255" cy="4210050"/>
          </a:xfrm>
          <a:prstGeom prst="rect">
            <a:avLst/>
          </a:prstGeom>
          <a:noFill/>
        </p:spPr>
        <p:txBody>
          <a:bodyPr wrap="square" rtlCol="0" anchor="t"/>
          <a:lstStyle/>
          <a:p>
            <a:pPr marL="0" indent="0" algn="l">
              <a:lnSpc>
                <a:spcPct val="150000"/>
              </a:lnSpc>
              <a:buNone/>
            </a:pPr>
            <a:r>
              <a:rPr lang="en-US" sz="1200" b="1" dirty="0">
                <a:solidFill>
                  <a:srgbClr val="383838"/>
                </a:solidFill>
                <a:latin typeface="Noto Serif SC" pitchFamily="34" charset="0"/>
                <a:ea typeface="Noto Serif SC" pitchFamily="34" charset="-122"/>
                <a:cs typeface="Noto Serif SC" pitchFamily="34" charset="-120"/>
                <a:sym typeface="+mn-ea"/>
              </a:rPr>
              <a:t>methods</a:t>
            </a:r>
            <a:endParaRPr lang="en-US" sz="1200" b="1" dirty="0">
              <a:solidFill>
                <a:srgbClr val="383838"/>
              </a:solidFill>
              <a:latin typeface="Noto Serif SC" pitchFamily="34" charset="0"/>
              <a:ea typeface="Noto Serif SC" pitchFamily="34" charset="-122"/>
              <a:cs typeface="Noto Serif SC" pitchFamily="34" charset="-120"/>
            </a:endParaRPr>
          </a:p>
          <a:p>
            <a:pPr marL="0" indent="0" algn="l">
              <a:lnSpc>
                <a:spcPct val="150000"/>
              </a:lnSpc>
              <a:buNone/>
            </a:pPr>
            <a:r>
              <a:rPr lang="en-US" sz="1050" dirty="0">
                <a:solidFill>
                  <a:srgbClr val="383838"/>
                </a:solidFill>
                <a:latin typeface="Noto Serif SC" pitchFamily="34" charset="0"/>
                <a:ea typeface="Noto Serif SC" pitchFamily="34" charset="-122"/>
                <a:cs typeface="Noto Serif SC" pitchFamily="34" charset="-120"/>
              </a:rPr>
              <a:t>We overcome these problems by formalizing a notion of stimulus complexity and behaviorally testing the relationship between complexity and infants’ probability of looking away at each successive point in a sequence of events. We assume that at each point in the experiment–and in everyday life–infants have used observed data to form probabilistic expectations about what events are likely and unlikely to be observed next [25,26]. We model these expectations using an idealized observer model of our experimental stimuli. We then measure complexity as the negative log probability of an event according to this idealized model. This measure quantifies each event’s information content [27]. </a:t>
            </a:r>
            <a:r>
              <a:rPr lang="en-US" sz="1050" dirty="0">
                <a:solidFill>
                  <a:srgbClr val="383838"/>
                </a:solidFill>
                <a:latin typeface="Noto Serif SC" pitchFamily="34" charset="0"/>
                <a:ea typeface="Noto Serif SC" pitchFamily="34" charset="-122"/>
                <a:cs typeface="Noto Serif SC" pitchFamily="34" charset="-120"/>
                <a:sym typeface="+mn-ea"/>
              </a:rPr>
              <a:t>(This measure has also been called surprisal [28], since it may also be interpreted as representing the ‘‘surprise’’ of seeing the outcome.) </a:t>
            </a:r>
            <a:endParaRPr lang="en-US" sz="105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randombar(horizontal)">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randombar(horizontal)">
                                      <p:cBhvr>
                                        <p:cTn id="1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25648" y="0"/>
            <a:ext cx="8418352" cy="5143500"/>
          </a:xfrm>
          <a:prstGeom prst="rect">
            <a:avLst/>
          </a:prstGeom>
        </p:spPr>
      </p:pic>
      <p:sp>
        <p:nvSpPr>
          <p:cNvPr id="3" name="Text 0"/>
          <p:cNvSpPr/>
          <p:nvPr/>
        </p:nvSpPr>
        <p:spPr>
          <a:xfrm>
            <a:off x="461645" y="213995"/>
            <a:ext cx="3550920" cy="1024255"/>
          </a:xfrm>
          <a:prstGeom prst="rect">
            <a:avLst/>
          </a:prstGeom>
          <a:noFill/>
        </p:spPr>
        <p:txBody>
          <a:bodyPr wrap="square" rtlCol="0" anchor="t"/>
          <a:lstStyle/>
          <a:p>
            <a:pPr marL="0" indent="0">
              <a:buNone/>
            </a:pPr>
            <a:r>
              <a:rPr lang="en-US" sz="2380" b="1" dirty="0">
                <a:solidFill>
                  <a:srgbClr val="383838"/>
                </a:solidFill>
                <a:latin typeface="Noto Serif SC" pitchFamily="34" charset="0"/>
                <a:ea typeface="Noto Serif SC" pitchFamily="34" charset="-122"/>
                <a:cs typeface="Noto Serif SC" pitchFamily="34" charset="-120"/>
              </a:rPr>
              <a:t>2.3 occupy the niche</a:t>
            </a:r>
            <a:endParaRPr lang="en-US" sz="2380" dirty="0"/>
          </a:p>
        </p:txBody>
      </p:sp>
      <p:sp>
        <p:nvSpPr>
          <p:cNvPr id="4" name="Text 1"/>
          <p:cNvSpPr/>
          <p:nvPr/>
        </p:nvSpPr>
        <p:spPr>
          <a:xfrm>
            <a:off x="461962" y="713653"/>
            <a:ext cx="4072288" cy="3900575"/>
          </a:xfrm>
          <a:prstGeom prst="rect">
            <a:avLst/>
          </a:prstGeom>
          <a:noFill/>
        </p:spPr>
        <p:txBody>
          <a:bodyPr wrap="square" rtlCol="0" anchor="t"/>
          <a:lstStyle/>
          <a:p>
            <a:pPr marL="0" indent="0" algn="l">
              <a:lnSpc>
                <a:spcPct val="150000"/>
              </a:lnSpc>
              <a:buNone/>
            </a:pPr>
            <a:r>
              <a:rPr lang="en-US" sz="1200" b="1" dirty="0">
                <a:solidFill>
                  <a:srgbClr val="383838"/>
                </a:solidFill>
                <a:latin typeface="Noto Serif SC" pitchFamily="34" charset="0"/>
                <a:ea typeface="Noto Serif SC" pitchFamily="34" charset="-122"/>
                <a:cs typeface="Noto Serif SC" pitchFamily="34" charset="-120"/>
                <a:sym typeface="+mn-ea"/>
              </a:rPr>
              <a:t>step3</a:t>
            </a:r>
            <a:r>
              <a:rPr lang="zh-CN" altLang="en-US" sz="1200" b="1" dirty="0">
                <a:solidFill>
                  <a:srgbClr val="383838"/>
                </a:solidFill>
                <a:latin typeface="Noto Serif SC" pitchFamily="34" charset="0"/>
                <a:ea typeface="Noto Serif SC" pitchFamily="34" charset="-122"/>
                <a:cs typeface="Noto Serif SC" pitchFamily="34" charset="-120"/>
                <a:sym typeface="+mn-ea"/>
              </a:rPr>
              <a:t>：</a:t>
            </a:r>
            <a:r>
              <a:rPr lang="en-US" sz="1200" b="1" dirty="0">
                <a:solidFill>
                  <a:srgbClr val="383838"/>
                </a:solidFill>
                <a:latin typeface="Noto Serif SC" pitchFamily="34" charset="0"/>
                <a:ea typeface="Noto Serif SC" pitchFamily="34" charset="-122"/>
                <a:cs typeface="Noto Serif SC" pitchFamily="34" charset="-120"/>
                <a:sym typeface="+mn-ea"/>
              </a:rPr>
              <a:t>provide information about major results</a:t>
            </a:r>
            <a:endParaRPr lang="en-US" sz="1200" b="1" dirty="0">
              <a:solidFill>
                <a:srgbClr val="383838"/>
              </a:solidFill>
              <a:latin typeface="Noto Serif SC" pitchFamily="34" charset="0"/>
              <a:ea typeface="Noto Serif SC" pitchFamily="34" charset="-122"/>
              <a:cs typeface="Noto Serif SC" pitchFamily="34" charset="-120"/>
            </a:endParaRPr>
          </a:p>
          <a:p>
            <a:pPr marL="0" indent="0" algn="l">
              <a:lnSpc>
                <a:spcPct val="150000"/>
              </a:lnSpc>
              <a:buNone/>
            </a:pPr>
            <a:r>
              <a:rPr lang="en-US" sz="1050" dirty="0">
                <a:solidFill>
                  <a:srgbClr val="383838"/>
                </a:solidFill>
                <a:latin typeface="Noto Serif SC" pitchFamily="34" charset="0"/>
                <a:ea typeface="Noto Serif SC" pitchFamily="34" charset="-122"/>
                <a:cs typeface="Noto Serif SC" pitchFamily="34" charset="-120"/>
              </a:rPr>
              <a:t>We show that infants preferentially look away at events that are either very simple (high probability) or very complex (low probability), according to the idealized model. Intuitively, high probability events convey little information–infants’ attentional resources are best spent elsewhere. Low probability events may indicate that the observed stimuli are unlearnable, unstructured, or difficult to use predictively in the future. Negative log probability also quantifies the number of bits of information an ideal observer would require to encode that sequence of events in memory. Thus, infants may avoid stimuli that require encoding too much information or information that could only be extracted by prolonged attention to rare events, thereby incurring a higher processing cost than shifting attention to less complex events.</a:t>
            </a:r>
            <a:endParaRPr lang="en-US" sz="105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randombar(horizontal)">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randombar(horizontal)">
                                      <p:cBhvr>
                                        <p:cTn id="1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238625" y="1276350"/>
            <a:ext cx="1452563" cy="333375"/>
          </a:xfrm>
          <a:prstGeom prst="rect">
            <a:avLst/>
          </a:prstGeom>
          <a:noFill/>
        </p:spPr>
        <p:txBody>
          <a:bodyPr wrap="square" rtlCol="0" anchor="t"/>
          <a:lstStyle/>
          <a:p>
            <a:pPr marL="0" indent="0" algn="ctr">
              <a:buNone/>
            </a:pPr>
            <a:r>
              <a:rPr lang="en-US" sz="1535" b="1" dirty="0">
                <a:solidFill>
                  <a:srgbClr val="FFFFFF"/>
                </a:solidFill>
                <a:latin typeface="Noto Serif SC" pitchFamily="34" charset="0"/>
                <a:ea typeface="Noto Serif SC" pitchFamily="34" charset="-122"/>
                <a:cs typeface="Noto Serif SC" pitchFamily="34" charset="-120"/>
              </a:rPr>
              <a:t>03</a:t>
            </a:r>
            <a:endParaRPr lang="en-US" sz="1535" dirty="0"/>
          </a:p>
        </p:txBody>
      </p:sp>
      <p:sp>
        <p:nvSpPr>
          <p:cNvPr id="3" name="Text 1"/>
          <p:cNvSpPr/>
          <p:nvPr/>
        </p:nvSpPr>
        <p:spPr>
          <a:xfrm>
            <a:off x="1871663" y="2381250"/>
            <a:ext cx="5101590" cy="1676400"/>
          </a:xfrm>
          <a:prstGeom prst="rect">
            <a:avLst/>
          </a:prstGeom>
          <a:noFill/>
        </p:spPr>
        <p:txBody>
          <a:bodyPr wrap="square" rtlCol="0" anchor="t"/>
          <a:lstStyle/>
          <a:p>
            <a:pPr marL="0" indent="0" algn="ctr">
              <a:buNone/>
            </a:pPr>
            <a:r>
              <a:rPr lang="en-US" sz="3500" b="1" dirty="0">
                <a:solidFill>
                  <a:srgbClr val="FFFFFF"/>
                </a:solidFill>
                <a:latin typeface="Noto Serif SC" pitchFamily="34" charset="0"/>
                <a:ea typeface="Noto Serif SC" pitchFamily="34" charset="-122"/>
                <a:cs typeface="Noto Serif SC" pitchFamily="34" charset="-120"/>
              </a:rPr>
              <a:t>3 Literature review</a:t>
            </a:r>
            <a:endParaRPr lang="en-US" sz="35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0" y="0"/>
            <a:ext cx="9144000" cy="5143500"/>
          </a:xfrm>
          <a:prstGeom prst="rect">
            <a:avLst/>
          </a:prstGeom>
        </p:spPr>
      </p:pic>
      <p:sp>
        <p:nvSpPr>
          <p:cNvPr id="3" name="Text 0"/>
          <p:cNvSpPr/>
          <p:nvPr/>
        </p:nvSpPr>
        <p:spPr>
          <a:xfrm>
            <a:off x="476250" y="347663"/>
            <a:ext cx="8362950" cy="552450"/>
          </a:xfrm>
          <a:prstGeom prst="rect">
            <a:avLst/>
          </a:prstGeom>
          <a:noFill/>
        </p:spPr>
        <p:txBody>
          <a:bodyPr wrap="square" rtlCol="0" anchor="t"/>
          <a:lstStyle/>
          <a:p>
            <a:pPr marL="0" indent="0">
              <a:buNone/>
            </a:pPr>
            <a:r>
              <a:rPr lang="en-US" sz="2100" b="1" dirty="0">
                <a:solidFill>
                  <a:srgbClr val="383838"/>
                </a:solidFill>
                <a:latin typeface="Noto Serif SC" pitchFamily="34" charset="0"/>
                <a:ea typeface="Noto Serif SC" pitchFamily="34" charset="-122"/>
                <a:cs typeface="Noto Serif SC" pitchFamily="34" charset="-120"/>
              </a:rPr>
              <a:t>3 Literature review</a:t>
            </a:r>
            <a:endParaRPr lang="en-US" sz="2100" dirty="0"/>
          </a:p>
        </p:txBody>
      </p:sp>
      <p:sp>
        <p:nvSpPr>
          <p:cNvPr id="4" name="Text 1"/>
          <p:cNvSpPr/>
          <p:nvPr/>
        </p:nvSpPr>
        <p:spPr>
          <a:xfrm>
            <a:off x="471488" y="1938337"/>
            <a:ext cx="2390775" cy="2752725"/>
          </a:xfrm>
          <a:prstGeom prst="rect">
            <a:avLst/>
          </a:prstGeom>
          <a:noFill/>
        </p:spPr>
        <p:txBody>
          <a:bodyPr wrap="square" rtlCol="0" anchor="t"/>
          <a:lstStyle/>
          <a:p>
            <a:pPr marL="0" indent="0" algn="l">
              <a:lnSpc>
                <a:spcPct val="150000"/>
              </a:lnSpc>
              <a:buNone/>
            </a:pPr>
            <a:r>
              <a:rPr lang="en-US" sz="1400" dirty="0">
                <a:solidFill>
                  <a:srgbClr val="383838"/>
                </a:solidFill>
                <a:latin typeface="Noto Serif SC" pitchFamily="34" charset="0"/>
                <a:ea typeface="Noto Serif SC" pitchFamily="34" charset="-122"/>
                <a:cs typeface="Noto Serif SC" pitchFamily="34" charset="-120"/>
              </a:rPr>
              <a:t>3.1 previous research</a:t>
            </a:r>
            <a:endParaRPr lang="en-US" sz="1400" dirty="0"/>
          </a:p>
        </p:txBody>
      </p:sp>
      <p:sp>
        <p:nvSpPr>
          <p:cNvPr id="5" name="Text 2"/>
          <p:cNvSpPr/>
          <p:nvPr/>
        </p:nvSpPr>
        <p:spPr>
          <a:xfrm>
            <a:off x="6196013" y="2943225"/>
            <a:ext cx="2495550" cy="1766888"/>
          </a:xfrm>
          <a:prstGeom prst="rect">
            <a:avLst/>
          </a:prstGeom>
          <a:noFill/>
        </p:spPr>
        <p:txBody>
          <a:bodyPr wrap="square" rtlCol="0" anchor="t"/>
          <a:lstStyle/>
          <a:p>
            <a:pPr marL="0" indent="0" algn="l">
              <a:lnSpc>
                <a:spcPct val="150000"/>
              </a:lnSpc>
              <a:buNone/>
            </a:pPr>
            <a:r>
              <a:rPr lang="en-US" sz="1400" dirty="0">
                <a:solidFill>
                  <a:srgbClr val="383838"/>
                </a:solidFill>
                <a:latin typeface="Noto Serif SC" pitchFamily="34" charset="0"/>
                <a:ea typeface="Noto Serif SC" pitchFamily="34" charset="-122"/>
                <a:cs typeface="Noto Serif SC" pitchFamily="34" charset="-120"/>
              </a:rPr>
              <a:t>3.2 critical evaluation</a:t>
            </a:r>
            <a:endParaRPr lang="en-US" sz="14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0" y="0"/>
            <a:ext cx="9144000" cy="5143500"/>
          </a:xfrm>
          <a:prstGeom prst="rect">
            <a:avLst/>
          </a:prstGeom>
        </p:spPr>
      </p:pic>
      <p:sp>
        <p:nvSpPr>
          <p:cNvPr id="3" name="Text 0"/>
          <p:cNvSpPr/>
          <p:nvPr/>
        </p:nvSpPr>
        <p:spPr>
          <a:xfrm>
            <a:off x="2833688" y="338138"/>
            <a:ext cx="3481387" cy="652463"/>
          </a:xfrm>
          <a:prstGeom prst="rect">
            <a:avLst/>
          </a:prstGeom>
          <a:noFill/>
        </p:spPr>
        <p:txBody>
          <a:bodyPr wrap="square" rtlCol="0" anchor="t"/>
          <a:lstStyle/>
          <a:p>
            <a:pPr marL="0" indent="0" algn="ctr">
              <a:lnSpc>
                <a:spcPct val="150000"/>
              </a:lnSpc>
              <a:buNone/>
            </a:pPr>
            <a:r>
              <a:rPr lang="en-US" sz="980" dirty="0">
                <a:solidFill>
                  <a:srgbClr val="383838"/>
                </a:solidFill>
                <a:latin typeface="Noto Serif SC" pitchFamily="34" charset="0"/>
                <a:ea typeface="Noto Serif SC" pitchFamily="34" charset="-122"/>
                <a:cs typeface="Noto Serif SC" pitchFamily="34" charset="-120"/>
              </a:rPr>
              <a:t>3.1.1 highlight the Piaget's theory’s limitation</a:t>
            </a:r>
            <a:endParaRPr lang="en-US" sz="980" dirty="0"/>
          </a:p>
        </p:txBody>
      </p:sp>
      <p:sp>
        <p:nvSpPr>
          <p:cNvPr id="4" name="Text 1"/>
          <p:cNvSpPr/>
          <p:nvPr/>
        </p:nvSpPr>
        <p:spPr>
          <a:xfrm>
            <a:off x="6353175" y="1566863"/>
            <a:ext cx="2481263" cy="1042988"/>
          </a:xfrm>
          <a:prstGeom prst="rect">
            <a:avLst/>
          </a:prstGeom>
          <a:noFill/>
        </p:spPr>
        <p:txBody>
          <a:bodyPr wrap="square" rtlCol="0" anchor="t"/>
          <a:lstStyle/>
          <a:p>
            <a:pPr marL="0" indent="0" algn="l">
              <a:lnSpc>
                <a:spcPct val="150000"/>
              </a:lnSpc>
              <a:buNone/>
            </a:pPr>
            <a:r>
              <a:rPr lang="en-US" sz="980" dirty="0">
                <a:solidFill>
                  <a:srgbClr val="383838"/>
                </a:solidFill>
                <a:latin typeface="Noto Serif SC" pitchFamily="34" charset="0"/>
                <a:ea typeface="Noto Serif SC" pitchFamily="34" charset="-122"/>
                <a:cs typeface="Noto Serif SC" pitchFamily="34" charset="-120"/>
              </a:rPr>
              <a:t>3.1.2 shifts the discussion towards subsequent research and how a proxy for theoretical constructs was developed</a:t>
            </a:r>
            <a:endParaRPr lang="en-US" sz="980" dirty="0"/>
          </a:p>
        </p:txBody>
      </p:sp>
      <p:sp>
        <p:nvSpPr>
          <p:cNvPr id="5" name="Text 2"/>
          <p:cNvSpPr/>
          <p:nvPr/>
        </p:nvSpPr>
        <p:spPr>
          <a:xfrm>
            <a:off x="6353175" y="3514725"/>
            <a:ext cx="2481263" cy="1042988"/>
          </a:xfrm>
          <a:prstGeom prst="rect">
            <a:avLst/>
          </a:prstGeom>
          <a:noFill/>
        </p:spPr>
        <p:txBody>
          <a:bodyPr wrap="square" rtlCol="0" anchor="t"/>
          <a:lstStyle/>
          <a:p>
            <a:pPr marL="0" indent="0" algn="l">
              <a:lnSpc>
                <a:spcPct val="150000"/>
              </a:lnSpc>
              <a:buNone/>
            </a:pPr>
            <a:r>
              <a:rPr lang="en-US" sz="980" dirty="0">
                <a:solidFill>
                  <a:srgbClr val="383838"/>
                </a:solidFill>
                <a:latin typeface="Noto Serif SC" pitchFamily="34" charset="0"/>
                <a:ea typeface="Noto Serif SC" pitchFamily="34" charset="-122"/>
                <a:cs typeface="Noto Serif SC" pitchFamily="34" charset="-120"/>
              </a:rPr>
              <a:t>3.1.3 the Focus of subsequent search after Piaget’s theory</a:t>
            </a:r>
            <a:endParaRPr lang="en-US" sz="980" dirty="0"/>
          </a:p>
        </p:txBody>
      </p:sp>
      <p:sp>
        <p:nvSpPr>
          <p:cNvPr id="6" name="Text 3"/>
          <p:cNvSpPr/>
          <p:nvPr/>
        </p:nvSpPr>
        <p:spPr>
          <a:xfrm>
            <a:off x="423863" y="3514725"/>
            <a:ext cx="2266950" cy="1042988"/>
          </a:xfrm>
          <a:prstGeom prst="rect">
            <a:avLst/>
          </a:prstGeom>
          <a:noFill/>
        </p:spPr>
        <p:txBody>
          <a:bodyPr wrap="square" rtlCol="0" anchor="t"/>
          <a:lstStyle/>
          <a:p>
            <a:pPr marL="0" indent="0" algn="r">
              <a:lnSpc>
                <a:spcPct val="150000"/>
              </a:lnSpc>
              <a:buNone/>
            </a:pPr>
            <a:r>
              <a:rPr lang="en-US" sz="980" dirty="0">
                <a:solidFill>
                  <a:srgbClr val="383838"/>
                </a:solidFill>
                <a:latin typeface="Noto Serif SC" pitchFamily="34" charset="0"/>
                <a:ea typeface="Noto Serif SC" pitchFamily="34" charset="-122"/>
                <a:cs typeface="Noto Serif SC" pitchFamily="34" charset="-120"/>
              </a:rPr>
              <a:t>3.1.4 summary of the findings - outlines the factors believed to influence infants' visual attention, including stimuli salience, memory, and comparison.</a:t>
            </a:r>
            <a:endParaRPr lang="en-US" sz="980" dirty="0"/>
          </a:p>
        </p:txBody>
      </p:sp>
      <p:sp>
        <p:nvSpPr>
          <p:cNvPr id="7" name="Text 4"/>
          <p:cNvSpPr/>
          <p:nvPr/>
        </p:nvSpPr>
        <p:spPr>
          <a:xfrm>
            <a:off x="423863" y="1566863"/>
            <a:ext cx="2266950" cy="1042988"/>
          </a:xfrm>
          <a:prstGeom prst="rect">
            <a:avLst/>
          </a:prstGeom>
          <a:noFill/>
        </p:spPr>
        <p:txBody>
          <a:bodyPr wrap="square" rtlCol="0" anchor="t"/>
          <a:lstStyle/>
          <a:p>
            <a:pPr marL="0" indent="0" algn="r">
              <a:lnSpc>
                <a:spcPct val="150000"/>
              </a:lnSpc>
              <a:buNone/>
            </a:pPr>
            <a:r>
              <a:rPr lang="en-US" sz="980" dirty="0">
                <a:solidFill>
                  <a:srgbClr val="383838"/>
                </a:solidFill>
                <a:latin typeface="Noto Serif SC" pitchFamily="34" charset="0"/>
                <a:ea typeface="Noto Serif SC" pitchFamily="34" charset="-122"/>
                <a:cs typeface="Noto Serif SC" pitchFamily="34" charset="-120"/>
              </a:rPr>
              <a:t>3.1.5 detailed explanation of the findings - stimulus familiarity plays a important role in shaping attentional patterns.</a:t>
            </a:r>
            <a:endParaRPr lang="en-US" sz="98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0" y="0"/>
            <a:ext cx="9144000" cy="5143500"/>
          </a:xfrm>
          <a:prstGeom prst="rect">
            <a:avLst/>
          </a:prstGeom>
        </p:spPr>
      </p:pic>
      <p:sp>
        <p:nvSpPr>
          <p:cNvPr id="3" name="Text 0"/>
          <p:cNvSpPr/>
          <p:nvPr/>
        </p:nvSpPr>
        <p:spPr>
          <a:xfrm>
            <a:off x="2166937" y="914400"/>
            <a:ext cx="4452938" cy="590550"/>
          </a:xfrm>
          <a:prstGeom prst="rect">
            <a:avLst/>
          </a:prstGeom>
          <a:noFill/>
        </p:spPr>
        <p:txBody>
          <a:bodyPr wrap="square" rtlCol="0" anchor="ctr"/>
          <a:lstStyle/>
          <a:p>
            <a:pPr marL="0" indent="0">
              <a:buNone/>
            </a:pPr>
            <a:r>
              <a:rPr lang="en-US" sz="1330" b="1" dirty="0">
                <a:solidFill>
                  <a:srgbClr val="383838"/>
                </a:solidFill>
                <a:latin typeface="Noto Serif SC" pitchFamily="34" charset="0"/>
                <a:ea typeface="Noto Serif SC" pitchFamily="34" charset="-122"/>
                <a:cs typeface="Noto Serif SC" pitchFamily="34" charset="-120"/>
              </a:rPr>
              <a:t>3.1.1 highlight the Piaget's theory’s limitation</a:t>
            </a:r>
            <a:endParaRPr lang="en-US" sz="1330" dirty="0"/>
          </a:p>
        </p:txBody>
      </p:sp>
      <p:sp>
        <p:nvSpPr>
          <p:cNvPr id="4" name="Text 1"/>
          <p:cNvSpPr/>
          <p:nvPr/>
        </p:nvSpPr>
        <p:spPr>
          <a:xfrm>
            <a:off x="1223963" y="2414588"/>
            <a:ext cx="6691313" cy="1481138"/>
          </a:xfrm>
          <a:prstGeom prst="rect">
            <a:avLst/>
          </a:prstGeom>
          <a:noFill/>
        </p:spPr>
        <p:txBody>
          <a:bodyPr wrap="square" rtlCol="0" anchor="t"/>
          <a:lstStyle/>
          <a:p>
            <a:pPr marL="0" indent="0" algn="l">
              <a:lnSpc>
                <a:spcPct val="150000"/>
              </a:lnSpc>
              <a:buNone/>
            </a:pPr>
            <a:r>
              <a:rPr lang="en-US" sz="1400" dirty="0">
                <a:solidFill>
                  <a:srgbClr val="FFFFFF"/>
                </a:solidFill>
                <a:latin typeface="Noto Serif SC" pitchFamily="34" charset="0"/>
                <a:ea typeface="Noto Serif SC" pitchFamily="34" charset="-122"/>
                <a:cs typeface="Noto Serif SC" pitchFamily="34" charset="-120"/>
              </a:rPr>
              <a:t>Piaget had no objective measure of assimilation or accommodation; they remained hypothetical constructs.</a:t>
            </a:r>
            <a:endParaRPr lang="en-US" sz="14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randombar(horizontal)">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randombar(horizontal)">
                                      <p:cBhvr>
                                        <p:cTn id="1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0" y="0"/>
            <a:ext cx="9144000" cy="5143500"/>
          </a:xfrm>
          <a:prstGeom prst="rect">
            <a:avLst/>
          </a:prstGeom>
        </p:spPr>
      </p:pic>
      <p:sp>
        <p:nvSpPr>
          <p:cNvPr id="3" name="Text 0"/>
          <p:cNvSpPr/>
          <p:nvPr/>
        </p:nvSpPr>
        <p:spPr>
          <a:xfrm>
            <a:off x="2166937" y="914400"/>
            <a:ext cx="4452938" cy="590550"/>
          </a:xfrm>
          <a:prstGeom prst="rect">
            <a:avLst/>
          </a:prstGeom>
          <a:noFill/>
        </p:spPr>
        <p:txBody>
          <a:bodyPr wrap="square" rtlCol="0" anchor="ctr"/>
          <a:lstStyle/>
          <a:p>
            <a:pPr marL="0" indent="0">
              <a:buNone/>
            </a:pPr>
            <a:endParaRPr lang="en-US" sz="1330" dirty="0"/>
          </a:p>
        </p:txBody>
      </p:sp>
      <p:sp>
        <p:nvSpPr>
          <p:cNvPr id="4" name="Text 1"/>
          <p:cNvSpPr/>
          <p:nvPr/>
        </p:nvSpPr>
        <p:spPr>
          <a:xfrm>
            <a:off x="1223963" y="2414588"/>
            <a:ext cx="6691313" cy="1481138"/>
          </a:xfrm>
          <a:prstGeom prst="rect">
            <a:avLst/>
          </a:prstGeom>
          <a:noFill/>
        </p:spPr>
        <p:txBody>
          <a:bodyPr wrap="square" rtlCol="0" anchor="t"/>
          <a:lstStyle/>
          <a:p>
            <a:pPr marL="0" indent="0" algn="l">
              <a:lnSpc>
                <a:spcPct val="150000"/>
              </a:lnSpc>
              <a:buNone/>
            </a:pPr>
            <a:r>
              <a:rPr lang="en-US" altLang="zh-CN" sz="1400" dirty="0">
                <a:solidFill>
                  <a:schemeClr val="bg1"/>
                </a:solidFill>
                <a:latin typeface="Noto Serif SC" pitchFamily="34" charset="0"/>
                <a:ea typeface="Noto Serif SC" pitchFamily="34" charset="-122"/>
                <a:cs typeface="Noto Serif SC" pitchFamily="34" charset="-120"/>
              </a:rPr>
              <a:t>3.1.2 shifts the discussion towards subsequent research and how a proxy for theoretical constructs was developed</a:t>
            </a:r>
            <a:endParaRPr lang="en-US" altLang="zh-CN" sz="1400" dirty="0">
              <a:solidFill>
                <a:schemeClr val="bg1"/>
              </a:solidFill>
            </a:endParaRPr>
          </a:p>
        </p:txBody>
      </p:sp>
      <p:sp>
        <p:nvSpPr>
          <p:cNvPr id="6" name="文本框 5"/>
          <p:cNvSpPr txBox="1"/>
          <p:nvPr/>
        </p:nvSpPr>
        <p:spPr>
          <a:xfrm>
            <a:off x="2405063" y="1063108"/>
            <a:ext cx="4572000" cy="369332"/>
          </a:xfrm>
          <a:prstGeom prst="rect">
            <a:avLst/>
          </a:prstGeom>
          <a:noFill/>
        </p:spPr>
        <p:txBody>
          <a:bodyPr wrap="square">
            <a:spAutoFit/>
          </a:bodyPr>
          <a:lstStyle/>
          <a:p>
            <a:r>
              <a:rPr lang="en-US" altLang="zh-CN" sz="1800" dirty="0">
                <a:latin typeface="Noto Serif SC" pitchFamily="34" charset="0"/>
                <a:ea typeface="Noto Serif SC" pitchFamily="34" charset="-122"/>
                <a:cs typeface="Noto Serif SC" pitchFamily="34" charset="-120"/>
              </a:rPr>
              <a:t>3.1.2</a:t>
            </a:r>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randombar(horizontal)">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randombar(horizontal)">
                                      <p:cBhvr>
                                        <p:cTn id="1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6"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0" y="0"/>
            <a:ext cx="9144000" cy="5143500"/>
          </a:xfrm>
          <a:prstGeom prst="rect">
            <a:avLst/>
          </a:prstGeom>
        </p:spPr>
      </p:pic>
      <p:sp>
        <p:nvSpPr>
          <p:cNvPr id="3" name="Text 0"/>
          <p:cNvSpPr/>
          <p:nvPr/>
        </p:nvSpPr>
        <p:spPr>
          <a:xfrm>
            <a:off x="3376613" y="1328738"/>
            <a:ext cx="2730273" cy="2481263"/>
          </a:xfrm>
          <a:prstGeom prst="rect">
            <a:avLst/>
          </a:prstGeom>
          <a:noFill/>
        </p:spPr>
        <p:txBody>
          <a:bodyPr wrap="square" rtlCol="0" anchor="t"/>
          <a:lstStyle/>
          <a:p>
            <a:pPr marL="0" indent="0" algn="l">
              <a:lnSpc>
                <a:spcPct val="150000"/>
              </a:lnSpc>
              <a:buNone/>
            </a:pPr>
            <a:r>
              <a:rPr lang="en-US" sz="1100" dirty="0">
                <a:solidFill>
                  <a:srgbClr val="000000"/>
                </a:solidFill>
                <a:latin typeface="Noto Serif SC" pitchFamily="34" charset="0"/>
                <a:ea typeface="Noto Serif SC" pitchFamily="34" charset="-122"/>
                <a:cs typeface="Noto Serif SC" pitchFamily="34" charset="-120"/>
              </a:rPr>
              <a:t>However, in subsequent research, a proxy for these theoretical constructs centered on the relative duration of visual attention to objects or events varying in complexity or familiarity. Many researchers have speculated about what underlying mental operations are indexed by infants’ looking times or attentional patterns [14] (for review, see Aslin 2007 [15]).</a:t>
            </a:r>
            <a:endParaRPr lang="en-US" sz="1100" dirty="0"/>
          </a:p>
        </p:txBody>
      </p:sp>
      <p:sp>
        <p:nvSpPr>
          <p:cNvPr id="6" name="文本框 5"/>
          <p:cNvSpPr txBox="1"/>
          <p:nvPr/>
        </p:nvSpPr>
        <p:spPr>
          <a:xfrm>
            <a:off x="600075" y="387128"/>
            <a:ext cx="4572000" cy="646331"/>
          </a:xfrm>
          <a:prstGeom prst="rect">
            <a:avLst/>
          </a:prstGeom>
          <a:noFill/>
        </p:spPr>
        <p:txBody>
          <a:bodyPr wrap="square">
            <a:spAutoFit/>
          </a:bodyPr>
          <a:lstStyle/>
          <a:p>
            <a:pPr algn="l"/>
            <a:r>
              <a:rPr lang="en-US" altLang="zh-CN" sz="1800" kern="0" dirty="0">
                <a:solidFill>
                  <a:srgbClr val="231F20"/>
                </a:solidFill>
                <a:effectLst/>
                <a:latin typeface="华文新魏" panose="02010800040101010101" pitchFamily="2" charset="-122"/>
                <a:ea typeface="等线" panose="02010600030101010101" charset="-122"/>
                <a:cs typeface="华文新魏" panose="02010800040101010101" pitchFamily="2" charset="-122"/>
              </a:rPr>
              <a:t>3.1.3 the Focus of subsequent search after </a:t>
            </a:r>
            <a:r>
              <a:rPr lang="en-US" altLang="zh-CN" kern="0" dirty="0">
                <a:solidFill>
                  <a:srgbClr val="231F20"/>
                </a:solidFill>
                <a:latin typeface="华文新魏" panose="02010800040101010101" pitchFamily="2" charset="-122"/>
                <a:ea typeface="等线" panose="02010600030101010101" charset="-122"/>
              </a:rPr>
              <a:t>Piaget</a:t>
            </a:r>
            <a:r>
              <a:rPr lang="zh-CN" altLang="zh-CN" kern="0" dirty="0">
                <a:solidFill>
                  <a:srgbClr val="231F20"/>
                </a:solidFill>
                <a:latin typeface="华文新魏" panose="02010800040101010101" pitchFamily="2" charset="-122"/>
                <a:ea typeface="等线" panose="02010600030101010101" charset="-122"/>
              </a:rPr>
              <a:t>’</a:t>
            </a:r>
            <a:r>
              <a:rPr lang="en-US" altLang="zh-CN" kern="0" dirty="0">
                <a:solidFill>
                  <a:srgbClr val="231F20"/>
                </a:solidFill>
                <a:latin typeface="华文新魏" panose="02010800040101010101" pitchFamily="2" charset="-122"/>
                <a:ea typeface="等线" panose="02010600030101010101" charset="-122"/>
              </a:rPr>
              <a:t>s theory</a:t>
            </a:r>
            <a:endParaRPr lang="zh-CN" altLang="zh-CN" kern="0" dirty="0">
              <a:solidFill>
                <a:srgbClr val="231F20"/>
              </a:solidFill>
              <a:latin typeface="华文新魏" panose="02010800040101010101" pitchFamily="2" charset="-122"/>
              <a:ea typeface="等线" panose="02010600030101010101"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randombar(horizontal)">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randombar(horizontal)">
                                      <p:cBhvr>
                                        <p:cTn id="12"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6"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0" y="0"/>
            <a:ext cx="9144000" cy="5143500"/>
          </a:xfrm>
          <a:prstGeom prst="rect">
            <a:avLst/>
          </a:prstGeom>
        </p:spPr>
      </p:pic>
      <p:sp>
        <p:nvSpPr>
          <p:cNvPr id="3" name="Text 0"/>
          <p:cNvSpPr/>
          <p:nvPr/>
        </p:nvSpPr>
        <p:spPr>
          <a:xfrm>
            <a:off x="461962" y="822552"/>
            <a:ext cx="3233738" cy="1462088"/>
          </a:xfrm>
          <a:prstGeom prst="rect">
            <a:avLst/>
          </a:prstGeom>
          <a:noFill/>
        </p:spPr>
        <p:txBody>
          <a:bodyPr wrap="square" rtlCol="0" anchor="t"/>
          <a:lstStyle/>
          <a:p>
            <a:pPr marL="0" indent="0">
              <a:buNone/>
            </a:pPr>
            <a:r>
              <a:rPr lang="en-US" sz="1600" b="1" dirty="0">
                <a:solidFill>
                  <a:srgbClr val="383838"/>
                </a:solidFill>
                <a:latin typeface="Noto Serif SC" pitchFamily="34" charset="0"/>
                <a:ea typeface="Noto Serif SC" pitchFamily="34" charset="-122"/>
                <a:cs typeface="Noto Serif SC" pitchFamily="34" charset="-120"/>
              </a:rPr>
              <a:t>3.1.4 summary of the findings - outlines the factors believed to influence infants' visual attention, including stimuli salience, memory, and comparison.</a:t>
            </a:r>
            <a:endParaRPr lang="en-US" sz="1600" dirty="0"/>
          </a:p>
        </p:txBody>
      </p:sp>
      <p:sp>
        <p:nvSpPr>
          <p:cNvPr id="4" name="Text 1"/>
          <p:cNvSpPr/>
          <p:nvPr/>
        </p:nvSpPr>
        <p:spPr>
          <a:xfrm>
            <a:off x="466724" y="2403021"/>
            <a:ext cx="3233738" cy="3033713"/>
          </a:xfrm>
          <a:prstGeom prst="rect">
            <a:avLst/>
          </a:prstGeom>
          <a:noFill/>
        </p:spPr>
        <p:txBody>
          <a:bodyPr wrap="square" rtlCol="0" anchor="t"/>
          <a:lstStyle/>
          <a:p>
            <a:pPr marL="0" indent="0" algn="l">
              <a:lnSpc>
                <a:spcPct val="150000"/>
              </a:lnSpc>
              <a:buNone/>
            </a:pPr>
            <a:r>
              <a:rPr lang="en-US" sz="1400" dirty="0">
                <a:solidFill>
                  <a:srgbClr val="383838"/>
                </a:solidFill>
                <a:latin typeface="Noto Serif SC" pitchFamily="34" charset="0"/>
                <a:ea typeface="Noto Serif SC" pitchFamily="34" charset="-122"/>
                <a:cs typeface="Noto Serif SC" pitchFamily="34" charset="-120"/>
              </a:rPr>
              <a:t>The generally accepted view is that looking times reflect some combination of (a) stimulus-driven attention, (b)memory of past stimuli, and (c) comparison between the current and the past stimuli.</a:t>
            </a:r>
            <a:endParaRPr lang="en-US" sz="14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randombar(horizontal)">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randombar(horizontal)">
                                      <p:cBhvr>
                                        <p:cTn id="1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0" y="0"/>
            <a:ext cx="9144000" cy="5143500"/>
          </a:xfrm>
          <a:prstGeom prst="rect">
            <a:avLst/>
          </a:prstGeom>
        </p:spPr>
      </p:pic>
      <p:sp>
        <p:nvSpPr>
          <p:cNvPr id="3" name="Text 0"/>
          <p:cNvSpPr/>
          <p:nvPr/>
        </p:nvSpPr>
        <p:spPr>
          <a:xfrm>
            <a:off x="2743200" y="1033463"/>
            <a:ext cx="5670096" cy="552450"/>
          </a:xfrm>
          <a:prstGeom prst="rect">
            <a:avLst/>
          </a:prstGeom>
          <a:noFill/>
        </p:spPr>
        <p:txBody>
          <a:bodyPr wrap="square" rtlCol="0" anchor="t"/>
          <a:lstStyle/>
          <a:p>
            <a:pPr marL="0" indent="0">
              <a:buNone/>
            </a:pPr>
            <a:r>
              <a:rPr lang="en-US" sz="1600" b="1" dirty="0">
                <a:solidFill>
                  <a:srgbClr val="383838"/>
                </a:solidFill>
                <a:latin typeface="Noto Serif SC" pitchFamily="34" charset="0"/>
                <a:ea typeface="Noto Serif SC" pitchFamily="34" charset="-122"/>
                <a:cs typeface="Noto Serif SC" pitchFamily="34" charset="-120"/>
              </a:rPr>
              <a:t>3.1.5 detailed explanation of the findings - stimulus familiarity plays a important role in shaping attentional patterns.</a:t>
            </a:r>
            <a:endParaRPr lang="en-US" sz="1600" dirty="0"/>
          </a:p>
        </p:txBody>
      </p:sp>
      <p:sp>
        <p:nvSpPr>
          <p:cNvPr id="4" name="Text 1"/>
          <p:cNvSpPr/>
          <p:nvPr/>
        </p:nvSpPr>
        <p:spPr>
          <a:xfrm>
            <a:off x="576263" y="2847975"/>
            <a:ext cx="8343900" cy="1685925"/>
          </a:xfrm>
          <a:prstGeom prst="rect">
            <a:avLst/>
          </a:prstGeom>
          <a:noFill/>
        </p:spPr>
        <p:txBody>
          <a:bodyPr wrap="square" rtlCol="0" anchor="t"/>
          <a:lstStyle/>
          <a:p>
            <a:pPr marL="0" indent="0" algn="l">
              <a:lnSpc>
                <a:spcPct val="150000"/>
              </a:lnSpc>
              <a:buNone/>
            </a:pPr>
            <a:r>
              <a:rPr lang="en-US" sz="1400" dirty="0">
                <a:solidFill>
                  <a:srgbClr val="383838"/>
                </a:solidFill>
                <a:latin typeface="Noto Serif SC" pitchFamily="34" charset="0"/>
                <a:ea typeface="Noto Serif SC" pitchFamily="34" charset="-122"/>
                <a:cs typeface="Noto Serif SC" pitchFamily="34" charset="-120"/>
              </a:rPr>
              <a:t>If infants are presented with an already familiar stimulus, they prefer it over a novel stimulus, but quickly tire of it after a brief period of re-familiarization (habituation), and subsequently show preferences for novel stimuli. Similarly, if repeatedly exposed to an initially novel stimulus, infant looking times decline and then recover to the presentation of another novel (i.e., completely unfamiliar) stimulus.</a:t>
            </a:r>
            <a:endParaRPr lang="en-US" sz="14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randombar(horizontal)">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randombar(horizontal)">
                                      <p:cBhvr>
                                        <p:cTn id="1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0" y="0"/>
            <a:ext cx="9144000" cy="5143500"/>
          </a:xfrm>
          <a:prstGeom prst="rect">
            <a:avLst/>
          </a:prstGeom>
        </p:spPr>
      </p:pic>
      <p:sp>
        <p:nvSpPr>
          <p:cNvPr id="3" name="Text 0"/>
          <p:cNvSpPr/>
          <p:nvPr/>
        </p:nvSpPr>
        <p:spPr>
          <a:xfrm>
            <a:off x="5148263" y="1223963"/>
            <a:ext cx="2976562" cy="409575"/>
          </a:xfrm>
          <a:prstGeom prst="rect">
            <a:avLst/>
          </a:prstGeom>
          <a:noFill/>
        </p:spPr>
        <p:txBody>
          <a:bodyPr wrap="square" rtlCol="0" anchor="ctr"/>
          <a:lstStyle/>
          <a:p>
            <a:pPr marL="0" indent="0">
              <a:buNone/>
            </a:pPr>
            <a:r>
              <a:rPr lang="en-US" sz="1540" b="1" dirty="0">
                <a:solidFill>
                  <a:srgbClr val="FFFFFF"/>
                </a:solidFill>
                <a:latin typeface="Noto Serif SC" pitchFamily="34" charset="0"/>
                <a:ea typeface="Noto Serif SC" pitchFamily="34" charset="-122"/>
                <a:cs typeface="Noto Serif SC" pitchFamily="34" charset="-120"/>
              </a:rPr>
              <a:t>3.2 critical evaluation</a:t>
            </a:r>
            <a:endParaRPr lang="en-US" sz="1540" dirty="0"/>
          </a:p>
        </p:txBody>
      </p:sp>
      <p:sp>
        <p:nvSpPr>
          <p:cNvPr id="4" name="Text 1"/>
          <p:cNvSpPr/>
          <p:nvPr/>
        </p:nvSpPr>
        <p:spPr>
          <a:xfrm>
            <a:off x="5148263" y="1695450"/>
            <a:ext cx="2976562" cy="2047875"/>
          </a:xfrm>
          <a:prstGeom prst="rect">
            <a:avLst/>
          </a:prstGeom>
          <a:noFill/>
        </p:spPr>
        <p:txBody>
          <a:bodyPr wrap="square" rtlCol="0" anchor="t"/>
          <a:lstStyle/>
          <a:p>
            <a:pPr marL="0" indent="0" algn="l">
              <a:lnSpc>
                <a:spcPct val="150000"/>
              </a:lnSpc>
              <a:buNone/>
            </a:pPr>
            <a:r>
              <a:rPr lang="en-US" sz="1000" dirty="0">
                <a:solidFill>
                  <a:srgbClr val="FFFFFF"/>
                </a:solidFill>
                <a:latin typeface="Noto Serif SC" pitchFamily="34" charset="0"/>
                <a:ea typeface="Noto Serif SC" pitchFamily="34" charset="-122"/>
                <a:cs typeface="Noto Serif SC" pitchFamily="34" charset="-120"/>
              </a:rPr>
              <a:t>3.2.1 conclusion</a:t>
            </a:r>
          </a:p>
          <a:p>
            <a:pPr marL="0" indent="0" algn="l">
              <a:lnSpc>
                <a:spcPct val="150000"/>
              </a:lnSpc>
              <a:buNone/>
            </a:pPr>
            <a:r>
              <a:rPr lang="en-US" sz="1000" dirty="0">
                <a:solidFill>
                  <a:srgbClr val="FFFFFF"/>
                </a:solidFill>
                <a:latin typeface="Noto Serif SC" pitchFamily="34" charset="0"/>
                <a:ea typeface="Noto Serif SC" pitchFamily="34" charset="-122"/>
                <a:cs typeface="Noto Serif SC" pitchFamily="34" charset="-120"/>
              </a:rPr>
              <a:t>3.2.2 gap </a:t>
            </a:r>
            <a:endParaRPr lang="en-US" sz="1000" dirty="0"/>
          </a:p>
          <a:p>
            <a:pPr marL="0" indent="0" algn="l">
              <a:lnSpc>
                <a:spcPct val="150000"/>
              </a:lnSpc>
              <a:buNone/>
            </a:pPr>
            <a:r>
              <a:rPr lang="en-US" sz="1000" dirty="0">
                <a:solidFill>
                  <a:srgbClr val="FFFFFF"/>
                </a:solidFill>
                <a:latin typeface="Noto Serif SC" pitchFamily="34" charset="0"/>
                <a:ea typeface="Noto Serif SC" pitchFamily="34" charset="-122"/>
                <a:cs typeface="Noto Serif SC" pitchFamily="34" charset="-120"/>
              </a:rPr>
              <a:t>3.2.3 the defect and the gap-researchers assessed stimulus complexity relying on subjective judgments，which disables in quantitatively measuring stimulus complexity due to the inability to accurately model infants' mental representations</a:t>
            </a:r>
            <a:endParaRPr lang="en-US" sz="1000" dirty="0"/>
          </a:p>
          <a:p>
            <a:pPr marL="0" indent="0" algn="l">
              <a:lnSpc>
                <a:spcPct val="150000"/>
              </a:lnSpc>
              <a:buNone/>
            </a:pPr>
            <a:r>
              <a:rPr lang="en-US" sz="1000" dirty="0">
                <a:solidFill>
                  <a:srgbClr val="FFFFFF"/>
                </a:solidFill>
                <a:latin typeface="Noto Serif SC" pitchFamily="34" charset="0"/>
                <a:ea typeface="Noto Serif SC" pitchFamily="34" charset="-122"/>
                <a:cs typeface="Noto Serif SC" pitchFamily="34" charset="-120"/>
              </a:rPr>
              <a:t>3.2.4 exception</a:t>
            </a:r>
            <a:endParaRPr lang="en-US" sz="10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0" y="0"/>
            <a:ext cx="9144000" cy="5143500"/>
          </a:xfrm>
          <a:prstGeom prst="rect">
            <a:avLst/>
          </a:prstGeom>
        </p:spPr>
      </p:pic>
      <p:sp>
        <p:nvSpPr>
          <p:cNvPr id="3" name="Text 0"/>
          <p:cNvSpPr/>
          <p:nvPr/>
        </p:nvSpPr>
        <p:spPr>
          <a:xfrm>
            <a:off x="2743200" y="1033463"/>
            <a:ext cx="5238750" cy="552450"/>
          </a:xfrm>
          <a:prstGeom prst="rect">
            <a:avLst/>
          </a:prstGeom>
          <a:noFill/>
        </p:spPr>
        <p:txBody>
          <a:bodyPr wrap="square" rtlCol="0" anchor="t"/>
          <a:lstStyle/>
          <a:p>
            <a:pPr marL="0" indent="0">
              <a:buNone/>
            </a:pPr>
            <a:r>
              <a:rPr lang="en-US" sz="1400" b="1" dirty="0">
                <a:solidFill>
                  <a:srgbClr val="383838"/>
                </a:solidFill>
                <a:latin typeface="Noto Serif SC" pitchFamily="34" charset="0"/>
                <a:ea typeface="Noto Serif SC" pitchFamily="34" charset="-122"/>
                <a:cs typeface="Noto Serif SC" pitchFamily="34" charset="-120"/>
              </a:rPr>
              <a:t>3.2.1 conclusion:why infants may prefer familiar stimuli and under what conditions novelty preferences may emerge</a:t>
            </a:r>
            <a:endParaRPr lang="en-US" sz="1400" dirty="0"/>
          </a:p>
        </p:txBody>
      </p:sp>
      <p:sp>
        <p:nvSpPr>
          <p:cNvPr id="4" name="Text 1"/>
          <p:cNvSpPr/>
          <p:nvPr/>
        </p:nvSpPr>
        <p:spPr>
          <a:xfrm>
            <a:off x="576263" y="2847975"/>
            <a:ext cx="8343900" cy="1685925"/>
          </a:xfrm>
          <a:prstGeom prst="rect">
            <a:avLst/>
          </a:prstGeom>
          <a:noFill/>
        </p:spPr>
        <p:txBody>
          <a:bodyPr wrap="square" rtlCol="0" anchor="t"/>
          <a:lstStyle/>
          <a:p>
            <a:pPr marL="0" indent="0" algn="l">
              <a:lnSpc>
                <a:spcPct val="150000"/>
              </a:lnSpc>
              <a:buNone/>
            </a:pPr>
            <a:r>
              <a:rPr lang="en-US" sz="1330" dirty="0">
                <a:solidFill>
                  <a:srgbClr val="383838"/>
                </a:solidFill>
                <a:latin typeface="Noto Serif SC" pitchFamily="34" charset="0"/>
                <a:ea typeface="Noto Serif SC" pitchFamily="34" charset="-122"/>
                <a:cs typeface="Noto Serif SC" pitchFamily="34" charset="-120"/>
              </a:rPr>
              <a:t>Theoretical accounts for these familiarity and novelty preferences all share a common theme: As infants attempt to encode various features of a visual stimulus, the efficiency or depth of this encoding process determines their subsequent preferences. Familiarity preferences arise when infants have not yet completed encoding the familiar stimulus into memory, or when the novel stimulus is too dissimilar from the infants’ existing mental representations to be readily encoded [16–22].</a:t>
            </a:r>
            <a:endParaRPr lang="en-US" sz="1330" dirty="0"/>
          </a:p>
        </p:txBody>
      </p:sp>
      <p:sp>
        <p:nvSpPr>
          <p:cNvPr id="5" name="Text 2"/>
          <p:cNvSpPr/>
          <p:nvPr/>
        </p:nvSpPr>
        <p:spPr>
          <a:xfrm>
            <a:off x="576263" y="2847975"/>
            <a:ext cx="8343900" cy="1685925"/>
          </a:xfrm>
          <a:prstGeom prst="rect">
            <a:avLst/>
          </a:prstGeom>
          <a:noFill/>
        </p:spPr>
        <p:txBody>
          <a:bodyPr wrap="square" rtlCol="0" anchor="t"/>
          <a:lstStyle/>
          <a:p>
            <a:pPr marL="0" indent="0" algn="l">
              <a:lnSpc>
                <a:spcPct val="150000"/>
              </a:lnSpc>
              <a:buNone/>
            </a:pPr>
            <a:r>
              <a:rPr lang="en-US" sz="1330" dirty="0">
                <a:solidFill>
                  <a:srgbClr val="383838"/>
                </a:solidFill>
                <a:latin typeface="Noto Serif SC" pitchFamily="34" charset="0"/>
                <a:ea typeface="Noto Serif SC" pitchFamily="34" charset="-122"/>
                <a:cs typeface="Noto Serif SC" pitchFamily="34" charset="-120"/>
              </a:rPr>
              <a:t>Theoretical accounts for these familiarity and novelty preferences all share a common theme: As infants attempt to encode various features of a visual stimulus, the efficiency or depth of this encoding process determines their subsequent preferences. Familiarity preferences arise when infants have not yet completed encoding the familiar stimulus into memory, or when the novel stimulus is too dissimilar from the infants’ existing mental representations to be readily encoded [16–22].</a:t>
            </a:r>
            <a:endParaRPr lang="en-US" sz="133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randombar(horizontal)">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randombar(horizontal)">
                                      <p:cBhvr>
                                        <p:cTn id="12"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5"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0" y="0"/>
            <a:ext cx="9144000" cy="5143500"/>
          </a:xfrm>
          <a:prstGeom prst="rect">
            <a:avLst/>
          </a:prstGeom>
        </p:spPr>
      </p:pic>
      <p:sp>
        <p:nvSpPr>
          <p:cNvPr id="3" name="Text 0"/>
          <p:cNvSpPr/>
          <p:nvPr/>
        </p:nvSpPr>
        <p:spPr>
          <a:xfrm>
            <a:off x="3376613" y="1328738"/>
            <a:ext cx="2386013" cy="2481263"/>
          </a:xfrm>
          <a:prstGeom prst="rect">
            <a:avLst/>
          </a:prstGeom>
          <a:noFill/>
        </p:spPr>
        <p:txBody>
          <a:bodyPr wrap="square" rtlCol="0" anchor="t"/>
          <a:lstStyle/>
          <a:p>
            <a:pPr marL="0" indent="0" algn="l">
              <a:lnSpc>
                <a:spcPct val="150000"/>
              </a:lnSpc>
              <a:buNone/>
            </a:pPr>
            <a:r>
              <a:rPr lang="en-US" sz="1050" dirty="0">
                <a:solidFill>
                  <a:srgbClr val="000000"/>
                </a:solidFill>
                <a:latin typeface="Noto Serif SC" pitchFamily="34" charset="0"/>
                <a:ea typeface="Noto Serif SC" pitchFamily="34" charset="-122"/>
                <a:cs typeface="Noto Serif SC" pitchFamily="34" charset="-120"/>
              </a:rPr>
              <a:t>However, these theories lacked an objective measure of the relevant independent variable–an event’s complexity or relationship to existing representations. Instead, researchers overwhelmingly relied on qualitative judgments of stimulus complexity to select materials to test infants’ visual preferences.</a:t>
            </a:r>
            <a:endParaRPr lang="en-US" sz="1050" dirty="0"/>
          </a:p>
        </p:txBody>
      </p:sp>
      <p:pic>
        <p:nvPicPr>
          <p:cNvPr id="4" name="Image 1" descr="https://assets.mindshow.fun/assets/edit/watermark.png"/>
          <p:cNvPicPr>
            <a:picLocks noChangeAspect="1"/>
          </p:cNvPicPr>
          <p:nvPr/>
        </p:nvPicPr>
        <p:blipFill>
          <a:blip r:embed="rId5"/>
          <a:srcRect/>
          <a:stretch>
            <a:fillRect/>
          </a:stretch>
        </p:blipFill>
        <p:spPr>
          <a:xfrm>
            <a:off x="7769543" y="4851083"/>
            <a:ext cx="1328738" cy="266700"/>
          </a:xfrm>
          <a:prstGeom prst="rect">
            <a:avLst/>
          </a:prstGeom>
        </p:spPr>
      </p:pic>
      <p:sp>
        <p:nvSpPr>
          <p:cNvPr id="6" name="文本框 5"/>
          <p:cNvSpPr txBox="1"/>
          <p:nvPr/>
        </p:nvSpPr>
        <p:spPr>
          <a:xfrm>
            <a:off x="424543" y="360939"/>
            <a:ext cx="4572000" cy="646331"/>
          </a:xfrm>
          <a:prstGeom prst="rect">
            <a:avLst/>
          </a:prstGeom>
          <a:noFill/>
        </p:spPr>
        <p:txBody>
          <a:bodyPr wrap="square">
            <a:spAutoFit/>
          </a:bodyPr>
          <a:lstStyle/>
          <a:p>
            <a:pPr algn="l"/>
            <a:r>
              <a:rPr lang="en-US" altLang="zh-CN" sz="1800" kern="0" dirty="0">
                <a:solidFill>
                  <a:srgbClr val="231F20"/>
                </a:solidFill>
                <a:effectLst/>
                <a:latin typeface="华文新魏" panose="02010800040101010101" pitchFamily="2" charset="-122"/>
                <a:ea typeface="等线" panose="02010600030101010101" charset="-122"/>
                <a:cs typeface="华文新魏" panose="02010800040101010101" pitchFamily="2" charset="-122"/>
              </a:rPr>
              <a:t>3.2.2 gap :the lack of objective measures for stimulus complexity</a:t>
            </a:r>
            <a:endParaRPr lang="zh-CN" altLang="zh-CN" sz="1400" kern="100" dirty="0">
              <a:effectLst/>
              <a:latin typeface="等线" panose="02010600030101010101" charset="-122"/>
              <a:ea typeface="等线" panose="02010600030101010101" charset="-122"/>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randombar(horizontal)">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randombar(horizontal)">
                                      <p:cBhvr>
                                        <p:cTn id="12"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6"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0" y="0"/>
            <a:ext cx="9144000" cy="5143500"/>
          </a:xfrm>
          <a:prstGeom prst="rect">
            <a:avLst/>
          </a:prstGeom>
        </p:spPr>
      </p:pic>
      <p:sp>
        <p:nvSpPr>
          <p:cNvPr id="3" name="Text 0"/>
          <p:cNvSpPr/>
          <p:nvPr/>
        </p:nvSpPr>
        <p:spPr>
          <a:xfrm>
            <a:off x="2735036" y="1328738"/>
            <a:ext cx="3853541" cy="3369808"/>
          </a:xfrm>
          <a:prstGeom prst="rect">
            <a:avLst/>
          </a:prstGeom>
          <a:noFill/>
        </p:spPr>
        <p:txBody>
          <a:bodyPr wrap="square" rtlCol="0" anchor="t"/>
          <a:lstStyle/>
          <a:p>
            <a:pPr marL="0" indent="0" algn="l">
              <a:lnSpc>
                <a:spcPct val="150000"/>
              </a:lnSpc>
              <a:buNone/>
            </a:pPr>
            <a:r>
              <a:rPr lang="en-US" sz="1200" dirty="0">
                <a:solidFill>
                  <a:srgbClr val="000000"/>
                </a:solidFill>
                <a:latin typeface="Noto Serif SC" pitchFamily="34" charset="0"/>
                <a:ea typeface="Noto Serif SC" pitchFamily="34" charset="-122"/>
                <a:cs typeface="Noto Serif SC" pitchFamily="34" charset="-120"/>
              </a:rPr>
              <a:t>These qualitative judgments relied on inferences about infants’ existing mental representations, to which researchers had no direct access. With no reasonable way of modeling infants’ existing representations, it was impossible to quantitatively measure the complexity of the information conveyed by a particular stimulus. </a:t>
            </a:r>
          </a:p>
          <a:p>
            <a:pPr marL="0" indent="0" algn="l">
              <a:lnSpc>
                <a:spcPct val="150000"/>
              </a:lnSpc>
              <a:buNone/>
            </a:pPr>
            <a:r>
              <a:rPr lang="en-US" sz="1200" dirty="0">
                <a:solidFill>
                  <a:srgbClr val="000000"/>
                </a:solidFill>
                <a:latin typeface="Noto Serif SC" pitchFamily="34" charset="0"/>
                <a:ea typeface="Noto Serif SC" pitchFamily="34" charset="-122"/>
                <a:cs typeface="Noto Serif SC" pitchFamily="34" charset="-120"/>
              </a:rPr>
              <a:t>Thus, researchers had only post hoc estimates of stimulus complexity–those obtained by measuring the very patterns of visual preferences that the theories were designed to predict.</a:t>
            </a:r>
            <a:endParaRPr lang="en-US" sz="1200" dirty="0"/>
          </a:p>
        </p:txBody>
      </p:sp>
      <p:pic>
        <p:nvPicPr>
          <p:cNvPr id="4" name="Image 1" descr="https://assets.mindshow.fun/assets/edit/watermark.png"/>
          <p:cNvPicPr>
            <a:picLocks noChangeAspect="1"/>
          </p:cNvPicPr>
          <p:nvPr/>
        </p:nvPicPr>
        <p:blipFill>
          <a:blip r:embed="rId5"/>
          <a:srcRect/>
          <a:stretch>
            <a:fillRect/>
          </a:stretch>
        </p:blipFill>
        <p:spPr>
          <a:xfrm>
            <a:off x="7769543" y="4851083"/>
            <a:ext cx="1328738" cy="266700"/>
          </a:xfrm>
          <a:prstGeom prst="rect">
            <a:avLst/>
          </a:prstGeom>
        </p:spPr>
      </p:pic>
      <p:sp>
        <p:nvSpPr>
          <p:cNvPr id="6" name="文本框 5"/>
          <p:cNvSpPr txBox="1"/>
          <p:nvPr/>
        </p:nvSpPr>
        <p:spPr>
          <a:xfrm>
            <a:off x="163286" y="176030"/>
            <a:ext cx="8486775" cy="1015663"/>
          </a:xfrm>
          <a:prstGeom prst="rect">
            <a:avLst/>
          </a:prstGeom>
          <a:noFill/>
        </p:spPr>
        <p:txBody>
          <a:bodyPr wrap="square">
            <a:spAutoFit/>
          </a:bodyPr>
          <a:lstStyle/>
          <a:p>
            <a:pPr algn="l"/>
            <a:r>
              <a:rPr lang="en-US" altLang="zh-CN" sz="1800" kern="0" dirty="0">
                <a:solidFill>
                  <a:srgbClr val="231F20"/>
                </a:solidFill>
                <a:effectLst/>
                <a:latin typeface="华文新魏" panose="02010800040101010101" pitchFamily="2" charset="-122"/>
                <a:ea typeface="等线" panose="02010600030101010101" charset="-122"/>
                <a:cs typeface="华文新魏" panose="02010800040101010101" pitchFamily="2" charset="-122"/>
              </a:rPr>
              <a:t>3.2.3 </a:t>
            </a:r>
          </a:p>
          <a:p>
            <a:pPr algn="l"/>
            <a:r>
              <a:rPr lang="en-US" altLang="zh-CN" sz="1400" kern="0" dirty="0">
                <a:solidFill>
                  <a:srgbClr val="231F20"/>
                </a:solidFill>
                <a:effectLst/>
                <a:latin typeface="华文新魏" panose="02010800040101010101" pitchFamily="2" charset="-122"/>
                <a:ea typeface="等线" panose="02010600030101010101" charset="-122"/>
                <a:cs typeface="华文新魏" panose="02010800040101010101" pitchFamily="2" charset="-122"/>
              </a:rPr>
              <a:t>the defect and the </a:t>
            </a:r>
            <a:r>
              <a:rPr lang="en-US" altLang="zh-CN" sz="1400" kern="0" dirty="0">
                <a:solidFill>
                  <a:srgbClr val="231F20"/>
                </a:solidFill>
                <a:latin typeface="华文新魏" panose="02010800040101010101" pitchFamily="2" charset="-122"/>
                <a:ea typeface="等线" panose="02010600030101010101" charset="-122"/>
              </a:rPr>
              <a:t>gap-researchers assessed stimulus complexity relying on subjective judgments</a:t>
            </a:r>
            <a:r>
              <a:rPr lang="zh-CN" altLang="zh-CN" sz="1400" kern="0" dirty="0">
                <a:solidFill>
                  <a:srgbClr val="231F20"/>
                </a:solidFill>
                <a:latin typeface="华文新魏" panose="02010800040101010101" pitchFamily="2" charset="-122"/>
                <a:ea typeface="等线" panose="02010600030101010101" charset="-122"/>
              </a:rPr>
              <a:t>，</a:t>
            </a:r>
            <a:r>
              <a:rPr lang="en-US" altLang="zh-CN" sz="1400" kern="0" dirty="0">
                <a:solidFill>
                  <a:srgbClr val="231F20"/>
                </a:solidFill>
                <a:latin typeface="华文新魏" panose="02010800040101010101" pitchFamily="2" charset="-122"/>
                <a:ea typeface="等线" panose="02010600030101010101" charset="-122"/>
              </a:rPr>
              <a:t>which disables in quantitatively measuring stimulus complexity due to the inability to accurately model infants' mental representations</a:t>
            </a:r>
            <a:endParaRPr lang="zh-CN" altLang="zh-CN" sz="1400" kern="0" dirty="0">
              <a:solidFill>
                <a:srgbClr val="231F20"/>
              </a:solidFill>
              <a:latin typeface="华文新魏" panose="02010800040101010101" pitchFamily="2" charset="-122"/>
              <a:ea typeface="等线" panose="02010600030101010101"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randombar(horizontal)">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randombar(horizontal)">
                                      <p:cBhvr>
                                        <p:cTn id="12"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6"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0" y="0"/>
            <a:ext cx="9144000" cy="5143500"/>
          </a:xfrm>
          <a:prstGeom prst="rect">
            <a:avLst/>
          </a:prstGeom>
        </p:spPr>
      </p:pic>
      <p:sp>
        <p:nvSpPr>
          <p:cNvPr id="3" name="Text 0"/>
          <p:cNvSpPr/>
          <p:nvPr/>
        </p:nvSpPr>
        <p:spPr>
          <a:xfrm>
            <a:off x="466725" y="376238"/>
            <a:ext cx="4086225" cy="552450"/>
          </a:xfrm>
          <a:prstGeom prst="rect">
            <a:avLst/>
          </a:prstGeom>
          <a:noFill/>
        </p:spPr>
        <p:txBody>
          <a:bodyPr wrap="square" rtlCol="0" anchor="t"/>
          <a:lstStyle/>
          <a:p>
            <a:pPr marL="0" indent="0">
              <a:buNone/>
            </a:pPr>
            <a:r>
              <a:rPr lang="en-US" sz="2240" b="1" dirty="0">
                <a:solidFill>
                  <a:srgbClr val="000000"/>
                </a:solidFill>
                <a:latin typeface="Noto Serif SC" pitchFamily="34" charset="0"/>
                <a:ea typeface="Noto Serif SC" pitchFamily="34" charset="-122"/>
                <a:cs typeface="Noto Serif SC" pitchFamily="34" charset="-120"/>
              </a:rPr>
              <a:t>3.2.4 exception</a:t>
            </a:r>
            <a:endParaRPr lang="en-US" sz="2240" dirty="0"/>
          </a:p>
        </p:txBody>
      </p:sp>
      <p:sp>
        <p:nvSpPr>
          <p:cNvPr id="4" name="Text 1"/>
          <p:cNvSpPr/>
          <p:nvPr/>
        </p:nvSpPr>
        <p:spPr>
          <a:xfrm>
            <a:off x="504825" y="1309688"/>
            <a:ext cx="3048000" cy="3357563"/>
          </a:xfrm>
          <a:prstGeom prst="rect">
            <a:avLst/>
          </a:prstGeom>
          <a:noFill/>
        </p:spPr>
        <p:txBody>
          <a:bodyPr wrap="square" rtlCol="0" anchor="t"/>
          <a:lstStyle/>
          <a:p>
            <a:pPr marL="0" indent="0" algn="l">
              <a:lnSpc>
                <a:spcPct val="150000"/>
              </a:lnSpc>
              <a:buNone/>
            </a:pPr>
            <a:r>
              <a:rPr lang="en-US" sz="1400" dirty="0">
                <a:solidFill>
                  <a:srgbClr val="000000"/>
                </a:solidFill>
                <a:latin typeface="Noto Serif SC" pitchFamily="34" charset="0"/>
                <a:ea typeface="Noto Serif SC" pitchFamily="34" charset="-122"/>
                <a:cs typeface="Noto Serif SC" pitchFamily="34" charset="-120"/>
              </a:rPr>
              <a:t>Two exceptions are Civan, Teller &amp; Palmer 2005 [23] and Kaldy &amp; Blaser 2006 [24] in that both papers quantified the perceptual salience of visual stimuli in order to effectively demonstrate its importance in eliciting infants’ preferences for novel versus familiar stimuli.</a:t>
            </a:r>
            <a:endParaRPr lang="en-US" sz="14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randombar(horizontal)">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randombar(horizontal)">
                                      <p:cBhvr>
                                        <p:cTn id="1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238625" y="1276350"/>
            <a:ext cx="1452563" cy="333375"/>
          </a:xfrm>
          <a:prstGeom prst="rect">
            <a:avLst/>
          </a:prstGeom>
          <a:noFill/>
        </p:spPr>
        <p:txBody>
          <a:bodyPr wrap="square" rtlCol="0" anchor="t"/>
          <a:lstStyle/>
          <a:p>
            <a:pPr marL="0" indent="0" algn="ctr">
              <a:buNone/>
            </a:pPr>
            <a:r>
              <a:rPr lang="en-US" sz="1535" b="1" dirty="0">
                <a:solidFill>
                  <a:srgbClr val="FFFFFF"/>
                </a:solidFill>
                <a:latin typeface="Noto Serif SC" pitchFamily="34" charset="0"/>
                <a:ea typeface="Noto Serif SC" pitchFamily="34" charset="-122"/>
                <a:cs typeface="Noto Serif SC" pitchFamily="34" charset="-120"/>
              </a:rPr>
              <a:t>04</a:t>
            </a:r>
            <a:endParaRPr lang="en-US" sz="1535" dirty="0"/>
          </a:p>
        </p:txBody>
      </p:sp>
      <p:sp>
        <p:nvSpPr>
          <p:cNvPr id="3" name="Text 1"/>
          <p:cNvSpPr/>
          <p:nvPr/>
        </p:nvSpPr>
        <p:spPr>
          <a:xfrm>
            <a:off x="1871663" y="2381250"/>
            <a:ext cx="5101590" cy="1676400"/>
          </a:xfrm>
          <a:prstGeom prst="rect">
            <a:avLst/>
          </a:prstGeom>
          <a:noFill/>
        </p:spPr>
        <p:txBody>
          <a:bodyPr wrap="square" rtlCol="0" anchor="t"/>
          <a:lstStyle/>
          <a:p>
            <a:pPr marL="0" indent="0" algn="ctr">
              <a:buNone/>
            </a:pPr>
            <a:r>
              <a:rPr lang="en-US" sz="3500" b="1" dirty="0">
                <a:solidFill>
                  <a:srgbClr val="FFFFFF"/>
                </a:solidFill>
                <a:latin typeface="Noto Serif SC" pitchFamily="34" charset="0"/>
                <a:ea typeface="Noto Serif SC" pitchFamily="34" charset="-122"/>
                <a:cs typeface="Noto Serif SC" pitchFamily="34" charset="-120"/>
              </a:rPr>
              <a:t>4 Methodology section</a:t>
            </a:r>
            <a:endParaRPr lang="en-US" sz="35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833438"/>
          </a:xfrm>
          <a:prstGeom prst="rect">
            <a:avLst/>
          </a:prstGeom>
          <a:solidFill>
            <a:srgbClr val="8288BF"/>
          </a:solidFill>
        </p:spPr>
      </p:sp>
      <p:sp>
        <p:nvSpPr>
          <p:cNvPr id="3" name="Text 1"/>
          <p:cNvSpPr/>
          <p:nvPr/>
        </p:nvSpPr>
        <p:spPr>
          <a:xfrm>
            <a:off x="762000" y="138113"/>
            <a:ext cx="7806690" cy="552450"/>
          </a:xfrm>
          <a:prstGeom prst="rect">
            <a:avLst/>
          </a:prstGeom>
          <a:noFill/>
        </p:spPr>
        <p:txBody>
          <a:bodyPr wrap="square" rtlCol="0" anchor="ctr"/>
          <a:lstStyle/>
          <a:p>
            <a:pPr marL="0" indent="0" algn="l">
              <a:buNone/>
            </a:pPr>
            <a:r>
              <a:rPr lang="en-US" sz="2660" b="1" dirty="0">
                <a:solidFill>
                  <a:srgbClr val="FFFFFF"/>
                </a:solidFill>
                <a:latin typeface="Noto Serif SC" pitchFamily="34" charset="0"/>
                <a:ea typeface="Noto Serif SC" pitchFamily="34" charset="-122"/>
                <a:cs typeface="Noto Serif SC" pitchFamily="34" charset="-120"/>
              </a:rPr>
              <a:t>4 Methodology section</a:t>
            </a:r>
            <a:endParaRPr lang="en-US" sz="2660" dirty="0"/>
          </a:p>
        </p:txBody>
      </p:sp>
      <p:sp>
        <p:nvSpPr>
          <p:cNvPr id="4" name="Shape 2"/>
          <p:cNvSpPr/>
          <p:nvPr/>
        </p:nvSpPr>
        <p:spPr>
          <a:xfrm>
            <a:off x="0" y="0"/>
            <a:ext cx="9144000" cy="833438"/>
          </a:xfrm>
          <a:prstGeom prst="rect">
            <a:avLst/>
          </a:prstGeom>
          <a:solidFill>
            <a:srgbClr val="8288BF"/>
          </a:solidFill>
        </p:spPr>
      </p:sp>
      <p:sp>
        <p:nvSpPr>
          <p:cNvPr id="5" name="Text 3"/>
          <p:cNvSpPr/>
          <p:nvPr/>
        </p:nvSpPr>
        <p:spPr>
          <a:xfrm>
            <a:off x="762000" y="138113"/>
            <a:ext cx="7806690" cy="552450"/>
          </a:xfrm>
          <a:prstGeom prst="rect">
            <a:avLst/>
          </a:prstGeom>
          <a:noFill/>
        </p:spPr>
        <p:txBody>
          <a:bodyPr wrap="square" rtlCol="0" anchor="ctr"/>
          <a:lstStyle/>
          <a:p>
            <a:pPr marL="0" indent="0" algn="l">
              <a:buNone/>
            </a:pPr>
            <a:r>
              <a:rPr lang="en-US" sz="2660" b="1" dirty="0">
                <a:solidFill>
                  <a:srgbClr val="FFFFFF"/>
                </a:solidFill>
                <a:latin typeface="Noto Serif SC" pitchFamily="34" charset="0"/>
                <a:ea typeface="Noto Serif SC" pitchFamily="34" charset="-122"/>
                <a:cs typeface="Noto Serif SC" pitchFamily="34" charset="-120"/>
              </a:rPr>
              <a:t>4 Methodology section</a:t>
            </a:r>
            <a:endParaRPr lang="en-US" sz="2660" dirty="0"/>
          </a:p>
        </p:txBody>
      </p:sp>
      <p:pic>
        <p:nvPicPr>
          <p:cNvPr id="6"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62000" y="1054894"/>
            <a:ext cx="7715250" cy="3452813"/>
          </a:xfrm>
          <a:prstGeom prst="rect">
            <a:avLst/>
          </a:prstGeom>
        </p:spPr>
      </p:pic>
      <p:sp>
        <p:nvSpPr>
          <p:cNvPr id="7" name="Text 4"/>
          <p:cNvSpPr/>
          <p:nvPr/>
        </p:nvSpPr>
        <p:spPr>
          <a:xfrm>
            <a:off x="2709862" y="1145381"/>
            <a:ext cx="3782663" cy="657225"/>
          </a:xfrm>
          <a:prstGeom prst="rect">
            <a:avLst/>
          </a:prstGeom>
          <a:noFill/>
        </p:spPr>
        <p:txBody>
          <a:bodyPr wrap="square" rtlCol="0" anchor="ctr"/>
          <a:lstStyle/>
          <a:p>
            <a:pPr marL="0" indent="0" algn="ctr">
              <a:lnSpc>
                <a:spcPct val="150000"/>
              </a:lnSpc>
              <a:buNone/>
            </a:pPr>
            <a:r>
              <a:rPr lang="en-US" sz="1400" dirty="0">
                <a:solidFill>
                  <a:srgbClr val="FFFFFF"/>
                </a:solidFill>
                <a:latin typeface="Noto Serif SC" pitchFamily="34" charset="0"/>
                <a:ea typeface="Noto Serif SC" pitchFamily="34" charset="-122"/>
                <a:cs typeface="Noto Serif SC" pitchFamily="34" charset="-120"/>
              </a:rPr>
              <a:t>1 Approach</a:t>
            </a:r>
            <a:endParaRPr lang="en-US" sz="1400" dirty="0"/>
          </a:p>
        </p:txBody>
      </p:sp>
      <p:sp>
        <p:nvSpPr>
          <p:cNvPr id="8" name="Text 5"/>
          <p:cNvSpPr/>
          <p:nvPr/>
        </p:nvSpPr>
        <p:spPr>
          <a:xfrm>
            <a:off x="2709862" y="2297906"/>
            <a:ext cx="3782663" cy="657225"/>
          </a:xfrm>
          <a:prstGeom prst="rect">
            <a:avLst/>
          </a:prstGeom>
          <a:noFill/>
        </p:spPr>
        <p:txBody>
          <a:bodyPr wrap="square" rtlCol="0" anchor="ctr"/>
          <a:lstStyle/>
          <a:p>
            <a:pPr marL="0" indent="0" algn="ctr">
              <a:lnSpc>
                <a:spcPct val="150000"/>
              </a:lnSpc>
              <a:buNone/>
            </a:pPr>
            <a:r>
              <a:rPr lang="en-US" sz="1400" dirty="0">
                <a:solidFill>
                  <a:srgbClr val="FFFFFF"/>
                </a:solidFill>
                <a:latin typeface="Noto Serif SC" pitchFamily="34" charset="0"/>
                <a:ea typeface="Noto Serif SC" pitchFamily="34" charset="-122"/>
                <a:cs typeface="Noto Serif SC" pitchFamily="34" charset="-120"/>
              </a:rPr>
              <a:t>2 Materials</a:t>
            </a:r>
            <a:endParaRPr lang="en-US" sz="1400" dirty="0"/>
          </a:p>
        </p:txBody>
      </p:sp>
      <p:sp>
        <p:nvSpPr>
          <p:cNvPr id="9" name="Text 6"/>
          <p:cNvSpPr/>
          <p:nvPr/>
        </p:nvSpPr>
        <p:spPr>
          <a:xfrm>
            <a:off x="2709862" y="3455194"/>
            <a:ext cx="3782663" cy="657225"/>
          </a:xfrm>
          <a:prstGeom prst="rect">
            <a:avLst/>
          </a:prstGeom>
          <a:noFill/>
        </p:spPr>
        <p:txBody>
          <a:bodyPr wrap="square" rtlCol="0" anchor="ctr"/>
          <a:lstStyle/>
          <a:p>
            <a:pPr marL="0" indent="0" algn="ctr">
              <a:lnSpc>
                <a:spcPct val="150000"/>
              </a:lnSpc>
              <a:buNone/>
            </a:pPr>
            <a:r>
              <a:rPr lang="en-US" sz="1400" dirty="0">
                <a:solidFill>
                  <a:srgbClr val="FFFFFF"/>
                </a:solidFill>
                <a:latin typeface="Noto Serif SC" pitchFamily="34" charset="0"/>
                <a:ea typeface="Noto Serif SC" pitchFamily="34" charset="-122"/>
                <a:cs typeface="Noto Serif SC" pitchFamily="34" charset="-120"/>
              </a:rPr>
              <a:t>3 Data collection</a:t>
            </a:r>
            <a:endParaRPr lang="en-US" sz="14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0" y="0"/>
            <a:ext cx="9144000" cy="5143500"/>
          </a:xfrm>
          <a:prstGeom prst="rect">
            <a:avLst/>
          </a:prstGeom>
        </p:spPr>
      </p:pic>
      <p:sp>
        <p:nvSpPr>
          <p:cNvPr id="3" name="Text 0"/>
          <p:cNvSpPr/>
          <p:nvPr/>
        </p:nvSpPr>
        <p:spPr>
          <a:xfrm>
            <a:off x="809625" y="353029"/>
            <a:ext cx="3652838" cy="676275"/>
          </a:xfrm>
          <a:prstGeom prst="rect">
            <a:avLst/>
          </a:prstGeom>
          <a:noFill/>
        </p:spPr>
        <p:txBody>
          <a:bodyPr wrap="square" rtlCol="0" anchor="t"/>
          <a:lstStyle/>
          <a:p>
            <a:pPr marL="0" indent="0">
              <a:buNone/>
            </a:pPr>
            <a:r>
              <a:rPr lang="en-US" sz="2800" b="1" dirty="0">
                <a:solidFill>
                  <a:srgbClr val="000000"/>
                </a:solidFill>
                <a:latin typeface="Noto Serif SC" pitchFamily="34" charset="0"/>
                <a:ea typeface="Noto Serif SC" pitchFamily="34" charset="-122"/>
                <a:cs typeface="Noto Serif SC" pitchFamily="34" charset="-120"/>
              </a:rPr>
              <a:t>4.1 Approach</a:t>
            </a:r>
            <a:endParaRPr lang="en-US" sz="2800" dirty="0"/>
          </a:p>
        </p:txBody>
      </p:sp>
      <p:sp>
        <p:nvSpPr>
          <p:cNvPr id="4" name="Text 1"/>
          <p:cNvSpPr/>
          <p:nvPr/>
        </p:nvSpPr>
        <p:spPr>
          <a:xfrm>
            <a:off x="583842" y="995966"/>
            <a:ext cx="3878621" cy="3794505"/>
          </a:xfrm>
          <a:prstGeom prst="rect">
            <a:avLst/>
          </a:prstGeom>
          <a:noFill/>
        </p:spPr>
        <p:txBody>
          <a:bodyPr wrap="square" rtlCol="0" anchor="t"/>
          <a:lstStyle/>
          <a:p>
            <a:pPr marL="139700"/>
            <a:r>
              <a:rPr lang="en-US" altLang="zh-CN" sz="1600" u="sng" dirty="0"/>
              <a:t>The </a:t>
            </a:r>
            <a:r>
              <a:rPr lang="en-US" altLang="zh-CN" sz="1600" b="1" u="sng" dirty="0"/>
              <a:t>behavioral experiment </a:t>
            </a:r>
            <a:r>
              <a:rPr lang="en-US" altLang="zh-CN" sz="1600" u="sng" dirty="0"/>
              <a:t>measured the point, in a sequence of events, when an infant looked away from a visual display. </a:t>
            </a:r>
            <a:r>
              <a:rPr lang="en-US" altLang="zh-CN" sz="1600" dirty="0"/>
              <a:t>The displayed stimuli were easily captured by a simple </a:t>
            </a:r>
            <a:r>
              <a:rPr lang="en-US" altLang="zh-CN" sz="1600" u="sng" dirty="0"/>
              <a:t>statistical model</a:t>
            </a:r>
            <a:r>
              <a:rPr lang="en-US" altLang="zh-CN" sz="1600" dirty="0"/>
              <a:t>.</a:t>
            </a:r>
          </a:p>
          <a:p>
            <a:pPr marL="139700"/>
            <a:r>
              <a:rPr lang="en-US" altLang="zh-CN" sz="1600" dirty="0"/>
              <a:t>In Experiment 1, we presented each infant with 42 unique animated displays, each featuring one of 42 uniquely colored and patterned boxes occluding one of 42 unique familiar objects (e.g., a ball). Each scene display began with the </a:t>
            </a:r>
            <a:r>
              <a:rPr lang="en-US" altLang="zh-CN" sz="1600" dirty="0" err="1"/>
              <a:t>occluder</a:t>
            </a:r>
            <a:r>
              <a:rPr lang="en-US" altLang="zh-CN" sz="1600" dirty="0"/>
              <a:t> rising and falling, thus appearing to reveal and then re-obscure the object hidden behind it (Fig. 1(a) and Video S1). </a:t>
            </a:r>
            <a:endParaRPr lang="zh-CN" altLang="en-US" sz="16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randombar(horizontal)">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randombar(horizontal)">
                                      <p:cBhvr>
                                        <p:cTn id="1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0" y="0"/>
            <a:ext cx="9144000" cy="5143500"/>
          </a:xfrm>
          <a:prstGeom prst="rect">
            <a:avLst/>
          </a:prstGeom>
        </p:spPr>
      </p:pic>
      <p:sp>
        <p:nvSpPr>
          <p:cNvPr id="3" name="Text 0"/>
          <p:cNvSpPr/>
          <p:nvPr/>
        </p:nvSpPr>
        <p:spPr>
          <a:xfrm>
            <a:off x="866775" y="354466"/>
            <a:ext cx="3652838" cy="676275"/>
          </a:xfrm>
          <a:prstGeom prst="rect">
            <a:avLst/>
          </a:prstGeom>
          <a:noFill/>
        </p:spPr>
        <p:txBody>
          <a:bodyPr wrap="square" rtlCol="0" anchor="t"/>
          <a:lstStyle/>
          <a:p>
            <a:pPr marL="0" indent="0">
              <a:buNone/>
            </a:pPr>
            <a:r>
              <a:rPr lang="en-US" sz="2800" b="1" dirty="0">
                <a:solidFill>
                  <a:srgbClr val="000000"/>
                </a:solidFill>
                <a:latin typeface="Noto Serif SC" pitchFamily="34" charset="0"/>
                <a:ea typeface="Noto Serif SC" pitchFamily="34" charset="-122"/>
                <a:cs typeface="Noto Serif SC" pitchFamily="34" charset="-120"/>
              </a:rPr>
              <a:t>4.1 Approach</a:t>
            </a:r>
            <a:endParaRPr lang="en-US" sz="2800" dirty="0"/>
          </a:p>
        </p:txBody>
      </p:sp>
      <p:sp>
        <p:nvSpPr>
          <p:cNvPr id="4" name="Text 1"/>
          <p:cNvSpPr/>
          <p:nvPr/>
        </p:nvSpPr>
        <p:spPr>
          <a:xfrm>
            <a:off x="-61232" y="975633"/>
            <a:ext cx="4523695" cy="4098472"/>
          </a:xfrm>
          <a:prstGeom prst="rect">
            <a:avLst/>
          </a:prstGeom>
          <a:noFill/>
        </p:spPr>
        <p:txBody>
          <a:bodyPr wrap="square" rtlCol="0" anchor="t"/>
          <a:lstStyle/>
          <a:p>
            <a:pPr marL="139700"/>
            <a:r>
              <a:rPr lang="en-US" altLang="zh-CN" sz="1400" dirty="0"/>
              <a:t>To maintain infants’ attention early in the experiment, the first reveal always showed an object. On subsequent reveals, the same object appeared in the box according to some </a:t>
            </a:r>
            <a:r>
              <a:rPr lang="en-US" altLang="zh-CN" sz="1400" u="sng" dirty="0"/>
              <a:t>probability</a:t>
            </a:r>
            <a:r>
              <a:rPr lang="en-US" altLang="zh-CN" sz="1400" dirty="0"/>
              <a:t> randomly assigned to that trial. Probabilities ranged from 0 to 1 in increments of 0.05, such that there were 21 possible probabilities-of-appearance that could be associated with an object on a particular trial. </a:t>
            </a:r>
          </a:p>
          <a:p>
            <a:pPr marL="139700"/>
            <a:r>
              <a:rPr lang="en-US" altLang="zh-CN" sz="1400" dirty="0"/>
              <a:t>The sequences of object reveals thus varied in terms of their information-theoretic properties: some events in a sequence were highly predictable, and others were less predictable. The objects, boxes, and order in which the probabilities-of-appearance were presented were randomized across infants, and each of the 21 probabilities-of-appearance occurred twice (for a total of 42 trials). Each animated sequence of events continued until the infant met the look-away criterion, which was defined as gaze directed off-screen for greater than 1 consecutive second (see Video S3 for look-away example). </a:t>
            </a:r>
            <a:endParaRPr lang="zh-CN" altLang="en-US" sz="14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randombar(horizontal)">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randombar(horizontal)">
                                      <p:cBhvr>
                                        <p:cTn id="1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0" y="0"/>
            <a:ext cx="9144000" cy="5143500"/>
          </a:xfrm>
          <a:prstGeom prst="rect">
            <a:avLst/>
          </a:prstGeom>
        </p:spPr>
      </p:pic>
      <p:sp>
        <p:nvSpPr>
          <p:cNvPr id="3" name="Text 0"/>
          <p:cNvSpPr/>
          <p:nvPr/>
        </p:nvSpPr>
        <p:spPr>
          <a:xfrm>
            <a:off x="919162" y="327272"/>
            <a:ext cx="3652838" cy="676275"/>
          </a:xfrm>
          <a:prstGeom prst="rect">
            <a:avLst/>
          </a:prstGeom>
          <a:noFill/>
        </p:spPr>
        <p:txBody>
          <a:bodyPr wrap="square" rtlCol="0" anchor="t"/>
          <a:lstStyle/>
          <a:p>
            <a:pPr marL="0" indent="0">
              <a:buNone/>
            </a:pPr>
            <a:r>
              <a:rPr lang="en-US" sz="2800" b="1" dirty="0">
                <a:solidFill>
                  <a:srgbClr val="000000"/>
                </a:solidFill>
                <a:latin typeface="Noto Serif SC" pitchFamily="34" charset="0"/>
                <a:ea typeface="Noto Serif SC" pitchFamily="34" charset="-122"/>
                <a:cs typeface="Noto Serif SC" pitchFamily="34" charset="-120"/>
              </a:rPr>
              <a:t>4.1 Approach</a:t>
            </a:r>
            <a:endParaRPr lang="en-US" sz="2800" dirty="0"/>
          </a:p>
        </p:txBody>
      </p:sp>
      <p:sp>
        <p:nvSpPr>
          <p:cNvPr id="4" name="Text 1"/>
          <p:cNvSpPr/>
          <p:nvPr/>
        </p:nvSpPr>
        <p:spPr>
          <a:xfrm>
            <a:off x="558085" y="1003547"/>
            <a:ext cx="3904378" cy="3677991"/>
          </a:xfrm>
          <a:prstGeom prst="rect">
            <a:avLst/>
          </a:prstGeom>
          <a:noFill/>
        </p:spPr>
        <p:txBody>
          <a:bodyPr wrap="square" rtlCol="0" anchor="t"/>
          <a:lstStyle/>
          <a:p>
            <a:pPr marL="139700"/>
            <a:r>
              <a:rPr lang="en-US" altLang="zh-CN" sz="1400" u="sng" dirty="0"/>
              <a:t>To address uncertainty </a:t>
            </a:r>
            <a:r>
              <a:rPr lang="en-US" altLang="zh-CN" sz="1400" dirty="0"/>
              <a:t>about infants’ mental representations and their age-related or uniquely individual processing speeds and biases for stimulus salience, we exhaustively </a:t>
            </a:r>
            <a:r>
              <a:rPr lang="en-US" altLang="zh-CN" sz="1400" u="sng" dirty="0"/>
              <a:t>randomized and counterbalanced all of these extraneous variables</a:t>
            </a:r>
            <a:r>
              <a:rPr lang="en-US" altLang="zh-CN" sz="1400" dirty="0"/>
              <a:t>.</a:t>
            </a:r>
          </a:p>
          <a:p>
            <a:pPr marL="139700"/>
            <a:endParaRPr lang="en-US" altLang="zh-CN" sz="1400" dirty="0"/>
          </a:p>
          <a:p>
            <a:pPr marL="139700"/>
            <a:r>
              <a:rPr lang="en-US" altLang="zh-CN" sz="1400" dirty="0"/>
              <a:t> We </a:t>
            </a:r>
            <a:r>
              <a:rPr lang="en-US" altLang="zh-CN" sz="1400" u="sng" dirty="0"/>
              <a:t>modeled</a:t>
            </a:r>
            <a:r>
              <a:rPr lang="en-US" altLang="zh-CN" sz="1400" dirty="0"/>
              <a:t> the sequences of reveals using a Markov Dirichlet-multinomial model (MDM). We apply this to a time-series of events by making a Markov assumption that each event is statistically independent (i.e., not dependent on the ordering of the preceding events). </a:t>
            </a:r>
            <a:r>
              <a:rPr lang="en-US" altLang="zh-CN" sz="1400" u="sng" dirty="0"/>
              <a:t>Thus, the model can take some previously observed sequence of events–corresponding to an individual infant’s observations before they have looked away–and compute the probability of every possible next event. </a:t>
            </a:r>
            <a:endParaRPr lang="zh-CN" altLang="en-US" sz="14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randombar(horizontal)">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randombar(horizontal)">
                                      <p:cBhvr>
                                        <p:cTn id="1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0" y="0"/>
            <a:ext cx="9144000" cy="5143500"/>
          </a:xfrm>
          <a:prstGeom prst="rect">
            <a:avLst/>
          </a:prstGeom>
        </p:spPr>
      </p:pic>
      <p:sp>
        <p:nvSpPr>
          <p:cNvPr id="3" name="Text 0"/>
          <p:cNvSpPr/>
          <p:nvPr/>
        </p:nvSpPr>
        <p:spPr>
          <a:xfrm>
            <a:off x="866775" y="354466"/>
            <a:ext cx="3652838" cy="676275"/>
          </a:xfrm>
          <a:prstGeom prst="rect">
            <a:avLst/>
          </a:prstGeom>
          <a:noFill/>
        </p:spPr>
        <p:txBody>
          <a:bodyPr wrap="square" rtlCol="0" anchor="t"/>
          <a:lstStyle/>
          <a:p>
            <a:pPr marL="0" indent="0">
              <a:buNone/>
            </a:pPr>
            <a:r>
              <a:rPr lang="en-US" sz="2800" b="1" dirty="0">
                <a:solidFill>
                  <a:srgbClr val="000000"/>
                </a:solidFill>
                <a:latin typeface="Noto Serif SC" pitchFamily="34" charset="0"/>
                <a:ea typeface="Noto Serif SC" pitchFamily="34" charset="-122"/>
                <a:cs typeface="Noto Serif SC" pitchFamily="34" charset="-120"/>
              </a:rPr>
              <a:t>4.1 Approach</a:t>
            </a:r>
            <a:endParaRPr lang="en-US" sz="2800" dirty="0"/>
          </a:p>
        </p:txBody>
      </p:sp>
      <p:sp>
        <p:nvSpPr>
          <p:cNvPr id="4" name="Text 1"/>
          <p:cNvSpPr/>
          <p:nvPr/>
        </p:nvSpPr>
        <p:spPr>
          <a:xfrm>
            <a:off x="523741" y="975633"/>
            <a:ext cx="3938722" cy="4098472"/>
          </a:xfrm>
          <a:prstGeom prst="rect">
            <a:avLst/>
          </a:prstGeom>
          <a:noFill/>
        </p:spPr>
        <p:txBody>
          <a:bodyPr wrap="square" rtlCol="0" anchor="t"/>
          <a:lstStyle/>
          <a:p>
            <a:pPr marL="139700"/>
            <a:r>
              <a:rPr lang="en-US" altLang="zh-CN" dirty="0"/>
              <a:t>We </a:t>
            </a:r>
            <a:r>
              <a:rPr lang="en-US" altLang="zh-CN" u="sng" dirty="0"/>
              <a:t>hypothesize</a:t>
            </a:r>
            <a:r>
              <a:rPr lang="en-US" altLang="zh-CN" dirty="0"/>
              <a:t> that infants’ probability of looking away at the next event in a sequence is at least partially determined by the information-theoretic properties of that event, according to the model. Specifically, at each point in a sequence of events, the model assigns each event a probability, and the negative log of this probability provides a natural information-theoretic measure of the complexity of the next event according to the model’s current expectations about which events are likely.</a:t>
            </a:r>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randombar(horizontal)">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randombar(horizontal)">
                                      <p:cBhvr>
                                        <p:cTn id="1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0" y="0"/>
            <a:ext cx="9144000" cy="5143500"/>
          </a:xfrm>
          <a:prstGeom prst="rect">
            <a:avLst/>
          </a:prstGeom>
        </p:spPr>
      </p:pic>
      <p:sp>
        <p:nvSpPr>
          <p:cNvPr id="3" name="Text 0"/>
          <p:cNvSpPr/>
          <p:nvPr/>
        </p:nvSpPr>
        <p:spPr>
          <a:xfrm>
            <a:off x="466725" y="376238"/>
            <a:ext cx="4086225" cy="552450"/>
          </a:xfrm>
          <a:prstGeom prst="rect">
            <a:avLst/>
          </a:prstGeom>
          <a:noFill/>
        </p:spPr>
        <p:txBody>
          <a:bodyPr wrap="square" rtlCol="0" anchor="t"/>
          <a:lstStyle/>
          <a:p>
            <a:pPr marL="0" indent="0">
              <a:buNone/>
            </a:pPr>
            <a:r>
              <a:rPr lang="en-US" sz="2240" b="1" dirty="0">
                <a:solidFill>
                  <a:srgbClr val="000000"/>
                </a:solidFill>
                <a:latin typeface="Noto Serif SC" pitchFamily="34" charset="0"/>
                <a:ea typeface="Noto Serif SC" pitchFamily="34" charset="-122"/>
                <a:cs typeface="Noto Serif SC" pitchFamily="34" charset="-120"/>
              </a:rPr>
              <a:t>4.2 Materials</a:t>
            </a:r>
            <a:endParaRPr lang="en-US" sz="2240" dirty="0"/>
          </a:p>
        </p:txBody>
      </p:sp>
      <p:sp>
        <p:nvSpPr>
          <p:cNvPr id="4" name="Text 1"/>
          <p:cNvSpPr/>
          <p:nvPr/>
        </p:nvSpPr>
        <p:spPr>
          <a:xfrm>
            <a:off x="504825" y="1309688"/>
            <a:ext cx="3048000" cy="3357563"/>
          </a:xfrm>
          <a:prstGeom prst="rect">
            <a:avLst/>
          </a:prstGeom>
          <a:noFill/>
        </p:spPr>
        <p:txBody>
          <a:bodyPr wrap="square" rtlCol="0" anchor="t"/>
          <a:lstStyle/>
          <a:p>
            <a:pPr marL="0" indent="0" algn="l">
              <a:lnSpc>
                <a:spcPct val="150000"/>
              </a:lnSpc>
              <a:buNone/>
            </a:pPr>
            <a:r>
              <a:rPr lang="en-US" sz="1400" dirty="0">
                <a:solidFill>
                  <a:srgbClr val="000000"/>
                </a:solidFill>
                <a:latin typeface="Noto Serif SC" pitchFamily="34" charset="0"/>
                <a:ea typeface="Noto Serif SC" pitchFamily="34" charset="-122"/>
                <a:cs typeface="Noto Serif SC" pitchFamily="34" charset="-120"/>
              </a:rPr>
              <a:t>4.2.1 Subjects
</a:t>
            </a:r>
            <a:endParaRPr lang="en-US" sz="1400" dirty="0"/>
          </a:p>
          <a:p>
            <a:pPr marL="0" indent="0" algn="l">
              <a:lnSpc>
                <a:spcPct val="150000"/>
              </a:lnSpc>
              <a:buNone/>
            </a:pPr>
            <a:r>
              <a:rPr lang="en-US" sz="1400" dirty="0">
                <a:solidFill>
                  <a:srgbClr val="000000"/>
                </a:solidFill>
                <a:latin typeface="Noto Serif SC" pitchFamily="34" charset="0"/>
                <a:ea typeface="Noto Serif SC" pitchFamily="34" charset="-122"/>
                <a:cs typeface="Noto Serif SC" pitchFamily="34" charset="-120"/>
              </a:rPr>
              <a:t>4.2.2 Visual Stimuli</a:t>
            </a:r>
            <a:endParaRPr lang="en-US" sz="14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0" y="0"/>
            <a:ext cx="9144000" cy="5143500"/>
          </a:xfrm>
          <a:prstGeom prst="rect">
            <a:avLst/>
          </a:prstGeom>
        </p:spPr>
      </p:pic>
      <p:sp>
        <p:nvSpPr>
          <p:cNvPr id="3" name="Text 0"/>
          <p:cNvSpPr/>
          <p:nvPr/>
        </p:nvSpPr>
        <p:spPr>
          <a:xfrm>
            <a:off x="833437" y="452438"/>
            <a:ext cx="7472363" cy="542925"/>
          </a:xfrm>
          <a:prstGeom prst="rect">
            <a:avLst/>
          </a:prstGeom>
          <a:noFill/>
        </p:spPr>
        <p:txBody>
          <a:bodyPr wrap="square" rtlCol="0" anchor="t"/>
          <a:lstStyle/>
          <a:p>
            <a:pPr marL="0" indent="0" algn="ctr">
              <a:buNone/>
            </a:pPr>
            <a:r>
              <a:rPr lang="en-US" sz="2170" b="1" dirty="0">
                <a:solidFill>
                  <a:srgbClr val="000000"/>
                </a:solidFill>
                <a:latin typeface="Noto Serif SC" pitchFamily="34" charset="0"/>
                <a:ea typeface="Noto Serif SC" pitchFamily="34" charset="-122"/>
                <a:cs typeface="Noto Serif SC" pitchFamily="34" charset="-120"/>
              </a:rPr>
              <a:t>4.2.1 Subjects</a:t>
            </a:r>
            <a:endParaRPr lang="en-US" sz="2170" dirty="0"/>
          </a:p>
        </p:txBody>
      </p:sp>
      <p:sp>
        <p:nvSpPr>
          <p:cNvPr id="4" name="Text 1"/>
          <p:cNvSpPr/>
          <p:nvPr/>
        </p:nvSpPr>
        <p:spPr>
          <a:xfrm>
            <a:off x="638175" y="1985963"/>
            <a:ext cx="1928813" cy="1885950"/>
          </a:xfrm>
          <a:prstGeom prst="rect">
            <a:avLst/>
          </a:prstGeom>
          <a:noFill/>
        </p:spPr>
        <p:txBody>
          <a:bodyPr wrap="square" rtlCol="0" anchor="t"/>
          <a:lstStyle/>
          <a:p>
            <a:pPr marL="0" indent="0" algn="l">
              <a:lnSpc>
                <a:spcPct val="150000"/>
              </a:lnSpc>
              <a:buNone/>
            </a:pPr>
            <a:r>
              <a:rPr lang="en-US" sz="1000" dirty="0">
                <a:solidFill>
                  <a:srgbClr val="FFFFFF"/>
                </a:solidFill>
                <a:latin typeface="Noto Serif SC" pitchFamily="34" charset="0"/>
                <a:ea typeface="Noto Serif SC" pitchFamily="34" charset="-122"/>
                <a:cs typeface="Noto Serif SC" pitchFamily="34" charset="-120"/>
              </a:rPr>
              <a:t>In Experiment 1, 42 infants (mean = 7.9 months, range = 7.0 - 8.9) were included in the analysis. Forty-four infants were tested; one infant was excluded due to excessive tiredness (he fell asleep within the first few trials and could not be awakened), and one was excluded due to fussiness.</a:t>
            </a:r>
            <a:endParaRPr lang="en-US" sz="1000" dirty="0"/>
          </a:p>
        </p:txBody>
      </p:sp>
      <p:sp>
        <p:nvSpPr>
          <p:cNvPr id="5" name="Text 2"/>
          <p:cNvSpPr/>
          <p:nvPr/>
        </p:nvSpPr>
        <p:spPr>
          <a:xfrm>
            <a:off x="3605213" y="1985963"/>
            <a:ext cx="1928813" cy="1885950"/>
          </a:xfrm>
          <a:prstGeom prst="rect">
            <a:avLst/>
          </a:prstGeom>
          <a:noFill/>
        </p:spPr>
        <p:txBody>
          <a:bodyPr wrap="square" rtlCol="0" anchor="t"/>
          <a:lstStyle/>
          <a:p>
            <a:pPr marL="0" indent="0" algn="l">
              <a:lnSpc>
                <a:spcPct val="150000"/>
              </a:lnSpc>
              <a:buNone/>
            </a:pPr>
            <a:r>
              <a:rPr lang="en-US" sz="1050" dirty="0">
                <a:solidFill>
                  <a:srgbClr val="FFFFFF"/>
                </a:solidFill>
                <a:latin typeface="Noto Serif SC" pitchFamily="34" charset="0"/>
                <a:ea typeface="Noto Serif SC" pitchFamily="34" charset="-122"/>
                <a:cs typeface="Noto Serif SC" pitchFamily="34" charset="-120"/>
              </a:rPr>
              <a:t>In Experiment 2, 30 infants (mean = 7.6 months, range = 7.0 - 8.8) were tested, and all participating infants completed the study.</a:t>
            </a:r>
            <a:endParaRPr lang="en-US" sz="1050" dirty="0"/>
          </a:p>
        </p:txBody>
      </p:sp>
      <p:sp>
        <p:nvSpPr>
          <p:cNvPr id="6" name="Text 3"/>
          <p:cNvSpPr/>
          <p:nvPr/>
        </p:nvSpPr>
        <p:spPr>
          <a:xfrm>
            <a:off x="6572250" y="1985963"/>
            <a:ext cx="1928813" cy="1885950"/>
          </a:xfrm>
          <a:prstGeom prst="rect">
            <a:avLst/>
          </a:prstGeom>
          <a:noFill/>
        </p:spPr>
        <p:txBody>
          <a:bodyPr wrap="square" rtlCol="0" anchor="t"/>
          <a:lstStyle/>
          <a:p>
            <a:pPr marL="0" indent="0" algn="l">
              <a:lnSpc>
                <a:spcPct val="150000"/>
              </a:lnSpc>
              <a:buNone/>
            </a:pPr>
            <a:r>
              <a:rPr lang="en-US" sz="1050" dirty="0">
                <a:solidFill>
                  <a:srgbClr val="FFFFFF"/>
                </a:solidFill>
                <a:latin typeface="Noto Serif SC" pitchFamily="34" charset="0"/>
                <a:ea typeface="Noto Serif SC" pitchFamily="34" charset="-122"/>
                <a:cs typeface="Noto Serif SC" pitchFamily="34" charset="-120"/>
              </a:rPr>
              <a:t>In both studies, all infants were born full-term and had no known health conditions, hearing loss, or visual deficits according to parental report.</a:t>
            </a:r>
            <a:endParaRPr lang="en-US" sz="105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randombar(horizontal)">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randombar(horizontal)">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14" presetClass="entr" presetSubtype="10"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randombar(horizontal)">
                                      <p:cBhvr>
                                        <p:cTn id="1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0" y="0"/>
            <a:ext cx="9144000" cy="5143500"/>
          </a:xfrm>
          <a:prstGeom prst="rect">
            <a:avLst/>
          </a:prstGeom>
        </p:spPr>
      </p:pic>
      <p:sp>
        <p:nvSpPr>
          <p:cNvPr id="3" name="Text 0"/>
          <p:cNvSpPr/>
          <p:nvPr/>
        </p:nvSpPr>
        <p:spPr>
          <a:xfrm>
            <a:off x="865434" y="292928"/>
            <a:ext cx="3652838" cy="676275"/>
          </a:xfrm>
          <a:prstGeom prst="rect">
            <a:avLst/>
          </a:prstGeom>
          <a:noFill/>
        </p:spPr>
        <p:txBody>
          <a:bodyPr wrap="square" rtlCol="0" anchor="t"/>
          <a:lstStyle/>
          <a:p>
            <a:pPr marL="0" indent="0">
              <a:buNone/>
            </a:pPr>
            <a:r>
              <a:rPr lang="en-US" sz="2660" b="1" dirty="0">
                <a:solidFill>
                  <a:srgbClr val="000000"/>
                </a:solidFill>
                <a:latin typeface="Noto Serif SC" pitchFamily="34" charset="0"/>
                <a:ea typeface="Noto Serif SC" pitchFamily="34" charset="-122"/>
                <a:cs typeface="Noto Serif SC" pitchFamily="34" charset="-120"/>
              </a:rPr>
              <a:t>4.2.2 Visual Stimuli</a:t>
            </a:r>
            <a:endParaRPr lang="en-US" sz="2660" dirty="0"/>
          </a:p>
        </p:txBody>
      </p:sp>
      <p:sp>
        <p:nvSpPr>
          <p:cNvPr id="4" name="Text 1"/>
          <p:cNvSpPr/>
          <p:nvPr/>
        </p:nvSpPr>
        <p:spPr>
          <a:xfrm>
            <a:off x="371743" y="931572"/>
            <a:ext cx="4460421" cy="3213347"/>
          </a:xfrm>
          <a:prstGeom prst="rect">
            <a:avLst/>
          </a:prstGeom>
          <a:noFill/>
        </p:spPr>
        <p:txBody>
          <a:bodyPr wrap="square" rtlCol="0" anchor="t"/>
          <a:lstStyle/>
          <a:p>
            <a:pPr marL="139700"/>
            <a:r>
              <a:rPr lang="en-US" altLang="zh-CN" sz="1600" dirty="0">
                <a:latin typeface="AdvP49811"/>
              </a:rPr>
              <a:t>In Experiments 1 and 2, we presented infants with </a:t>
            </a:r>
            <a:r>
              <a:rPr lang="en-US" altLang="zh-CN" sz="1600" u="sng" dirty="0">
                <a:latin typeface="AdvP49811"/>
              </a:rPr>
              <a:t>animated displays </a:t>
            </a:r>
            <a:r>
              <a:rPr lang="en-US" altLang="zh-CN" sz="1600" dirty="0">
                <a:latin typeface="AdvP49811"/>
              </a:rPr>
              <a:t>depicting event sequences varying in their predictability. All displays featured </a:t>
            </a:r>
            <a:r>
              <a:rPr lang="en-US" altLang="zh-CN" sz="1600" u="sng" dirty="0">
                <a:latin typeface="AdvP49811"/>
              </a:rPr>
              <a:t>uniquely colored and patterned boxes</a:t>
            </a:r>
            <a:r>
              <a:rPr lang="en-US" altLang="zh-CN" sz="1600" dirty="0">
                <a:latin typeface="AdvP49811"/>
              </a:rPr>
              <a:t> (e.g., pink polka dots) that were animated to reveal </a:t>
            </a:r>
            <a:r>
              <a:rPr lang="en-US" altLang="zh-CN" sz="1600" u="sng" dirty="0">
                <a:latin typeface="AdvP49811"/>
              </a:rPr>
              <a:t>unique familiar objects </a:t>
            </a:r>
            <a:r>
              <a:rPr lang="en-US" altLang="zh-CN" sz="1600" dirty="0">
                <a:latin typeface="AdvP49811"/>
              </a:rPr>
              <a:t>(e.g., a ball; see </a:t>
            </a:r>
            <a:r>
              <a:rPr lang="en-US" altLang="zh-CN" sz="1600" dirty="0">
                <a:latin typeface="AdvP4980F"/>
              </a:rPr>
              <a:t>Videos S1 </a:t>
            </a:r>
            <a:r>
              <a:rPr lang="en-US" altLang="zh-CN" sz="1600" dirty="0">
                <a:latin typeface="AdvP49811"/>
              </a:rPr>
              <a:t>and </a:t>
            </a:r>
            <a:r>
              <a:rPr lang="en-US" altLang="zh-CN" sz="1600" dirty="0">
                <a:latin typeface="AdvP4980F"/>
              </a:rPr>
              <a:t>S2 </a:t>
            </a:r>
            <a:r>
              <a:rPr lang="en-US" altLang="zh-CN" sz="1600" dirty="0">
                <a:latin typeface="AdvP49811"/>
              </a:rPr>
              <a:t>for examples). A </a:t>
            </a:r>
            <a:r>
              <a:rPr lang="en-US" altLang="zh-CN" sz="1600" dirty="0" err="1">
                <a:latin typeface="AdvP49811"/>
              </a:rPr>
              <a:t>Matlab</a:t>
            </a:r>
            <a:r>
              <a:rPr lang="en-US" altLang="zh-CN" sz="1600" dirty="0">
                <a:latin typeface="AdvP49811"/>
              </a:rPr>
              <a:t> script was used to generate each of the animated displays. Neither the boxes nor the objects were repeated across event sequences so that each object-box pair was independent and unique. The objects, boxes, and order in which the event sequences were presented were also randomized across infants.</a:t>
            </a:r>
          </a:p>
          <a:p>
            <a:pPr marL="139700"/>
            <a:r>
              <a:rPr lang="en-US" altLang="zh-CN" sz="1600" dirty="0">
                <a:latin typeface="AdvP49811"/>
              </a:rPr>
              <a:t>This design ensured that differences in looking time across event sequences were not driven by differences in scene items or presentation order.</a:t>
            </a:r>
            <a:endParaRPr lang="zh-CN" altLang="en-US" sz="14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randombar(horizontal)">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randombar(horizontal)">
                                      <p:cBhvr>
                                        <p:cTn id="1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0" y="0"/>
            <a:ext cx="9144000" cy="5143500"/>
          </a:xfrm>
          <a:prstGeom prst="rect">
            <a:avLst/>
          </a:prstGeom>
        </p:spPr>
      </p:pic>
      <p:sp>
        <p:nvSpPr>
          <p:cNvPr id="3" name="Text 0"/>
          <p:cNvSpPr/>
          <p:nvPr/>
        </p:nvSpPr>
        <p:spPr>
          <a:xfrm>
            <a:off x="304800" y="1338263"/>
            <a:ext cx="1828800" cy="1585913"/>
          </a:xfrm>
          <a:prstGeom prst="rect">
            <a:avLst/>
          </a:prstGeom>
          <a:noFill/>
        </p:spPr>
        <p:txBody>
          <a:bodyPr wrap="square" rtlCol="0" anchor="t"/>
          <a:lstStyle/>
          <a:p>
            <a:pPr marL="0" indent="0">
              <a:buNone/>
            </a:pPr>
            <a:r>
              <a:rPr lang="en-US" sz="2660" b="1" dirty="0">
                <a:solidFill>
                  <a:srgbClr val="000000"/>
                </a:solidFill>
                <a:latin typeface="Noto Serif SC" pitchFamily="34" charset="0"/>
                <a:ea typeface="Noto Serif SC" pitchFamily="34" charset="-122"/>
                <a:cs typeface="Noto Serif SC" pitchFamily="34" charset="-120"/>
              </a:rPr>
              <a:t>4.3 Data collection</a:t>
            </a:r>
            <a:endParaRPr lang="en-US" sz="2660" dirty="0"/>
          </a:p>
        </p:txBody>
      </p:sp>
      <p:sp>
        <p:nvSpPr>
          <p:cNvPr id="4" name="Text 1"/>
          <p:cNvSpPr/>
          <p:nvPr/>
        </p:nvSpPr>
        <p:spPr>
          <a:xfrm>
            <a:off x="3024188" y="1352550"/>
            <a:ext cx="2681288" cy="2514600"/>
          </a:xfrm>
          <a:prstGeom prst="rect">
            <a:avLst/>
          </a:prstGeom>
          <a:noFill/>
        </p:spPr>
        <p:txBody>
          <a:bodyPr wrap="square" rtlCol="0" anchor="t"/>
          <a:lstStyle/>
          <a:p>
            <a:pPr marL="0" indent="0" algn="l">
              <a:lnSpc>
                <a:spcPct val="150000"/>
              </a:lnSpc>
              <a:buNone/>
            </a:pPr>
            <a:r>
              <a:rPr lang="en-US" sz="1400" dirty="0">
                <a:solidFill>
                  <a:srgbClr val="FFFFFF"/>
                </a:solidFill>
                <a:latin typeface="Noto Serif SC" pitchFamily="34" charset="0"/>
                <a:ea typeface="Noto Serif SC" pitchFamily="34" charset="-122"/>
                <a:cs typeface="Noto Serif SC" pitchFamily="34" charset="-120"/>
              </a:rPr>
              <a:t>4.3.1 Procedure</a:t>
            </a:r>
            <a:endParaRPr lang="en-US" sz="1400" dirty="0"/>
          </a:p>
        </p:txBody>
      </p:sp>
      <p:sp>
        <p:nvSpPr>
          <p:cNvPr id="5" name="Text 2"/>
          <p:cNvSpPr/>
          <p:nvPr/>
        </p:nvSpPr>
        <p:spPr>
          <a:xfrm>
            <a:off x="6215063" y="1352550"/>
            <a:ext cx="2681288" cy="2514600"/>
          </a:xfrm>
          <a:prstGeom prst="rect">
            <a:avLst/>
          </a:prstGeom>
          <a:noFill/>
        </p:spPr>
        <p:txBody>
          <a:bodyPr wrap="square" rtlCol="0" anchor="t"/>
          <a:lstStyle/>
          <a:p>
            <a:pPr marL="0" indent="0" algn="l">
              <a:lnSpc>
                <a:spcPct val="150000"/>
              </a:lnSpc>
              <a:buNone/>
            </a:pPr>
            <a:r>
              <a:rPr lang="en-US" sz="1400" dirty="0">
                <a:solidFill>
                  <a:srgbClr val="FFFFFF"/>
                </a:solidFill>
                <a:latin typeface="Noto Serif SC" pitchFamily="34" charset="0"/>
                <a:ea typeface="Noto Serif SC" pitchFamily="34" charset="-122"/>
                <a:cs typeface="Noto Serif SC" pitchFamily="34" charset="-120"/>
              </a:rPr>
              <a:t>4.3.2 Ideal Learner Model</a:t>
            </a:r>
            <a:endParaRPr lang="en-US" sz="14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0" y="0"/>
            <a:ext cx="9144000" cy="5143500"/>
          </a:xfrm>
          <a:prstGeom prst="rect">
            <a:avLst/>
          </a:prstGeom>
        </p:spPr>
      </p:pic>
      <p:sp>
        <p:nvSpPr>
          <p:cNvPr id="3" name="Text 0"/>
          <p:cNvSpPr/>
          <p:nvPr/>
        </p:nvSpPr>
        <p:spPr>
          <a:xfrm>
            <a:off x="809625" y="881063"/>
            <a:ext cx="3652838" cy="676275"/>
          </a:xfrm>
          <a:prstGeom prst="rect">
            <a:avLst/>
          </a:prstGeom>
          <a:noFill/>
        </p:spPr>
        <p:txBody>
          <a:bodyPr wrap="square" rtlCol="0" anchor="t"/>
          <a:lstStyle/>
          <a:p>
            <a:pPr marL="0" indent="0">
              <a:buNone/>
            </a:pPr>
            <a:r>
              <a:rPr lang="en-US" altLang="zh-CN" sz="2800" b="1" dirty="0">
                <a:solidFill>
                  <a:srgbClr val="000000"/>
                </a:solidFill>
                <a:latin typeface="Noto Serif SC" pitchFamily="34" charset="0"/>
                <a:ea typeface="Noto Serif SC" pitchFamily="34" charset="-122"/>
                <a:cs typeface="Noto Serif SC" pitchFamily="34" charset="-120"/>
              </a:rPr>
              <a:t>4.3.1 Procedure</a:t>
            </a:r>
            <a:endParaRPr lang="en-US" altLang="zh-CN" sz="2800" dirty="0"/>
          </a:p>
        </p:txBody>
      </p:sp>
      <p:sp>
        <p:nvSpPr>
          <p:cNvPr id="4" name="Text 1"/>
          <p:cNvSpPr/>
          <p:nvPr/>
        </p:nvSpPr>
        <p:spPr>
          <a:xfrm>
            <a:off x="809624" y="1704975"/>
            <a:ext cx="4015661" cy="2976563"/>
          </a:xfrm>
          <a:prstGeom prst="rect">
            <a:avLst/>
          </a:prstGeom>
          <a:noFill/>
        </p:spPr>
        <p:txBody>
          <a:bodyPr wrap="square" rtlCol="0" anchor="t"/>
          <a:lstStyle/>
          <a:p>
            <a:pPr marL="139700" indent="0">
              <a:buNone/>
            </a:pPr>
            <a:r>
              <a:rPr lang="en-US" altLang="zh-CN" sz="1600" dirty="0"/>
              <a:t>The procedures for Experiments 1 and 2 were identical, with two exceptions: the type of displays used (single-box in Experiment 1 and three-box in Experiment 2) and the number of trials presented to each infant (42 in Experiment 1 and 32 in Experiment 2). Each infant was seated on his or her parent’s lap in front of a table-mounted </a:t>
            </a:r>
            <a:r>
              <a:rPr lang="en-US" altLang="zh-CN" sz="1600" u="sng" dirty="0"/>
              <a:t>Tobii 1750 eye-tracker</a:t>
            </a:r>
            <a:r>
              <a:rPr lang="en-US" altLang="zh-CN" sz="1600" dirty="0"/>
              <a:t>. The infant was positioned such that his or her eyes were approximately 23 inches from the monitor, the recommended distance for accurate eye-tracking.</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randombar(horizontal)">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randombar(horizontal)">
                                      <p:cBhvr>
                                        <p:cTn id="1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0" y="0"/>
            <a:ext cx="9144000" cy="5143500"/>
          </a:xfrm>
          <a:prstGeom prst="rect">
            <a:avLst/>
          </a:prstGeom>
        </p:spPr>
      </p:pic>
      <p:sp>
        <p:nvSpPr>
          <p:cNvPr id="4" name="Text 1"/>
          <p:cNvSpPr/>
          <p:nvPr/>
        </p:nvSpPr>
        <p:spPr>
          <a:xfrm>
            <a:off x="167425" y="927279"/>
            <a:ext cx="4404575" cy="4216221"/>
          </a:xfrm>
          <a:prstGeom prst="rect">
            <a:avLst/>
          </a:prstGeom>
          <a:noFill/>
        </p:spPr>
        <p:txBody>
          <a:bodyPr wrap="square" rtlCol="0" anchor="t"/>
          <a:lstStyle/>
          <a:p>
            <a:pPr marL="139700" indent="0">
              <a:buNone/>
            </a:pPr>
            <a:r>
              <a:rPr lang="en-US" altLang="zh-CN" sz="2000" dirty="0"/>
              <a:t>At this viewing distance, the 17-inch LCD screen subtended 24632 degrees of visual angle. Each of the three boxes was 565 degrees. To </a:t>
            </a:r>
            <a:r>
              <a:rPr lang="en-US" altLang="zh-CN" sz="2000" u="sng" dirty="0"/>
              <a:t>prevent parental influence</a:t>
            </a:r>
            <a:r>
              <a:rPr lang="en-US" altLang="zh-CN" sz="2000" dirty="0"/>
              <a:t> on the infant’s behavior, the parent holding the infant was asked to wear headphones playing music, wear a visor, lower their eyes, and</a:t>
            </a:r>
          </a:p>
          <a:p>
            <a:pPr marL="139700" indent="0">
              <a:buNone/>
            </a:pPr>
            <a:r>
              <a:rPr lang="en-US" altLang="zh-CN" sz="2000" dirty="0"/>
              <a:t>abstain from interacting with their infant throughout the experiment.</a:t>
            </a:r>
          </a:p>
          <a:p>
            <a:pPr marL="139700" indent="0">
              <a:buNone/>
            </a:pPr>
            <a:endParaRPr lang="en-US" altLang="zh-CN" sz="20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randombar(horizontal)">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0" y="0"/>
            <a:ext cx="9144000" cy="5143500"/>
          </a:xfrm>
          <a:prstGeom prst="rect">
            <a:avLst/>
          </a:prstGeom>
        </p:spPr>
      </p:pic>
      <p:sp>
        <p:nvSpPr>
          <p:cNvPr id="4" name="Text 1"/>
          <p:cNvSpPr/>
          <p:nvPr/>
        </p:nvSpPr>
        <p:spPr>
          <a:xfrm>
            <a:off x="613893" y="832835"/>
            <a:ext cx="3515932" cy="3848704"/>
          </a:xfrm>
          <a:prstGeom prst="rect">
            <a:avLst/>
          </a:prstGeom>
          <a:noFill/>
        </p:spPr>
        <p:txBody>
          <a:bodyPr wrap="square" rtlCol="0" anchor="t"/>
          <a:lstStyle/>
          <a:p>
            <a:pPr marL="139700" indent="0">
              <a:buNone/>
            </a:pPr>
            <a:r>
              <a:rPr lang="en-US" altLang="zh-CN" dirty="0"/>
              <a:t>Each trial was preceded by an animation designed to </a:t>
            </a:r>
            <a:r>
              <a:rPr lang="en-US" altLang="zh-CN" u="sng" dirty="0"/>
              <a:t>attract the infant’s attention </a:t>
            </a:r>
            <a:r>
              <a:rPr lang="en-US" altLang="zh-CN" dirty="0"/>
              <a:t>to the center of the screen–a laughing and cooing baby. Once the infant looked at the attention-getter, an experimenter who was observing remotely pushed a button to start the trial.</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randombar(horizontal)">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0" y="0"/>
            <a:ext cx="9144000" cy="5143500"/>
          </a:xfrm>
          <a:prstGeom prst="rect">
            <a:avLst/>
          </a:prstGeom>
        </p:spPr>
      </p:pic>
      <p:sp>
        <p:nvSpPr>
          <p:cNvPr id="4" name="Text 1"/>
          <p:cNvSpPr/>
          <p:nvPr/>
        </p:nvSpPr>
        <p:spPr>
          <a:xfrm>
            <a:off x="500532" y="1107583"/>
            <a:ext cx="3483334" cy="3573955"/>
          </a:xfrm>
          <a:prstGeom prst="rect">
            <a:avLst/>
          </a:prstGeom>
          <a:noFill/>
        </p:spPr>
        <p:txBody>
          <a:bodyPr wrap="square" rtlCol="0" anchor="t"/>
          <a:lstStyle/>
          <a:p>
            <a:pPr marL="0" indent="0" algn="ctr">
              <a:lnSpc>
                <a:spcPct val="150000"/>
              </a:lnSpc>
              <a:buNone/>
            </a:pPr>
            <a:r>
              <a:rPr lang="en-US" altLang="zh-CN" sz="1400" dirty="0">
                <a:solidFill>
                  <a:srgbClr val="383838"/>
                </a:solidFill>
                <a:latin typeface="Noto Serif SC" pitchFamily="34" charset="0"/>
                <a:ea typeface="Noto Serif SC" pitchFamily="34" charset="-122"/>
                <a:cs typeface="Noto Serif SC" pitchFamily="34" charset="-120"/>
              </a:rPr>
              <a:t>For each trial, an animated scene was played. The animated sequences of reveal events continued until the infant looked away continuously for 1 second, or until the sequence timed out at 60 seconds. The 1-second look-away criterion for trial termination was automatically determined by the Tobii eye-tracking software.</a:t>
            </a:r>
            <a:endParaRPr lang="en-US" altLang="zh-CN" sz="14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randombar(horizontal)">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0" y="0"/>
            <a:ext cx="9144000" cy="5143500"/>
          </a:xfrm>
          <a:prstGeom prst="rect">
            <a:avLst/>
          </a:prstGeom>
        </p:spPr>
      </p:pic>
      <p:sp>
        <p:nvSpPr>
          <p:cNvPr id="4" name="Text 1"/>
          <p:cNvSpPr/>
          <p:nvPr/>
        </p:nvSpPr>
        <p:spPr>
          <a:xfrm>
            <a:off x="380328" y="394113"/>
            <a:ext cx="4460421" cy="4355273"/>
          </a:xfrm>
          <a:prstGeom prst="rect">
            <a:avLst/>
          </a:prstGeom>
          <a:noFill/>
        </p:spPr>
        <p:txBody>
          <a:bodyPr wrap="square" rtlCol="0" anchor="t"/>
          <a:lstStyle/>
          <a:p>
            <a:pPr marL="139700" indent="0">
              <a:buNone/>
            </a:pPr>
            <a:r>
              <a:rPr lang="en-US" altLang="zh-CN" sz="1600" dirty="0"/>
              <a:t>If the infant looked continuously for the entire 60-second sequence, the trial was automatically labeled as a ‘‘time out’’ and discarded before the analysis. If the trial was terminated before the infant actually looked away, the trial was labeled by an experimenter as a ‘‘false stop’’ and also discarded. False stops, as determined by a separate video recording of the infant’s face, occurred as a result of the Tobii software being unable to detect the infant’s eyes continuously for 1 second, usually due to the infant inadvertently blocking the eye-tracker camera’s view of his or her own eyes with head or arm movements. Trials in which the infant looked for fewer than four events were also discarded, since it is presumed that too few observations are insufficient for establishing expectations about the distribution of events.</a:t>
            </a:r>
            <a:endParaRPr lang="zh-CN" altLang="en-US" sz="16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randombar(horizontal)">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0" y="0"/>
            <a:ext cx="9144000" cy="5143500"/>
          </a:xfrm>
          <a:prstGeom prst="rect">
            <a:avLst/>
          </a:prstGeom>
        </p:spPr>
      </p:pic>
      <p:sp>
        <p:nvSpPr>
          <p:cNvPr id="3" name="Text 0"/>
          <p:cNvSpPr/>
          <p:nvPr/>
        </p:nvSpPr>
        <p:spPr>
          <a:xfrm>
            <a:off x="466723" y="400050"/>
            <a:ext cx="3233738" cy="422502"/>
          </a:xfrm>
          <a:prstGeom prst="rect">
            <a:avLst/>
          </a:prstGeom>
          <a:noFill/>
        </p:spPr>
        <p:txBody>
          <a:bodyPr wrap="square" rtlCol="0" anchor="t"/>
          <a:lstStyle/>
          <a:p>
            <a:pPr marL="0" indent="0" algn="l">
              <a:buNone/>
            </a:pPr>
            <a:r>
              <a:rPr lang="en-US" altLang="zh-CN" sz="1600" b="1" dirty="0">
                <a:latin typeface="Noto Serif SC" pitchFamily="34" charset="0"/>
                <a:ea typeface="Noto Serif SC" pitchFamily="34" charset="-122"/>
                <a:cs typeface="Noto Serif SC" pitchFamily="34" charset="-120"/>
              </a:rPr>
              <a:t>4.3.2 Ideal Learner Model</a:t>
            </a:r>
            <a:endParaRPr lang="en-US" altLang="zh-CN" sz="1600" dirty="0"/>
          </a:p>
        </p:txBody>
      </p:sp>
      <p:sp>
        <p:nvSpPr>
          <p:cNvPr id="4" name="Text 1"/>
          <p:cNvSpPr/>
          <p:nvPr/>
        </p:nvSpPr>
        <p:spPr>
          <a:xfrm>
            <a:off x="346520" y="887186"/>
            <a:ext cx="3897087" cy="4191680"/>
          </a:xfrm>
          <a:prstGeom prst="rect">
            <a:avLst/>
          </a:prstGeom>
          <a:noFill/>
        </p:spPr>
        <p:txBody>
          <a:bodyPr wrap="square" rtlCol="0" anchor="t"/>
          <a:lstStyle/>
          <a:p>
            <a:pPr marL="139700" indent="0">
              <a:buNone/>
            </a:pPr>
            <a:r>
              <a:rPr lang="en-US" altLang="zh-CN" sz="1400" dirty="0"/>
              <a:t>Intuitively, infants observe how many times each event occurs in the world, and then use these event counts to infer an underlying probability model of their observations. In Experiment 1, the two possible events are that the screen lifts to reveal that an object is either present or absent. In Experiment 2, there are three possible events corresponding to which of three objects appears from behind its box. An observer who sees only a single event happen would not likely infer that the single observed event is the only one possible(</a:t>
            </a:r>
            <a:r>
              <a:rPr lang="en-US" altLang="zh-CN" sz="1400" dirty="0" err="1"/>
              <a:t>i.e</a:t>
            </a:r>
            <a:r>
              <a:rPr lang="en-US" altLang="zh-CN" sz="1400" dirty="0"/>
              <a:t>, has probability of 1); instead, observers likely bring expectations to this learning task. In the MDM model used here, this prior expectation is parameterized by a single free parameter ,a, which controls the strength of the learner’s prior belief that the distribution of events is uniform. </a:t>
            </a:r>
            <a:endParaRPr lang="zh-CN" altLang="en-US" sz="14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randombar(horizontal)">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randombar(horizontal)">
                                      <p:cBhvr>
                                        <p:cTn id="1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0" y="0"/>
            <a:ext cx="9144000" cy="5143500"/>
          </a:xfrm>
          <a:prstGeom prst="rect">
            <a:avLst/>
          </a:prstGeom>
        </p:spPr>
      </p:pic>
      <p:sp>
        <p:nvSpPr>
          <p:cNvPr id="4" name="Text 1"/>
          <p:cNvSpPr/>
          <p:nvPr/>
        </p:nvSpPr>
        <p:spPr>
          <a:xfrm>
            <a:off x="466723" y="429296"/>
            <a:ext cx="3897087" cy="5007439"/>
          </a:xfrm>
          <a:prstGeom prst="rect">
            <a:avLst/>
          </a:prstGeom>
          <a:noFill/>
        </p:spPr>
        <p:txBody>
          <a:bodyPr wrap="square" rtlCol="0" anchor="t"/>
          <a:lstStyle/>
          <a:p>
            <a:pPr marL="139700" indent="0">
              <a:buNone/>
            </a:pPr>
            <a:r>
              <a:rPr lang="en-US" altLang="zh-CN" sz="1600" dirty="0"/>
              <a:t>As a gets large, the model has strong prior beliefs that the distribution of events in the world is uniform; as a approaches zero, the model believes more strongly that the true distribution closely resembles that of the empirically observed event counts. In modeling, we chose a value of a=1,corresponding to a uniform prior expectation about the distribution of events (with expected values 50-50 in Experiment 1 and 33-33-33 in Experiment 2). However, the qualitative results–in particular, the U-shaped relationship between complexity and look-away probability–do not depend strongly on the choice of a. Formally, suppose there are N events, x1,x2, . . . ,</a:t>
            </a:r>
            <a:r>
              <a:rPr lang="en-US" altLang="zh-CN" sz="1600" dirty="0" err="1"/>
              <a:t>xN</a:t>
            </a:r>
            <a:r>
              <a:rPr lang="en-US" altLang="zh-CN" sz="1600" dirty="0"/>
              <a:t>, and the </a:t>
            </a:r>
            <a:r>
              <a:rPr lang="en-US" altLang="zh-CN" sz="1600" i="1" dirty="0" err="1"/>
              <a:t>i</a:t>
            </a:r>
            <a:r>
              <a:rPr lang="en-US" altLang="zh-CN" sz="1600" dirty="0" err="1"/>
              <a:t>th</a:t>
            </a:r>
            <a:r>
              <a:rPr lang="en-US" altLang="zh-CN" sz="1600" dirty="0"/>
              <a:t> event has been observed ci times. </a:t>
            </a:r>
            <a:endParaRPr lang="zh-CN" altLang="en-US" sz="16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randombar(horizontal)">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0" y="0"/>
            <a:ext cx="9144000" cy="5143500"/>
          </a:xfrm>
          <a:prstGeom prst="rect">
            <a:avLst/>
          </a:prstGeom>
        </p:spPr>
      </p:pic>
      <p:sp>
        <p:nvSpPr>
          <p:cNvPr id="4" name="Text 1"/>
          <p:cNvSpPr/>
          <p:nvPr/>
        </p:nvSpPr>
        <p:spPr>
          <a:xfrm>
            <a:off x="372834" y="476518"/>
            <a:ext cx="3897087" cy="5686839"/>
          </a:xfrm>
          <a:prstGeom prst="rect">
            <a:avLst/>
          </a:prstGeom>
          <a:noFill/>
        </p:spPr>
        <p:txBody>
          <a:bodyPr wrap="square" rtlCol="0" anchor="t"/>
          <a:lstStyle/>
          <a:p>
            <a:pPr marL="139700" indent="0">
              <a:buNone/>
            </a:pPr>
            <a:r>
              <a:rPr lang="en-US" altLang="zh-CN" sz="1400" dirty="0"/>
              <a:t>We are interested in estimating(or scoring) a multinomial distribution parameterized by h~(h1,h2, . . . ,</a:t>
            </a:r>
            <a:r>
              <a:rPr lang="en-US" altLang="zh-CN" sz="1400" dirty="0" err="1"/>
              <a:t>hN</a:t>
            </a:r>
            <a:r>
              <a:rPr lang="en-US" altLang="zh-CN" sz="1400" dirty="0"/>
              <a:t>) where hi is the true (unobserved) probability of event xi . Under a Dirichlet-Multinomial model, P(hjc1, . . . </a:t>
            </a:r>
            <a:r>
              <a:rPr lang="en-US" altLang="zh-CN" sz="1400" dirty="0" err="1"/>
              <a:t>cN</a:t>
            </a:r>
            <a:r>
              <a:rPr lang="en-US" altLang="zh-CN" sz="1400" dirty="0"/>
              <a:t>, a)~1BP Ni~1hazci{1i , ð1Þwhere B is a normalizing constant that depends on the ci and a:That is, after observing each event type occur some number of times, the infant may form a representation, h, of their guess at the true distribution of events. Every distribution can be scored according to Equation 1, allowing one to compute how strongly a learner should believe that any particular h is the correct one. We predict that infants’ likelihood of looking away at a current event will depend upon the complexity of that current event, which is determined by both the previously observed events and the identity of the current event. </a:t>
            </a:r>
            <a:endParaRPr lang="zh-CN" altLang="en-US" sz="14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randombar(horizontal)">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0" y="0"/>
            <a:ext cx="9144000" cy="5143500"/>
          </a:xfrm>
          <a:prstGeom prst="rect">
            <a:avLst/>
          </a:prstGeom>
        </p:spPr>
      </p:pic>
      <p:sp>
        <p:nvSpPr>
          <p:cNvPr id="4" name="Text 1"/>
          <p:cNvSpPr/>
          <p:nvPr/>
        </p:nvSpPr>
        <p:spPr>
          <a:xfrm>
            <a:off x="393245" y="553792"/>
            <a:ext cx="3897087" cy="5515676"/>
          </a:xfrm>
          <a:prstGeom prst="rect">
            <a:avLst/>
          </a:prstGeom>
          <a:noFill/>
        </p:spPr>
        <p:txBody>
          <a:bodyPr wrap="square" rtlCol="0" anchor="t"/>
          <a:lstStyle/>
          <a:p>
            <a:pPr marL="0" indent="0" algn="l">
              <a:lnSpc>
                <a:spcPct val="150000"/>
              </a:lnSpc>
              <a:buNone/>
            </a:pPr>
            <a:r>
              <a:rPr lang="en-US" altLang="zh-CN" sz="1600" dirty="0">
                <a:latin typeface="Noto Serif SC" pitchFamily="34" charset="0"/>
                <a:ea typeface="Noto Serif SC" pitchFamily="34" charset="-122"/>
                <a:cs typeface="Noto Serif SC" pitchFamily="34" charset="-120"/>
              </a:rPr>
              <a:t>where B is a normalizing constant that depends on the ci and α. That is, after observing each event type occur some number of times, the infant may form a representation, θ, of their guess at the true distribution of events. Every distribution can be scored according to Equation 1, allowing one to compute how strongly a learner should believe that any particular θ is the correct one.</a:t>
            </a:r>
            <a:endParaRPr lang="en-US" altLang="zh-CN" sz="16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randombar(horizontal)">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0" y="0"/>
            <a:ext cx="9144000" cy="5143500"/>
          </a:xfrm>
          <a:prstGeom prst="rect">
            <a:avLst/>
          </a:prstGeom>
        </p:spPr>
      </p:pic>
      <p:sp>
        <p:nvSpPr>
          <p:cNvPr id="4" name="Text 1"/>
          <p:cNvSpPr/>
          <p:nvPr/>
        </p:nvSpPr>
        <p:spPr>
          <a:xfrm>
            <a:off x="291921" y="248992"/>
            <a:ext cx="4071889" cy="5011732"/>
          </a:xfrm>
          <a:prstGeom prst="rect">
            <a:avLst/>
          </a:prstGeom>
          <a:noFill/>
        </p:spPr>
        <p:txBody>
          <a:bodyPr wrap="square" rtlCol="0" anchor="t"/>
          <a:lstStyle/>
          <a:p>
            <a:pPr marL="139700" indent="0">
              <a:buNone/>
            </a:pPr>
            <a:r>
              <a:rPr lang="en-US" altLang="zh-CN" sz="1600" dirty="0"/>
              <a:t>We predict that events of either very low complexity (highly predictable) or very high complexity(highly surprising) will be more likely to trigger a look-away than events with moderate complexity. When the </a:t>
            </a:r>
            <a:r>
              <a:rPr lang="en-US" altLang="zh-CN" sz="1600" i="1" dirty="0" err="1"/>
              <a:t>i</a:t>
            </a:r>
            <a:r>
              <a:rPr lang="en-US" altLang="zh-CN" sz="1600" dirty="0" err="1"/>
              <a:t>th</a:t>
            </a:r>
            <a:r>
              <a:rPr lang="en-US" altLang="zh-CN" sz="1600" dirty="0"/>
              <a:t> event occurs, the main variable of interest here is its negative log probability according to the model. We compute this by integrating over the above posterior distribution on h. This corresponds to a measure of the information conveyed by observing event </a:t>
            </a:r>
            <a:r>
              <a:rPr lang="en-US" altLang="zh-CN" sz="1600" dirty="0" err="1"/>
              <a:t>i</a:t>
            </a:r>
            <a:r>
              <a:rPr lang="en-US" altLang="zh-CN" sz="1600" dirty="0"/>
              <a:t>, according to an ideal Bayesian learner who had seen all previous events. We predicted that infants would be more likely to look away during events that contained either too little or too much information, giving a U-shaped (quadratic)relationship between this negative log probability measure and the actual observed look-away probability.</a:t>
            </a:r>
            <a:endParaRPr lang="zh-CN" altLang="en-US" sz="16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randombar(horizontal)">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2690813" y="2995613"/>
            <a:ext cx="3395663" cy="552450"/>
          </a:xfrm>
          <a:prstGeom prst="rect">
            <a:avLst/>
          </a:prstGeom>
          <a:noFill/>
        </p:spPr>
        <p:txBody>
          <a:bodyPr wrap="square" rtlCol="0" anchor="t"/>
          <a:lstStyle/>
          <a:p>
            <a:pPr marL="0" indent="0" algn="ctr">
              <a:buNone/>
            </a:pPr>
            <a:r>
              <a:rPr lang="en-US" sz="2560" b="1" dirty="0">
                <a:solidFill>
                  <a:srgbClr val="FFFFFF"/>
                </a:solidFill>
                <a:latin typeface="Noto Serif SC" pitchFamily="34" charset="0"/>
                <a:ea typeface="Noto Serif SC" pitchFamily="34" charset="-122"/>
                <a:cs typeface="Noto Serif SC" pitchFamily="34" charset="-120"/>
              </a:rPr>
              <a:t>THE END</a:t>
            </a:r>
            <a:endParaRPr lang="en-US" sz="2560" dirty="0"/>
          </a:p>
        </p:txBody>
      </p:sp>
      <p:sp>
        <p:nvSpPr>
          <p:cNvPr id="3" name="Text 1"/>
          <p:cNvSpPr/>
          <p:nvPr/>
        </p:nvSpPr>
        <p:spPr>
          <a:xfrm>
            <a:off x="2690813" y="3438525"/>
            <a:ext cx="3395663" cy="1033463"/>
          </a:xfrm>
          <a:prstGeom prst="rect">
            <a:avLst/>
          </a:prstGeom>
          <a:noFill/>
        </p:spPr>
        <p:txBody>
          <a:bodyPr wrap="square" rtlCol="0" anchor="t"/>
          <a:lstStyle/>
          <a:p>
            <a:pPr marL="0" indent="0" algn="ctr">
              <a:buNone/>
            </a:pPr>
            <a:r>
              <a:rPr lang="en-US" sz="4800" b="1" dirty="0">
                <a:solidFill>
                  <a:srgbClr val="FFFFFF"/>
                </a:solidFill>
                <a:latin typeface="Noto Serif SC" pitchFamily="34" charset="0"/>
                <a:ea typeface="Noto Serif SC" pitchFamily="34" charset="-122"/>
                <a:cs typeface="Noto Serif SC" pitchFamily="34" charset="-120"/>
              </a:rPr>
              <a:t>THANKS</a:t>
            </a:r>
            <a:endParaRPr lang="en-US" sz="4800" dirty="0"/>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COMMONDATA" val="eyJoZGlkIjoiMzEwNTM5NzYwMDRjMzkwZTVkZjY2ODkwMGIxNGU0OTUifQ=="/>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60</TotalTime>
  <Words>4877</Words>
  <Application>Microsoft Office PowerPoint</Application>
  <PresentationFormat>全屏显示(16:9)</PresentationFormat>
  <Paragraphs>226</Paragraphs>
  <Slides>51</Slides>
  <Notes>51</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51</vt:i4>
      </vt:variant>
    </vt:vector>
  </HeadingPairs>
  <TitlesOfParts>
    <vt:vector size="59" baseType="lpstr">
      <vt:lpstr>AdvP4980F</vt:lpstr>
      <vt:lpstr>AdvP49811</vt:lpstr>
      <vt:lpstr>Noto Serif SC</vt:lpstr>
      <vt:lpstr>SF Pro Display</vt:lpstr>
      <vt:lpstr>等线</vt:lpstr>
      <vt:lpstr>华文新魏</vt:lpstr>
      <vt:lpstr>Arial</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 TITLE</dc:title>
  <dc:subject>SUBTITLE HERE</dc:subject>
  <dc:creator>MindShow.fun</dc:creator>
  <cp:lastModifiedBy>xi sheng</cp:lastModifiedBy>
  <cp:revision>7</cp:revision>
  <dcterms:created xsi:type="dcterms:W3CDTF">2024-06-13T13:10:00Z</dcterms:created>
  <dcterms:modified xsi:type="dcterms:W3CDTF">2024-06-17T02:34:02Z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BDB4A87CD6504AF1B82BC6CC206B78F5_13</vt:lpwstr>
  </property>
  <property fmtid="{D5CDD505-2E9C-101B-9397-08002B2CF9AE}" pid="3" name="KSOProductBuildVer">
    <vt:lpwstr>2052-12.1.0.16929</vt:lpwstr>
  </property>
</Properties>
</file>