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8" r:id="rId4"/>
    <p:sldId id="259" r:id="rId5"/>
    <p:sldId id="260" r:id="rId6"/>
    <p:sldId id="261" r:id="rId7"/>
    <p:sldId id="264" r:id="rId8"/>
    <p:sldId id="263" r:id="rId9"/>
    <p:sldId id="265" r:id="rId10"/>
    <p:sldId id="266" r:id="rId11"/>
    <p:sldId id="267"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60"/>
  </p:normalViewPr>
  <p:slideViewPr>
    <p:cSldViewPr snapToGrid="0">
      <p:cViewPr varScale="1">
        <p:scale>
          <a:sx n="70" d="100"/>
          <a:sy n="70" d="100"/>
        </p:scale>
        <p:origin x="45" y="4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FE95DB-F41E-D06C-B72A-98D3BDB43B4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0359C1C-F290-D424-646A-443C7B17AC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D4506D1-BDA1-2DBB-C021-FCBF30BEEA9B}"/>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5" name="页脚占位符 4">
            <a:extLst>
              <a:ext uri="{FF2B5EF4-FFF2-40B4-BE49-F238E27FC236}">
                <a16:creationId xmlns:a16="http://schemas.microsoft.com/office/drawing/2014/main" id="{0B2C33B5-9F6A-CCF4-29B7-FFEA9117F9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28E6190-7C5C-044C-95DC-97999E6A9E2A}"/>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3722197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10F065-A7E6-DC91-3537-72B617826A5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7810C50-538E-A55F-BFAD-D76C0859534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70DB82-4A96-EEDB-C691-4A48561A2C46}"/>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5" name="页脚占位符 4">
            <a:extLst>
              <a:ext uri="{FF2B5EF4-FFF2-40B4-BE49-F238E27FC236}">
                <a16:creationId xmlns:a16="http://schemas.microsoft.com/office/drawing/2014/main" id="{262C5D81-8901-4375-B346-29A3DF681C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12E7C3-277A-74F2-35C1-39005CD6791C}"/>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2321065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D4069B-2934-A43F-4264-3B943CE4D35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48E4309-A86D-E00A-BCFE-57E3621D15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5EA6F52-1868-C139-DB3A-9BC7A9D84EDF}"/>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5" name="页脚占位符 4">
            <a:extLst>
              <a:ext uri="{FF2B5EF4-FFF2-40B4-BE49-F238E27FC236}">
                <a16:creationId xmlns:a16="http://schemas.microsoft.com/office/drawing/2014/main" id="{4F31D65C-8101-F155-8A45-2E54975439E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1216DE9-19E5-7C58-2616-0406F624F1B5}"/>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172053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CB39F5-30BE-CF28-C839-74A81DA40F5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89EBCD-E43C-660A-E43D-51FA0E3EB94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838D14F-80BC-57E7-3D5E-68B9E438008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8FF2656-2442-6FC0-EE15-460A5E2B6C11}"/>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6" name="页脚占位符 5">
            <a:extLst>
              <a:ext uri="{FF2B5EF4-FFF2-40B4-BE49-F238E27FC236}">
                <a16:creationId xmlns:a16="http://schemas.microsoft.com/office/drawing/2014/main" id="{662491DE-E82F-34A7-EDB7-EFADE24EF97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209E258-FC06-3ABC-498C-5B919F317327}"/>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2385216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399492-08F0-F44E-0039-C3CDB2DCC7D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BD2D153-1ECC-3929-4BE3-9F1B172F48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0C5724E-5D7E-48A0-9616-B9538943060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A022A93-F4F9-9318-594A-2CCA0A1930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701A181-6DA8-411F-B436-E2DF9CD4F37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C5F2393-D73C-E0FF-EB5B-F7E3185B20D8}"/>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8" name="页脚占位符 7">
            <a:extLst>
              <a:ext uri="{FF2B5EF4-FFF2-40B4-BE49-F238E27FC236}">
                <a16:creationId xmlns:a16="http://schemas.microsoft.com/office/drawing/2014/main" id="{BC822CF4-1264-904D-D3D2-D92FFCDB2B9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F3009F0-E25A-D7E7-8859-EE48C0547797}"/>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3417439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E2D62-6DCF-606C-35D8-D1F16F4A2B5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BE97728-174B-34B6-086A-3B2710A34AC2}"/>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4" name="页脚占位符 3">
            <a:extLst>
              <a:ext uri="{FF2B5EF4-FFF2-40B4-BE49-F238E27FC236}">
                <a16:creationId xmlns:a16="http://schemas.microsoft.com/office/drawing/2014/main" id="{478AEDDA-1A6C-3AC1-1EC4-ADCBAA86D6C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1459AA7-7429-CB35-A800-CB3BC8C2639D}"/>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3950830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763D651-AFB8-6333-9A0D-35C78E75DBB1}"/>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3" name="页脚占位符 2">
            <a:extLst>
              <a:ext uri="{FF2B5EF4-FFF2-40B4-BE49-F238E27FC236}">
                <a16:creationId xmlns:a16="http://schemas.microsoft.com/office/drawing/2014/main" id="{0AFEB51E-8979-2B34-ACB5-98D6A507041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7790480-A2CB-F42A-BDFE-FB4138C3A220}"/>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53049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3650B-4F43-F5A5-92A9-35438882210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1C7584A-40B0-E393-CC4C-74E6E37EB9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EFBF777-648C-CE64-D073-5B30C24242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34CBA30-B033-179E-ABE4-16939318B680}"/>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6" name="页脚占位符 5">
            <a:extLst>
              <a:ext uri="{FF2B5EF4-FFF2-40B4-BE49-F238E27FC236}">
                <a16:creationId xmlns:a16="http://schemas.microsoft.com/office/drawing/2014/main" id="{BDC33FF7-4161-254C-E670-BE3D620BA31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491224E-BF9A-8E86-F7CA-4A80CE6A2DA6}"/>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4062174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DB9259-9D28-8EAC-0012-A9D5C38F7ED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7263F81-7D7E-68C4-35D7-BC9CC7C08F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151853B-F1CB-A3A6-430A-6E9DFC8BC1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9C5E05-7386-BEFB-13EB-6905854E916E}"/>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6" name="页脚占位符 5">
            <a:extLst>
              <a:ext uri="{FF2B5EF4-FFF2-40B4-BE49-F238E27FC236}">
                <a16:creationId xmlns:a16="http://schemas.microsoft.com/office/drawing/2014/main" id="{CEF296AC-EAAF-BB54-7265-6F66360F2BD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710051A-28C9-259E-F4D0-664D5521065F}"/>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2159161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55F554-CB50-13E1-9E2A-7F07AE51BA6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4409E83-8120-EECE-210F-2F4584A4DCC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E7329D8-C12C-8BDD-9376-59D9B3603318}"/>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5" name="页脚占位符 4">
            <a:extLst>
              <a:ext uri="{FF2B5EF4-FFF2-40B4-BE49-F238E27FC236}">
                <a16:creationId xmlns:a16="http://schemas.microsoft.com/office/drawing/2014/main" id="{54A14BB0-AB8C-9B00-AFA5-BDCC8DA02D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F2AC08-0FB5-3BDC-F0F5-66EB25ABFEA7}"/>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1098908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6D66D90-2E52-5469-E360-EA4ED755444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65CB7D8-7C5D-7006-DA2A-3E3A1108F59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6FE3512-1D5C-5149-62A2-02D2078EEA05}"/>
              </a:ext>
            </a:extLst>
          </p:cNvPr>
          <p:cNvSpPr>
            <a:spLocks noGrp="1"/>
          </p:cNvSpPr>
          <p:nvPr>
            <p:ph type="dt" sz="half" idx="10"/>
          </p:nvPr>
        </p:nvSpPr>
        <p:spPr/>
        <p:txBody>
          <a:bodyPr/>
          <a:lstStyle/>
          <a:p>
            <a:fld id="{0A530FC0-7CEA-4779-8878-4D0CB8B2BCFA}" type="datetimeFigureOut">
              <a:rPr lang="zh-CN" altLang="en-US" smtClean="0"/>
              <a:t>2023/9/28</a:t>
            </a:fld>
            <a:endParaRPr lang="zh-CN" altLang="en-US"/>
          </a:p>
        </p:txBody>
      </p:sp>
      <p:sp>
        <p:nvSpPr>
          <p:cNvPr id="5" name="页脚占位符 4">
            <a:extLst>
              <a:ext uri="{FF2B5EF4-FFF2-40B4-BE49-F238E27FC236}">
                <a16:creationId xmlns:a16="http://schemas.microsoft.com/office/drawing/2014/main" id="{47544CB4-F455-1A95-53FF-C373D8406A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18487B7-CC2D-1D73-664B-93CF1404EE2D}"/>
              </a:ext>
            </a:extLst>
          </p:cNvPr>
          <p:cNvSpPr>
            <a:spLocks noGrp="1"/>
          </p:cNvSpPr>
          <p:nvPr>
            <p:ph type="sldNum" sz="quarter" idx="12"/>
          </p:nvPr>
        </p:nvSpPr>
        <p:spPr/>
        <p:txBody>
          <a:body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28196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B2AC98C-F453-4C0B-1FCA-84D9A6052B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012E855-9A63-816C-429D-862DD0A83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ABB6AB-F81F-2276-62BF-3D31C1B5DA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530FC0-7CEA-4779-8878-4D0CB8B2BCFA}" type="datetimeFigureOut">
              <a:rPr lang="zh-CN" altLang="en-US" smtClean="0"/>
              <a:t>2023/9/28</a:t>
            </a:fld>
            <a:endParaRPr lang="zh-CN" altLang="en-US"/>
          </a:p>
        </p:txBody>
      </p:sp>
      <p:sp>
        <p:nvSpPr>
          <p:cNvPr id="5" name="页脚占位符 4">
            <a:extLst>
              <a:ext uri="{FF2B5EF4-FFF2-40B4-BE49-F238E27FC236}">
                <a16:creationId xmlns:a16="http://schemas.microsoft.com/office/drawing/2014/main" id="{CF7B47BB-6B73-3E92-709D-1E979C5ABB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60B429C-1F86-F39D-F933-6FA450B4F1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59A24-68BF-47CB-BFE7-A6C425127CFE}" type="slidenum">
              <a:rPr lang="zh-CN" altLang="en-US" smtClean="0"/>
              <a:t>‹#›</a:t>
            </a:fld>
            <a:endParaRPr lang="zh-CN" altLang="en-US"/>
          </a:p>
        </p:txBody>
      </p:sp>
    </p:spTree>
    <p:extLst>
      <p:ext uri="{BB962C8B-B14F-4D97-AF65-F5344CB8AC3E}">
        <p14:creationId xmlns:p14="http://schemas.microsoft.com/office/powerpoint/2010/main" val="1442842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打乒乓手部特写 的图像结果">
            <a:extLst>
              <a:ext uri="{FF2B5EF4-FFF2-40B4-BE49-F238E27FC236}">
                <a16:creationId xmlns:a16="http://schemas.microsoft.com/office/drawing/2014/main" id="{E38F1275-C95E-B028-CF7E-675B8A2E60B5}"/>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2164E56B-34DF-741B-8631-8876BFBC361E}"/>
              </a:ext>
            </a:extLst>
          </p:cNvPr>
          <p:cNvSpPr>
            <a:spLocks noGrp="1"/>
          </p:cNvSpPr>
          <p:nvPr>
            <p:ph type="ctrTitle"/>
          </p:nvPr>
        </p:nvSpPr>
        <p:spPr/>
        <p:txBody>
          <a:bodyPr>
            <a:normAutofit/>
          </a:bodyPr>
          <a:lstStyle/>
          <a:p>
            <a:r>
              <a:rPr lang="zh-CN" altLang="en-US" sz="8800" b="1" dirty="0">
                <a:latin typeface="Arial Black" panose="020B0A04020102020204" pitchFamily="34" charset="0"/>
              </a:rPr>
              <a:t>乒乓简史</a:t>
            </a:r>
            <a:r>
              <a:rPr lang="en-US" altLang="zh-CN" sz="8800" b="1" dirty="0">
                <a:latin typeface="Arial Black" panose="020B0A04020102020204" pitchFamily="34" charset="0"/>
              </a:rPr>
              <a:t>·</a:t>
            </a:r>
            <a:r>
              <a:rPr lang="zh-CN" altLang="en-US" sz="8800" b="1" dirty="0">
                <a:latin typeface="Arial Black" panose="020B0A04020102020204" pitchFamily="34" charset="0"/>
              </a:rPr>
              <a:t>诞生</a:t>
            </a:r>
          </a:p>
        </p:txBody>
      </p:sp>
      <p:sp>
        <p:nvSpPr>
          <p:cNvPr id="3" name="副标题 2">
            <a:extLst>
              <a:ext uri="{FF2B5EF4-FFF2-40B4-BE49-F238E27FC236}">
                <a16:creationId xmlns:a16="http://schemas.microsoft.com/office/drawing/2014/main" id="{40C0814A-03E2-CDC8-B165-E9FBAF93FF5E}"/>
              </a:ext>
            </a:extLst>
          </p:cNvPr>
          <p:cNvSpPr>
            <a:spLocks noGrp="1"/>
          </p:cNvSpPr>
          <p:nvPr>
            <p:ph type="subTitle" idx="1"/>
          </p:nvPr>
        </p:nvSpPr>
        <p:spPr/>
        <p:txBody>
          <a:bodyPr/>
          <a:lstStyle/>
          <a:p>
            <a:r>
              <a:rPr lang="zh-CN" altLang="en-US" dirty="0"/>
              <a:t>盛曦</a:t>
            </a:r>
            <a:r>
              <a:rPr lang="en-US" altLang="zh-CN" dirty="0"/>
              <a:t>2350222</a:t>
            </a:r>
            <a:endParaRPr lang="zh-CN" altLang="en-US" dirty="0"/>
          </a:p>
        </p:txBody>
      </p:sp>
    </p:spTree>
    <p:extLst>
      <p:ext uri="{BB962C8B-B14F-4D97-AF65-F5344CB8AC3E}">
        <p14:creationId xmlns:p14="http://schemas.microsoft.com/office/powerpoint/2010/main" val="987061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D074DB-ED95-6B57-0670-776B81677260}"/>
              </a:ext>
            </a:extLst>
          </p:cNvPr>
          <p:cNvSpPr>
            <a:spLocks noGrp="1"/>
          </p:cNvSpPr>
          <p:nvPr>
            <p:ph type="title"/>
          </p:nvPr>
        </p:nvSpPr>
        <p:spPr>
          <a:xfrm>
            <a:off x="838200" y="309621"/>
            <a:ext cx="10515600" cy="1325563"/>
          </a:xfrm>
        </p:spPr>
        <p:txBody>
          <a:bodyPr>
            <a:normAutofit/>
          </a:bodyPr>
          <a:lstStyle/>
          <a:p>
            <a:pPr algn="ctr"/>
            <a:r>
              <a:rPr lang="zh-CN" altLang="en-US" sz="5400" b="1" dirty="0"/>
              <a:t>众说纷坛的起源</a:t>
            </a:r>
          </a:p>
        </p:txBody>
      </p:sp>
      <p:pic>
        <p:nvPicPr>
          <p:cNvPr id="4" name="图片 3">
            <a:extLst>
              <a:ext uri="{FF2B5EF4-FFF2-40B4-BE49-F238E27FC236}">
                <a16:creationId xmlns:a16="http://schemas.microsoft.com/office/drawing/2014/main" id="{C4D3BCB1-3A31-CC7C-86B5-262D70B51B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558" y="1838325"/>
            <a:ext cx="11389057" cy="5144808"/>
          </a:xfrm>
          <a:prstGeom prst="rect">
            <a:avLst/>
          </a:prstGeom>
        </p:spPr>
      </p:pic>
    </p:spTree>
    <p:extLst>
      <p:ext uri="{BB962C8B-B14F-4D97-AF65-F5344CB8AC3E}">
        <p14:creationId xmlns:p14="http://schemas.microsoft.com/office/powerpoint/2010/main" val="3002002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38DD98-3A39-31CA-A2D8-DC6B11160DEE}"/>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E4D3AC82-B998-C88B-719C-A9500B272BC6}"/>
              </a:ext>
            </a:extLst>
          </p:cNvPr>
          <p:cNvSpPr>
            <a:spLocks noGrp="1"/>
          </p:cNvSpPr>
          <p:nvPr>
            <p:ph idx="1"/>
          </p:nvPr>
        </p:nvSpPr>
        <p:spPr>
          <a:xfrm>
            <a:off x="838200" y="1431925"/>
            <a:ext cx="10515600" cy="4351338"/>
          </a:xfrm>
        </p:spPr>
        <p:txBody>
          <a:bodyPr>
            <a:normAutofit/>
          </a:bodyPr>
          <a:lstStyle/>
          <a:p>
            <a:r>
              <a:rPr lang="zh-CN" altLang="en-US" sz="3600" dirty="0"/>
              <a:t>说法</a:t>
            </a:r>
            <a:r>
              <a:rPr lang="en-US" altLang="zh-CN" sz="3600" dirty="0"/>
              <a:t>1</a:t>
            </a:r>
            <a:r>
              <a:rPr lang="zh-CN" altLang="en-US" sz="3600" dirty="0"/>
              <a:t>：</a:t>
            </a:r>
            <a:endParaRPr lang="en-US" altLang="zh-CN" sz="3600" dirty="0"/>
          </a:p>
          <a:p>
            <a:pPr marL="0" indent="0">
              <a:buNone/>
            </a:pPr>
            <a:r>
              <a:rPr lang="zh-CN" altLang="en-US" sz="3600" dirty="0"/>
              <a:t>乒乓球运动的产生，纯属偶然。</a:t>
            </a:r>
            <a:endParaRPr lang="en-US" altLang="zh-CN" sz="3600" dirty="0"/>
          </a:p>
          <a:p>
            <a:pPr marL="0" indent="0">
              <a:buNone/>
            </a:pPr>
            <a:r>
              <a:rPr lang="zh-CN" altLang="en-US" sz="3600" dirty="0"/>
              <a:t>一般都认为是因两个英国青年玩耍引起的。 </a:t>
            </a:r>
            <a:r>
              <a:rPr lang="en-US" altLang="zh-CN" sz="3600" dirty="0"/>
              <a:t>19</a:t>
            </a:r>
            <a:r>
              <a:rPr lang="zh-CN" altLang="en-US" sz="3600" dirty="0"/>
              <a:t>世纪末，一天伦敦两个青年人到一家饭馆去吃饭，在等待侍者送饭时，他们感到无聊，便信手将装雪茄的盒盖拿在手中玩，同时又将酒瓶上的软木塞也拨了下来，两人在餐桌上你来我往，相互打过来打过去，结果，他俩玩得竟入了迷，连吃饭都顾不上了。</a:t>
            </a:r>
          </a:p>
        </p:txBody>
      </p:sp>
    </p:spTree>
    <p:extLst>
      <p:ext uri="{BB962C8B-B14F-4D97-AF65-F5344CB8AC3E}">
        <p14:creationId xmlns:p14="http://schemas.microsoft.com/office/powerpoint/2010/main" val="2894562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DA239E-784C-94A0-1222-8421050D4E9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72F6B3A-CBD9-E2B4-9F5D-0134A7A16C93}"/>
              </a:ext>
            </a:extLst>
          </p:cNvPr>
          <p:cNvSpPr>
            <a:spLocks noGrp="1"/>
          </p:cNvSpPr>
          <p:nvPr>
            <p:ph idx="1"/>
          </p:nvPr>
        </p:nvSpPr>
        <p:spPr/>
        <p:txBody>
          <a:bodyPr/>
          <a:lstStyle/>
          <a:p>
            <a:r>
              <a:rPr lang="zh-CN" altLang="en-US" sz="4000" dirty="0"/>
              <a:t>说法</a:t>
            </a:r>
            <a:r>
              <a:rPr lang="en-US" altLang="zh-CN" sz="4000" dirty="0"/>
              <a:t>2</a:t>
            </a:r>
            <a:r>
              <a:rPr lang="zh-CN" altLang="en-US" sz="4000" dirty="0"/>
              <a:t>：</a:t>
            </a:r>
            <a:endParaRPr lang="en-US" altLang="zh-CN" sz="4000" dirty="0"/>
          </a:p>
          <a:p>
            <a:pPr marL="0" indent="0">
              <a:buNone/>
            </a:pPr>
            <a:r>
              <a:rPr lang="zh-CN" altLang="en-US" sz="3200" dirty="0"/>
              <a:t>一些史料里说，清初我国已经有乒乓球的雏形流行于民间。在四川、云南交接山区的苗族人，他们用晒干的梧桐树或柑树的果子做球，用带柄的长板做拍，用门板做球台，两边对打。</a:t>
            </a:r>
            <a:endParaRPr lang="en-US" altLang="zh-CN" sz="3200" dirty="0"/>
          </a:p>
          <a:p>
            <a:pPr marL="0" indent="0">
              <a:buNone/>
            </a:pPr>
            <a:r>
              <a:rPr lang="zh-CN" altLang="en-US" sz="3200" dirty="0"/>
              <a:t>据资料记载，清末珠江流域盛行此游戏，不过是用猪尿泡吹气做球，比干果弹性大。</a:t>
            </a:r>
          </a:p>
        </p:txBody>
      </p:sp>
    </p:spTree>
    <p:extLst>
      <p:ext uri="{BB962C8B-B14F-4D97-AF65-F5344CB8AC3E}">
        <p14:creationId xmlns:p14="http://schemas.microsoft.com/office/powerpoint/2010/main" val="1273248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833413-D145-CA33-0605-077D66AF2A7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7D53AD1-336E-97E5-12EC-6A5E930CEB47}"/>
              </a:ext>
            </a:extLst>
          </p:cNvPr>
          <p:cNvSpPr>
            <a:spLocks noGrp="1"/>
          </p:cNvSpPr>
          <p:nvPr>
            <p:ph idx="1"/>
          </p:nvPr>
        </p:nvSpPr>
        <p:spPr>
          <a:xfrm>
            <a:off x="838200" y="1374775"/>
            <a:ext cx="10515600" cy="4351338"/>
          </a:xfrm>
        </p:spPr>
        <p:txBody>
          <a:bodyPr/>
          <a:lstStyle/>
          <a:p>
            <a:r>
              <a:rPr lang="zh-CN" altLang="en-US" sz="3600" dirty="0"/>
              <a:t>说法</a:t>
            </a:r>
            <a:r>
              <a:rPr lang="en-US" altLang="zh-CN" sz="3600" dirty="0"/>
              <a:t>3</a:t>
            </a:r>
            <a:r>
              <a:rPr lang="zh-CN" altLang="en-US" sz="3600" dirty="0"/>
              <a:t>：</a:t>
            </a:r>
            <a:endParaRPr lang="en-US" altLang="zh-CN" sz="3600" dirty="0"/>
          </a:p>
          <a:p>
            <a:r>
              <a:rPr lang="en-US" altLang="zh-CN" sz="3200" dirty="0"/>
              <a:t>19</a:t>
            </a:r>
            <a:r>
              <a:rPr lang="zh-CN" altLang="en-US" sz="3200" dirty="0"/>
              <a:t>世纪末，欧洲盛行网球运动，但由于受到场地和天气的限制，英国有些大学生便把网球移到室内，以餐桌为球台，书作球网，用羊皮纸做球拍，在餐桌上打来打去。</a:t>
            </a:r>
            <a:r>
              <a:rPr lang="en-US" altLang="zh-CN" sz="3200" dirty="0"/>
              <a:t>1890</a:t>
            </a:r>
            <a:r>
              <a:rPr lang="zh-CN" altLang="en-US" sz="3200" dirty="0"/>
              <a:t>年，几位驻守印度的英国海军军官偶然发觉在一张不大的台子上玩网球颇为刺激。后来他们改用实心橡胶代替弹性不大的实心球，随后改为空心的塑料球，并用木板代替了网拍，在桌子上进行这种新颖的“网球赛”，这就是</a:t>
            </a:r>
            <a:r>
              <a:rPr lang="en-US" altLang="zh-CN" sz="3200" dirty="0"/>
              <a:t>Table tennis</a:t>
            </a:r>
            <a:r>
              <a:rPr lang="zh-CN" altLang="en-US" sz="3200" dirty="0"/>
              <a:t>得名的由来。</a:t>
            </a:r>
          </a:p>
        </p:txBody>
      </p:sp>
    </p:spTree>
    <p:extLst>
      <p:ext uri="{BB962C8B-B14F-4D97-AF65-F5344CB8AC3E}">
        <p14:creationId xmlns:p14="http://schemas.microsoft.com/office/powerpoint/2010/main" val="1602481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D51F06-471C-9DBA-B8E7-669AC828387F}"/>
              </a:ext>
            </a:extLst>
          </p:cNvPr>
          <p:cNvSpPr>
            <a:spLocks noGrp="1"/>
          </p:cNvSpPr>
          <p:nvPr>
            <p:ph type="title"/>
          </p:nvPr>
        </p:nvSpPr>
        <p:spPr>
          <a:xfrm>
            <a:off x="790433" y="151784"/>
            <a:ext cx="10515600" cy="1325563"/>
          </a:xfrm>
        </p:spPr>
        <p:txBody>
          <a:bodyPr>
            <a:normAutofit/>
          </a:bodyPr>
          <a:lstStyle/>
          <a:p>
            <a:pPr algn="ctr"/>
            <a:r>
              <a:rPr lang="zh-CN" altLang="en-US" sz="5400" b="1" dirty="0"/>
              <a:t>名称的由来</a:t>
            </a:r>
          </a:p>
        </p:txBody>
      </p:sp>
      <p:pic>
        <p:nvPicPr>
          <p:cNvPr id="9" name="图片 8">
            <a:extLst>
              <a:ext uri="{FF2B5EF4-FFF2-40B4-BE49-F238E27FC236}">
                <a16:creationId xmlns:a16="http://schemas.microsoft.com/office/drawing/2014/main" id="{600F3C67-37E5-2A80-A754-B9EB4186D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722" y="1266304"/>
            <a:ext cx="11573301" cy="5499100"/>
          </a:xfrm>
          <a:prstGeom prst="rect">
            <a:avLst/>
          </a:prstGeom>
        </p:spPr>
      </p:pic>
    </p:spTree>
    <p:extLst>
      <p:ext uri="{BB962C8B-B14F-4D97-AF65-F5344CB8AC3E}">
        <p14:creationId xmlns:p14="http://schemas.microsoft.com/office/powerpoint/2010/main" val="1485395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57D635-9A8C-3D89-1F58-8AC7A66777E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82B45DD-B4CB-4679-F72B-204C6B664169}"/>
              </a:ext>
            </a:extLst>
          </p:cNvPr>
          <p:cNvSpPr>
            <a:spLocks noGrp="1"/>
          </p:cNvSpPr>
          <p:nvPr>
            <p:ph idx="1"/>
          </p:nvPr>
        </p:nvSpPr>
        <p:spPr/>
        <p:txBody>
          <a:bodyPr/>
          <a:lstStyle/>
          <a:p>
            <a:r>
              <a:rPr lang="zh-CN" altLang="en-US" dirty="0"/>
              <a:t>因打乒乓在室内，好似在桌上打网球，乒乓球初诞生时，被称作</a:t>
            </a:r>
            <a:r>
              <a:rPr lang="en-US" altLang="zh-CN" dirty="0"/>
              <a:t>table tennis</a:t>
            </a:r>
            <a:r>
              <a:rPr lang="zh-CN" altLang="en-US" dirty="0"/>
              <a:t>，也被称为</a:t>
            </a:r>
            <a:r>
              <a:rPr lang="en-US" altLang="zh-CN" dirty="0"/>
              <a:t>indoor tennis</a:t>
            </a:r>
            <a:r>
              <a:rPr lang="zh-CN" altLang="en-US" dirty="0"/>
              <a:t>。</a:t>
            </a:r>
            <a:endParaRPr lang="en-US" altLang="zh-CN" dirty="0"/>
          </a:p>
          <a:p>
            <a:r>
              <a:rPr lang="zh-CN" altLang="en-US" dirty="0"/>
              <a:t>后来，一位美国制造商以乒乓球撞击时所发出的声音创造出</a:t>
            </a:r>
            <a:r>
              <a:rPr lang="en-US" altLang="zh-CN" dirty="0"/>
              <a:t>Ping-pang</a:t>
            </a:r>
            <a:r>
              <a:rPr lang="zh-CN" altLang="en-US" dirty="0"/>
              <a:t>这个新词，作为他制造的</a:t>
            </a:r>
            <a:r>
              <a:rPr lang="en-US" altLang="zh-CN" dirty="0"/>
              <a:t>“</a:t>
            </a:r>
            <a:r>
              <a:rPr lang="zh-CN" altLang="en-US" dirty="0"/>
              <a:t>乒乓球</a:t>
            </a:r>
            <a:r>
              <a:rPr lang="en-US" altLang="zh-CN" dirty="0"/>
              <a:t>”</a:t>
            </a:r>
            <a:r>
              <a:rPr lang="zh-CN" altLang="en-US" dirty="0"/>
              <a:t>专利注册商标，</a:t>
            </a:r>
            <a:r>
              <a:rPr lang="en-US" altLang="zh-CN" dirty="0"/>
              <a:t>Ping-pang</a:t>
            </a:r>
            <a:r>
              <a:rPr lang="zh-CN" altLang="en-US" dirty="0"/>
              <a:t>后来成了</a:t>
            </a:r>
            <a:r>
              <a:rPr lang="en-US" altLang="zh-CN" dirty="0"/>
              <a:t>Table tennis</a:t>
            </a:r>
            <a:r>
              <a:rPr lang="zh-CN" altLang="en-US" dirty="0"/>
              <a:t>的另一个正式名称。当它传到中国后，在中国大陆就以“乒乓球”作为它的官方名称。</a:t>
            </a:r>
            <a:endParaRPr lang="en-US" altLang="zh-CN" dirty="0"/>
          </a:p>
        </p:txBody>
      </p:sp>
    </p:spTree>
    <p:extLst>
      <p:ext uri="{BB962C8B-B14F-4D97-AF65-F5344CB8AC3E}">
        <p14:creationId xmlns:p14="http://schemas.microsoft.com/office/powerpoint/2010/main" val="49103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CFC96A-6DA0-C310-7578-9EC16D7F6B58}"/>
              </a:ext>
            </a:extLst>
          </p:cNvPr>
          <p:cNvSpPr>
            <a:spLocks noGrp="1"/>
          </p:cNvSpPr>
          <p:nvPr>
            <p:ph type="title"/>
          </p:nvPr>
        </p:nvSpPr>
        <p:spPr>
          <a:xfrm>
            <a:off x="838200" y="239605"/>
            <a:ext cx="10515600" cy="1325563"/>
          </a:xfrm>
        </p:spPr>
        <p:txBody>
          <a:bodyPr>
            <a:normAutofit/>
          </a:bodyPr>
          <a:lstStyle/>
          <a:p>
            <a:pPr algn="ctr"/>
            <a:r>
              <a:rPr lang="zh-CN" altLang="en-US" sz="5400" b="1" dirty="0"/>
              <a:t>雏形至成形</a:t>
            </a:r>
          </a:p>
        </p:txBody>
      </p:sp>
      <p:pic>
        <p:nvPicPr>
          <p:cNvPr id="9" name="图片 8">
            <a:extLst>
              <a:ext uri="{FF2B5EF4-FFF2-40B4-BE49-F238E27FC236}">
                <a16:creationId xmlns:a16="http://schemas.microsoft.com/office/drawing/2014/main" id="{7FB55072-5FE5-7B3D-071B-2221D0FDC8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81" y="1248770"/>
            <a:ext cx="12890310" cy="5609230"/>
          </a:xfrm>
          <a:prstGeom prst="rect">
            <a:avLst/>
          </a:prstGeom>
        </p:spPr>
      </p:pic>
    </p:spTree>
    <p:extLst>
      <p:ext uri="{BB962C8B-B14F-4D97-AF65-F5344CB8AC3E}">
        <p14:creationId xmlns:p14="http://schemas.microsoft.com/office/powerpoint/2010/main" val="508623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637D93-2654-6EA8-89BA-EBF8FA17F04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4879BB2-C339-01A4-18FF-807401A60807}"/>
              </a:ext>
            </a:extLst>
          </p:cNvPr>
          <p:cNvSpPr>
            <a:spLocks noGrp="1"/>
          </p:cNvSpPr>
          <p:nvPr>
            <p:ph idx="1"/>
          </p:nvPr>
        </p:nvSpPr>
        <p:spPr/>
        <p:txBody>
          <a:bodyPr/>
          <a:lstStyle/>
          <a:p>
            <a:r>
              <a:rPr lang="en-US" altLang="zh-CN" dirty="0"/>
              <a:t>19</a:t>
            </a:r>
            <a:r>
              <a:rPr lang="zh-CN" altLang="en-US" dirty="0"/>
              <a:t>世纪末乒乓球自英国兴起后，逐步发展。球拍由一开始的形状各异逐步统一，胶皮拍和增添圆柱形颗粒的拍子依次被发明，打法也由一开始简单的把球推来推去，逐渐发展出了旋转等各种技术。</a:t>
            </a:r>
            <a:endParaRPr lang="en-US" altLang="zh-CN" dirty="0"/>
          </a:p>
          <a:p>
            <a:r>
              <a:rPr lang="en-US" altLang="zh-CN" dirty="0"/>
              <a:t>1926</a:t>
            </a:r>
            <a:r>
              <a:rPr lang="zh-CN" altLang="en-US" dirty="0"/>
              <a:t>年</a:t>
            </a:r>
            <a:r>
              <a:rPr lang="en-US" altLang="zh-CN" dirty="0"/>
              <a:t>1</a:t>
            </a:r>
            <a:r>
              <a:rPr lang="zh-CN" altLang="en-US" dirty="0"/>
              <a:t>月，在德国柏林举行了一次国际乒乓球赛，同年</a:t>
            </a:r>
            <a:r>
              <a:rPr lang="en-US" altLang="zh-CN" dirty="0"/>
              <a:t>12</a:t>
            </a:r>
            <a:r>
              <a:rPr lang="zh-CN" altLang="en-US" dirty="0"/>
              <a:t>月，国际乒乓球联合会正式成立，并决定举行第一届世界乒乓球锦标赛。这标志着乒乓球走上了世界舞台。</a:t>
            </a:r>
            <a:endParaRPr lang="en-US" altLang="zh-CN" dirty="0"/>
          </a:p>
        </p:txBody>
      </p:sp>
    </p:spTree>
    <p:extLst>
      <p:ext uri="{BB962C8B-B14F-4D97-AF65-F5344CB8AC3E}">
        <p14:creationId xmlns:p14="http://schemas.microsoft.com/office/powerpoint/2010/main" val="920295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ABEFD4-6C7E-B9DC-F04F-8F91BF30A1F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44D31E7-45DD-69B7-C5EB-612F4C41904B}"/>
              </a:ext>
            </a:extLst>
          </p:cNvPr>
          <p:cNvSpPr>
            <a:spLocks noGrp="1"/>
          </p:cNvSpPr>
          <p:nvPr>
            <p:ph idx="1"/>
          </p:nvPr>
        </p:nvSpPr>
        <p:spPr/>
        <p:txBody>
          <a:bodyPr/>
          <a:lstStyle/>
          <a:p>
            <a:r>
              <a:rPr lang="zh-CN" altLang="en-US" dirty="0"/>
              <a:t>新中国成立后，毛泽东主席号召“发展体育运动，增强人民体质”，乒乓球因为对场地要求不高，简便易行所以在全国开展得比较好。</a:t>
            </a:r>
            <a:endParaRPr lang="en-US" altLang="zh-CN" dirty="0"/>
          </a:p>
          <a:p>
            <a:r>
              <a:rPr lang="zh-CN" altLang="en-US" dirty="0"/>
              <a:t>在全国人民的热情支持下，拼搏不息，攀登不止，乒乓球经历了由弱到强、持久昌盛的发展历程 。如今，乒乓已经成为中国的国球。</a:t>
            </a:r>
          </a:p>
        </p:txBody>
      </p:sp>
    </p:spTree>
    <p:extLst>
      <p:ext uri="{BB962C8B-B14F-4D97-AF65-F5344CB8AC3E}">
        <p14:creationId xmlns:p14="http://schemas.microsoft.com/office/powerpoint/2010/main" val="4191006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74818D-20A8-B80D-F08F-7FEBC99FE014}"/>
              </a:ext>
            </a:extLst>
          </p:cNvPr>
          <p:cNvSpPr>
            <a:spLocks noGrp="1"/>
          </p:cNvSpPr>
          <p:nvPr>
            <p:ph type="title"/>
          </p:nvPr>
        </p:nvSpPr>
        <p:spPr>
          <a:xfrm>
            <a:off x="838200" y="2625725"/>
            <a:ext cx="10515600" cy="1325563"/>
          </a:xfrm>
        </p:spPr>
        <p:txBody>
          <a:bodyPr/>
          <a:lstStyle/>
          <a:p>
            <a:pPr algn="ctr"/>
            <a:r>
              <a:rPr lang="zh-CN" altLang="en-US" dirty="0"/>
              <a:t>谢谢大家</a:t>
            </a:r>
          </a:p>
        </p:txBody>
      </p:sp>
    </p:spTree>
    <p:extLst>
      <p:ext uri="{BB962C8B-B14F-4D97-AF65-F5344CB8AC3E}">
        <p14:creationId xmlns:p14="http://schemas.microsoft.com/office/powerpoint/2010/main" val="87365356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586</Words>
  <Application>Microsoft Office PowerPoint</Application>
  <PresentationFormat>宽屏</PresentationFormat>
  <Paragraphs>20</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等线</vt:lpstr>
      <vt:lpstr>等线 Light</vt:lpstr>
      <vt:lpstr>Arial</vt:lpstr>
      <vt:lpstr>Arial Black</vt:lpstr>
      <vt:lpstr>Office 主题​​</vt:lpstr>
      <vt:lpstr>乒乓简史·诞生</vt:lpstr>
      <vt:lpstr>众说纷坛的起源</vt:lpstr>
      <vt:lpstr>PowerPoint 演示文稿</vt:lpstr>
      <vt:lpstr>PowerPoint 演示文稿</vt:lpstr>
      <vt:lpstr>PowerPoint 演示文稿</vt:lpstr>
      <vt:lpstr>名称的由来</vt:lpstr>
      <vt:lpstr>PowerPoint 演示文稿</vt:lpstr>
      <vt:lpstr>雏形至成形</vt:lpstr>
      <vt:lpstr>PowerPoint 演示文稿</vt:lpstr>
      <vt:lpstr>PowerPoint 演示文稿</vt:lpstr>
      <vt:lpstr>谢谢大家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乒乓简史·诞生</dc:title>
  <dc:creator>xi sheng</dc:creator>
  <cp:lastModifiedBy>xi sheng</cp:lastModifiedBy>
  <cp:revision>2</cp:revision>
  <dcterms:created xsi:type="dcterms:W3CDTF">2023-09-27T13:50:54Z</dcterms:created>
  <dcterms:modified xsi:type="dcterms:W3CDTF">2023-09-28T01:27:05Z</dcterms:modified>
</cp:coreProperties>
</file>